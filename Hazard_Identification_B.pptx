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challenge is about the pre-start check: deciding whether a vehicle is safe to drive BEFORE you set off.
Ask: Who checks the dashboard every time they start a vehicle? What do you do if a light stays 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you start a pool car and these lights stay ON after the engine starts.
Ask: Which 5 lights mean you must NOT drive until the vehicle is checked? Call out the numbers.
Expected answers (keep hidden): 57 oil pressure, 48 engine temperature, 40 brake system, 39 airbag, 52 bonnet open. Give the group 60–90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use these clues if the group is stuck. Reveal them one at a time.
Clue 1: red usually means a serious warning.
Clue 2: what could fail while you are driving (engine, brakes)?
Clue 3: what protects you in a crash, and what could block your view?
After the clues, collect the group's answers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per answer.
1 #57 Oil pressure low: the engine can seize.
2 #52 Bonnet open: it can fly up and block the view.
3 #48 Engine temperature: the engine is overheating.
4 #39 Airbag (SRS): airbags may not deploy.
5 #40 Brake system: parking brake on, low fluid or a brake fault.
Also mention: #51 door open and #59 boot open must be closed before moving. #49 ABS and #62 engine light need prompt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card per click. For each one ask: What could happen if you drove anyway?
Oil pressure and overheating: stop the engine to prevent serious damage. Brakes: never drive with a brake system warning that stays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card per click.
Airbag: the vehicle should not be used until it is repaired (follow company policy).
Bonnet: a bonnet that flies open at speed blocks the whole windscreen.
Remind the group: if in doubt, don't drive; report it to your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vote with their hands: A, B, C, D or E. Ask two people to explain their choice.
Then click to show the trainer's answer. There is no single 'right' answer. The brake system (E) can cause a collision immediately. Oil pressure and overheating can stop the engine without warning. All five mean: do not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steps of a pre-start check. Ask: what will you do the next time a red light stays on after start-up?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</a:rPr>
              <a:t>Automotive Safety Toolbox Talk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E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icture" descr="Training pictu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8000"/>
            </a:srgbClr>
          </a:solidFill>
          <a:ln/>
        </p:spPr>
      </p:sp>
      <p:sp>
        <p:nvSpPr>
          <p:cNvPr id="4" name="tag_pill"/>
          <p:cNvSpPr/>
          <p:nvPr/>
        </p:nvSpPr>
        <p:spPr>
          <a:xfrm>
            <a:off x="548640" y="11430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B000"/>
          </a:solidFill>
          <a:ln/>
        </p:spPr>
      </p:sp>
      <p:sp>
        <p:nvSpPr>
          <p:cNvPr id="5" name="tag_text"/>
          <p:cNvSpPr txBox="1"/>
          <p:nvPr/>
        </p:nvSpPr>
        <p:spPr>
          <a:xfrm>
            <a:off x="548640" y="1143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215"/>
                </a:solidFill>
              </a:rPr>
              <a:t>CHALLENGE B</a:t>
            </a:r>
            <a:endParaRPr lang="en-US" sz="1100" dirty="0"/>
          </a:p>
        </p:txBody>
      </p:sp>
      <p:sp>
        <p:nvSpPr>
          <p:cNvPr id="6" name="deck_title"/>
          <p:cNvSpPr txBox="1"/>
          <p:nvPr/>
        </p:nvSpPr>
        <p:spPr>
          <a:xfrm>
            <a:off x="548640" y="1645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Is Unsafe in This Picture?</a:t>
            </a:r>
            <a:endParaRPr lang="en-US" sz="3800" dirty="0"/>
          </a:p>
        </p:txBody>
      </p:sp>
      <p:sp>
        <p:nvSpPr>
          <p:cNvPr id="7" name="deck_subtitle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A"/>
                </a:solidFill>
              </a:rPr>
              <a:t>Hazard Identification Challenge B  ·  Pre-start vehicle check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Unsafe in This Picture?</a:t>
            </a:r>
            <a:endParaRPr lang="en-US" sz="2600" dirty="0"/>
          </a:p>
        </p:txBody>
      </p:sp>
      <p:pic>
        <p:nvPicPr>
          <p:cNvPr id="4" name="question_picture" descr="Instrument cluster with warning lights 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049391"/>
          </a:xfrm>
          <a:prstGeom prst="rect">
            <a:avLst/>
          </a:prstGeom>
        </p:spPr>
      </p:pic>
      <p:sp>
        <p:nvSpPr>
          <p:cNvPr id="5" name="scenario_text"/>
          <p:cNvSpPr txBox="1"/>
          <p:nvPr/>
        </p:nvSpPr>
        <p:spPr>
          <a:xfrm>
            <a:off x="274320" y="7863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You start a pool car. These lights stay ON after the engine starts.</a:t>
            </a:r>
            <a:endParaRPr lang="en-US" sz="1400" dirty="0"/>
          </a:p>
        </p:txBody>
      </p:sp>
      <p:sp>
        <p:nvSpPr>
          <p:cNvPr id="6" name="question_pill"/>
          <p:cNvSpPr/>
          <p:nvPr/>
        </p:nvSpPr>
        <p:spPr>
          <a:xfrm>
            <a:off x="1554480" y="4315968"/>
            <a:ext cx="6035040" cy="438912"/>
          </a:xfrm>
          <a:prstGeom prst="roundRect">
            <a:avLst>
              <a:gd name="adj" fmla="val 20833"/>
            </a:avLst>
          </a:prstGeom>
          <a:solidFill>
            <a:srgbClr val="FFB000"/>
          </a:solidFill>
          <a:ln/>
        </p:spPr>
      </p:sp>
      <p:sp>
        <p:nvSpPr>
          <p:cNvPr id="7" name="question_pill_text"/>
          <p:cNvSpPr txBox="1"/>
          <p:nvPr/>
        </p:nvSpPr>
        <p:spPr>
          <a:xfrm>
            <a:off x="1554480" y="43159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215"/>
                </a:solidFill>
              </a:rPr>
              <a:t>Find the 5 lights that mean: DO NOT DRIVE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Need a Clue?</a:t>
            </a:r>
            <a:endParaRPr lang="en-US" sz="2600" dirty="0"/>
          </a:p>
        </p:txBody>
      </p:sp>
      <p:sp>
        <p:nvSpPr>
          <p:cNvPr id="4" name="clk01_card_1"/>
          <p:cNvSpPr/>
          <p:nvPr/>
        </p:nvSpPr>
        <p:spPr>
          <a:xfrm>
            <a:off x="457200" y="10515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5" name="clk01_dot_2"/>
          <p:cNvSpPr/>
          <p:nvPr/>
        </p:nvSpPr>
        <p:spPr>
          <a:xfrm>
            <a:off x="1353312" y="1325880"/>
            <a:ext cx="822960" cy="8229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clk01_n_3"/>
          <p:cNvSpPr txBox="1"/>
          <p:nvPr/>
        </p:nvSpPr>
        <p:spPr>
          <a:xfrm>
            <a:off x="1353312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215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clk01_t_4"/>
          <p:cNvSpPr txBox="1"/>
          <p:nvPr/>
        </p:nvSpPr>
        <p:spPr>
          <a:xfrm>
            <a:off x="640080" y="2331720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Clue 1: Colour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Red usually means a serious warning.</a:t>
            </a:r>
            <a:endParaRPr lang="en-US" sz="1700" dirty="0"/>
          </a:p>
        </p:txBody>
      </p:sp>
      <p:sp>
        <p:nvSpPr>
          <p:cNvPr id="8" name="clk02_card_5"/>
          <p:cNvSpPr/>
          <p:nvPr/>
        </p:nvSpPr>
        <p:spPr>
          <a:xfrm>
            <a:off x="3264408" y="10515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9" name="clk02_dot_6"/>
          <p:cNvSpPr/>
          <p:nvPr/>
        </p:nvSpPr>
        <p:spPr>
          <a:xfrm>
            <a:off x="4160520" y="1325880"/>
            <a:ext cx="822960" cy="822960"/>
          </a:xfrm>
          <a:prstGeom prst="ellipse">
            <a:avLst/>
          </a:prstGeom>
          <a:solidFill>
            <a:srgbClr val="FFB000"/>
          </a:solidFill>
          <a:ln/>
        </p:spPr>
      </p:sp>
      <p:sp>
        <p:nvSpPr>
          <p:cNvPr id="10" name="clk02_n_7"/>
          <p:cNvSpPr txBox="1"/>
          <p:nvPr/>
        </p:nvSpPr>
        <p:spPr>
          <a:xfrm>
            <a:off x="41605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215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clk02_t_8"/>
          <p:cNvSpPr txBox="1"/>
          <p:nvPr/>
        </p:nvSpPr>
        <p:spPr>
          <a:xfrm>
            <a:off x="3447288" y="2331720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Clue 2: Driving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What could fail while you are moving?</a:t>
            </a:r>
            <a:endParaRPr lang="en-US" sz="1700" dirty="0"/>
          </a:p>
        </p:txBody>
      </p:sp>
      <p:sp>
        <p:nvSpPr>
          <p:cNvPr id="12" name="clk03_card_9"/>
          <p:cNvSpPr/>
          <p:nvPr/>
        </p:nvSpPr>
        <p:spPr>
          <a:xfrm>
            <a:off x="6071616" y="10515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13" name="clk03_dot_10"/>
          <p:cNvSpPr/>
          <p:nvPr/>
        </p:nvSpPr>
        <p:spPr>
          <a:xfrm>
            <a:off x="6967728" y="1325880"/>
            <a:ext cx="822960" cy="822960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14" name="clk03_n_11"/>
          <p:cNvSpPr txBox="1"/>
          <p:nvPr/>
        </p:nvSpPr>
        <p:spPr>
          <a:xfrm>
            <a:off x="6967728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215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clk03_t_12"/>
          <p:cNvSpPr txBox="1"/>
          <p:nvPr/>
        </p:nvSpPr>
        <p:spPr>
          <a:xfrm>
            <a:off x="6254496" y="2331720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Clue 3: Protection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What protects you, or could block your view?</a:t>
            </a:r>
            <a:endParaRPr lang="en-US" sz="1700" dirty="0"/>
          </a:p>
        </p:txBody>
      </p:sp>
      <p:sp>
        <p:nvSpPr>
          <p:cNvPr id="16" name="clue_footer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A"/>
                </a:solidFill>
              </a:rPr>
              <a:t>Other lights are also on. Some are safe information lights, others need attention soon.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Answers: The 5 Do-Not-Drive Warnings</a:t>
            </a:r>
            <a:endParaRPr lang="en-US" sz="2600" dirty="0"/>
          </a:p>
        </p:txBody>
      </p:sp>
      <p:pic>
        <p:nvPicPr>
          <p:cNvPr id="4" name="answer_picture" descr="Instrument cluster with warning lights 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049391"/>
          </a:xfrm>
          <a:prstGeom prst="rect">
            <a:avLst/>
          </a:prstGeom>
        </p:spPr>
      </p:pic>
      <p:sp>
        <p:nvSpPr>
          <p:cNvPr id="5" name="clk01_ring_13"/>
          <p:cNvSpPr/>
          <p:nvPr/>
        </p:nvSpPr>
        <p:spPr>
          <a:xfrm>
            <a:off x="1121373" y="2044689"/>
            <a:ext cx="731141" cy="552814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6" name="clk01_line_14"/>
          <p:cNvSpPr/>
          <p:nvPr/>
        </p:nvSpPr>
        <p:spPr>
          <a:xfrm flipH="1">
            <a:off x="1097280" y="2592376"/>
            <a:ext cx="319580" cy="172359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7" name="clk01_labelbox_15"/>
          <p:cNvSpPr/>
          <p:nvPr/>
        </p:nvSpPr>
        <p:spPr>
          <a:xfrm>
            <a:off x="274320" y="4315968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215">
              <a:alpha val="9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" name="clk01_badge_16"/>
          <p:cNvSpPr/>
          <p:nvPr/>
        </p:nvSpPr>
        <p:spPr>
          <a:xfrm>
            <a:off x="347472" y="4389120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9" name="clk01_num_17"/>
          <p:cNvSpPr txBox="1"/>
          <p:nvPr/>
        </p:nvSpPr>
        <p:spPr>
          <a:xfrm>
            <a:off x="34747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clk01_label_18"/>
          <p:cNvSpPr txBox="1"/>
          <p:nvPr/>
        </p:nvSpPr>
        <p:spPr>
          <a:xfrm>
            <a:off x="731520" y="431596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Oil pressure low</a:t>
            </a:r>
            <a:endParaRPr lang="en-US" sz="1200" dirty="0"/>
          </a:p>
        </p:txBody>
      </p:sp>
      <p:sp>
        <p:nvSpPr>
          <p:cNvPr id="11" name="clk02_ring_19"/>
          <p:cNvSpPr/>
          <p:nvPr/>
        </p:nvSpPr>
        <p:spPr>
          <a:xfrm>
            <a:off x="3546620" y="3498054"/>
            <a:ext cx="641977" cy="410152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12" name="clk02_line_20"/>
          <p:cNvSpPr/>
          <p:nvPr/>
        </p:nvSpPr>
        <p:spPr>
          <a:xfrm flipH="1">
            <a:off x="2834640" y="3807768"/>
            <a:ext cx="756908" cy="50820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3" name="clk02_labelbox_21"/>
          <p:cNvSpPr/>
          <p:nvPr/>
        </p:nvSpPr>
        <p:spPr>
          <a:xfrm>
            <a:off x="2011680" y="4315968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215">
              <a:alpha val="9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4" name="clk02_badge_22"/>
          <p:cNvSpPr/>
          <p:nvPr/>
        </p:nvSpPr>
        <p:spPr>
          <a:xfrm>
            <a:off x="2084832" y="4389120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5" name="clk02_num_23"/>
          <p:cNvSpPr txBox="1"/>
          <p:nvPr/>
        </p:nvSpPr>
        <p:spPr>
          <a:xfrm>
            <a:off x="208483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clk02_label_24"/>
          <p:cNvSpPr txBox="1"/>
          <p:nvPr/>
        </p:nvSpPr>
        <p:spPr>
          <a:xfrm>
            <a:off x="2468880" y="431596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Bonnet open</a:t>
            </a:r>
            <a:endParaRPr lang="en-US" sz="1200" dirty="0"/>
          </a:p>
        </p:txBody>
      </p:sp>
      <p:sp>
        <p:nvSpPr>
          <p:cNvPr id="17" name="clk03_ring_25"/>
          <p:cNvSpPr/>
          <p:nvPr/>
        </p:nvSpPr>
        <p:spPr>
          <a:xfrm>
            <a:off x="4402589" y="2749081"/>
            <a:ext cx="534981" cy="517148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18" name="clk03_line_26"/>
          <p:cNvSpPr/>
          <p:nvPr/>
        </p:nvSpPr>
        <p:spPr>
          <a:xfrm flipH="1">
            <a:off x="4572000" y="3265506"/>
            <a:ext cx="78083" cy="105046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9" name="clk03_labelbox_27"/>
          <p:cNvSpPr/>
          <p:nvPr/>
        </p:nvSpPr>
        <p:spPr>
          <a:xfrm>
            <a:off x="3749040" y="4315968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215">
              <a:alpha val="9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0" name="clk03_badge_28"/>
          <p:cNvSpPr/>
          <p:nvPr/>
        </p:nvSpPr>
        <p:spPr>
          <a:xfrm>
            <a:off x="3822192" y="4389120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1" name="clk03_num_29"/>
          <p:cNvSpPr txBox="1"/>
          <p:nvPr/>
        </p:nvSpPr>
        <p:spPr>
          <a:xfrm>
            <a:off x="382219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clk03_label_30"/>
          <p:cNvSpPr txBox="1"/>
          <p:nvPr/>
        </p:nvSpPr>
        <p:spPr>
          <a:xfrm>
            <a:off x="4206240" y="431596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 overheating</a:t>
            </a:r>
            <a:endParaRPr lang="en-US" sz="1200" dirty="0"/>
          </a:p>
        </p:txBody>
      </p:sp>
      <p:sp>
        <p:nvSpPr>
          <p:cNvPr id="23" name="clk04_ring_31"/>
          <p:cNvSpPr/>
          <p:nvPr/>
        </p:nvSpPr>
        <p:spPr>
          <a:xfrm>
            <a:off x="5436886" y="1438378"/>
            <a:ext cx="463650" cy="463650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24" name="clk04_line_32"/>
          <p:cNvSpPr/>
          <p:nvPr/>
        </p:nvSpPr>
        <p:spPr>
          <a:xfrm>
            <a:off x="5723269" y="1895517"/>
            <a:ext cx="586091" cy="2420451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25" name="clk04_labelbox_33"/>
          <p:cNvSpPr/>
          <p:nvPr/>
        </p:nvSpPr>
        <p:spPr>
          <a:xfrm>
            <a:off x="5486400" y="4315968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215">
              <a:alpha val="9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6" name="clk04_badge_34"/>
          <p:cNvSpPr/>
          <p:nvPr/>
        </p:nvSpPr>
        <p:spPr>
          <a:xfrm>
            <a:off x="5559552" y="4389120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7" name="clk04_num_35"/>
          <p:cNvSpPr txBox="1"/>
          <p:nvPr/>
        </p:nvSpPr>
        <p:spPr>
          <a:xfrm>
            <a:off x="555955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clk04_label_36"/>
          <p:cNvSpPr txBox="1"/>
          <p:nvPr/>
        </p:nvSpPr>
        <p:spPr>
          <a:xfrm>
            <a:off x="5943600" y="431596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Airbag (SRS) fault</a:t>
            </a:r>
            <a:endParaRPr lang="en-US" sz="1200" dirty="0"/>
          </a:p>
        </p:txBody>
      </p:sp>
      <p:sp>
        <p:nvSpPr>
          <p:cNvPr id="29" name="clk05_ring_37"/>
          <p:cNvSpPr/>
          <p:nvPr/>
        </p:nvSpPr>
        <p:spPr>
          <a:xfrm>
            <a:off x="5882703" y="1420545"/>
            <a:ext cx="552814" cy="517148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30" name="clk05_line_38"/>
          <p:cNvSpPr/>
          <p:nvPr/>
        </p:nvSpPr>
        <p:spPr>
          <a:xfrm>
            <a:off x="6320002" y="1889373"/>
            <a:ext cx="1726718" cy="2426595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31" name="clk05_labelbox_39"/>
          <p:cNvSpPr/>
          <p:nvPr/>
        </p:nvSpPr>
        <p:spPr>
          <a:xfrm>
            <a:off x="7223760" y="4315968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215">
              <a:alpha val="9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32" name="clk05_badge_40"/>
          <p:cNvSpPr/>
          <p:nvPr/>
        </p:nvSpPr>
        <p:spPr>
          <a:xfrm>
            <a:off x="7296912" y="4389120"/>
            <a:ext cx="310896" cy="310896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3" name="clk05_num_41"/>
          <p:cNvSpPr txBox="1"/>
          <p:nvPr/>
        </p:nvSpPr>
        <p:spPr>
          <a:xfrm>
            <a:off x="729691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clk05_label_42"/>
          <p:cNvSpPr txBox="1"/>
          <p:nvPr/>
        </p:nvSpPr>
        <p:spPr>
          <a:xfrm>
            <a:off x="7680960" y="431596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Brake system fault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Why It Matters: Engine and Brakes</a:t>
            </a:r>
            <a:endParaRPr lang="en-US" sz="2600" dirty="0"/>
          </a:p>
        </p:txBody>
      </p:sp>
      <p:sp>
        <p:nvSpPr>
          <p:cNvPr id="4" name="clk01_card_43"/>
          <p:cNvSpPr/>
          <p:nvPr/>
        </p:nvSpPr>
        <p:spPr>
          <a:xfrm>
            <a:off x="457200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pic>
        <p:nvPicPr>
          <p:cNvPr id="5" name="clk01_pic_44" descr="Oil pressure low (#57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069848"/>
            <a:ext cx="2395728" cy="1589227"/>
          </a:xfrm>
          <a:prstGeom prst="rect">
            <a:avLst/>
          </a:prstGeom>
        </p:spPr>
      </p:pic>
      <p:sp>
        <p:nvSpPr>
          <p:cNvPr id="6" name="clk01_badge_45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E53935"/>
          </a:solidFill>
          <a:ln w="19050">
            <a:solidFill>
              <a:srgbClr val="0F1215"/>
            </a:solidFill>
            <a:prstDash val="solid"/>
          </a:ln>
        </p:spPr>
      </p:sp>
      <p:sp>
        <p:nvSpPr>
          <p:cNvPr id="7" name="clk01_num_46"/>
          <p:cNvSpPr txBox="1"/>
          <p:nvPr/>
        </p:nvSpPr>
        <p:spPr>
          <a:xfrm>
            <a:off x="6400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lk01_title_47"/>
          <p:cNvSpPr txBox="1"/>
          <p:nvPr/>
        </p:nvSpPr>
        <p:spPr>
          <a:xfrm>
            <a:off x="621792" y="273222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Oil pressure low (#57)</a:t>
            </a:r>
            <a:endParaRPr lang="en-US" sz="1500" dirty="0"/>
          </a:p>
        </p:txBody>
      </p:sp>
      <p:sp>
        <p:nvSpPr>
          <p:cNvPr id="9" name="clk01_text_48"/>
          <p:cNvSpPr txBox="1"/>
          <p:nvPr/>
        </p:nvSpPr>
        <p:spPr>
          <a:xfrm>
            <a:off x="621792" y="3116275"/>
            <a:ext cx="2286000" cy="136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Why it's dangerous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The engine can seize and stop suddenly in traffic.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40"/>
                </a:solidFill>
              </a:rPr>
              <a:t>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Do not drive. Check the oil level and report it.</a:t>
            </a:r>
            <a:endParaRPr lang="en-US" sz="1200" dirty="0"/>
          </a:p>
        </p:txBody>
      </p:sp>
      <p:sp>
        <p:nvSpPr>
          <p:cNvPr id="10" name="clk02_card_49"/>
          <p:cNvSpPr/>
          <p:nvPr/>
        </p:nvSpPr>
        <p:spPr>
          <a:xfrm>
            <a:off x="3264408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pic>
        <p:nvPicPr>
          <p:cNvPr id="11" name="clk02_pic_50" descr="Engine overheating (#48)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4136" y="1069848"/>
            <a:ext cx="2395728" cy="1589227"/>
          </a:xfrm>
          <a:prstGeom prst="rect">
            <a:avLst/>
          </a:prstGeom>
        </p:spPr>
      </p:pic>
      <p:sp>
        <p:nvSpPr>
          <p:cNvPr id="12" name="clk02_badge_51"/>
          <p:cNvSpPr/>
          <p:nvPr/>
        </p:nvSpPr>
        <p:spPr>
          <a:xfrm>
            <a:off x="3447288" y="1143000"/>
            <a:ext cx="347472" cy="347472"/>
          </a:xfrm>
          <a:prstGeom prst="ellipse">
            <a:avLst/>
          </a:prstGeom>
          <a:solidFill>
            <a:srgbClr val="E53935"/>
          </a:solidFill>
          <a:ln w="19050">
            <a:solidFill>
              <a:srgbClr val="0F1215"/>
            </a:solidFill>
            <a:prstDash val="solid"/>
          </a:ln>
        </p:spPr>
      </p:sp>
      <p:sp>
        <p:nvSpPr>
          <p:cNvPr id="13" name="clk02_num_52"/>
          <p:cNvSpPr txBox="1"/>
          <p:nvPr/>
        </p:nvSpPr>
        <p:spPr>
          <a:xfrm>
            <a:off x="344728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clk02_title_53"/>
          <p:cNvSpPr txBox="1"/>
          <p:nvPr/>
        </p:nvSpPr>
        <p:spPr>
          <a:xfrm>
            <a:off x="3429000" y="273222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Engine overheating (#48)</a:t>
            </a:r>
            <a:endParaRPr lang="en-US" sz="1500" dirty="0"/>
          </a:p>
        </p:txBody>
      </p:sp>
      <p:sp>
        <p:nvSpPr>
          <p:cNvPr id="15" name="clk02_text_54"/>
          <p:cNvSpPr txBox="1"/>
          <p:nvPr/>
        </p:nvSpPr>
        <p:spPr>
          <a:xfrm>
            <a:off x="3429000" y="3116275"/>
            <a:ext cx="2286000" cy="136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Why it's dangerous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Engine damage, breakdown, and burns from hot coolant.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40"/>
                </a:solidFill>
              </a:rPr>
              <a:t>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Do not drive. Let it cool; never open a hot cap.</a:t>
            </a:r>
            <a:endParaRPr lang="en-US" sz="1200" dirty="0"/>
          </a:p>
        </p:txBody>
      </p:sp>
      <p:sp>
        <p:nvSpPr>
          <p:cNvPr id="16" name="clk03_card_55"/>
          <p:cNvSpPr/>
          <p:nvPr/>
        </p:nvSpPr>
        <p:spPr>
          <a:xfrm>
            <a:off x="6071616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pic>
        <p:nvPicPr>
          <p:cNvPr id="17" name="clk03_pic_56" descr="Brake system (#40)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1344" y="1069848"/>
            <a:ext cx="2395728" cy="1589227"/>
          </a:xfrm>
          <a:prstGeom prst="rect">
            <a:avLst/>
          </a:prstGeom>
        </p:spPr>
      </p:pic>
      <p:sp>
        <p:nvSpPr>
          <p:cNvPr id="18" name="clk03_badge_57"/>
          <p:cNvSpPr/>
          <p:nvPr/>
        </p:nvSpPr>
        <p:spPr>
          <a:xfrm>
            <a:off x="6254496" y="1143000"/>
            <a:ext cx="347472" cy="347472"/>
          </a:xfrm>
          <a:prstGeom prst="ellipse">
            <a:avLst/>
          </a:prstGeom>
          <a:solidFill>
            <a:srgbClr val="E53935"/>
          </a:solidFill>
          <a:ln w="19050">
            <a:solidFill>
              <a:srgbClr val="0F1215"/>
            </a:solidFill>
            <a:prstDash val="solid"/>
          </a:ln>
        </p:spPr>
      </p:sp>
      <p:sp>
        <p:nvSpPr>
          <p:cNvPr id="19" name="clk03_num_58"/>
          <p:cNvSpPr txBox="1"/>
          <p:nvPr/>
        </p:nvSpPr>
        <p:spPr>
          <a:xfrm>
            <a:off x="6254496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clk03_title_59"/>
          <p:cNvSpPr txBox="1"/>
          <p:nvPr/>
        </p:nvSpPr>
        <p:spPr>
          <a:xfrm>
            <a:off x="6236208" y="273222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Brake system (#40)</a:t>
            </a:r>
            <a:endParaRPr lang="en-US" sz="1500" dirty="0"/>
          </a:p>
        </p:txBody>
      </p:sp>
      <p:sp>
        <p:nvSpPr>
          <p:cNvPr id="21" name="clk03_text_60"/>
          <p:cNvSpPr txBox="1"/>
          <p:nvPr/>
        </p:nvSpPr>
        <p:spPr>
          <a:xfrm>
            <a:off x="6236208" y="3116275"/>
            <a:ext cx="2286000" cy="136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Why it's dangerous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Brakes may fail, or the parking brake may be dragging.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40"/>
                </a:solidFill>
              </a:rPr>
              <a:t>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Release the parking brake. If the light stays on, do not drive.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Why It Matters: Protection and Visibility</a:t>
            </a:r>
            <a:endParaRPr lang="en-US" sz="2600" dirty="0"/>
          </a:p>
        </p:txBody>
      </p:sp>
      <p:sp>
        <p:nvSpPr>
          <p:cNvPr id="4" name="clk01_card_61"/>
          <p:cNvSpPr/>
          <p:nvPr/>
        </p:nvSpPr>
        <p:spPr>
          <a:xfrm>
            <a:off x="457200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pic>
        <p:nvPicPr>
          <p:cNvPr id="5" name="clk01_pic_62" descr="Bonnet open (#52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069848"/>
            <a:ext cx="2395728" cy="1589227"/>
          </a:xfrm>
          <a:prstGeom prst="rect">
            <a:avLst/>
          </a:prstGeom>
        </p:spPr>
      </p:pic>
      <p:sp>
        <p:nvSpPr>
          <p:cNvPr id="6" name="clk01_badge_63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E53935"/>
          </a:solidFill>
          <a:ln w="19050">
            <a:solidFill>
              <a:srgbClr val="0F1215"/>
            </a:solidFill>
            <a:prstDash val="solid"/>
          </a:ln>
        </p:spPr>
      </p:sp>
      <p:sp>
        <p:nvSpPr>
          <p:cNvPr id="7" name="clk01_num_64"/>
          <p:cNvSpPr txBox="1"/>
          <p:nvPr/>
        </p:nvSpPr>
        <p:spPr>
          <a:xfrm>
            <a:off x="6400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clk01_title_65"/>
          <p:cNvSpPr txBox="1"/>
          <p:nvPr/>
        </p:nvSpPr>
        <p:spPr>
          <a:xfrm>
            <a:off x="621792" y="273222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Bonnet open (#52)</a:t>
            </a:r>
            <a:endParaRPr lang="en-US" sz="1500" dirty="0"/>
          </a:p>
        </p:txBody>
      </p:sp>
      <p:sp>
        <p:nvSpPr>
          <p:cNvPr id="9" name="clk01_text_66"/>
          <p:cNvSpPr txBox="1"/>
          <p:nvPr/>
        </p:nvSpPr>
        <p:spPr>
          <a:xfrm>
            <a:off x="621792" y="3116275"/>
            <a:ext cx="2286000" cy="136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Why it's dangerous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The bonnet can fly up at speed and block your view.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40"/>
                </a:solidFill>
              </a:rPr>
              <a:t>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Close it fully and check it is latched.</a:t>
            </a:r>
            <a:endParaRPr lang="en-US" sz="1200" dirty="0"/>
          </a:p>
        </p:txBody>
      </p:sp>
      <p:sp>
        <p:nvSpPr>
          <p:cNvPr id="10" name="clk02_card_67"/>
          <p:cNvSpPr/>
          <p:nvPr/>
        </p:nvSpPr>
        <p:spPr>
          <a:xfrm>
            <a:off x="3264408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pic>
        <p:nvPicPr>
          <p:cNvPr id="11" name="clk02_pic_68" descr="Airbag fault (#39)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4136" y="1069848"/>
            <a:ext cx="2395728" cy="1589227"/>
          </a:xfrm>
          <a:prstGeom prst="rect">
            <a:avLst/>
          </a:prstGeom>
        </p:spPr>
      </p:pic>
      <p:sp>
        <p:nvSpPr>
          <p:cNvPr id="12" name="clk02_badge_69"/>
          <p:cNvSpPr/>
          <p:nvPr/>
        </p:nvSpPr>
        <p:spPr>
          <a:xfrm>
            <a:off x="3447288" y="1143000"/>
            <a:ext cx="347472" cy="347472"/>
          </a:xfrm>
          <a:prstGeom prst="ellipse">
            <a:avLst/>
          </a:prstGeom>
          <a:solidFill>
            <a:srgbClr val="E53935"/>
          </a:solidFill>
          <a:ln w="19050">
            <a:solidFill>
              <a:srgbClr val="0F1215"/>
            </a:solidFill>
            <a:prstDash val="solid"/>
          </a:ln>
        </p:spPr>
      </p:sp>
      <p:sp>
        <p:nvSpPr>
          <p:cNvPr id="13" name="clk02_num_70"/>
          <p:cNvSpPr txBox="1"/>
          <p:nvPr/>
        </p:nvSpPr>
        <p:spPr>
          <a:xfrm>
            <a:off x="344728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5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clk02_title_71"/>
          <p:cNvSpPr txBox="1"/>
          <p:nvPr/>
        </p:nvSpPr>
        <p:spPr>
          <a:xfrm>
            <a:off x="3429000" y="273222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Airbag fault (#39)</a:t>
            </a:r>
            <a:endParaRPr lang="en-US" sz="1500" dirty="0"/>
          </a:p>
        </p:txBody>
      </p:sp>
      <p:sp>
        <p:nvSpPr>
          <p:cNvPr id="15" name="clk02_text_72"/>
          <p:cNvSpPr txBox="1"/>
          <p:nvPr/>
        </p:nvSpPr>
        <p:spPr>
          <a:xfrm>
            <a:off x="3429000" y="3116275"/>
            <a:ext cx="2286000" cy="136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Why it's dangerous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Airbags may not deploy in a crash.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40"/>
                </a:solidFill>
              </a:rPr>
              <a:t>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</a:rPr>
              <a:t>Report it; get it repaired before use.</a:t>
            </a:r>
            <a:endParaRPr lang="en-US" sz="1200" dirty="0"/>
          </a:p>
        </p:txBody>
      </p:sp>
      <p:sp>
        <p:nvSpPr>
          <p:cNvPr id="16" name="clk03_rulebox"/>
          <p:cNvSpPr/>
          <p:nvPr/>
        </p:nvSpPr>
        <p:spPr>
          <a:xfrm>
            <a:off x="6071616" y="960120"/>
            <a:ext cx="2615184" cy="3611880"/>
          </a:xfrm>
          <a:prstGeom prst="roundRect">
            <a:avLst>
              <a:gd name="adj" fmla="val 3497"/>
            </a:avLst>
          </a:prstGeom>
          <a:solidFill>
            <a:srgbClr val="FFB000"/>
          </a:solidFill>
          <a:ln/>
        </p:spPr>
      </p:sp>
      <p:sp>
        <p:nvSpPr>
          <p:cNvPr id="17" name="clk03_ruletext"/>
          <p:cNvSpPr txBox="1"/>
          <p:nvPr/>
        </p:nvSpPr>
        <p:spPr>
          <a:xfrm>
            <a:off x="6254496" y="1143000"/>
            <a:ext cx="22494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215"/>
                </a:solidFill>
              </a:rPr>
              <a:t>Pre-start rule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F1215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215"/>
                </a:solidFill>
              </a:rPr>
              <a:t>A red warning that stays on after start-up = do not drive.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F1215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215"/>
                </a:solidFill>
              </a:rPr>
              <a:t>Tag the vehicle and report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Which Hazard Is the Most Serious?</a:t>
            </a:r>
            <a:endParaRPr lang="en-US" sz="2600" dirty="0"/>
          </a:p>
        </p:txBody>
      </p:sp>
      <p:sp>
        <p:nvSpPr>
          <p:cNvPr id="4" name="vote_card_73"/>
          <p:cNvSpPr/>
          <p:nvPr/>
        </p:nvSpPr>
        <p:spPr>
          <a:xfrm>
            <a:off x="457200" y="960120"/>
            <a:ext cx="1517904" cy="2148840"/>
          </a:xfrm>
          <a:prstGeom prst="roundRect">
            <a:avLst>
              <a:gd name="adj" fmla="val 6024"/>
            </a:avLst>
          </a:prstGeom>
          <a:solidFill>
            <a:srgbClr val="1C2128"/>
          </a:solidFill>
          <a:ln/>
        </p:spPr>
      </p:sp>
      <p:pic>
        <p:nvPicPr>
          <p:cNvPr id="5" name="vote_pic_74" descr="Oil pressure low (#57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078992"/>
            <a:ext cx="1280160" cy="1051560"/>
          </a:xfrm>
          <a:prstGeom prst="rect">
            <a:avLst/>
          </a:prstGeom>
        </p:spPr>
      </p:pic>
      <p:sp>
        <p:nvSpPr>
          <p:cNvPr id="6" name="vote_letter_75"/>
          <p:cNvSpPr txBox="1"/>
          <p:nvPr/>
        </p:nvSpPr>
        <p:spPr>
          <a:xfrm>
            <a:off x="457200" y="21762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00"/>
                </a:solidFill>
              </a:rPr>
              <a:t>A</a:t>
            </a:r>
            <a:endParaRPr lang="en-US" sz="2200" dirty="0"/>
          </a:p>
        </p:txBody>
      </p:sp>
      <p:sp>
        <p:nvSpPr>
          <p:cNvPr id="7" name="vote_name_76"/>
          <p:cNvSpPr txBox="1"/>
          <p:nvPr/>
        </p:nvSpPr>
        <p:spPr>
          <a:xfrm>
            <a:off x="530352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Oil pressure low</a:t>
            </a:r>
            <a:endParaRPr lang="en-US" sz="1200" dirty="0"/>
          </a:p>
        </p:txBody>
      </p:sp>
      <p:sp>
        <p:nvSpPr>
          <p:cNvPr id="8" name="vote_card_77"/>
          <p:cNvSpPr/>
          <p:nvPr/>
        </p:nvSpPr>
        <p:spPr>
          <a:xfrm>
            <a:off x="2130552" y="960120"/>
            <a:ext cx="1517904" cy="2148840"/>
          </a:xfrm>
          <a:prstGeom prst="roundRect">
            <a:avLst>
              <a:gd name="adj" fmla="val 6024"/>
            </a:avLst>
          </a:prstGeom>
          <a:solidFill>
            <a:srgbClr val="1C2128"/>
          </a:solidFill>
          <a:ln/>
        </p:spPr>
      </p:sp>
      <p:pic>
        <p:nvPicPr>
          <p:cNvPr id="9" name="vote_pic_78" descr="Bonnet open (#52)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49424" y="1078992"/>
            <a:ext cx="1280160" cy="1051560"/>
          </a:xfrm>
          <a:prstGeom prst="rect">
            <a:avLst/>
          </a:prstGeom>
        </p:spPr>
      </p:pic>
      <p:sp>
        <p:nvSpPr>
          <p:cNvPr id="10" name="vote_letter_79"/>
          <p:cNvSpPr txBox="1"/>
          <p:nvPr/>
        </p:nvSpPr>
        <p:spPr>
          <a:xfrm>
            <a:off x="2130552" y="21762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00"/>
                </a:solidFill>
              </a:rPr>
              <a:t>B</a:t>
            </a:r>
            <a:endParaRPr lang="en-US" sz="2200" dirty="0"/>
          </a:p>
        </p:txBody>
      </p:sp>
      <p:sp>
        <p:nvSpPr>
          <p:cNvPr id="11" name="vote_name_80"/>
          <p:cNvSpPr txBox="1"/>
          <p:nvPr/>
        </p:nvSpPr>
        <p:spPr>
          <a:xfrm>
            <a:off x="2203704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Bonnet open</a:t>
            </a:r>
            <a:endParaRPr lang="en-US" sz="1200" dirty="0"/>
          </a:p>
        </p:txBody>
      </p:sp>
      <p:sp>
        <p:nvSpPr>
          <p:cNvPr id="12" name="vote_card_81"/>
          <p:cNvSpPr/>
          <p:nvPr/>
        </p:nvSpPr>
        <p:spPr>
          <a:xfrm>
            <a:off x="3803904" y="960120"/>
            <a:ext cx="1517904" cy="2148840"/>
          </a:xfrm>
          <a:prstGeom prst="roundRect">
            <a:avLst>
              <a:gd name="adj" fmla="val 6024"/>
            </a:avLst>
          </a:prstGeom>
          <a:solidFill>
            <a:srgbClr val="1C2128"/>
          </a:solidFill>
          <a:ln/>
        </p:spPr>
      </p:sp>
      <p:pic>
        <p:nvPicPr>
          <p:cNvPr id="13" name="vote_pic_82" descr="Engine overheating (#48)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22776" y="1078992"/>
            <a:ext cx="1280160" cy="1051560"/>
          </a:xfrm>
          <a:prstGeom prst="rect">
            <a:avLst/>
          </a:prstGeom>
        </p:spPr>
      </p:pic>
      <p:sp>
        <p:nvSpPr>
          <p:cNvPr id="14" name="vote_letter_83"/>
          <p:cNvSpPr txBox="1"/>
          <p:nvPr/>
        </p:nvSpPr>
        <p:spPr>
          <a:xfrm>
            <a:off x="3803904" y="21762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00"/>
                </a:solidFill>
              </a:rPr>
              <a:t>C</a:t>
            </a:r>
            <a:endParaRPr lang="en-US" sz="2200" dirty="0"/>
          </a:p>
        </p:txBody>
      </p:sp>
      <p:sp>
        <p:nvSpPr>
          <p:cNvPr id="15" name="vote_name_84"/>
          <p:cNvSpPr txBox="1"/>
          <p:nvPr/>
        </p:nvSpPr>
        <p:spPr>
          <a:xfrm>
            <a:off x="3877056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 overheating</a:t>
            </a:r>
            <a:endParaRPr lang="en-US" sz="1200" dirty="0"/>
          </a:p>
        </p:txBody>
      </p:sp>
      <p:sp>
        <p:nvSpPr>
          <p:cNvPr id="16" name="vote_card_85"/>
          <p:cNvSpPr/>
          <p:nvPr/>
        </p:nvSpPr>
        <p:spPr>
          <a:xfrm>
            <a:off x="5477256" y="960120"/>
            <a:ext cx="1517904" cy="2148840"/>
          </a:xfrm>
          <a:prstGeom prst="roundRect">
            <a:avLst>
              <a:gd name="adj" fmla="val 6024"/>
            </a:avLst>
          </a:prstGeom>
          <a:solidFill>
            <a:srgbClr val="1C2128"/>
          </a:solidFill>
          <a:ln/>
        </p:spPr>
      </p:sp>
      <p:pic>
        <p:nvPicPr>
          <p:cNvPr id="17" name="vote_pic_86" descr="Airbag fault (#39)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96128" y="1078992"/>
            <a:ext cx="1280160" cy="1051560"/>
          </a:xfrm>
          <a:prstGeom prst="rect">
            <a:avLst/>
          </a:prstGeom>
        </p:spPr>
      </p:pic>
      <p:sp>
        <p:nvSpPr>
          <p:cNvPr id="18" name="vote_letter_87"/>
          <p:cNvSpPr txBox="1"/>
          <p:nvPr/>
        </p:nvSpPr>
        <p:spPr>
          <a:xfrm>
            <a:off x="5477256" y="21762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00"/>
                </a:solidFill>
              </a:rPr>
              <a:t>D</a:t>
            </a:r>
            <a:endParaRPr lang="en-US" sz="2200" dirty="0"/>
          </a:p>
        </p:txBody>
      </p:sp>
      <p:sp>
        <p:nvSpPr>
          <p:cNvPr id="19" name="vote_name_88"/>
          <p:cNvSpPr txBox="1"/>
          <p:nvPr/>
        </p:nvSpPr>
        <p:spPr>
          <a:xfrm>
            <a:off x="5550408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Airbag fault</a:t>
            </a:r>
            <a:endParaRPr lang="en-US" sz="1200" dirty="0"/>
          </a:p>
        </p:txBody>
      </p:sp>
      <p:sp>
        <p:nvSpPr>
          <p:cNvPr id="20" name="vote_card_89"/>
          <p:cNvSpPr/>
          <p:nvPr/>
        </p:nvSpPr>
        <p:spPr>
          <a:xfrm>
            <a:off x="7150608" y="960120"/>
            <a:ext cx="1517904" cy="2148840"/>
          </a:xfrm>
          <a:prstGeom prst="roundRect">
            <a:avLst>
              <a:gd name="adj" fmla="val 6024"/>
            </a:avLst>
          </a:prstGeom>
          <a:solidFill>
            <a:srgbClr val="1C2128"/>
          </a:solidFill>
          <a:ln/>
        </p:spPr>
      </p:sp>
      <p:pic>
        <p:nvPicPr>
          <p:cNvPr id="21" name="vote_pic_90" descr="Brake system (#40)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69480" y="1078992"/>
            <a:ext cx="1280160" cy="1051560"/>
          </a:xfrm>
          <a:prstGeom prst="rect">
            <a:avLst/>
          </a:prstGeom>
        </p:spPr>
      </p:pic>
      <p:sp>
        <p:nvSpPr>
          <p:cNvPr id="22" name="vote_letter_91"/>
          <p:cNvSpPr txBox="1"/>
          <p:nvPr/>
        </p:nvSpPr>
        <p:spPr>
          <a:xfrm>
            <a:off x="7150608" y="21762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00"/>
                </a:solidFill>
              </a:rPr>
              <a:t>E</a:t>
            </a:r>
            <a:endParaRPr lang="en-US" sz="2200" dirty="0"/>
          </a:p>
        </p:txBody>
      </p:sp>
      <p:sp>
        <p:nvSpPr>
          <p:cNvPr id="23" name="vote_name_92"/>
          <p:cNvSpPr txBox="1"/>
          <p:nvPr/>
        </p:nvSpPr>
        <p:spPr>
          <a:xfrm>
            <a:off x="72237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Brake system</a:t>
            </a:r>
            <a:endParaRPr lang="en-US" sz="1200" dirty="0"/>
          </a:p>
        </p:txBody>
      </p:sp>
      <p:sp>
        <p:nvSpPr>
          <p:cNvPr id="24" name="clk01_answerbox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262C34"/>
          </a:solidFill>
          <a:ln w="19050">
            <a:solidFill>
              <a:srgbClr val="FFB000"/>
            </a:solidFill>
            <a:prstDash val="solid"/>
          </a:ln>
        </p:spPr>
      </p:sp>
      <p:sp>
        <p:nvSpPr>
          <p:cNvPr id="25" name="clk01_answertext"/>
          <p:cNvSpPr txBox="1"/>
          <p:nvPr/>
        </p:nvSpPr>
        <p:spPr>
          <a:xfrm>
            <a:off x="685800" y="338328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</a:rPr>
              <a:t>Trainer's view: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E, the brake system. Losing braking can cause a collision instantly. A (oil pressure) and C (overheating) can also stop the engine without warning.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All five mean: do not drive.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Key Learning Points</a:t>
            </a:r>
            <a:endParaRPr lang="en-US" sz="2600" dirty="0"/>
          </a:p>
        </p:txBody>
      </p:sp>
      <p:sp>
        <p:nvSpPr>
          <p:cNvPr id="4" name="clk01_card_93"/>
          <p:cNvSpPr/>
          <p:nvPr/>
        </p:nvSpPr>
        <p:spPr>
          <a:xfrm>
            <a:off x="457200" y="10515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5" name="clk01_dot_94"/>
          <p:cNvSpPr/>
          <p:nvPr/>
        </p:nvSpPr>
        <p:spPr>
          <a:xfrm>
            <a:off x="1353312" y="1325880"/>
            <a:ext cx="822960" cy="822960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6" name="clk01_n_95"/>
          <p:cNvSpPr txBox="1"/>
          <p:nvPr/>
        </p:nvSpPr>
        <p:spPr>
          <a:xfrm>
            <a:off x="1353312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clk01_t_96"/>
          <p:cNvSpPr txBox="1"/>
          <p:nvPr/>
        </p:nvSpPr>
        <p:spPr>
          <a:xfrm>
            <a:off x="640080" y="233172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Look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Check every light after start-up: most should go out in a few seconds.</a:t>
            </a:r>
            <a:endParaRPr lang="en-US" sz="2000" dirty="0"/>
          </a:p>
        </p:txBody>
      </p:sp>
      <p:sp>
        <p:nvSpPr>
          <p:cNvPr id="8" name="clk02_card_97"/>
          <p:cNvSpPr/>
          <p:nvPr/>
        </p:nvSpPr>
        <p:spPr>
          <a:xfrm>
            <a:off x="3264408" y="10515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9" name="clk02_dot_98"/>
          <p:cNvSpPr/>
          <p:nvPr/>
        </p:nvSpPr>
        <p:spPr>
          <a:xfrm>
            <a:off x="4160520" y="1325880"/>
            <a:ext cx="822960" cy="8229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clk02_n_99"/>
          <p:cNvSpPr txBox="1"/>
          <p:nvPr/>
        </p:nvSpPr>
        <p:spPr>
          <a:xfrm>
            <a:off x="41605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clk02_t_100"/>
          <p:cNvSpPr txBox="1"/>
          <p:nvPr/>
        </p:nvSpPr>
        <p:spPr>
          <a:xfrm>
            <a:off x="3447288" y="233172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Decide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Red light still on? Do not drive. Amber? Get it checked soon.</a:t>
            </a:r>
            <a:endParaRPr lang="en-US" sz="2000" dirty="0"/>
          </a:p>
        </p:txBody>
      </p:sp>
      <p:sp>
        <p:nvSpPr>
          <p:cNvPr id="12" name="clk03_card_101"/>
          <p:cNvSpPr/>
          <p:nvPr/>
        </p:nvSpPr>
        <p:spPr>
          <a:xfrm>
            <a:off x="6071616" y="10515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1C2128"/>
          </a:solidFill>
          <a:ln/>
        </p:spPr>
      </p:sp>
      <p:sp>
        <p:nvSpPr>
          <p:cNvPr id="13" name="clk03_dot_102"/>
          <p:cNvSpPr/>
          <p:nvPr/>
        </p:nvSpPr>
        <p:spPr>
          <a:xfrm>
            <a:off x="6967728" y="1325880"/>
            <a:ext cx="822960" cy="822960"/>
          </a:xfrm>
          <a:prstGeom prst="ellipse">
            <a:avLst/>
          </a:prstGeom>
          <a:solidFill>
            <a:srgbClr val="2ECC40"/>
          </a:solidFill>
          <a:ln/>
        </p:spPr>
      </p:sp>
      <p:sp>
        <p:nvSpPr>
          <p:cNvPr id="14" name="clk03_n_103"/>
          <p:cNvSpPr txBox="1"/>
          <p:nvPr/>
        </p:nvSpPr>
        <p:spPr>
          <a:xfrm>
            <a:off x="6967728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clk03_t_104"/>
          <p:cNvSpPr txBox="1"/>
          <p:nvPr/>
        </p:nvSpPr>
        <p:spPr>
          <a:xfrm>
            <a:off x="6254496" y="233172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Report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Tag the vehicle and tell your supervisor. Never hand over a faulty car.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Automotive Safety">
  <a:themeElements>
    <a:clrScheme name="Automotive Safety">
      <a:dk1>
        <a:srgbClr val="0F1215"/>
      </a:dk1>
      <a:lt1>
        <a:srgbClr val="FFFFFF"/>
      </a:lt1>
      <a:dk2>
        <a:srgbClr val="1C2128"/>
      </a:dk2>
      <a:lt2>
        <a:srgbClr val="C9D1DA"/>
      </a:lt2>
      <a:accent1>
        <a:srgbClr val="FFB000"/>
      </a:accent1>
      <a:accent2>
        <a:srgbClr val="E53935"/>
      </a:accent2>
      <a:accent3>
        <a:srgbClr val="2ECC40"/>
      </a:accent3>
      <a:accent4>
        <a:srgbClr val="2F80FF"/>
      </a:accent4>
      <a:accent5>
        <a:srgbClr val="8A939E"/>
      </a:accent5>
      <a:accent6>
        <a:srgbClr val="00B3A4"/>
      </a:accent6>
      <a:hlink>
        <a:srgbClr val="FFB000"/>
      </a:hlink>
      <a:folHlink>
        <a:srgbClr val="C9D1DA"/>
      </a:folHlink>
    </a:clrScheme>
    <a:fontScheme name="Automotive Safe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Hazard Identification – Version B</dc:title>
  <dc:subject>PptxGenJS Presentation</dc:subject>
  <dc:creator>Automotive Safety Toolbox Talk</dc:creator>
  <cp:lastModifiedBy>Automotive Safety Toolbox Talk</cp:lastModifiedBy>
  <cp:revision>1</cp:revision>
  <dcterms:created xsi:type="dcterms:W3CDTF">2026-10-15T04:43:53Z</dcterms:created>
  <dcterms:modified xsi:type="dcterms:W3CDTF">2026-10-15T04:43:53Z</dcterms:modified>
</cp:coreProperties>
</file>