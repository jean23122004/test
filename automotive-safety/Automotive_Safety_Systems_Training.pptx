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1.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Lst>
  <p:notesMasterIdLst>
    <p:notesMasterId r:id="rId14"/>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notesMaster" Target="notesMasters/notesMaster1.xml"/><Relationship Id="rId15" Type="http://schemas.openxmlformats.org/officeDocument/2006/relationships/presProps" Target="presProps.xml"/><Relationship Id="rId16" Type="http://schemas.openxmlformats.org/officeDocument/2006/relationships/viewProps" Target="viewProps.xml"/><Relationship Id="rId17" Type="http://schemas.openxmlformats.org/officeDocument/2006/relationships/theme" Target="theme/theme1.xml"/><Relationship Id="rId18"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barChart>
        <c:barDir val="bar"/>
        <c:grouping val="clustered"/>
        <c:varyColors val="0"/>
        <c:ser>
          <c:idx val="0"/>
          <c:order val="0"/>
          <c:tx>
            <c:strRef>
              <c:f>Sheet1!$B$1</c:f>
              <c:strCache>
                <c:ptCount val="1"/>
                <c:pt idx="0">
                  <c:v>Verified for exact variant</c:v>
                </c:pt>
              </c:strCache>
            </c:strRef>
          </c:tx>
          <c:spPr>
            <a:solidFill>
              <a:srgbClr val="1D4ED8"/>
            </a:solidFill>
            <a:effectLst/>
          </c:spPr>
          <c:invertIfNegative val="0"/>
          <c:dLbls>
            <c:numFmt formatCode="0.0&quot;%&quot;"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Sheet1!$A$2:$A$10</c:f>
              <c:multiLvlStrCache>
                <c:ptCount val="9"/>
                <c:lvl>
                  <c:pt idx="0">
                    <c:v>Hyundai IONIQ 5 N (US)</c:v>
                  </c:pt>
                  <c:pt idx="1">
                    <c:v>Hyundai Creta (IN)</c:v>
                  </c:pt>
                  <c:pt idx="2">
                    <c:v>Dacia Sandero (UK)</c:v>
                  </c:pt>
                  <c:pt idx="3">
                    <c:v>Mahindra XEV 9e (IN)</c:v>
                  </c:pt>
                  <c:pt idx="4">
                    <c:v>Maruti Swift (IN)</c:v>
                  </c:pt>
                  <c:pt idx="5">
                    <c:v>Tesla Model Y (US)</c:v>
                  </c:pt>
                  <c:pt idx="6">
                    <c:v>Volvo XC90 (UK)</c:v>
                  </c:pt>
                  <c:pt idx="7">
                    <c:v>Škoda Kylaq (IN)</c:v>
                  </c:pt>
                  <c:pt idx="8">
                    <c:v>Maruti Alto K10 (IN)</c:v>
                  </c:pt>
                </c:lvl>
              </c:multiLvlStrCache>
            </c:multiLvlStrRef>
          </c:cat>
          <c:val>
            <c:numRef>
              <c:f>Sheet1!$B$2:$B$10</c:f>
              <c:numCache>
                <c:formatCode>General</c:formatCode>
                <c:ptCount val="9"/>
                <c:pt idx="0">
                  <c:v>54.2</c:v>
                </c:pt>
                <c:pt idx="1">
                  <c:v>50</c:v>
                </c:pt>
                <c:pt idx="2">
                  <c:v>45.8</c:v>
                </c:pt>
                <c:pt idx="3">
                  <c:v>41.7</c:v>
                </c:pt>
                <c:pt idx="4">
                  <c:v>37.5</c:v>
                </c:pt>
                <c:pt idx="5">
                  <c:v>25</c:v>
                </c:pt>
                <c:pt idx="6">
                  <c:v>20.8</c:v>
                </c:pt>
                <c:pt idx="7">
                  <c:v>20.8</c:v>
                </c:pt>
                <c:pt idx="8">
                  <c:v>16.7</c:v>
                </c:pt>
              </c:numCache>
            </c:numRef>
          </c:val>
        </c:ser>
        <c:ser>
          <c:idx val="1"/>
          <c:order val="1"/>
          <c:tx>
            <c:strRef>
              <c:f>Sheet1!$C$1</c:f>
              <c:strCache>
                <c:ptCount val="1"/>
                <c:pt idx="0">
                  <c:v>Incl. model-level evidence</c:v>
                </c:pt>
              </c:strCache>
            </c:strRef>
          </c:tx>
          <c:spPr>
            <a:solidFill>
              <a:srgbClr val="D97706"/>
            </a:solidFill>
            <a:effectLst/>
          </c:spPr>
          <c:invertIfNegative val="0"/>
          <c:dLbls>
            <c:numFmt formatCode="0.0&quot;%&quot;"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cat>
            <c:multiLvlStrRef>
              <c:f>Sheet1!$A$2:$A$10</c:f>
              <c:multiLvlStrCache>
                <c:ptCount val="9"/>
                <c:lvl>
                  <c:pt idx="0">
                    <c:v>Hyundai IONIQ 5 N (US)</c:v>
                  </c:pt>
                  <c:pt idx="1">
                    <c:v>Hyundai Creta (IN)</c:v>
                  </c:pt>
                  <c:pt idx="2">
                    <c:v>Dacia Sandero (UK)</c:v>
                  </c:pt>
                  <c:pt idx="3">
                    <c:v>Mahindra XEV 9e (IN)</c:v>
                  </c:pt>
                  <c:pt idx="4">
                    <c:v>Maruti Swift (IN)</c:v>
                  </c:pt>
                  <c:pt idx="5">
                    <c:v>Tesla Model Y (US)</c:v>
                  </c:pt>
                  <c:pt idx="6">
                    <c:v>Volvo XC90 (UK)</c:v>
                  </c:pt>
                  <c:pt idx="7">
                    <c:v>Škoda Kylaq (IN)</c:v>
                  </c:pt>
                  <c:pt idx="8">
                    <c:v>Maruti Alto K10 (IN)</c:v>
                  </c:pt>
                </c:lvl>
              </c:multiLvlStrCache>
            </c:multiLvlStrRef>
          </c:cat>
          <c:val>
            <c:numRef>
              <c:f>Sheet1!$C$2:$C$10</c:f>
              <c:numCache>
                <c:formatCode>General</c:formatCode>
                <c:ptCount val="9"/>
                <c:pt idx="0">
                  <c:v>66.7</c:v>
                </c:pt>
                <c:pt idx="1">
                  <c:v>62.5</c:v>
                </c:pt>
                <c:pt idx="2">
                  <c:v>45.8</c:v>
                </c:pt>
                <c:pt idx="3">
                  <c:v>70.8</c:v>
                </c:pt>
                <c:pt idx="4">
                  <c:v>37.5</c:v>
                </c:pt>
                <c:pt idx="5">
                  <c:v>58.3</c:v>
                </c:pt>
                <c:pt idx="6">
                  <c:v>45.8</c:v>
                </c:pt>
                <c:pt idx="7">
                  <c:v>33.3</c:v>
                </c:pt>
                <c:pt idx="8">
                  <c:v>20.8</c:v>
                </c:pt>
              </c:numCache>
            </c:numRef>
          </c:val>
        </c:ser>
        <c:dLbls>
          <c:numFmt formatCode="0.0&quot;%&quot;" sourceLinked="0"/>
          <c:txPr>
            <a:bodyPr/>
            <a:lstStyle/>
            <a:p>
              <a:pPr>
                <a:defRPr b="0" i="0" strike="noStrike" sz="1000" u="none">
                  <a:solidFill>
                    <a:srgbClr val="334155"/>
                  </a:solidFill>
                  <a:latin typeface="+mn-lt"/>
                </a:defRPr>
              </a:pPr>
            </a:p>
          </c:txPr>
          <c:showLegendKey val="0"/>
          <c:showVal val="1"/>
          <c:showCatName val="0"/>
          <c:showSerName val="0"/>
          <c:showPercent val="0"/>
          <c:showBubbleSize val="0"/>
          <c:showLeaderLines val="0"/>
        </c:dLbls>
        <c:gapWidth val="45"/>
        <c:overlap val="0"/>
        <c:axId val="2094734554"/>
        <c:axId val="2094734552"/>
        <c:axId val="2094734556"/>
      </c:barChart>
      <c:catAx>
        <c:axId val="2094734554"/>
        <c:scaling>
          <c:orientation val="maxMin"/>
        </c:scaling>
        <c:delete val="0"/>
        <c:axPos val="l"/>
        <c:numFmt formatCode="General" sourceLinked="1"/>
        <c:majorTickMark val="out"/>
        <c:minorTickMark val="none"/>
        <c:tickLblPos val="nextTo"/>
        <c:spPr>
          <a:ln w="12700" cap="flat">
            <a:solidFill>
              <a:srgbClr val="888888"/>
            </a:solidFill>
            <a:prstDash val="solid"/>
            <a:round/>
          </a:ln>
        </c:spPr>
        <c:txPr>
          <a:bodyPr/>
          <a:lstStyle/>
          <a:p>
            <a:pPr>
              <a:defRPr sz="1200" b="0" i="0" u="none" strike="noStrike">
                <a:solidFill>
                  <a:srgbClr val="334155"/>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b"/>
        <c:majorGridlines>
          <c:spPr>
            <a:ln w="9525" cap="flat">
              <a:solidFill>
                <a:srgbClr val="E2E8F0"/>
              </a:solidFill>
              <a:prstDash val="solid"/>
              <a:round/>
            </a:ln>
          </c:spPr>
        </c:majorGridlines>
        <c:numFmt formatCode="0&quot;%&quot;" sourceLinked="0"/>
        <c:majorTickMark val="out"/>
        <c:minorTickMark val="none"/>
        <c:tickLblPos val="low"/>
        <c:spPr>
          <a:ln w="12700" cap="flat">
            <a:solidFill>
              <a:srgbClr val="888888"/>
            </a:solidFill>
            <a:prstDash val="solid"/>
            <a:round/>
          </a:ln>
        </c:spPr>
        <c:txPr>
          <a:bodyPr/>
          <a:lstStyle/>
          <a:p>
            <a:pPr>
              <a:defRPr sz="1100" b="0" i="0" u="none" strike="noStrike">
                <a:solidFill>
                  <a:srgbClr val="64748B"/>
                </a:solidFill>
                <a:latin typeface="+mn-lt"/>
              </a:defRPr>
            </a:pPr>
            <a:endParaRPr lang="en-US"/>
          </a:p>
        </c:txPr>
        <c:crossAx val="2094734554"/>
        <c:crosses val="autoZero"/>
        <c:crossBetween val="between"/>
        <c:majorUnit val="25"/>
      </c:valAx>
      <c:spPr>
        <a:noFill/>
        <a:ln>
          <a:noFill/>
        </a:ln>
        <a:effectLst/>
      </c:spPr>
    </c:plotArea>
    <c:legend>
      <c:legendPos val="b"/>
      <c:overlay val="0"/>
      <c:txPr>
        <a:bodyPr/>
        <a:lstStyle/>
        <a:p>
          <a:pPr>
            <a:defRPr sz="1200">
              <a:solidFill>
                <a:srgbClr val="334155"/>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30 seconds
WHAT TO SAY:
Good morning, everyone. Quick question before we start: how many safety systems do you think are working in your car right now? Let one or two people guess.
EXPLAIN SIMPLY:
Most people say two or three – seatbelts and airbags. In reality a modern car can have twenty or more. In the next few minutes we'll see what they do, how they work, where their limits are, and how they appear on real cars in India and around the world.
REAL-WORLD EXAMPLE:
Škoda says its Kylaq compact SUV for India comes with 25 active and passive safety features as standard (press release, 6 November 2024).
TRANSITION:
Let's start with why this matters.
SOURCES:
• Škoda Storyboard – The all-new Škoda Kylaq (press release, 6 Nov 2024): https://www.skoda-storyboard.com/en/press-releases/the-all-new-skoda-kylaq-a-new-era-for-skoda-in-indias-popular-sub-4-metre-suv-segment/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40 seconds
WHAT TO SAY:
Picture this: you're on a wet road and the traffic ahead stops suddenly. You have about two seconds. What decides whether you stop in time?
EXPLAIN SIMPLY:
Skid marks like these show a tyre that has stopped rolling and is sliding. A sliding tyre can't steer. Many safety systems exist to stop exactly this from happening – and if a crash still happens, other systems protect the people inside and call for help afterwards.
ASK THE AUDIENCE:
Show of hands: who knows whether their own car has stability control (ESC)?
EXPECTED ANSWER:
Usually only a few hands. That's fine – by the end of this session you'll know how to check.
CLICKS:
Click 1–4 reveal the four points on the right.
TRANSITION:
To make sense of all these systems, we group them into four layers.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40 seconds
WHAT TO SAY:
Vehicle safety works in four layers – a bit like the layers of protection we use on site.
EXPLAIN SIMPLY:
Active safety helps you keep control so the crash never happens: braking, stability, grip. ADAS – Advanced Driver Assistance Systems – uses cameras and radar to watch the road, warn you, and sometimes brake or steer. Passive safety protects people during a crash: seatbelts, airbags and the car's structure. Post-crash safety helps afterwards: calling for help and cutting fuel or high-voltage power. The coloured tag on each of the next slides tells you which layer we're in.
REAL-WORLD EXAMPLE:
India: ABS has been compulsory on every car on sale since April 2019, and a driver airbag, seatbelt reminders and a speed-warning system were mandated from July 2019 (Autocar India).
ASK THE AUDIENCE:
Which two layers work before a crash happens?
EXPECTED ANSWER:
Active safety and ADAS.
CLICKS:
Click 1–4 reveal each layer; click 5 shows the key message.
TRANSITION:
So how does a safety system actually work? Almost all of them follow the same three steps.
SOURCES:
• Autocar India (cited in original deck) – ABS compulsory on all cars on sale in India from April 2019: https://www.autocarindia.com/car-news/new-cars-and-bikes-to-get-more-safety-tech-this-year-411018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45 seconds
WHAT TO SAY:
Here's the secret: almost every system we'll talk about today works in three steps – sense, decide, act.
EXPLAIN SIMPLY:
SENSE: sensors measure what's happening – wheel speed, steering angle, the road ahead through a camera or radar, or a sudden deceleration in a crash. DECIDE: a small computer (control unit) compares that with what should be happening, many times a second. ACT: the car responds – a warning, braking a single wheel, reducing engine power, a steering nudge, or firing an airbag.
REAL-WORLD EXAMPLE:
Automatic Emergency Braking (right): the camera and radar see a stopped vehicle ahead, the computer decides a crash is likely, then it warns you first, brakes lightly, and finally brakes hard if you still haven't reacted. Volvo made its City Safety auto-brake standard on the XC60 in 2008 (Volvo press release, cited in the original deck).
ASK THE AUDIENCE:
What could stop a camera from seeing properly?
EXPECTED ANSWER:
Heavy rain, fog, mud or dirt on the windscreen, sun glare, faded road markings.
CLICKS:
Clicks 1–3 wipe in Sense, Decide, Act; click 4 shows the AEB example.
TRANSITION:
Let's look at the key features in each layer, starting with active 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WHAT TO SAY:
Active safety helps you keep control. Nine features – let's take them a row at a time.
EXPLAIN SIMPLY:
Row 1 – braking. ABS (anti-lock brakes): wheel-speed sensors spot a wheel about to lock and rapidly release and reapply brake pressure. Locked wheels slide and can't steer; rotating wheels can. Tip: press firmly and hold – don't pump; the buzzing pedal is normal. EBD (electronic brake-force distribution) adjusts front/rear pressure to suit the load. Brake Assist spots a fast, panicky press and boosts pressure, because most people don't press hard enough in an emergency.
Row 2 – grip and stability. ESC (electronic stability control) compares where you steer with where the car is going; if it starts to slide it brakes individual wheels and can cut power (the diagram: green path with ESC, red without). Traction control stops wheelspin when pulling away on wet paint, mud or gravel. TPMS warns when a tyre is significantly under-inflated – it doesn't replace monthly checks with a gauge.
Row 3 – everyday helpers. Hill Start Assist holds the brakes briefly so you don't roll back. Hill Descent Control holds a slow, steady speed down steep slopes. An electric parking brake with Auto Hold keeps the car still at traffic lights after you lift off the brake.
REAL-WORLD EXAMPLE:
Maruti Suzuki says the new Swift has ABS with EBD, Brake Assist, ESP and Hill Hold as standard (May 2024). Hyundai lists ESC, TPMS and Hill-start Assist across the Creta line-up in India. Names differ: ESC = ESP = VSA = VSM.
ASK THE AUDIENCE:
In an emergency, should you pump the brakes in a car with ABS?
EXPECTED ANSWER:
No. Press firmly, hold it, and steer around the hazard if it's safe. And remember: ESC only works within the tyres' grip – it doesn't let you corner faster.
CLICKS:
Clicks 1–3 reveal the three rows.
TRANSITION:
Next: systems that watch the road for you.
SOURCES:
• Maruti Suzuki – Launch of the Epic New Swift (May 2024): https://www.marutisuzuki.com/corporate/media/press-releases/2024/may/ms-launches-epic-new-swift-with-all-new-z-series-engine
• Hyundai Motor India – CRETA safety page: https://www.hyundai.com/in/en/find-a-car/creta/safety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WHAT TO SAY:
ADAS stands for Advanced Driver Assistance Systems. They use a camera (usually behind the windscreen), radar (often behind the grille badge) and short-range sensors in the bumpers.
EXPLAIN SIMPLY:
Click 1 – the forward group. Forward Collision Warning measures the gap and closing speed and warns you; on its own it does not brake. Automatic Emergency Braking can brake by itself if you don't react enough. Adaptive Cruise Control holds a set speed and a set gap, slowing behind traffic. Click 2 – the lane group. Lane Departure Warning beeps or vibrates the wheel if you drift over the lines without indicating; Lane Keeping Assist goes further and gently steers you back. Both need visible markings and your hands on the wheel. Click 3 – the side and rear group. Blind Spot Monitoring lights up in the mirror when a vehicle is alongside; Rear Cross Traffic Alert warns of cars crossing behind you as you reverse out of a parking bay.
REAL-WORLD EXAMPLE:
Tesla says Forward Collision Warning, Automatic Emergency Braking and Lane Departure Avoidance are standard on every Model Y. In India, ADAS is usually limited to top variants – for example the Hyundai Creta King and the Mahindra XEV 9e Pack Three.
ASK THE AUDIENCE:
Use the slide question: does blind-spot monitoring replace the shoulder check?
EXPECTED ANSWER:
No. It adds awareness, but motorcycles and fast-approaching vehicles can be missed. Mirrors plus shoulder check, every time. And with adaptive cruise on, the driver is still responsible for braking.
CLICKS:
Clicks 1–3 reveal the forward, lane and side/rear groups.
TRANSITION:
Now, if a crash does happen – what protects the people inside?
SOURCES:
• Tesla – Model Y page (FCW, AEB, Lane Departure Avoidance standard): https://www.tesla.com/modely
• Hyundai Motor India – Hyundai CRETA 2026 advanced features &amp; specs guide (blog): https://www.hyundai.com/in/en/blog/hyundai-creta-advance-features-specs-guide
• Mahindra – Top-variant prices of BE 6 &amp; XEV 9e (Pack Three features): https://auto.mahindra.com/press-release/mahindra-democratises-premium-ev-technology-announces-top-variant-prices-of-be-6-and-xev-9e.html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50 seconds
WHAT TO SAY:
Ask: why is it good that the front of a car crumples? Answer: crumpling absorbs crash energy and slows the deceleration, so less force reaches the people inside.
EXPLAIN SIMPLY:
The diagram shows the idea: soft crumple zones at the front and back, a strong safety cell in the middle to keep space around you. Then the restraints. Seatbelts hold you in the right position and spread forces across the strong parts of the body. Pretensioners pull the belt tight in the first moments of a crash. Load limiters let a little belt out in a controlled way so the force on the chest isn't too high. Airbags inflate in milliseconds and then vent to cushion you – they're supplemental restraints, so without a belt you can hit the bag, or the car, out of position. ISOFIX anchors make it easier to fit a compatible child seat correctly.
REAL-WORLD EXAMPLE:
Mercedes-Benz engineer Béla Barényi patented the crumple-zone and rigid-cabin idea in 1952; it went into series production on the 1959 W 111. Maruti Suzuki lists six airbags, belt pretensioners, force (load) limiters and ISOFIX on the Swift ZXi+. Practical tip: hold the wheel at 9 and 3 and keep your chest about 25 cm from the wheel centre.
ASK THE AUDIENCE:
Why don't airbags replace seatbelts?
EXPECTED ANSWER:
Airbags are supplemental. The belt keeps you in position; without it you can be thrown into the bag or the car, especially in side impacts and rollovers.
CLICKS:
Clicks 1–6 reveal the protection features one by one.
TRANSITION:
So what actually happens, second by second, in a crash?
SOURCES:
• Maruti Suzuki – Swift variant feature listing (CNG / variants page): https://marutisuzuki.com/cng/swift
• Mercedes-Benz (via Automotive World, cited in original deck): https://www.automotiveworld.com/news-releases/75-years-protection-occupants-road-users-mercedes-benz-innovation-tradition/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WHAT TO SAY:
Let's put all four layers on a timeline: before, during and after a crash.
EXPLAIN SIMPLY:
BEFORE (seconds): Forward Collision Warning alerts you; you brake; Brake Assist and – if you don't do enough – Automatic Emergency Braking add braking; ABS and ESC keep the car steerable. DURING (milliseconds): the crumple zone folds in a planned way while the cabin keeps its shape (left image); crash sensors fire the belt pretensioners and the airbags, and the load limiters let the belt give slightly. AFTER (minutes): on cars that have them, eCall or SOS calls emergency services with your location; the hazard lights come on and doors unlock to help rescuers; fuel delivery or the EV's high-voltage system is cut off; and an Event Data Recorder keeps a short snapshot of speed, braking, belt use and airbag deployment. It is not a video or audio recorder.
REAL-WORLD EXAMPLE:
In the EU, eCall is required on new car models approved after 31 March 2018, and Event Data Recorders on all new cars registered from 7 July 2024. Tesla's 2025 Model Y Emergency Response Guide says airbag deployment is designed to deactivate high voltage outside the battery – but the battery itself stays charged.
ASK THE AUDIENCE:
You arrive first at an EV crash. What must you not touch?
EXPECTED ANSWER:
Orange high-voltage cables and the battery pack. Call emergency services and keep clear.
CLICKS:
Clicks 1–3 wipe in Before, During and After; the crash image appears with During and the post-crash image with After.
TRANSITION:
That's the theory. Now let's see which of these features real cars actually have.
SOURCES:
• European Union – Your Europe (cited in original deck) – eCall in new car models approved after 31 March 2018: https://europa.eu/youreurope/citizens/travel/security-and-emergencies/emergency-assistance-vehicles-ecall/index_en.htm
• EUR-Lex – Regulation (EU) 2019/2144 consolidated text (07.07.2024): https://eur-lex.europa.eu/eli/reg/2019/2144/2024-07-07/eng
• Tesla (cited in original deck) – 2025 Model Y Emergency Response Guide: https://digitalassets.tesla.com/tesla-contents/image/upload/2025-Model-Y-Emergency-Response-Guide.pdf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WHAT TO SAY:
Here are six real cars – three sold in India, three abroad – each with its exact variant and model year.
EXPLAIN SIMPLY:
The last column shows how many of our 24 checklist features we could confirm for that exact variant from the manufacturer's own documents. Point out the pattern: in India the advanced driver-assistance features (AEB, adaptive cruise, lane keeping, blind-spot alert) are found on the top variants such as the Creta King and the XEV 9e Pack Three, while the Swift ZXi+ focuses on strong basics. In Europe and the UK, even an entry-level car like the Dacia Sandero Essential has AEB, lane keeping and eCall, because the EU safety rules made them compulsory and Dacia fitted the same kit to its UK cars.
REAL-WORLD EXAMPLE:
Hyundai notes that smart cruise control on the Creta comes only with automatic gearboxes – so a manual Creta King would not have it. That is exactly why the variant matters.
ASK THE AUDIENCE:
If two people both drive a 'Hyundai Creta', do they have the same safety features?
EXPECTED ANSWER:
Not necessarily. Equipment varies by variant, gearbox and model year. Check the brochure or the variant page for your exact car.
CLICKS:
Click 1 shows the key message.
TRANSITION:
Why do cars in different markets differ so much? Mostly because of the rules.
SOURCES:
• Creta King: Hyundai Motor India – CRETA brochure (Knight / King): https://www.hyundai.com/content/dam/hyundai/in/en/data/brochure/creta-brochureknight.pdf ; Hyundai Motor India – Hyundai CRETA 2026 advanced features &amp; specs guide (blog): https://www.hyundai.com/in/en/blog/hyundai-creta-advance-features-specs-guide
• XEV 9e Pack Three: Mahindra Electric SUV – XEV 9e brochure R1 (28 Apr 2026): https://www.mahindraelectricsuv.com/on/demandware.static/-/Library-Sites-eSUVSharedLibrary/default/MXV9/XEV9e_BROCHURE_R1_20260428.pdf ; Mahindra – Top-variant prices of BE 6 &amp; XEV 9e (Pack Three features): https://auto.mahindra.com/press-release/mahindra-democratises-premium-ev-technology-announces-top-variant-prices-of-be-6-and-xev-9e.html
• Swift ZXi+: Maruti Suzuki – Swift variant feature listing (CNG / variants page): https://marutisuzuki.com/cng/swift ; Maruti Suzuki – Launch of the Epic New Swift (May 2024): https://www.marutisuzuki.com/corporate/media/press-releases/2024/may/ms-launches-epic-new-swift-with-all-new-z-series-engine
• IONIQ 5 N: Hyundai Motor America – 2026 IONIQ 5 N Specs and Features (22 Jul 2025): https://www.hyundainews.com/assets/documents/original/68164-2026IONIQ5NSpecsFeatures20250722A.pdf ; Hyundai Motor America – Hyundai launches Bluelink+ (ACN and SOS included): https://www.hyundainews.com/releases/3761?lang=en_US
• Model Y: Tesla – Model Y page (FCW, AEB, Lane Departure Avoidance standard): https://www.tesla.com/modely ; Tesla – Model Y Owner's Manual – Traffic-Aware Cruise Control (all Tesla vehicles): https://www.tesla.com/ownersmanual/modely/en_us/GUID-101D1BF5-52D2-469A-A57D-E7230BBEE94B.html
• Sandero Essential: Dacia UK – Dacia says yes to extra equipment and no to extra cost (GSR2 kit standard from Essential): https://www.press.dacia.co.uk/releases/440 ; Dacia UK – Sandero and Sandero Stepway press kit (May 2023): https://www.press.dacia.co.uk/assets/documents/original/4592-DaciaSanderoandSanderoStepwayPressKitMay2023.pdf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WHAT TO SAY:
Why does a basic European car have automatic braking when many Indian cars don't? Mostly because of the rules in each market.
EXPLAIN SIMPLY:
INDIA: ABS has been compulsory on all cars on sale since April 2019. Bharat NCAP, launched on 22 August 2023 and testing from 1 October 2023, gives voluntary crash-test star ratings. Six airbags have become standard on many models – Hyundai announced it across its range in October 2023, and Maruti Suzuki's ARENA range including the Alto K10 from May 2025. ADAS is still mostly on top variants. EUROPEAN UNION: eCall is required on new models approved after 31 March 2018. Under the General Safety Regulation, from 7 July 2024 every new car registered must have AEB, emergency lane keeping, an Event Data Recorder, intelligent speed assistance, driver drowsiness warning, TPMS and ESC, among others. The UK is outside the EU, but Dacia says it fitted the same equipment to the Sandero from the entry Essential trim. UNITED STATES: federal standards require ESC (FMVSS 126) and TPMS (FMVSS 138). NHTSA finalised an AEB standard (FMVSS 127) in 2024 with compliance from 1 September 2029; the rule has since been subject to reconsideration, so check its current status.
REAL-WORLD EXAMPLE:
Mahindra's XEV 9e and BE 6 achieved 5-star Bharat NCAP ratings – but that rating does not tell you which ADAS features a given variant has. Bharat NCAP tests the base variant.
ASK THE AUDIENCE:
Does a 5-star crash-test rating mean the car has automatic emergency braking?
EXPECTED ANSWER:
No. The rating reflects test performance; check the equipment list for your variant.
CLICKS:
Clicks 1–3 reveal India, EU and USA; click 4 shows the key message.
TRANSITION:
So how complete is the safety kit on real cars? Let's measure it.
SOURCES:
• Autocar India (cited in original deck) – ABS compulsory on all cars on sale in India from April 2019: https://www.autocarindia.com/car-news/new-cars-and-bikes-to-get-more-safety-tech-this-year-411018
• PIB, Government of India – Bharat NCAP launched 22 Aug 2023; testing from 1 Oct 2023: https://www.pib.gov.in/PressReleaseIframePage.aspx?PRID=1951030&amp;reg=3&amp;lang=2
• Bharat NCAP – Programme website (voluntary star rating): https://www.bncap.in/
• Maruti Suzuki – ARENA offers 6 airbags as standard (May 2025): https://www.marutisuzuki.com/corporate/media/press-releases/2025/may/maruti-suzuki-arena-enhances-safety-by-offering-6-airbags-as-standard
• Autocar Pro (cited in original deck) – Hyundai six airbags standard: https://www.autocarpro.in/news/hyundai-india-announces-six-airbags-as-standard-for-all-models-117076
• European Union – Your Europe (cited in original deck) – eCall in new car models approved after 31 March 2018: https://europa.eu/youreurope/citizens/travel/security-and-emergencies/emergency-assistance-vehicles-ecall/index_en.htm
• EUR-Lex – Regulation (EU) 2019/2144 consolidated text (07.07.2024): https://eur-lex.europa.eu/eli/reg/2019/2144/2024-07-07/eng
• European Commission – Mandatory driver assistance systems apply to all new vehicles from 7 July 2024: https://single-market-economy.ec.europa.eu/news/mandatory-drivers-assistance-systems-expected-help-save-over-25000-lives-2038-2024-07-05_en
• Dacia UK – Dacia says yes to extra equipment and no to extra cost (GSR2 kit standard from Essential): https://www.press.dacia.co.uk/releases/440
• NHTSA – FMVSS No. 126 Electronic Stability Control Systems: https://www.nhtsa.gov/document/electronic-stability-control-systems-fmvss-no-126
• NHTSA – FMVSS No. 138 Tire Pressure Monitoring Systems: https://www.nhtsa.gov/sites/nhtsa.gov/files/fmvss/tirepressure-fmvss-138.pdf
• NHTSA – FMVSS No. 127 Automatic Emergency Braking final rule (compliance from 1 Sept 2029): https://www.nhtsa.gov/press-releases/nhtsa-fmvss-127-automatic-emergency-braking-reduce-crashes
• Tesla – Vehicle safety and security features (support): https://www.tesla.com/support/vehicle-safety-security-features
• Mahindra – BE 6 and XEV 9e create history with 5-star Bharat NCAP rating: https://auto.mahindra.com/press-release/xev-nine-e-and-be-six-create-history.html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75 seconds
WHAT TO SAY:
How complete is the safety kit on real cars? We built a fixed checklist of the 24 features covered in this session and checked nine exact variants against it.
EXPLAIN SIMPLY:
Method: Feature coverage = verified features present ÷ 24 × 100. Every vehicle is scored against the same 24 features. A feature only counts as present (blue bar) if an official manufacturer document confirms it for that exact variant, or a law in that market requires it on every new car. The amber bar adds features that the manufacturer documents for the model in general – in an owner's manual or brochure – but that we could not tie to this exact variant. Results: no vehicle could be confirmed to include every feature in the checklist, and none reached the 75% band on verified evidence. 50% band: Hyundai IONIQ 5 N (US, MY2026) 13/24 = 54.2%; Hyundai Creta King automatic (India) 12/24 = 50.0%. 25% band: Dacia Sandero Essential (UK) 11/24 = 45.8%; Mahindra XEV 9e Pack Three (India) 10/24 = 41.7%; Maruti Suzuki Swift ZXi+ (India) 9/24 = 37.5%; Tesla Model Y Premium (US) 6/24 = 25.0%. Below 25%: Škoda Kylaq Prestige+ 5/24 = 20.8%; Volvo XC90 T8 Core (UK) 5/24 = 20.8%; Maruti Suzuki Alto K10 4/24 = 16.7%.
REAL-WORLD EXAMPLE:
Important: the Volvo XC90 and Tesla Model Y score low on the blue bar mainly because their official pages and manuals don't tie every feature to a specific trim – post-crash features such as automatic door unlock and EDR are rarely stated anywhere. Their amber bars (45.8% and 58.3%) show the model-level evidence. Treat this as a measure of documented, verifiable equipment, not as a crash-safety ranking.
ASK THE AUDIENCE:
Why might a premium car score lower than a budget car on this chart?
EXPECTED ANSWER:
Because the score counts only what we could prove from official documents for that exact variant. A missing proof is not a missing feature – and that's a good habit for buyers too: ask for the variant brochure.
CLICKS:
Clicks 1–4 reveal the bands from 100% down; click 5 shows the caution.
TRANSITION:
Let's finish with a quick knowledge check.
SOURCES:
• Full per-vehicle evidence, source URLs and unresolved gaps: Automotive_Safety_Research_Report.docx and Vehicle_Feature_Coverage_Workbook.xlsx (delivered with this deck).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TIMING: about 60 seconds
WHAT TO SAY:
Four quick questions. Ask each one, let people answer, then click to reveal.
EXPLAIN SIMPLY:
Q1: hold the pedal firmly – don't pump – and steer around the hazard. Q2: no – ESC helps only within the tyres' grip; speed and tyre condition still decide. Q3: no – blind-spot monitoring can miss motorcycles and fast-approaching vehicles. Q4: no – equipment varies by variant, gearbox and model year; check the brochure. Then the five habits: a safe speed for the conditions, a safe following distance (it gives you and AEB time to act), the seatbelt on every trip, tyres and brakes in good condition (check pressure monthly and tyre age from the DOT code), and never relying entirely on driver assistance.
ASK THE AUDIENCE:
Which of these five habits did you do on your way here today?
EXPECTED ANSWER:
Answers vary; reinforce the seatbelt as the non-negotiable one.
CLICKS:
Clicks 1–4 reveal the quiz answers; click 5 the habits; click 6 the final message.
TRANSITION:
Close: "Safety technology helps, but safe driving saves lives. Thank you – drive safely today." Take one or two questions if time allows.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TITLE-image-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image" Target="../media/CONTENT-image-1.pn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ph idx="100" type="title" hasCustomPrompt="1"/>
          </p:nvPr>
        </p:nvSpPr>
        <p:spPr>
          <a:xfrm>
            <a:off x="548640" y="603504"/>
            <a:ext cx="9326880" cy="585216"/>
          </a:xfrm>
          <a:prstGeom prst="rect">
            <a:avLst/>
          </a:prstGeom>
          <a:noFill/>
          <a:ln/>
        </p:spPr>
        <p:txBody>
          <a:bodyPr wrap="square" rtlCol="0"/>
          <a:lstStyle>
            <a:lvl1pPr algn="l" indent="0" marL="0">
              <a:buNone/>
              <a:defRPr lang="en-US" sz="3000" b="1" dirty="0">
                <a:solidFill>
                  <a:srgbClr val="0B1F3A"/>
                </a:solidFill>
                <a:latin typeface="Arial" pitchFamily="34" charset="0"/>
                <a:ea typeface="Arial" pitchFamily="34" charset="-122"/>
                <a:cs typeface="Arial" pitchFamily="34" charset="-120"/>
              </a:defRPr>
            </a:lvl1pPr>
          </a:lstStyle>
          <a:p>
            <a:pPr algn="l" indent="0" marL="0">
              <a:buNone/>
            </a:pPr>
            <a:endParaRPr lang="en-US" sz="3000" dirty="0"/>
          </a:p>
        </p:txBody>
      </p:sp>
      <p:sp>
        <p:nvSpPr>
          <p:cNvPr id="25"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1003</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image" Target="../media/image-2-5.png"/><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3.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jpg"/><Relationship Id="rId5" Type="http://schemas.openxmlformats.org/officeDocument/2006/relationships/slideLayout" Target="../slideLayouts/slideLayout3.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image" Target="../media/image-5-2.jpg"/><Relationship Id="rId3" Type="http://schemas.openxmlformats.org/officeDocument/2006/relationships/slideLayout" Target="../slideLayouts/slideLayout3.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3.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image" Target="../media/image-7-2.jp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image" Target="../media/image-7-8.png"/><Relationship Id="rId9" Type="http://schemas.openxmlformats.org/officeDocument/2006/relationships/slideLayout" Target="../slideLayouts/slideLayout3.xml"/><Relationship Id="rId10"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3.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slideLayout" Target="../slideLayouts/slideLayout3.xml"/><Relationship Id="rId5"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slideLayout" Target="../slideLayouts/slideLayout3.xml"/><Relationship Id="rId7" Type="http://schemas.openxmlformats.org/officeDocument/2006/relationships/notesSlide" Target="../notesSlides/notesSlide1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b_1"/>
          <p:cNvSpPr/>
          <p:nvPr/>
        </p:nvSpPr>
        <p:spPr>
          <a:xfrm>
            <a:off x="411480" y="411480"/>
            <a:ext cx="5852160" cy="3520440"/>
          </a:xfrm>
          <a:prstGeom prst="roundRect">
            <a:avLst>
              <a:gd name="adj" fmla="val 2597"/>
            </a:avLst>
          </a:prstGeom>
          <a:solidFill>
            <a:srgbClr val="0B1F3A">
              <a:alpha val="88000"/>
            </a:srgbClr>
          </a:solidFill>
          <a:ln/>
        </p:spPr>
      </p:sp>
      <p:sp>
        <p:nvSpPr>
          <p:cNvPr id="3" name="t_2"/>
          <p:cNvSpPr txBox="1"/>
          <p:nvPr/>
        </p:nvSpPr>
        <p:spPr>
          <a:xfrm>
            <a:off x="685800" y="640080"/>
            <a:ext cx="5486400" cy="320040"/>
          </a:xfrm>
          <a:prstGeom prst="rect">
            <a:avLst/>
          </a:prstGeom>
          <a:noFill/>
          <a:ln/>
        </p:spPr>
        <p:txBody>
          <a:bodyPr wrap="square" lIns="508" tIns="508" rIns="508" bIns="508" rtlCol="0" anchor="t"/>
          <a:lstStyle/>
          <a:p>
            <a:pPr indent="0" marL="0">
              <a:buNone/>
            </a:pPr>
            <a:r>
              <a:rPr lang="en-US" sz="1300" b="1" spc="200" kern="0" dirty="0">
                <a:solidFill>
                  <a:srgbClr val="F59E0B"/>
                </a:solidFill>
                <a:latin typeface="Arial" pitchFamily="34" charset="0"/>
                <a:ea typeface="Arial" pitchFamily="34" charset="-122"/>
                <a:cs typeface="Arial" pitchFamily="34" charset="-120"/>
              </a:rPr>
              <a:t>TOOLBOX TALK  ·  BEGINNER TRAINING</a:t>
            </a:r>
            <a:endParaRPr lang="en-US" sz="1300" dirty="0"/>
          </a:p>
        </p:txBody>
      </p:sp>
      <p:sp>
        <p:nvSpPr>
          <p:cNvPr id="4" name="t_3"/>
          <p:cNvSpPr txBox="1"/>
          <p:nvPr/>
        </p:nvSpPr>
        <p:spPr>
          <a:xfrm>
            <a:off x="685800" y="1005840"/>
            <a:ext cx="5486400" cy="1234440"/>
          </a:xfrm>
          <a:prstGeom prst="rect">
            <a:avLst/>
          </a:prstGeom>
          <a:noFill/>
          <a:ln/>
        </p:spPr>
        <p:txBody>
          <a:bodyPr wrap="square" lIns="508" tIns="508" rIns="508" bIns="508" rtlCol="0" anchor="ctr"/>
          <a:lstStyle/>
          <a:p>
            <a:pPr indent="0" marL="0">
              <a:buNone/>
            </a:pPr>
            <a:r>
              <a:rPr lang="en-US" sz="3600" b="1" dirty="0">
                <a:solidFill>
                  <a:srgbClr val="FFFFFF"/>
                </a:solidFill>
                <a:latin typeface="Arial" pitchFamily="34" charset="0"/>
                <a:ea typeface="Arial" pitchFamily="34" charset="-122"/>
                <a:cs typeface="Arial" pitchFamily="34" charset="-120"/>
              </a:rPr>
              <a:t>Automotive Safety Systems</a:t>
            </a:r>
            <a:endParaRPr lang="en-US" sz="3600" dirty="0"/>
          </a:p>
        </p:txBody>
      </p:sp>
      <p:sp>
        <p:nvSpPr>
          <p:cNvPr id="5" name="t_4"/>
          <p:cNvSpPr txBox="1"/>
          <p:nvPr/>
        </p:nvSpPr>
        <p:spPr>
          <a:xfrm>
            <a:off x="685800" y="2331720"/>
            <a:ext cx="5394960" cy="731520"/>
          </a:xfrm>
          <a:prstGeom prst="rect">
            <a:avLst/>
          </a:prstGeom>
          <a:noFill/>
          <a:ln/>
        </p:spPr>
        <p:txBody>
          <a:bodyPr wrap="square" lIns="508" tIns="508" rIns="508" bIns="508" rtlCol="0" anchor="t"/>
          <a:lstStyle/>
          <a:p>
            <a:pPr indent="0" marL="0">
              <a:buNone/>
            </a:pPr>
            <a:r>
              <a:rPr lang="en-US" sz="1800" i="1" dirty="0">
                <a:solidFill>
                  <a:srgbClr val="E2E8F0"/>
                </a:solidFill>
                <a:latin typeface="Arial" pitchFamily="34" charset="0"/>
                <a:ea typeface="Arial" pitchFamily="34" charset="-122"/>
                <a:cs typeface="Arial" pitchFamily="34" charset="-120"/>
              </a:rPr>
              <a:t>How cars help prevent crashes, protect people and call for help</a:t>
            </a:r>
            <a:endParaRPr lang="en-US" sz="1800" dirty="0"/>
          </a:p>
        </p:txBody>
      </p:sp>
      <p:sp>
        <p:nvSpPr>
          <p:cNvPr id="6" name="t_5"/>
          <p:cNvSpPr txBox="1"/>
          <p:nvPr/>
        </p:nvSpPr>
        <p:spPr>
          <a:xfrm>
            <a:off x="685800" y="3154680"/>
            <a:ext cx="5394960" cy="548640"/>
          </a:xfrm>
          <a:prstGeom prst="rect">
            <a:avLst/>
          </a:prstGeom>
          <a:noFill/>
          <a:ln/>
        </p:spPr>
        <p:txBody>
          <a:bodyPr wrap="square" lIns="508" tIns="508" rIns="508" bIns="508" rtlCol="0" anchor="t"/>
          <a:lstStyle/>
          <a:p>
            <a:pPr indent="0" marL="0">
              <a:buNone/>
            </a:pPr>
            <a:r>
              <a:rPr lang="en-US" sz="1300" dirty="0">
                <a:solidFill>
                  <a:srgbClr val="CBD5E1"/>
                </a:solidFill>
                <a:latin typeface="Arial" pitchFamily="34" charset="0"/>
                <a:ea typeface="Arial" pitchFamily="34" charset="-122"/>
                <a:cs typeface="Arial" pitchFamily="34" charset="-120"/>
              </a:rPr>
              <a:t>With verified examples from India and global markets · October 2026</a:t>
            </a:r>
            <a:endParaRPr lang="en-US" sz="1300" dirty="0"/>
          </a:p>
        </p:txBody>
      </p:sp>
      <p:sp>
        <p:nvSpPr>
          <p:cNvPr id="7" name="b_6"/>
          <p:cNvSpPr/>
          <p:nvPr/>
        </p:nvSpPr>
        <p:spPr>
          <a:xfrm>
            <a:off x="6903720" y="548640"/>
            <a:ext cx="4754880" cy="3154680"/>
          </a:xfrm>
          <a:prstGeom prst="roundRect">
            <a:avLst>
              <a:gd name="adj" fmla="val 1739"/>
            </a:avLst>
          </a:prstGeom>
          <a:solidFill>
            <a:srgbClr val="FFFFFF"/>
          </a:solidFill>
          <a:ln/>
          <a:effectLst>
            <a:outerShdw sx="100000" sy="100000" kx="0" ky="0" algn="bl" rotWithShape="0" blurRad="63500" dist="25400" dir="5400000">
              <a:srgbClr val="000000">
                <a:alpha val="12000"/>
              </a:srgbClr>
            </a:outerShdw>
          </a:effectLst>
        </p:spPr>
      </p:sp>
      <p:pic>
        <p:nvPicPr>
          <p:cNvPr id="8" name="p_7" descr="Close-up of a car tyre on the road">    </p:cNvPr>
          <p:cNvPicPr>
            <a:picLocks noChangeAspect="1"/>
          </p:cNvPicPr>
          <p:nvPr/>
        </p:nvPicPr>
        <p:blipFill>
          <a:blip r:embed="rId1"/>
          <a:srcRect l="0" r="0" t="1064" b="-1064"/>
          <a:stretch/>
        </p:blipFill>
        <p:spPr>
          <a:xfrm>
            <a:off x="6976872" y="621792"/>
            <a:ext cx="4608576" cy="3008376"/>
          </a:xfrm>
          <a:prstGeom prst="rect">
            <a:avLst/>
          </a:prstGeom>
        </p:spPr>
      </p:pic>
    </p:spTree>
  </p:cSld>
  <p:clrMapOvr>
    <a:masterClrMapping/>
  </p:clrMapOvr>
  <p:transition spd="med">
    <p:fade/>
  </p:transition>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b_8"/>
          <p:cNvSpPr/>
          <p:nvPr/>
        </p:nvSpPr>
        <p:spPr>
          <a:xfrm>
            <a:off x="548640" y="274320"/>
            <a:ext cx="2092147" cy="292608"/>
          </a:xfrm>
          <a:prstGeom prst="roundRect">
            <a:avLst>
              <a:gd name="adj" fmla="val 50000"/>
            </a:avLst>
          </a:prstGeom>
          <a:solidFill>
            <a:srgbClr val="B45309"/>
          </a:solidFill>
          <a:ln/>
        </p:spPr>
      </p:sp>
      <p:sp>
        <p:nvSpPr>
          <p:cNvPr id="3" name="t_9"/>
          <p:cNvSpPr txBox="1"/>
          <p:nvPr/>
        </p:nvSpPr>
        <p:spPr>
          <a:xfrm>
            <a:off x="548640" y="274320"/>
            <a:ext cx="2092147"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WHY THIS MATTERS</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Two Seconds on a Wet Road</a:t>
            </a:r>
            <a:endParaRPr lang="en-US" sz="3000" dirty="0"/>
          </a:p>
        </p:txBody>
      </p:sp>
      <p:sp>
        <p:nvSpPr>
          <p:cNvPr id="5" name="t_10"/>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Traffic ahead stops suddenly. What helps you now?</a:t>
            </a:r>
            <a:endParaRPr lang="en-US" sz="1800" dirty="0"/>
          </a:p>
        </p:txBody>
      </p:sp>
      <p:pic>
        <p:nvPicPr>
          <p:cNvPr id="6" name="p_11" descr="Tyre skid marks on asphalt">    </p:cNvPr>
          <p:cNvPicPr>
            <a:picLocks noChangeAspect="1"/>
          </p:cNvPicPr>
          <p:nvPr/>
        </p:nvPicPr>
        <p:blipFill>
          <a:blip r:embed="rId1"/>
          <a:srcRect l="916" r="-916" t="0" b="0"/>
          <a:stretch/>
        </p:blipFill>
        <p:spPr>
          <a:xfrm>
            <a:off x="548640" y="1737360"/>
            <a:ext cx="5394960" cy="3657600"/>
          </a:xfrm>
          <a:prstGeom prst="rect">
            <a:avLst/>
          </a:prstGeom>
        </p:spPr>
      </p:pic>
      <p:sp>
        <p:nvSpPr>
          <p:cNvPr id="7" name="b_12"/>
          <p:cNvSpPr/>
          <p:nvPr/>
        </p:nvSpPr>
        <p:spPr>
          <a:xfrm>
            <a:off x="548640" y="5440680"/>
            <a:ext cx="5394960" cy="548640"/>
          </a:xfrm>
          <a:prstGeom prst="rect">
            <a:avLst/>
          </a:prstGeom>
          <a:solidFill>
            <a:srgbClr val="0B1F3A"/>
          </a:solidFill>
          <a:ln/>
        </p:spPr>
      </p:sp>
      <p:sp>
        <p:nvSpPr>
          <p:cNvPr id="8" name="t_13"/>
          <p:cNvSpPr txBox="1"/>
          <p:nvPr/>
        </p:nvSpPr>
        <p:spPr>
          <a:xfrm>
            <a:off x="685800" y="5440680"/>
            <a:ext cx="5120640" cy="548640"/>
          </a:xfrm>
          <a:prstGeom prst="rect">
            <a:avLst/>
          </a:prstGeom>
          <a:noFill/>
          <a:ln/>
        </p:spPr>
        <p:txBody>
          <a:bodyPr wrap="square" lIns="508" tIns="508" rIns="508" bIns="508" rtlCol="0" anchor="ctr"/>
          <a:lstStyle/>
          <a:p>
            <a:pPr indent="0" marL="0">
              <a:buNone/>
            </a:pPr>
            <a:r>
              <a:rPr lang="en-US" sz="1500" i="1" dirty="0">
                <a:solidFill>
                  <a:srgbClr val="FFFFFF"/>
                </a:solidFill>
                <a:latin typeface="Arial" pitchFamily="34" charset="0"/>
                <a:ea typeface="Arial" pitchFamily="34" charset="-122"/>
                <a:cs typeface="Arial" pitchFamily="34" charset="-120"/>
              </a:rPr>
              <a:t>Skid marks: a tyre that is sliding instead of rolling</a:t>
            </a:r>
            <a:endParaRPr lang="en-US" sz="1500" dirty="0"/>
          </a:p>
        </p:txBody>
      </p:sp>
      <p:sp>
        <p:nvSpPr>
          <p:cNvPr id="9" name="b_14"/>
          <p:cNvSpPr/>
          <p:nvPr/>
        </p:nvSpPr>
        <p:spPr>
          <a:xfrm>
            <a:off x="6217920" y="1737360"/>
            <a:ext cx="5422392" cy="512064"/>
          </a:xfrm>
          <a:prstGeom prst="roundRect">
            <a:avLst>
              <a:gd name="adj" fmla="val 14286"/>
            </a:avLst>
          </a:prstGeom>
          <a:solidFill>
            <a:srgbClr val="FEF3C7"/>
          </a:solidFill>
          <a:ln w="15875">
            <a:solidFill>
              <a:srgbClr val="B45309"/>
            </a:solidFill>
            <a:prstDash val="solid"/>
          </a:ln>
        </p:spPr>
      </p:sp>
      <p:sp>
        <p:nvSpPr>
          <p:cNvPr id="10" name="qc_15"/>
          <p:cNvSpPr/>
          <p:nvPr/>
        </p:nvSpPr>
        <p:spPr>
          <a:xfrm>
            <a:off x="6327648" y="1819656"/>
            <a:ext cx="347472" cy="347472"/>
          </a:xfrm>
          <a:prstGeom prst="ellipse">
            <a:avLst/>
          </a:prstGeom>
          <a:solidFill>
            <a:srgbClr val="B45309"/>
          </a:solidFill>
          <a:ln/>
        </p:spPr>
      </p:sp>
      <p:sp>
        <p:nvSpPr>
          <p:cNvPr id="11" name="t_16"/>
          <p:cNvSpPr txBox="1"/>
          <p:nvPr/>
        </p:nvSpPr>
        <p:spPr>
          <a:xfrm>
            <a:off x="6327648" y="1819656"/>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2" name="t_17"/>
          <p:cNvSpPr txBox="1"/>
          <p:nvPr/>
        </p:nvSpPr>
        <p:spPr>
          <a:xfrm>
            <a:off x="6784848" y="1737360"/>
            <a:ext cx="4736592" cy="512064"/>
          </a:xfrm>
          <a:prstGeom prst="rect">
            <a:avLst/>
          </a:prstGeom>
          <a:noFill/>
          <a:ln/>
        </p:spPr>
        <p:txBody>
          <a:bodyPr wrap="square" lIns="508" tIns="508" rIns="508" bIns="508" rtlCol="0" anchor="ctr"/>
          <a:lstStyle/>
          <a:p>
            <a:pPr indent="0" marL="0">
              <a:buNone/>
            </a:pPr>
            <a:r>
              <a:rPr lang="en-US" sz="1500" b="1" dirty="0">
                <a:solidFill>
                  <a:srgbClr val="0B1F3A"/>
                </a:solidFill>
                <a:latin typeface="Arial" pitchFamily="34" charset="0"/>
                <a:ea typeface="Arial" pitchFamily="34" charset="-122"/>
                <a:cs typeface="Arial" pitchFamily="34" charset="-120"/>
              </a:rPr>
              <a:t>How many safety systems are working in your car right now?</a:t>
            </a:r>
            <a:endParaRPr lang="en-US" sz="1500" dirty="0"/>
          </a:p>
        </p:txBody>
      </p:sp>
      <p:sp>
        <p:nvSpPr>
          <p:cNvPr id="13" name="a1_b_18"/>
          <p:cNvSpPr/>
          <p:nvPr/>
        </p:nvSpPr>
        <p:spPr>
          <a:xfrm>
            <a:off x="6217920" y="2487168"/>
            <a:ext cx="5422392" cy="804672"/>
          </a:xfrm>
          <a:prstGeom prst="roundRect">
            <a:avLst>
              <a:gd name="adj" fmla="val 9091"/>
            </a:avLst>
          </a:prstGeom>
          <a:solidFill>
            <a:srgbClr val="FFFFFF"/>
          </a:solidFill>
          <a:ln w="12700">
            <a:solidFill>
              <a:srgbClr val="CBD5E1"/>
            </a:solidFill>
            <a:prstDash val="solid"/>
          </a:ln>
        </p:spPr>
      </p:sp>
      <p:sp>
        <p:nvSpPr>
          <p:cNvPr id="14" name="a1_c_19"/>
          <p:cNvSpPr/>
          <p:nvPr/>
        </p:nvSpPr>
        <p:spPr>
          <a:xfrm>
            <a:off x="6355080" y="2615184"/>
            <a:ext cx="548640" cy="548640"/>
          </a:xfrm>
          <a:prstGeom prst="ellipse">
            <a:avLst/>
          </a:prstGeom>
          <a:solidFill>
            <a:srgbClr val="0B1F3A"/>
          </a:solidFill>
          <a:ln/>
        </p:spPr>
      </p:sp>
      <p:pic>
        <p:nvPicPr>
          <p:cNvPr id="15" name="a1_i_20" descr="preencoded.png">    </p:cNvPr>
          <p:cNvPicPr>
            <a:picLocks noChangeAspect="1"/>
          </p:cNvPicPr>
          <p:nvPr/>
        </p:nvPicPr>
        <p:blipFill>
          <a:blip r:embed="rId2"/>
          <a:stretch>
            <a:fillRect/>
          </a:stretch>
        </p:blipFill>
        <p:spPr>
          <a:xfrm>
            <a:off x="6475781" y="2735885"/>
            <a:ext cx="307238" cy="307238"/>
          </a:xfrm>
          <a:prstGeom prst="rect">
            <a:avLst/>
          </a:prstGeom>
        </p:spPr>
      </p:pic>
      <p:sp>
        <p:nvSpPr>
          <p:cNvPr id="16" name="a1_t_21"/>
          <p:cNvSpPr txBox="1"/>
          <p:nvPr/>
        </p:nvSpPr>
        <p:spPr>
          <a:xfrm>
            <a:off x="7040880" y="2523744"/>
            <a:ext cx="4526280" cy="731520"/>
          </a:xfrm>
          <a:prstGeom prst="rect">
            <a:avLst/>
          </a:prstGeom>
          <a:noFill/>
          <a:ln/>
        </p:spPr>
        <p:txBody>
          <a:bodyPr wrap="square" lIns="508" tIns="508" rIns="508" bIns="508" rtlCol="0" anchor="ctr"/>
          <a:lstStyle/>
          <a:p>
            <a:pPr indent="0" marL="0">
              <a:buNone/>
            </a:pPr>
            <a:r>
              <a:rPr lang="en-US" sz="1700" b="1" dirty="0">
                <a:solidFill>
                  <a:srgbClr val="0B1F3A"/>
                </a:solidFill>
                <a:latin typeface="Arial" pitchFamily="34" charset="0"/>
                <a:ea typeface="Arial" pitchFamily="34" charset="-122"/>
                <a:cs typeface="Arial" pitchFamily="34" charset="-120"/>
              </a:rPr>
              <a:t>Most people guess two or three</a:t>
            </a:r>
            <a:endParaRPr lang="en-US" sz="1700" dirty="0"/>
          </a:p>
          <a:p>
            <a:pPr indent="0" marL="0">
              <a:buNone/>
            </a:pPr>
            <a:r>
              <a:rPr lang="en-US" sz="1400" dirty="0">
                <a:solidFill>
                  <a:srgbClr val="475569"/>
                </a:solidFill>
                <a:latin typeface="Arial" pitchFamily="34" charset="0"/>
                <a:ea typeface="Arial" pitchFamily="34" charset="-122"/>
                <a:cs typeface="Arial" pitchFamily="34" charset="-120"/>
              </a:rPr>
              <a:t>Seatbelts and airbags</a:t>
            </a:r>
            <a:endParaRPr lang="en-US" sz="1700" dirty="0"/>
          </a:p>
        </p:txBody>
      </p:sp>
      <p:sp>
        <p:nvSpPr>
          <p:cNvPr id="17" name="a2_b_22"/>
          <p:cNvSpPr/>
          <p:nvPr/>
        </p:nvSpPr>
        <p:spPr>
          <a:xfrm>
            <a:off x="6217920" y="3401568"/>
            <a:ext cx="5422392" cy="804672"/>
          </a:xfrm>
          <a:prstGeom prst="roundRect">
            <a:avLst>
              <a:gd name="adj" fmla="val 9091"/>
            </a:avLst>
          </a:prstGeom>
          <a:solidFill>
            <a:srgbClr val="FFFFFF"/>
          </a:solidFill>
          <a:ln w="12700">
            <a:solidFill>
              <a:srgbClr val="CBD5E1"/>
            </a:solidFill>
            <a:prstDash val="solid"/>
          </a:ln>
        </p:spPr>
      </p:sp>
      <p:sp>
        <p:nvSpPr>
          <p:cNvPr id="18" name="a2_c_23"/>
          <p:cNvSpPr/>
          <p:nvPr/>
        </p:nvSpPr>
        <p:spPr>
          <a:xfrm>
            <a:off x="6355080" y="3529584"/>
            <a:ext cx="548640" cy="548640"/>
          </a:xfrm>
          <a:prstGeom prst="ellipse">
            <a:avLst/>
          </a:prstGeom>
          <a:solidFill>
            <a:srgbClr val="0B1F3A"/>
          </a:solidFill>
          <a:ln/>
        </p:spPr>
      </p:sp>
      <p:pic>
        <p:nvPicPr>
          <p:cNvPr id="19" name="a2_i_24" descr="preencoded.png">    </p:cNvPr>
          <p:cNvPicPr>
            <a:picLocks noChangeAspect="1"/>
          </p:cNvPicPr>
          <p:nvPr/>
        </p:nvPicPr>
        <p:blipFill>
          <a:blip r:embed="rId3"/>
          <a:stretch>
            <a:fillRect/>
          </a:stretch>
        </p:blipFill>
        <p:spPr>
          <a:xfrm>
            <a:off x="6475781" y="3650285"/>
            <a:ext cx="307238" cy="307238"/>
          </a:xfrm>
          <a:prstGeom prst="rect">
            <a:avLst/>
          </a:prstGeom>
        </p:spPr>
      </p:pic>
      <p:sp>
        <p:nvSpPr>
          <p:cNvPr id="20" name="a2_t_25"/>
          <p:cNvSpPr txBox="1"/>
          <p:nvPr/>
        </p:nvSpPr>
        <p:spPr>
          <a:xfrm>
            <a:off x="7040880" y="3438144"/>
            <a:ext cx="4526280" cy="731520"/>
          </a:xfrm>
          <a:prstGeom prst="rect">
            <a:avLst/>
          </a:prstGeom>
          <a:noFill/>
          <a:ln/>
        </p:spPr>
        <p:txBody>
          <a:bodyPr wrap="square" lIns="508" tIns="508" rIns="508" bIns="508" rtlCol="0" anchor="ctr"/>
          <a:lstStyle/>
          <a:p>
            <a:pPr indent="0" marL="0">
              <a:buNone/>
            </a:pPr>
            <a:r>
              <a:rPr lang="en-US" sz="1700" b="1" dirty="0">
                <a:solidFill>
                  <a:srgbClr val="0B1F3A"/>
                </a:solidFill>
                <a:latin typeface="Arial" pitchFamily="34" charset="0"/>
                <a:ea typeface="Arial" pitchFamily="34" charset="-122"/>
                <a:cs typeface="Arial" pitchFamily="34" charset="-120"/>
              </a:rPr>
              <a:t>Modern cars often have 20 or more</a:t>
            </a:r>
            <a:endParaRPr lang="en-US" sz="1700" dirty="0"/>
          </a:p>
          <a:p>
            <a:pPr indent="0" marL="0">
              <a:buNone/>
            </a:pPr>
            <a:r>
              <a:rPr lang="en-US" sz="1400" dirty="0">
                <a:solidFill>
                  <a:srgbClr val="475569"/>
                </a:solidFill>
                <a:latin typeface="Arial" pitchFamily="34" charset="0"/>
                <a:ea typeface="Arial" pitchFamily="34" charset="-122"/>
                <a:cs typeface="Arial" pitchFamily="34" charset="-120"/>
              </a:rPr>
              <a:t>Braking, stability, sensors, airbags, emergency call</a:t>
            </a:r>
            <a:endParaRPr lang="en-US" sz="1700" dirty="0"/>
          </a:p>
        </p:txBody>
      </p:sp>
      <p:sp>
        <p:nvSpPr>
          <p:cNvPr id="21" name="a3_b_26"/>
          <p:cNvSpPr/>
          <p:nvPr/>
        </p:nvSpPr>
        <p:spPr>
          <a:xfrm>
            <a:off x="6217920" y="4315968"/>
            <a:ext cx="5422392" cy="804672"/>
          </a:xfrm>
          <a:prstGeom prst="roundRect">
            <a:avLst>
              <a:gd name="adj" fmla="val 9091"/>
            </a:avLst>
          </a:prstGeom>
          <a:solidFill>
            <a:srgbClr val="FFFFFF"/>
          </a:solidFill>
          <a:ln w="12700">
            <a:solidFill>
              <a:srgbClr val="CBD5E1"/>
            </a:solidFill>
            <a:prstDash val="solid"/>
          </a:ln>
        </p:spPr>
      </p:sp>
      <p:sp>
        <p:nvSpPr>
          <p:cNvPr id="22" name="a3_c_27"/>
          <p:cNvSpPr/>
          <p:nvPr/>
        </p:nvSpPr>
        <p:spPr>
          <a:xfrm>
            <a:off x="6355080" y="4443984"/>
            <a:ext cx="548640" cy="548640"/>
          </a:xfrm>
          <a:prstGeom prst="ellipse">
            <a:avLst/>
          </a:prstGeom>
          <a:solidFill>
            <a:srgbClr val="0B1F3A"/>
          </a:solidFill>
          <a:ln/>
        </p:spPr>
      </p:sp>
      <p:pic>
        <p:nvPicPr>
          <p:cNvPr id="23" name="a3_i_28" descr="preencoded.png">    </p:cNvPr>
          <p:cNvPicPr>
            <a:picLocks noChangeAspect="1"/>
          </p:cNvPicPr>
          <p:nvPr/>
        </p:nvPicPr>
        <p:blipFill>
          <a:blip r:embed="rId4"/>
          <a:stretch>
            <a:fillRect/>
          </a:stretch>
        </p:blipFill>
        <p:spPr>
          <a:xfrm>
            <a:off x="6475781" y="4564685"/>
            <a:ext cx="307238" cy="307238"/>
          </a:xfrm>
          <a:prstGeom prst="rect">
            <a:avLst/>
          </a:prstGeom>
        </p:spPr>
      </p:pic>
      <p:sp>
        <p:nvSpPr>
          <p:cNvPr id="24" name="a3_t_29"/>
          <p:cNvSpPr txBox="1"/>
          <p:nvPr/>
        </p:nvSpPr>
        <p:spPr>
          <a:xfrm>
            <a:off x="7040880" y="4352544"/>
            <a:ext cx="4526280" cy="731520"/>
          </a:xfrm>
          <a:prstGeom prst="rect">
            <a:avLst/>
          </a:prstGeom>
          <a:noFill/>
          <a:ln/>
        </p:spPr>
        <p:txBody>
          <a:bodyPr wrap="square" lIns="508" tIns="508" rIns="508" bIns="508" rtlCol="0" anchor="ctr"/>
          <a:lstStyle/>
          <a:p>
            <a:pPr indent="0" marL="0">
              <a:buNone/>
            </a:pPr>
            <a:r>
              <a:rPr lang="en-US" sz="1700" b="1" dirty="0">
                <a:solidFill>
                  <a:srgbClr val="0B1F3A"/>
                </a:solidFill>
                <a:latin typeface="Arial" pitchFamily="34" charset="0"/>
                <a:ea typeface="Arial" pitchFamily="34" charset="-122"/>
                <a:cs typeface="Arial" pitchFamily="34" charset="-120"/>
              </a:rPr>
              <a:t>Each one buys time or reduces force</a:t>
            </a:r>
            <a:endParaRPr lang="en-US" sz="1700" dirty="0"/>
          </a:p>
          <a:p>
            <a:pPr indent="0" marL="0">
              <a:buNone/>
            </a:pPr>
            <a:r>
              <a:rPr lang="en-US" sz="1400" dirty="0">
                <a:solidFill>
                  <a:srgbClr val="475569"/>
                </a:solidFill>
                <a:latin typeface="Arial" pitchFamily="34" charset="0"/>
                <a:ea typeface="Arial" pitchFamily="34" charset="-122"/>
                <a:cs typeface="Arial" pitchFamily="34" charset="-120"/>
              </a:rPr>
              <a:t>Seconds before a crash, milliseconds during it</a:t>
            </a:r>
            <a:endParaRPr lang="en-US" sz="1700" dirty="0"/>
          </a:p>
        </p:txBody>
      </p:sp>
      <p:sp>
        <p:nvSpPr>
          <p:cNvPr id="25" name="a4_b_30"/>
          <p:cNvSpPr/>
          <p:nvPr/>
        </p:nvSpPr>
        <p:spPr>
          <a:xfrm>
            <a:off x="6217920" y="5230368"/>
            <a:ext cx="5422392" cy="804672"/>
          </a:xfrm>
          <a:prstGeom prst="roundRect">
            <a:avLst>
              <a:gd name="adj" fmla="val 9091"/>
            </a:avLst>
          </a:prstGeom>
          <a:solidFill>
            <a:srgbClr val="FFFFFF"/>
          </a:solidFill>
          <a:ln w="12700">
            <a:solidFill>
              <a:srgbClr val="CBD5E1"/>
            </a:solidFill>
            <a:prstDash val="solid"/>
          </a:ln>
        </p:spPr>
      </p:sp>
      <p:sp>
        <p:nvSpPr>
          <p:cNvPr id="26" name="a4_c_31"/>
          <p:cNvSpPr/>
          <p:nvPr/>
        </p:nvSpPr>
        <p:spPr>
          <a:xfrm>
            <a:off x="6355080" y="5358384"/>
            <a:ext cx="548640" cy="548640"/>
          </a:xfrm>
          <a:prstGeom prst="ellipse">
            <a:avLst/>
          </a:prstGeom>
          <a:solidFill>
            <a:srgbClr val="DC2626"/>
          </a:solidFill>
          <a:ln/>
        </p:spPr>
      </p:sp>
      <p:pic>
        <p:nvPicPr>
          <p:cNvPr id="27" name="a4_i_32" descr="preencoded.png">    </p:cNvPr>
          <p:cNvPicPr>
            <a:picLocks noChangeAspect="1"/>
          </p:cNvPicPr>
          <p:nvPr/>
        </p:nvPicPr>
        <p:blipFill>
          <a:blip r:embed="rId5"/>
          <a:stretch>
            <a:fillRect/>
          </a:stretch>
        </p:blipFill>
        <p:spPr>
          <a:xfrm>
            <a:off x="6475781" y="5479085"/>
            <a:ext cx="307238" cy="307238"/>
          </a:xfrm>
          <a:prstGeom prst="rect">
            <a:avLst/>
          </a:prstGeom>
        </p:spPr>
      </p:pic>
      <p:sp>
        <p:nvSpPr>
          <p:cNvPr id="28" name="a4_t_33"/>
          <p:cNvSpPr txBox="1"/>
          <p:nvPr/>
        </p:nvSpPr>
        <p:spPr>
          <a:xfrm>
            <a:off x="7040880" y="5266944"/>
            <a:ext cx="4526280" cy="731520"/>
          </a:xfrm>
          <a:prstGeom prst="rect">
            <a:avLst/>
          </a:prstGeom>
          <a:noFill/>
          <a:ln/>
        </p:spPr>
        <p:txBody>
          <a:bodyPr wrap="square" lIns="508" tIns="508" rIns="508" bIns="508" rtlCol="0" anchor="ctr"/>
          <a:lstStyle/>
          <a:p>
            <a:pPr indent="0" marL="0">
              <a:buNone/>
            </a:pPr>
            <a:r>
              <a:rPr lang="en-US" sz="1700" b="1" dirty="0">
                <a:solidFill>
                  <a:srgbClr val="0B1F3A"/>
                </a:solidFill>
                <a:latin typeface="Arial" pitchFamily="34" charset="0"/>
                <a:ea typeface="Arial" pitchFamily="34" charset="-122"/>
                <a:cs typeface="Arial" pitchFamily="34" charset="-120"/>
              </a:rPr>
              <a:t>None of them beats physics</a:t>
            </a:r>
            <a:endParaRPr lang="en-US" sz="1700" dirty="0"/>
          </a:p>
          <a:p>
            <a:pPr indent="0" marL="0">
              <a:buNone/>
            </a:pPr>
            <a:r>
              <a:rPr lang="en-US" sz="1400" dirty="0">
                <a:solidFill>
                  <a:srgbClr val="475569"/>
                </a:solidFill>
                <a:latin typeface="Arial" pitchFamily="34" charset="0"/>
                <a:ea typeface="Arial" pitchFamily="34" charset="-122"/>
                <a:cs typeface="Arial" pitchFamily="34" charset="-120"/>
              </a:rPr>
              <a:t>Speed, distance and attention still decide the outcome</a:t>
            </a:r>
            <a:endParaRPr lang="en-US" sz="1700" dirty="0"/>
          </a:p>
        </p:txBody>
      </p:sp>
      <p:sp>
        <p:nvSpPr>
          <p:cNvPr id="29"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fade">
                                      <p:cBhvr>
                                        <p:cTn id="7" dur="500"/>
                                        <p:tgtEl>
                                          <p:spTgt spid="1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4"/>
                                        </p:tgtEl>
                                        <p:attrNameLst>
                                          <p:attrName>style.visibility</p:attrName>
                                        </p:attrNameLst>
                                      </p:cBhvr>
                                      <p:to>
                                        <p:strVal val="visible"/>
                                      </p:to>
                                    </p:set>
                                    <p:animEffect transition="in" filter="fade">
                                      <p:cBhvr>
                                        <p:cTn id="10" dur="500"/>
                                        <p:tgtEl>
                                          <p:spTgt spid="14"/>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animEffect transition="in" filter="fade">
                                      <p:cBhvr>
                                        <p:cTn id="13" dur="500"/>
                                        <p:tgtEl>
                                          <p:spTgt spid="15"/>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6"/>
                                        </p:tgtEl>
                                        <p:attrNameLst>
                                          <p:attrName>style.visibility</p:attrName>
                                        </p:attrNameLst>
                                      </p:cBhvr>
                                      <p:to>
                                        <p:strVal val="visible"/>
                                      </p:to>
                                    </p:set>
                                    <p:animEffect transition="in" filter="fade">
                                      <p:cBhvr>
                                        <p:cTn id="16" dur="500"/>
                                        <p:tgtEl>
                                          <p:spTgt spid="16"/>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fade">
                                      <p:cBhvr>
                                        <p:cTn id="21" dur="500"/>
                                        <p:tgtEl>
                                          <p:spTgt spid="17"/>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8"/>
                                        </p:tgtEl>
                                        <p:attrNameLst>
                                          <p:attrName>style.visibility</p:attrName>
                                        </p:attrNameLst>
                                      </p:cBhvr>
                                      <p:to>
                                        <p:strVal val="visible"/>
                                      </p:to>
                                    </p:set>
                                    <p:animEffect transition="in" filter="fade">
                                      <p:cBhvr>
                                        <p:cTn id="24" dur="500"/>
                                        <p:tgtEl>
                                          <p:spTgt spid="18"/>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9"/>
                                        </p:tgtEl>
                                        <p:attrNameLst>
                                          <p:attrName>style.visibility</p:attrName>
                                        </p:attrNameLst>
                                      </p:cBhvr>
                                      <p:to>
                                        <p:strVal val="visible"/>
                                      </p:to>
                                    </p:set>
                                    <p:animEffect transition="in" filter="fade">
                                      <p:cBhvr>
                                        <p:cTn id="27" dur="500"/>
                                        <p:tgtEl>
                                          <p:spTgt spid="19"/>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20"/>
                                        </p:tgtEl>
                                        <p:attrNameLst>
                                          <p:attrName>style.visibility</p:attrName>
                                        </p:attrNameLst>
                                      </p:cBhvr>
                                      <p:to>
                                        <p:strVal val="visible"/>
                                      </p:to>
                                    </p:set>
                                    <p:animEffect transition="in" filter="fade">
                                      <p:cBhvr>
                                        <p:cTn id="30" dur="500"/>
                                        <p:tgtEl>
                                          <p:spTgt spid="20"/>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21"/>
                                        </p:tgtEl>
                                        <p:attrNameLst>
                                          <p:attrName>style.visibility</p:attrName>
                                        </p:attrNameLst>
                                      </p:cBhvr>
                                      <p:to>
                                        <p:strVal val="visible"/>
                                      </p:to>
                                    </p:set>
                                    <p:animEffect transition="in" filter="fade">
                                      <p:cBhvr>
                                        <p:cTn id="35" dur="500"/>
                                        <p:tgtEl>
                                          <p:spTgt spid="21"/>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2"/>
                                        </p:tgtEl>
                                        <p:attrNameLst>
                                          <p:attrName>style.visibility</p:attrName>
                                        </p:attrNameLst>
                                      </p:cBhvr>
                                      <p:to>
                                        <p:strVal val="visible"/>
                                      </p:to>
                                    </p:set>
                                    <p:animEffect transition="in" filter="fade">
                                      <p:cBhvr>
                                        <p:cTn id="38" dur="500"/>
                                        <p:tgtEl>
                                          <p:spTgt spid="22"/>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3"/>
                                        </p:tgtEl>
                                        <p:attrNameLst>
                                          <p:attrName>style.visibility</p:attrName>
                                        </p:attrNameLst>
                                      </p:cBhvr>
                                      <p:to>
                                        <p:strVal val="visible"/>
                                      </p:to>
                                    </p:set>
                                    <p:animEffect transition="in" filter="fade">
                                      <p:cBhvr>
                                        <p:cTn id="41" dur="500"/>
                                        <p:tgtEl>
                                          <p:spTgt spid="23"/>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4"/>
                                        </p:tgtEl>
                                        <p:attrNameLst>
                                          <p:attrName>style.visibility</p:attrName>
                                        </p:attrNameLst>
                                      </p:cBhvr>
                                      <p:to>
                                        <p:strVal val="visible"/>
                                      </p:to>
                                    </p:set>
                                    <p:animEffect transition="in" filter="fade">
                                      <p:cBhvr>
                                        <p:cTn id="44" dur="500"/>
                                        <p:tgtEl>
                                          <p:spTgt spid="24"/>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5"/>
                                        </p:tgtEl>
                                        <p:attrNameLst>
                                          <p:attrName>style.visibility</p:attrName>
                                        </p:attrNameLst>
                                      </p:cBhvr>
                                      <p:to>
                                        <p:strVal val="visible"/>
                                      </p:to>
                                    </p:set>
                                    <p:animEffect transition="in" filter="fade">
                                      <p:cBhvr>
                                        <p:cTn id="49" dur="500"/>
                                        <p:tgtEl>
                                          <p:spTgt spid="25"/>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fade">
                                      <p:cBhvr>
                                        <p:cTn id="52" dur="500"/>
                                        <p:tgtEl>
                                          <p:spTgt spid="26"/>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7"/>
                                        </p:tgtEl>
                                        <p:attrNameLst>
                                          <p:attrName>style.visibility</p:attrName>
                                        </p:attrNameLst>
                                      </p:cBhvr>
                                      <p:to>
                                        <p:strVal val="visible"/>
                                      </p:to>
                                    </p:set>
                                    <p:animEffect transition="in" filter="fade">
                                      <p:cBhvr>
                                        <p:cTn id="55" dur="500"/>
                                        <p:tgtEl>
                                          <p:spTgt spid="27"/>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8"/>
                                        </p:tgtEl>
                                        <p:attrNameLst>
                                          <p:attrName>style.visibility</p:attrName>
                                        </p:attrNameLst>
                                      </p:cBhvr>
                                      <p:to>
                                        <p:strVal val="visible"/>
                                      </p:to>
                                    </p:set>
                                    <p:animEffect transition="in" filter="fade">
                                      <p:cBhvr>
                                        <p:cTn id="58"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animBg="1"/>
      <p:bldP spid="14" grpId="0" animBg="1"/>
      <p:bldP spid="16" grpId="0" animBg="1"/>
      <p:bldP spid="17" grpId="0" animBg="1"/>
      <p:bldP spid="18" grpId="0" animBg="1"/>
      <p:bldP spid="20" grpId="0" animBg="1"/>
      <p:bldP spid="21" grpId="0" animBg="1"/>
      <p:bldP spid="22" grpId="0" animBg="1"/>
      <p:bldP spid="24" grpId="0" animBg="1"/>
      <p:bldP spid="25" grpId="0" animBg="1"/>
      <p:bldP spid="26" grpId="0" animBg="1"/>
      <p:bldP spid="2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b_34"/>
          <p:cNvSpPr/>
          <p:nvPr/>
        </p:nvSpPr>
        <p:spPr>
          <a:xfrm>
            <a:off x="548640" y="274320"/>
            <a:ext cx="1876349" cy="292608"/>
          </a:xfrm>
          <a:prstGeom prst="roundRect">
            <a:avLst>
              <a:gd name="adj" fmla="val 50000"/>
            </a:avLst>
          </a:prstGeom>
          <a:solidFill>
            <a:srgbClr val="0B1F3A"/>
          </a:solidFill>
          <a:ln/>
        </p:spPr>
      </p:sp>
      <p:sp>
        <p:nvSpPr>
          <p:cNvPr id="3" name="t_35"/>
          <p:cNvSpPr txBox="1"/>
          <p:nvPr/>
        </p:nvSpPr>
        <p:spPr>
          <a:xfrm>
            <a:off x="548640" y="274320"/>
            <a:ext cx="1876349"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THE BASIC IDEA</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Four Layers That Protect You</a:t>
            </a:r>
            <a:endParaRPr lang="en-US" sz="3000" dirty="0"/>
          </a:p>
        </p:txBody>
      </p:sp>
      <p:sp>
        <p:nvSpPr>
          <p:cNvPr id="5" name="t_36"/>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Before, during and after a crash</a:t>
            </a:r>
            <a:endParaRPr lang="en-US" sz="1800" dirty="0"/>
          </a:p>
        </p:txBody>
      </p:sp>
      <p:sp>
        <p:nvSpPr>
          <p:cNvPr id="6" name="b_37"/>
          <p:cNvSpPr/>
          <p:nvPr/>
        </p:nvSpPr>
        <p:spPr>
          <a:xfrm>
            <a:off x="548640" y="1691640"/>
            <a:ext cx="5532120" cy="347472"/>
          </a:xfrm>
          <a:prstGeom prst="rect">
            <a:avLst/>
          </a:prstGeom>
          <a:solidFill>
            <a:srgbClr val="2563EB"/>
          </a:solidFill>
          <a:ln/>
        </p:spPr>
      </p:sp>
      <p:sp>
        <p:nvSpPr>
          <p:cNvPr id="7" name="t_38"/>
          <p:cNvSpPr txBox="1"/>
          <p:nvPr/>
        </p:nvSpPr>
        <p:spPr>
          <a:xfrm>
            <a:off x="548640" y="1691640"/>
            <a:ext cx="5532120" cy="347472"/>
          </a:xfrm>
          <a:prstGeom prst="rect">
            <a:avLst/>
          </a:prstGeom>
          <a:noFill/>
          <a:ln/>
        </p:spPr>
        <p:txBody>
          <a:bodyPr wrap="square" lIns="508" tIns="508" rIns="508" bIns="508" rtlCol="0" anchor="ctr"/>
          <a:lstStyle/>
          <a:p>
            <a:pPr algn="ctr" indent="0" marL="0">
              <a:buNone/>
            </a:pPr>
            <a:r>
              <a:rPr lang="en-US" sz="1400" b="1" spc="200" kern="0" dirty="0">
                <a:solidFill>
                  <a:srgbClr val="FFFFFF"/>
                </a:solidFill>
                <a:latin typeface="Arial" pitchFamily="34" charset="0"/>
                <a:ea typeface="Arial" pitchFamily="34" charset="-122"/>
                <a:cs typeface="Arial" pitchFamily="34" charset="-120"/>
              </a:rPr>
              <a:t>BEFORE A CRASH</a:t>
            </a:r>
            <a:endParaRPr lang="en-US" sz="1400" dirty="0"/>
          </a:p>
        </p:txBody>
      </p:sp>
      <p:sp>
        <p:nvSpPr>
          <p:cNvPr id="8" name="b_39"/>
          <p:cNvSpPr/>
          <p:nvPr/>
        </p:nvSpPr>
        <p:spPr>
          <a:xfrm>
            <a:off x="6254496" y="1691640"/>
            <a:ext cx="2679192" cy="347472"/>
          </a:xfrm>
          <a:prstGeom prst="rect">
            <a:avLst/>
          </a:prstGeom>
          <a:solidFill>
            <a:srgbClr val="15803D"/>
          </a:solidFill>
          <a:ln/>
        </p:spPr>
      </p:sp>
      <p:sp>
        <p:nvSpPr>
          <p:cNvPr id="9" name="t_40"/>
          <p:cNvSpPr txBox="1"/>
          <p:nvPr/>
        </p:nvSpPr>
        <p:spPr>
          <a:xfrm>
            <a:off x="6254496" y="1691640"/>
            <a:ext cx="2679192" cy="347472"/>
          </a:xfrm>
          <a:prstGeom prst="rect">
            <a:avLst/>
          </a:prstGeom>
          <a:noFill/>
          <a:ln/>
        </p:spPr>
        <p:txBody>
          <a:bodyPr wrap="square" lIns="508" tIns="508" rIns="508" bIns="508" rtlCol="0" anchor="ctr"/>
          <a:lstStyle/>
          <a:p>
            <a:pPr algn="ctr" indent="0" marL="0">
              <a:buNone/>
            </a:pPr>
            <a:r>
              <a:rPr lang="en-US" sz="1400" b="1" spc="200" kern="0" dirty="0">
                <a:solidFill>
                  <a:srgbClr val="FFFFFF"/>
                </a:solidFill>
                <a:latin typeface="Arial" pitchFamily="34" charset="0"/>
                <a:ea typeface="Arial" pitchFamily="34" charset="-122"/>
                <a:cs typeface="Arial" pitchFamily="34" charset="-120"/>
              </a:rPr>
              <a:t>DURING</a:t>
            </a:r>
            <a:endParaRPr lang="en-US" sz="1400" dirty="0"/>
          </a:p>
        </p:txBody>
      </p:sp>
      <p:sp>
        <p:nvSpPr>
          <p:cNvPr id="10" name="b_41"/>
          <p:cNvSpPr/>
          <p:nvPr/>
        </p:nvSpPr>
        <p:spPr>
          <a:xfrm>
            <a:off x="9043416" y="1691640"/>
            <a:ext cx="2596896" cy="347472"/>
          </a:xfrm>
          <a:prstGeom prst="rect">
            <a:avLst/>
          </a:prstGeom>
          <a:solidFill>
            <a:srgbClr val="DC2626"/>
          </a:solidFill>
          <a:ln/>
        </p:spPr>
      </p:sp>
      <p:sp>
        <p:nvSpPr>
          <p:cNvPr id="11" name="t_42"/>
          <p:cNvSpPr txBox="1"/>
          <p:nvPr/>
        </p:nvSpPr>
        <p:spPr>
          <a:xfrm>
            <a:off x="9043416" y="1691640"/>
            <a:ext cx="2596896" cy="347472"/>
          </a:xfrm>
          <a:prstGeom prst="rect">
            <a:avLst/>
          </a:prstGeom>
          <a:noFill/>
          <a:ln/>
        </p:spPr>
        <p:txBody>
          <a:bodyPr wrap="square" lIns="508" tIns="508" rIns="508" bIns="508" rtlCol="0" anchor="ctr"/>
          <a:lstStyle/>
          <a:p>
            <a:pPr algn="ctr" indent="0" marL="0">
              <a:buNone/>
            </a:pPr>
            <a:r>
              <a:rPr lang="en-US" sz="1400" b="1" spc="200" kern="0" dirty="0">
                <a:solidFill>
                  <a:srgbClr val="FFFFFF"/>
                </a:solidFill>
                <a:latin typeface="Arial" pitchFamily="34" charset="0"/>
                <a:ea typeface="Arial" pitchFamily="34" charset="-122"/>
                <a:cs typeface="Arial" pitchFamily="34" charset="-120"/>
              </a:rPr>
              <a:t>AFTER</a:t>
            </a:r>
            <a:endParaRPr lang="en-US" sz="1400" dirty="0"/>
          </a:p>
        </p:txBody>
      </p:sp>
      <p:sp>
        <p:nvSpPr>
          <p:cNvPr id="12" name="a1_b_43"/>
          <p:cNvSpPr/>
          <p:nvPr/>
        </p:nvSpPr>
        <p:spPr>
          <a:xfrm>
            <a:off x="548640" y="2176272"/>
            <a:ext cx="2679192" cy="3337560"/>
          </a:xfrm>
          <a:prstGeom prst="roundRect">
            <a:avLst>
              <a:gd name="adj" fmla="val 2730"/>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13" name="a1_c_44"/>
          <p:cNvSpPr/>
          <p:nvPr/>
        </p:nvSpPr>
        <p:spPr>
          <a:xfrm>
            <a:off x="777240" y="2377440"/>
            <a:ext cx="777240" cy="777240"/>
          </a:xfrm>
          <a:prstGeom prst="ellipse">
            <a:avLst/>
          </a:prstGeom>
          <a:solidFill>
            <a:srgbClr val="2563EB"/>
          </a:solidFill>
          <a:ln/>
        </p:spPr>
      </p:sp>
      <p:pic>
        <p:nvPicPr>
          <p:cNvPr id="14" name="a1_i_45" descr="preencoded.png">    </p:cNvPr>
          <p:cNvPicPr>
            <a:picLocks noChangeAspect="1"/>
          </p:cNvPicPr>
          <p:nvPr/>
        </p:nvPicPr>
        <p:blipFill>
          <a:blip r:embed="rId1"/>
          <a:stretch>
            <a:fillRect/>
          </a:stretch>
        </p:blipFill>
        <p:spPr>
          <a:xfrm>
            <a:off x="948233" y="2548433"/>
            <a:ext cx="435254" cy="435254"/>
          </a:xfrm>
          <a:prstGeom prst="rect">
            <a:avLst/>
          </a:prstGeom>
        </p:spPr>
      </p:pic>
      <p:sp>
        <p:nvSpPr>
          <p:cNvPr id="15" name="a1_t_46"/>
          <p:cNvSpPr txBox="1"/>
          <p:nvPr/>
        </p:nvSpPr>
        <p:spPr>
          <a:xfrm>
            <a:off x="777240" y="3246120"/>
            <a:ext cx="2313432" cy="274320"/>
          </a:xfrm>
          <a:prstGeom prst="rect">
            <a:avLst/>
          </a:prstGeom>
          <a:noFill/>
          <a:ln/>
        </p:spPr>
        <p:txBody>
          <a:bodyPr wrap="square" lIns="508" tIns="508" rIns="508" bIns="508" rtlCol="0" anchor="t"/>
          <a:lstStyle/>
          <a:p>
            <a:pPr indent="0" marL="0">
              <a:buNone/>
            </a:pPr>
            <a:r>
              <a:rPr lang="en-US" sz="1200" b="1" spc="200" kern="0" dirty="0">
                <a:solidFill>
                  <a:srgbClr val="2563EB"/>
                </a:solidFill>
                <a:latin typeface="Arial" pitchFamily="34" charset="0"/>
                <a:ea typeface="Arial" pitchFamily="34" charset="-122"/>
                <a:cs typeface="Arial" pitchFamily="34" charset="-120"/>
              </a:rPr>
              <a:t>PREVENT</a:t>
            </a:r>
            <a:endParaRPr lang="en-US" sz="1200" dirty="0"/>
          </a:p>
        </p:txBody>
      </p:sp>
      <p:sp>
        <p:nvSpPr>
          <p:cNvPr id="16" name="a1_t_47"/>
          <p:cNvSpPr txBox="1"/>
          <p:nvPr/>
        </p:nvSpPr>
        <p:spPr>
          <a:xfrm>
            <a:off x="777240" y="3520440"/>
            <a:ext cx="2313432" cy="411480"/>
          </a:xfrm>
          <a:prstGeom prst="rect">
            <a:avLst/>
          </a:prstGeom>
          <a:noFill/>
          <a:ln/>
        </p:spPr>
        <p:txBody>
          <a:bodyPr wrap="square" lIns="508" tIns="508" rIns="508" bIns="508" rtlCol="0" anchor="t"/>
          <a:lstStyle/>
          <a:p>
            <a:pPr indent="0" marL="0">
              <a:buNone/>
            </a:pPr>
            <a:r>
              <a:rPr lang="en-US" sz="1900" b="1" dirty="0">
                <a:solidFill>
                  <a:srgbClr val="0B1F3A"/>
                </a:solidFill>
                <a:latin typeface="Arial" pitchFamily="34" charset="0"/>
                <a:ea typeface="Arial" pitchFamily="34" charset="-122"/>
                <a:cs typeface="Arial" pitchFamily="34" charset="-120"/>
              </a:rPr>
              <a:t>Active safety</a:t>
            </a:r>
            <a:endParaRPr lang="en-US" sz="1900" dirty="0"/>
          </a:p>
        </p:txBody>
      </p:sp>
      <p:sp>
        <p:nvSpPr>
          <p:cNvPr id="17" name="a1_t_48"/>
          <p:cNvSpPr txBox="1"/>
          <p:nvPr/>
        </p:nvSpPr>
        <p:spPr>
          <a:xfrm>
            <a:off x="777240" y="3950208"/>
            <a:ext cx="2267712" cy="868680"/>
          </a:xfrm>
          <a:prstGeom prst="rect">
            <a:avLst/>
          </a:prstGeom>
          <a:noFill/>
          <a:ln/>
        </p:spPr>
        <p:txBody>
          <a:bodyPr wrap="square" lIns="508" tIns="508" rIns="508" bIns="508" rtlCol="0" anchor="t"/>
          <a:lstStyle/>
          <a:p>
            <a:pPr indent="0" marL="0">
              <a:buNone/>
            </a:pPr>
            <a:r>
              <a:rPr lang="en-US" sz="1500" dirty="0">
                <a:solidFill>
                  <a:srgbClr val="475569"/>
                </a:solidFill>
                <a:latin typeface="Arial" pitchFamily="34" charset="0"/>
                <a:ea typeface="Arial" pitchFamily="34" charset="-122"/>
                <a:cs typeface="Arial" pitchFamily="34" charset="-120"/>
              </a:rPr>
              <a:t>Helps you keep control and avoid the crash</a:t>
            </a:r>
            <a:endParaRPr lang="en-US" sz="1500" dirty="0"/>
          </a:p>
        </p:txBody>
      </p:sp>
      <p:sp>
        <p:nvSpPr>
          <p:cNvPr id="18" name="a1_b_49"/>
          <p:cNvSpPr/>
          <p:nvPr/>
        </p:nvSpPr>
        <p:spPr>
          <a:xfrm>
            <a:off x="731520" y="4892040"/>
            <a:ext cx="2313432" cy="457200"/>
          </a:xfrm>
          <a:prstGeom prst="roundRect">
            <a:avLst>
              <a:gd name="adj" fmla="val 16000"/>
            </a:avLst>
          </a:prstGeom>
          <a:solidFill>
            <a:srgbClr val="DBEAFE"/>
          </a:solidFill>
          <a:ln/>
        </p:spPr>
      </p:sp>
      <p:sp>
        <p:nvSpPr>
          <p:cNvPr id="19" name="a1_t_50"/>
          <p:cNvSpPr txBox="1"/>
          <p:nvPr/>
        </p:nvSpPr>
        <p:spPr>
          <a:xfrm>
            <a:off x="804672" y="4892040"/>
            <a:ext cx="2167128" cy="457200"/>
          </a:xfrm>
          <a:prstGeom prst="rect">
            <a:avLst/>
          </a:prstGeom>
          <a:noFill/>
          <a:ln/>
        </p:spPr>
        <p:txBody>
          <a:bodyPr wrap="square" lIns="508" tIns="508" rIns="508" bIns="508" rtlCol="0" anchor="ctr"/>
          <a:lstStyle/>
          <a:p>
            <a:pPr indent="0" marL="0">
              <a:buNone/>
            </a:pPr>
            <a:r>
              <a:rPr lang="en-US" sz="1300" i="1" dirty="0">
                <a:solidFill>
                  <a:srgbClr val="0B1F3A"/>
                </a:solidFill>
                <a:latin typeface="Arial" pitchFamily="34" charset="0"/>
                <a:ea typeface="Arial" pitchFamily="34" charset="-122"/>
                <a:cs typeface="Arial" pitchFamily="34" charset="-120"/>
              </a:rPr>
              <a:t>e.g. Braking, stability, grip</a:t>
            </a:r>
            <a:endParaRPr lang="en-US" sz="1300" dirty="0"/>
          </a:p>
        </p:txBody>
      </p:sp>
      <p:sp>
        <p:nvSpPr>
          <p:cNvPr id="20" name="a2_b_51"/>
          <p:cNvSpPr/>
          <p:nvPr/>
        </p:nvSpPr>
        <p:spPr>
          <a:xfrm>
            <a:off x="3337560" y="2176272"/>
            <a:ext cx="2679192" cy="3337560"/>
          </a:xfrm>
          <a:prstGeom prst="roundRect">
            <a:avLst>
              <a:gd name="adj" fmla="val 2730"/>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21" name="a2_c_52"/>
          <p:cNvSpPr/>
          <p:nvPr/>
        </p:nvSpPr>
        <p:spPr>
          <a:xfrm>
            <a:off x="3566160" y="2377440"/>
            <a:ext cx="777240" cy="777240"/>
          </a:xfrm>
          <a:prstGeom prst="ellipse">
            <a:avLst/>
          </a:prstGeom>
          <a:solidFill>
            <a:srgbClr val="0E7490"/>
          </a:solidFill>
          <a:ln/>
        </p:spPr>
      </p:sp>
      <p:pic>
        <p:nvPicPr>
          <p:cNvPr id="22" name="a2_i_53" descr="preencoded.png">    </p:cNvPr>
          <p:cNvPicPr>
            <a:picLocks noChangeAspect="1"/>
          </p:cNvPicPr>
          <p:nvPr/>
        </p:nvPicPr>
        <p:blipFill>
          <a:blip r:embed="rId2"/>
          <a:stretch>
            <a:fillRect/>
          </a:stretch>
        </p:blipFill>
        <p:spPr>
          <a:xfrm>
            <a:off x="3737153" y="2548433"/>
            <a:ext cx="435254" cy="435254"/>
          </a:xfrm>
          <a:prstGeom prst="rect">
            <a:avLst/>
          </a:prstGeom>
        </p:spPr>
      </p:pic>
      <p:sp>
        <p:nvSpPr>
          <p:cNvPr id="23" name="a2_t_54"/>
          <p:cNvSpPr txBox="1"/>
          <p:nvPr/>
        </p:nvSpPr>
        <p:spPr>
          <a:xfrm>
            <a:off x="3566160" y="3246120"/>
            <a:ext cx="2313432" cy="274320"/>
          </a:xfrm>
          <a:prstGeom prst="rect">
            <a:avLst/>
          </a:prstGeom>
          <a:noFill/>
          <a:ln/>
        </p:spPr>
        <p:txBody>
          <a:bodyPr wrap="square" lIns="508" tIns="508" rIns="508" bIns="508" rtlCol="0" anchor="t"/>
          <a:lstStyle/>
          <a:p>
            <a:pPr indent="0" marL="0">
              <a:buNone/>
            </a:pPr>
            <a:r>
              <a:rPr lang="en-US" sz="1200" b="1" spc="200" kern="0" dirty="0">
                <a:solidFill>
                  <a:srgbClr val="0E7490"/>
                </a:solidFill>
                <a:latin typeface="Arial" pitchFamily="34" charset="0"/>
                <a:ea typeface="Arial" pitchFamily="34" charset="-122"/>
                <a:cs typeface="Arial" pitchFamily="34" charset="-120"/>
              </a:rPr>
              <a:t>WARN &amp; ASSIST</a:t>
            </a:r>
            <a:endParaRPr lang="en-US" sz="1200" dirty="0"/>
          </a:p>
        </p:txBody>
      </p:sp>
      <p:sp>
        <p:nvSpPr>
          <p:cNvPr id="24" name="a2_t_55"/>
          <p:cNvSpPr txBox="1"/>
          <p:nvPr/>
        </p:nvSpPr>
        <p:spPr>
          <a:xfrm>
            <a:off x="3566160" y="3520440"/>
            <a:ext cx="2313432" cy="411480"/>
          </a:xfrm>
          <a:prstGeom prst="rect">
            <a:avLst/>
          </a:prstGeom>
          <a:noFill/>
          <a:ln/>
        </p:spPr>
        <p:txBody>
          <a:bodyPr wrap="square" lIns="508" tIns="508" rIns="508" bIns="508" rtlCol="0" anchor="t"/>
          <a:lstStyle/>
          <a:p>
            <a:pPr indent="0" marL="0">
              <a:buNone/>
            </a:pPr>
            <a:r>
              <a:rPr lang="en-US" sz="1900" b="1" dirty="0">
                <a:solidFill>
                  <a:srgbClr val="0B1F3A"/>
                </a:solidFill>
                <a:latin typeface="Arial" pitchFamily="34" charset="0"/>
                <a:ea typeface="Arial" pitchFamily="34" charset="-122"/>
                <a:cs typeface="Arial" pitchFamily="34" charset="-120"/>
              </a:rPr>
              <a:t>ADAS</a:t>
            </a:r>
            <a:endParaRPr lang="en-US" sz="1900" dirty="0"/>
          </a:p>
        </p:txBody>
      </p:sp>
      <p:sp>
        <p:nvSpPr>
          <p:cNvPr id="25" name="a2_t_56"/>
          <p:cNvSpPr txBox="1"/>
          <p:nvPr/>
        </p:nvSpPr>
        <p:spPr>
          <a:xfrm>
            <a:off x="3566160" y="3950208"/>
            <a:ext cx="2267712" cy="868680"/>
          </a:xfrm>
          <a:prstGeom prst="rect">
            <a:avLst/>
          </a:prstGeom>
          <a:noFill/>
          <a:ln/>
        </p:spPr>
        <p:txBody>
          <a:bodyPr wrap="square" lIns="508" tIns="508" rIns="508" bIns="508" rtlCol="0" anchor="t"/>
          <a:lstStyle/>
          <a:p>
            <a:pPr indent="0" marL="0">
              <a:buNone/>
            </a:pPr>
            <a:r>
              <a:rPr lang="en-US" sz="1500" dirty="0">
                <a:solidFill>
                  <a:srgbClr val="475569"/>
                </a:solidFill>
                <a:latin typeface="Arial" pitchFamily="34" charset="0"/>
                <a:ea typeface="Arial" pitchFamily="34" charset="-122"/>
                <a:cs typeface="Arial" pitchFamily="34" charset="-120"/>
              </a:rPr>
              <a:t>Driver assistance: sensors watch the road, warn, may brake or steer</a:t>
            </a:r>
            <a:endParaRPr lang="en-US" sz="1500" dirty="0"/>
          </a:p>
        </p:txBody>
      </p:sp>
      <p:sp>
        <p:nvSpPr>
          <p:cNvPr id="26" name="a2_b_57"/>
          <p:cNvSpPr/>
          <p:nvPr/>
        </p:nvSpPr>
        <p:spPr>
          <a:xfrm>
            <a:off x="3520440" y="4892040"/>
            <a:ext cx="2313432" cy="457200"/>
          </a:xfrm>
          <a:prstGeom prst="roundRect">
            <a:avLst>
              <a:gd name="adj" fmla="val 16000"/>
            </a:avLst>
          </a:prstGeom>
          <a:solidFill>
            <a:srgbClr val="CFFAFE"/>
          </a:solidFill>
          <a:ln/>
        </p:spPr>
      </p:sp>
      <p:sp>
        <p:nvSpPr>
          <p:cNvPr id="27" name="a2_t_58"/>
          <p:cNvSpPr txBox="1"/>
          <p:nvPr/>
        </p:nvSpPr>
        <p:spPr>
          <a:xfrm>
            <a:off x="3593592" y="4892040"/>
            <a:ext cx="2167128" cy="457200"/>
          </a:xfrm>
          <a:prstGeom prst="rect">
            <a:avLst/>
          </a:prstGeom>
          <a:noFill/>
          <a:ln/>
        </p:spPr>
        <p:txBody>
          <a:bodyPr wrap="square" lIns="508" tIns="508" rIns="508" bIns="508" rtlCol="0" anchor="ctr"/>
          <a:lstStyle/>
          <a:p>
            <a:pPr indent="0" marL="0">
              <a:buNone/>
            </a:pPr>
            <a:r>
              <a:rPr lang="en-US" sz="1300" i="1" dirty="0">
                <a:solidFill>
                  <a:srgbClr val="0B1F3A"/>
                </a:solidFill>
                <a:latin typeface="Arial" pitchFamily="34" charset="0"/>
                <a:ea typeface="Arial" pitchFamily="34" charset="-122"/>
                <a:cs typeface="Arial" pitchFamily="34" charset="-120"/>
              </a:rPr>
              <a:t>e.g. Cameras, radar</a:t>
            </a:r>
            <a:endParaRPr lang="en-US" sz="1300" dirty="0"/>
          </a:p>
        </p:txBody>
      </p:sp>
      <p:sp>
        <p:nvSpPr>
          <p:cNvPr id="28" name="a3_b_59"/>
          <p:cNvSpPr/>
          <p:nvPr/>
        </p:nvSpPr>
        <p:spPr>
          <a:xfrm>
            <a:off x="6126480" y="2176272"/>
            <a:ext cx="2679192" cy="3337560"/>
          </a:xfrm>
          <a:prstGeom prst="roundRect">
            <a:avLst>
              <a:gd name="adj" fmla="val 2730"/>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29" name="a3_c_60"/>
          <p:cNvSpPr/>
          <p:nvPr/>
        </p:nvSpPr>
        <p:spPr>
          <a:xfrm>
            <a:off x="6355080" y="2377440"/>
            <a:ext cx="777240" cy="777240"/>
          </a:xfrm>
          <a:prstGeom prst="ellipse">
            <a:avLst/>
          </a:prstGeom>
          <a:solidFill>
            <a:srgbClr val="15803D"/>
          </a:solidFill>
          <a:ln/>
        </p:spPr>
      </p:sp>
      <p:pic>
        <p:nvPicPr>
          <p:cNvPr id="30" name="a3_i_61" descr="preencoded.png">    </p:cNvPr>
          <p:cNvPicPr>
            <a:picLocks noChangeAspect="1"/>
          </p:cNvPicPr>
          <p:nvPr/>
        </p:nvPicPr>
        <p:blipFill>
          <a:blip r:embed="rId3"/>
          <a:stretch>
            <a:fillRect/>
          </a:stretch>
        </p:blipFill>
        <p:spPr>
          <a:xfrm>
            <a:off x="6526073" y="2548433"/>
            <a:ext cx="435254" cy="435254"/>
          </a:xfrm>
          <a:prstGeom prst="rect">
            <a:avLst/>
          </a:prstGeom>
        </p:spPr>
      </p:pic>
      <p:sp>
        <p:nvSpPr>
          <p:cNvPr id="31" name="a3_t_62"/>
          <p:cNvSpPr txBox="1"/>
          <p:nvPr/>
        </p:nvSpPr>
        <p:spPr>
          <a:xfrm>
            <a:off x="6355080" y="3246120"/>
            <a:ext cx="2313432" cy="274320"/>
          </a:xfrm>
          <a:prstGeom prst="rect">
            <a:avLst/>
          </a:prstGeom>
          <a:noFill/>
          <a:ln/>
        </p:spPr>
        <p:txBody>
          <a:bodyPr wrap="square" lIns="508" tIns="508" rIns="508" bIns="508" rtlCol="0" anchor="t"/>
          <a:lstStyle/>
          <a:p>
            <a:pPr indent="0" marL="0">
              <a:buNone/>
            </a:pPr>
            <a:r>
              <a:rPr lang="en-US" sz="1200" b="1" spc="200" kern="0" dirty="0">
                <a:solidFill>
                  <a:srgbClr val="15803D"/>
                </a:solidFill>
                <a:latin typeface="Arial" pitchFamily="34" charset="0"/>
                <a:ea typeface="Arial" pitchFamily="34" charset="-122"/>
                <a:cs typeface="Arial" pitchFamily="34" charset="-120"/>
              </a:rPr>
              <a:t>PROTECT</a:t>
            </a:r>
            <a:endParaRPr lang="en-US" sz="1200" dirty="0"/>
          </a:p>
        </p:txBody>
      </p:sp>
      <p:sp>
        <p:nvSpPr>
          <p:cNvPr id="32" name="a3_t_63"/>
          <p:cNvSpPr txBox="1"/>
          <p:nvPr/>
        </p:nvSpPr>
        <p:spPr>
          <a:xfrm>
            <a:off x="6355080" y="3520440"/>
            <a:ext cx="2313432" cy="411480"/>
          </a:xfrm>
          <a:prstGeom prst="rect">
            <a:avLst/>
          </a:prstGeom>
          <a:noFill/>
          <a:ln/>
        </p:spPr>
        <p:txBody>
          <a:bodyPr wrap="square" lIns="508" tIns="508" rIns="508" bIns="508" rtlCol="0" anchor="t"/>
          <a:lstStyle/>
          <a:p>
            <a:pPr indent="0" marL="0">
              <a:buNone/>
            </a:pPr>
            <a:r>
              <a:rPr lang="en-US" sz="1900" b="1" dirty="0">
                <a:solidFill>
                  <a:srgbClr val="0B1F3A"/>
                </a:solidFill>
                <a:latin typeface="Arial" pitchFamily="34" charset="0"/>
                <a:ea typeface="Arial" pitchFamily="34" charset="-122"/>
                <a:cs typeface="Arial" pitchFamily="34" charset="-120"/>
              </a:rPr>
              <a:t>Passive safety</a:t>
            </a:r>
            <a:endParaRPr lang="en-US" sz="1900" dirty="0"/>
          </a:p>
        </p:txBody>
      </p:sp>
      <p:sp>
        <p:nvSpPr>
          <p:cNvPr id="33" name="a3_t_64"/>
          <p:cNvSpPr txBox="1"/>
          <p:nvPr/>
        </p:nvSpPr>
        <p:spPr>
          <a:xfrm>
            <a:off x="6355080" y="3950208"/>
            <a:ext cx="2267712" cy="868680"/>
          </a:xfrm>
          <a:prstGeom prst="rect">
            <a:avLst/>
          </a:prstGeom>
          <a:noFill/>
          <a:ln/>
        </p:spPr>
        <p:txBody>
          <a:bodyPr wrap="square" lIns="508" tIns="508" rIns="508" bIns="508" rtlCol="0" anchor="t"/>
          <a:lstStyle/>
          <a:p>
            <a:pPr indent="0" marL="0">
              <a:buNone/>
            </a:pPr>
            <a:r>
              <a:rPr lang="en-US" sz="1500" dirty="0">
                <a:solidFill>
                  <a:srgbClr val="475569"/>
                </a:solidFill>
                <a:latin typeface="Arial" pitchFamily="34" charset="0"/>
                <a:ea typeface="Arial" pitchFamily="34" charset="-122"/>
                <a:cs typeface="Arial" pitchFamily="34" charset="-120"/>
              </a:rPr>
              <a:t>Protects the people inside when a crash happens</a:t>
            </a:r>
            <a:endParaRPr lang="en-US" sz="1500" dirty="0"/>
          </a:p>
        </p:txBody>
      </p:sp>
      <p:sp>
        <p:nvSpPr>
          <p:cNvPr id="34" name="a3_b_65"/>
          <p:cNvSpPr/>
          <p:nvPr/>
        </p:nvSpPr>
        <p:spPr>
          <a:xfrm>
            <a:off x="6309360" y="4892040"/>
            <a:ext cx="2313432" cy="457200"/>
          </a:xfrm>
          <a:prstGeom prst="roundRect">
            <a:avLst>
              <a:gd name="adj" fmla="val 16000"/>
            </a:avLst>
          </a:prstGeom>
          <a:solidFill>
            <a:srgbClr val="DCFCE7"/>
          </a:solidFill>
          <a:ln/>
        </p:spPr>
      </p:sp>
      <p:sp>
        <p:nvSpPr>
          <p:cNvPr id="35" name="a3_t_66"/>
          <p:cNvSpPr txBox="1"/>
          <p:nvPr/>
        </p:nvSpPr>
        <p:spPr>
          <a:xfrm>
            <a:off x="6382512" y="4892040"/>
            <a:ext cx="2167128" cy="457200"/>
          </a:xfrm>
          <a:prstGeom prst="rect">
            <a:avLst/>
          </a:prstGeom>
          <a:noFill/>
          <a:ln/>
        </p:spPr>
        <p:txBody>
          <a:bodyPr wrap="square" lIns="508" tIns="508" rIns="508" bIns="508" rtlCol="0" anchor="ctr"/>
          <a:lstStyle/>
          <a:p>
            <a:pPr indent="0" marL="0">
              <a:buNone/>
            </a:pPr>
            <a:r>
              <a:rPr lang="en-US" sz="1300" i="1" dirty="0">
                <a:solidFill>
                  <a:srgbClr val="0B1F3A"/>
                </a:solidFill>
                <a:latin typeface="Arial" pitchFamily="34" charset="0"/>
                <a:ea typeface="Arial" pitchFamily="34" charset="-122"/>
                <a:cs typeface="Arial" pitchFamily="34" charset="-120"/>
              </a:rPr>
              <a:t>e.g. Belts, airbags, body structure</a:t>
            </a:r>
            <a:endParaRPr lang="en-US" sz="1300" dirty="0"/>
          </a:p>
        </p:txBody>
      </p:sp>
      <p:sp>
        <p:nvSpPr>
          <p:cNvPr id="36" name="a4_b_67"/>
          <p:cNvSpPr/>
          <p:nvPr/>
        </p:nvSpPr>
        <p:spPr>
          <a:xfrm>
            <a:off x="8915400" y="2176272"/>
            <a:ext cx="2679192" cy="3337560"/>
          </a:xfrm>
          <a:prstGeom prst="roundRect">
            <a:avLst>
              <a:gd name="adj" fmla="val 2730"/>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37" name="a4_c_68"/>
          <p:cNvSpPr/>
          <p:nvPr/>
        </p:nvSpPr>
        <p:spPr>
          <a:xfrm>
            <a:off x="9144000" y="2377440"/>
            <a:ext cx="777240" cy="777240"/>
          </a:xfrm>
          <a:prstGeom prst="ellipse">
            <a:avLst/>
          </a:prstGeom>
          <a:solidFill>
            <a:srgbClr val="DC2626"/>
          </a:solidFill>
          <a:ln/>
        </p:spPr>
      </p:sp>
      <p:pic>
        <p:nvPicPr>
          <p:cNvPr id="38" name="a4_i_69" descr="preencoded.png">    </p:cNvPr>
          <p:cNvPicPr>
            <a:picLocks noChangeAspect="1"/>
          </p:cNvPicPr>
          <p:nvPr/>
        </p:nvPicPr>
        <p:blipFill>
          <a:blip r:embed="rId4"/>
          <a:stretch>
            <a:fillRect/>
          </a:stretch>
        </p:blipFill>
        <p:spPr>
          <a:xfrm>
            <a:off x="9314993" y="2548433"/>
            <a:ext cx="435254" cy="435254"/>
          </a:xfrm>
          <a:prstGeom prst="rect">
            <a:avLst/>
          </a:prstGeom>
        </p:spPr>
      </p:pic>
      <p:sp>
        <p:nvSpPr>
          <p:cNvPr id="39" name="a4_t_70"/>
          <p:cNvSpPr txBox="1"/>
          <p:nvPr/>
        </p:nvSpPr>
        <p:spPr>
          <a:xfrm>
            <a:off x="9144000" y="3246120"/>
            <a:ext cx="2313432" cy="274320"/>
          </a:xfrm>
          <a:prstGeom prst="rect">
            <a:avLst/>
          </a:prstGeom>
          <a:noFill/>
          <a:ln/>
        </p:spPr>
        <p:txBody>
          <a:bodyPr wrap="square" lIns="508" tIns="508" rIns="508" bIns="508" rtlCol="0" anchor="t"/>
          <a:lstStyle/>
          <a:p>
            <a:pPr indent="0" marL="0">
              <a:buNone/>
            </a:pPr>
            <a:r>
              <a:rPr lang="en-US" sz="1200" b="1" spc="200" kern="0" dirty="0">
                <a:solidFill>
                  <a:srgbClr val="DC2626"/>
                </a:solidFill>
                <a:latin typeface="Arial" pitchFamily="34" charset="0"/>
                <a:ea typeface="Arial" pitchFamily="34" charset="-122"/>
                <a:cs typeface="Arial" pitchFamily="34" charset="-120"/>
              </a:rPr>
              <a:t>RESPOND</a:t>
            </a:r>
            <a:endParaRPr lang="en-US" sz="1200" dirty="0"/>
          </a:p>
        </p:txBody>
      </p:sp>
      <p:sp>
        <p:nvSpPr>
          <p:cNvPr id="40" name="a4_t_71"/>
          <p:cNvSpPr txBox="1"/>
          <p:nvPr/>
        </p:nvSpPr>
        <p:spPr>
          <a:xfrm>
            <a:off x="9144000" y="3520440"/>
            <a:ext cx="2313432" cy="411480"/>
          </a:xfrm>
          <a:prstGeom prst="rect">
            <a:avLst/>
          </a:prstGeom>
          <a:noFill/>
          <a:ln/>
        </p:spPr>
        <p:txBody>
          <a:bodyPr wrap="square" lIns="508" tIns="508" rIns="508" bIns="508" rtlCol="0" anchor="t"/>
          <a:lstStyle/>
          <a:p>
            <a:pPr indent="0" marL="0">
              <a:buNone/>
            </a:pPr>
            <a:r>
              <a:rPr lang="en-US" sz="1900" b="1" dirty="0">
                <a:solidFill>
                  <a:srgbClr val="0B1F3A"/>
                </a:solidFill>
                <a:latin typeface="Arial" pitchFamily="34" charset="0"/>
                <a:ea typeface="Arial" pitchFamily="34" charset="-122"/>
                <a:cs typeface="Arial" pitchFamily="34" charset="-120"/>
              </a:rPr>
              <a:t>Post-crash</a:t>
            </a:r>
            <a:endParaRPr lang="en-US" sz="1900" dirty="0"/>
          </a:p>
        </p:txBody>
      </p:sp>
      <p:sp>
        <p:nvSpPr>
          <p:cNvPr id="41" name="a4_t_72"/>
          <p:cNvSpPr txBox="1"/>
          <p:nvPr/>
        </p:nvSpPr>
        <p:spPr>
          <a:xfrm>
            <a:off x="9144000" y="3950208"/>
            <a:ext cx="2267712" cy="868680"/>
          </a:xfrm>
          <a:prstGeom prst="rect">
            <a:avLst/>
          </a:prstGeom>
          <a:noFill/>
          <a:ln/>
        </p:spPr>
        <p:txBody>
          <a:bodyPr wrap="square" lIns="508" tIns="508" rIns="508" bIns="508" rtlCol="0" anchor="t"/>
          <a:lstStyle/>
          <a:p>
            <a:pPr indent="0" marL="0">
              <a:buNone/>
            </a:pPr>
            <a:r>
              <a:rPr lang="en-US" sz="1500" dirty="0">
                <a:solidFill>
                  <a:srgbClr val="475569"/>
                </a:solidFill>
                <a:latin typeface="Arial" pitchFamily="34" charset="0"/>
                <a:ea typeface="Arial" pitchFamily="34" charset="-122"/>
                <a:cs typeface="Arial" pitchFamily="34" charset="-120"/>
              </a:rPr>
              <a:t>Calls for help and reduces further hazards</a:t>
            </a:r>
            <a:endParaRPr lang="en-US" sz="1500" dirty="0"/>
          </a:p>
        </p:txBody>
      </p:sp>
      <p:sp>
        <p:nvSpPr>
          <p:cNvPr id="42" name="a4_b_73"/>
          <p:cNvSpPr/>
          <p:nvPr/>
        </p:nvSpPr>
        <p:spPr>
          <a:xfrm>
            <a:off x="9098280" y="4892040"/>
            <a:ext cx="2313432" cy="457200"/>
          </a:xfrm>
          <a:prstGeom prst="roundRect">
            <a:avLst>
              <a:gd name="adj" fmla="val 16000"/>
            </a:avLst>
          </a:prstGeom>
          <a:solidFill>
            <a:srgbClr val="FEE2E2"/>
          </a:solidFill>
          <a:ln/>
        </p:spPr>
      </p:sp>
      <p:sp>
        <p:nvSpPr>
          <p:cNvPr id="43" name="a4_t_74"/>
          <p:cNvSpPr txBox="1"/>
          <p:nvPr/>
        </p:nvSpPr>
        <p:spPr>
          <a:xfrm>
            <a:off x="9171432" y="4892040"/>
            <a:ext cx="2167128" cy="457200"/>
          </a:xfrm>
          <a:prstGeom prst="rect">
            <a:avLst/>
          </a:prstGeom>
          <a:noFill/>
          <a:ln/>
        </p:spPr>
        <p:txBody>
          <a:bodyPr wrap="square" lIns="508" tIns="508" rIns="508" bIns="508" rtlCol="0" anchor="ctr"/>
          <a:lstStyle/>
          <a:p>
            <a:pPr indent="0" marL="0">
              <a:buNone/>
            </a:pPr>
            <a:r>
              <a:rPr lang="en-US" sz="1300" i="1" dirty="0">
                <a:solidFill>
                  <a:srgbClr val="0B1F3A"/>
                </a:solidFill>
                <a:latin typeface="Arial" pitchFamily="34" charset="0"/>
                <a:ea typeface="Arial" pitchFamily="34" charset="-122"/>
                <a:cs typeface="Arial" pitchFamily="34" charset="-120"/>
              </a:rPr>
              <a:t>e.g. eCall, fuel or high-voltage cut-off</a:t>
            </a:r>
            <a:endParaRPr lang="en-US" sz="1300" dirty="0"/>
          </a:p>
        </p:txBody>
      </p:sp>
      <p:sp>
        <p:nvSpPr>
          <p:cNvPr id="44" name="a5_b_75"/>
          <p:cNvSpPr/>
          <p:nvPr/>
        </p:nvSpPr>
        <p:spPr>
          <a:xfrm>
            <a:off x="548640" y="5650992"/>
            <a:ext cx="11094415" cy="502920"/>
          </a:xfrm>
          <a:prstGeom prst="roundRect">
            <a:avLst>
              <a:gd name="adj" fmla="val 14545"/>
            </a:avLst>
          </a:prstGeom>
          <a:solidFill>
            <a:srgbClr val="FEF3C7"/>
          </a:solidFill>
          <a:ln w="12700">
            <a:solidFill>
              <a:srgbClr val="F59E0B"/>
            </a:solidFill>
            <a:prstDash val="solid"/>
          </a:ln>
        </p:spPr>
      </p:sp>
      <p:sp>
        <p:nvSpPr>
          <p:cNvPr id="45" name="a5_t_76"/>
          <p:cNvSpPr txBox="1"/>
          <p:nvPr/>
        </p:nvSpPr>
        <p:spPr>
          <a:xfrm>
            <a:off x="731520" y="5650992"/>
            <a:ext cx="10728655" cy="502920"/>
          </a:xfrm>
          <a:prstGeom prst="rect">
            <a:avLst/>
          </a:prstGeom>
          <a:noFill/>
          <a:ln/>
        </p:spPr>
        <p:txBody>
          <a:bodyPr wrap="square" lIns="508" tIns="508" rIns="508" bIns="508" rtlCol="0" anchor="ctr"/>
          <a:lstStyle/>
          <a:p>
            <a:pPr indent="0" marL="0">
              <a:buNone/>
            </a:pPr>
            <a:r>
              <a:rPr lang="en-US" sz="1600" b="1" dirty="0">
                <a:solidFill>
                  <a:srgbClr val="B45309"/>
                </a:solidFill>
                <a:latin typeface="Arial" pitchFamily="34" charset="0"/>
                <a:ea typeface="Arial" pitchFamily="34" charset="-122"/>
                <a:cs typeface="Arial" pitchFamily="34" charset="-120"/>
              </a:rPr>
              <a:t>If one layer fails, the next one is there. But the driver is still the most important safety system.</a:t>
            </a:r>
            <a:endParaRPr lang="en-US" sz="1600" dirty="0"/>
          </a:p>
        </p:txBody>
      </p:sp>
      <p:sp>
        <p:nvSpPr>
          <p:cNvPr id="46"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3</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childTnLst>
                          </p:cTn>
                        </p:par>
                      </p:childTnLst>
                    </p:cTn>
                  </p:par>
                  <p:par>
                    <p:cTn id="29" fill="hold">
                      <p:stCondLst>
                        <p:cond delay="indefinite"/>
                      </p:stCondLst>
                      <p:childTnLst>
                        <p:par>
                          <p:cTn id="30" fill="hold">
                            <p:stCondLst>
                              <p:cond delay="0"/>
                            </p:stCondLst>
                            <p:childTnLst>
                              <p:par>
                                <p:cTn id="31" presetID="10" presetClass="entr" presetSubtype="0" fill="hold" grpId="0" nodeType="clickEffect">
                                  <p:stCondLst>
                                    <p:cond delay="0"/>
                                  </p:stCondLst>
                                  <p:childTnLst>
                                    <p:set>
                                      <p:cBhvr>
                                        <p:cTn id="32" dur="1" fill="hold">
                                          <p:stCondLst>
                                            <p:cond delay="0"/>
                                          </p:stCondLst>
                                        </p:cTn>
                                        <p:tgtEl>
                                          <p:spTgt spid="20"/>
                                        </p:tgtEl>
                                        <p:attrNameLst>
                                          <p:attrName>style.visibility</p:attrName>
                                        </p:attrNameLst>
                                      </p:cBhvr>
                                      <p:to>
                                        <p:strVal val="visible"/>
                                      </p:to>
                                    </p:set>
                                    <p:animEffect transition="in" filter="fade">
                                      <p:cBhvr>
                                        <p:cTn id="33" dur="500"/>
                                        <p:tgtEl>
                                          <p:spTgt spid="20"/>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21"/>
                                        </p:tgtEl>
                                        <p:attrNameLst>
                                          <p:attrName>style.visibility</p:attrName>
                                        </p:attrNameLst>
                                      </p:cBhvr>
                                      <p:to>
                                        <p:strVal val="visible"/>
                                      </p:to>
                                    </p:set>
                                    <p:animEffect transition="in" filter="fade">
                                      <p:cBhvr>
                                        <p:cTn id="36" dur="500"/>
                                        <p:tgtEl>
                                          <p:spTgt spid="21"/>
                                        </p:tgtEl>
                                      </p:cBhvr>
                                    </p:animEffect>
                                  </p:childTnLst>
                                </p:cTn>
                              </p:par>
                              <p:par>
                                <p:cTn id="37" presetID="10" presetClass="entr" presetSubtype="0" fill="hold" grpId="0" nodeType="with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childTnLst>
                          </p:cTn>
                        </p:par>
                      </p:childTnLst>
                    </p:cTn>
                  </p:par>
                  <p:par>
                    <p:cTn id="55" fill="hold">
                      <p:stCondLst>
                        <p:cond delay="indefinite"/>
                      </p:stCondLst>
                      <p:childTnLst>
                        <p:par>
                          <p:cTn id="56" fill="hold">
                            <p:stCondLst>
                              <p:cond delay="0"/>
                            </p:stCondLst>
                            <p:childTnLst>
                              <p:par>
                                <p:cTn id="57" presetID="10" presetClass="entr" presetSubtype="0" fill="hold" grpId="0" nodeType="clickEffect">
                                  <p:stCondLst>
                                    <p:cond delay="0"/>
                                  </p:stCondLst>
                                  <p:childTnLst>
                                    <p:set>
                                      <p:cBhvr>
                                        <p:cTn id="58" dur="1" fill="hold">
                                          <p:stCondLst>
                                            <p:cond delay="0"/>
                                          </p:stCondLst>
                                        </p:cTn>
                                        <p:tgtEl>
                                          <p:spTgt spid="28"/>
                                        </p:tgtEl>
                                        <p:attrNameLst>
                                          <p:attrName>style.visibility</p:attrName>
                                        </p:attrNameLst>
                                      </p:cBhvr>
                                      <p:to>
                                        <p:strVal val="visible"/>
                                      </p:to>
                                    </p:set>
                                    <p:animEffect transition="in" filter="fade">
                                      <p:cBhvr>
                                        <p:cTn id="59" dur="500"/>
                                        <p:tgtEl>
                                          <p:spTgt spid="28"/>
                                        </p:tgtEl>
                                      </p:cBhvr>
                                    </p:animEffect>
                                  </p:childTnLst>
                                </p:cTn>
                              </p:par>
                              <p:par>
                                <p:cTn id="60" presetID="10" presetClass="entr" presetSubtype="0" fill="hold" grpId="0" nodeType="with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fade">
                                      <p:cBhvr>
                                        <p:cTn id="62" dur="500"/>
                                        <p:tgtEl>
                                          <p:spTgt spid="29"/>
                                        </p:tgtEl>
                                      </p:cBhvr>
                                    </p:animEffect>
                                  </p:childTnLst>
                                </p:cTn>
                              </p:par>
                              <p:par>
                                <p:cTn id="63" presetID="10" presetClass="entr" presetSubtype="0" fill="hold" grpId="0" nodeType="withEffect">
                                  <p:stCondLst>
                                    <p:cond delay="0"/>
                                  </p:stCondLst>
                                  <p:childTnLst>
                                    <p:set>
                                      <p:cBhvr>
                                        <p:cTn id="64" dur="1" fill="hold">
                                          <p:stCondLst>
                                            <p:cond delay="0"/>
                                          </p:stCondLst>
                                        </p:cTn>
                                        <p:tgtEl>
                                          <p:spTgt spid="30"/>
                                        </p:tgtEl>
                                        <p:attrNameLst>
                                          <p:attrName>style.visibility</p:attrName>
                                        </p:attrNameLst>
                                      </p:cBhvr>
                                      <p:to>
                                        <p:strVal val="visible"/>
                                      </p:to>
                                    </p:set>
                                    <p:animEffect transition="in" filter="fade">
                                      <p:cBhvr>
                                        <p:cTn id="65" dur="500"/>
                                        <p:tgtEl>
                                          <p:spTgt spid="30"/>
                                        </p:tgtEl>
                                      </p:cBhvr>
                                    </p:animEffect>
                                  </p:childTnLst>
                                </p:cTn>
                              </p:par>
                              <p:par>
                                <p:cTn id="66" presetID="10" presetClass="entr" presetSubtype="0" fill="hold" grpId="0" nodeType="withEffect">
                                  <p:stCondLst>
                                    <p:cond delay="0"/>
                                  </p:stCondLst>
                                  <p:childTnLst>
                                    <p:set>
                                      <p:cBhvr>
                                        <p:cTn id="67" dur="1" fill="hold">
                                          <p:stCondLst>
                                            <p:cond delay="0"/>
                                          </p:stCondLst>
                                        </p:cTn>
                                        <p:tgtEl>
                                          <p:spTgt spid="31"/>
                                        </p:tgtEl>
                                        <p:attrNameLst>
                                          <p:attrName>style.visibility</p:attrName>
                                        </p:attrNameLst>
                                      </p:cBhvr>
                                      <p:to>
                                        <p:strVal val="visible"/>
                                      </p:to>
                                    </p:set>
                                    <p:animEffect transition="in" filter="fade">
                                      <p:cBhvr>
                                        <p:cTn id="68" dur="500"/>
                                        <p:tgtEl>
                                          <p:spTgt spid="31"/>
                                        </p:tgtEl>
                                      </p:cBhvr>
                                    </p:animEffect>
                                  </p:childTnLst>
                                </p:cTn>
                              </p:par>
                              <p:par>
                                <p:cTn id="69" presetID="10" presetClass="entr" presetSubtype="0" fill="hold" grpId="0" nodeType="with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00"/>
                                        <p:tgtEl>
                                          <p:spTgt spid="3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500"/>
                                        <p:tgtEl>
                                          <p:spTgt spid="3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00"/>
                                        <p:tgtEl>
                                          <p:spTgt spid="3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500"/>
                                        <p:tgtEl>
                                          <p:spTgt spid="35"/>
                                        </p:tgtEl>
                                      </p:cBhvr>
                                    </p:animEffect>
                                  </p:childTnLst>
                                </p:cTn>
                              </p:par>
                            </p:childTnLst>
                          </p:cTn>
                        </p:par>
                      </p:childTnLst>
                    </p:cTn>
                  </p:par>
                  <p:par>
                    <p:cTn id="81" fill="hold">
                      <p:stCondLst>
                        <p:cond delay="indefinite"/>
                      </p:stCondLst>
                      <p:childTnLst>
                        <p:par>
                          <p:cTn id="82" fill="hold">
                            <p:stCondLst>
                              <p:cond delay="0"/>
                            </p:stCondLst>
                            <p:childTnLst>
                              <p:par>
                                <p:cTn id="83" presetID="10" presetClass="entr" presetSubtype="0" fill="hold" grpId="0" nodeType="clickEffect">
                                  <p:stCondLst>
                                    <p:cond delay="0"/>
                                  </p:stCondLst>
                                  <p:childTnLst>
                                    <p:set>
                                      <p:cBhvr>
                                        <p:cTn id="84" dur="1" fill="hold">
                                          <p:stCondLst>
                                            <p:cond delay="0"/>
                                          </p:stCondLst>
                                        </p:cTn>
                                        <p:tgtEl>
                                          <p:spTgt spid="36"/>
                                        </p:tgtEl>
                                        <p:attrNameLst>
                                          <p:attrName>style.visibility</p:attrName>
                                        </p:attrNameLst>
                                      </p:cBhvr>
                                      <p:to>
                                        <p:strVal val="visible"/>
                                      </p:to>
                                    </p:set>
                                    <p:animEffect transition="in" filter="fade">
                                      <p:cBhvr>
                                        <p:cTn id="85" dur="500"/>
                                        <p:tgtEl>
                                          <p:spTgt spid="36"/>
                                        </p:tgtEl>
                                      </p:cBhvr>
                                    </p:animEffect>
                                  </p:childTnLst>
                                </p:cTn>
                              </p:par>
                              <p:par>
                                <p:cTn id="86" presetID="10" presetClass="entr" presetSubtype="0" fill="hold" grpId="0" nodeType="withEffect">
                                  <p:stCondLst>
                                    <p:cond delay="0"/>
                                  </p:stCondLst>
                                  <p:childTnLst>
                                    <p:set>
                                      <p:cBhvr>
                                        <p:cTn id="87" dur="1" fill="hold">
                                          <p:stCondLst>
                                            <p:cond delay="0"/>
                                          </p:stCondLst>
                                        </p:cTn>
                                        <p:tgtEl>
                                          <p:spTgt spid="37"/>
                                        </p:tgtEl>
                                        <p:attrNameLst>
                                          <p:attrName>style.visibility</p:attrName>
                                        </p:attrNameLst>
                                      </p:cBhvr>
                                      <p:to>
                                        <p:strVal val="visible"/>
                                      </p:to>
                                    </p:set>
                                    <p:animEffect transition="in" filter="fade">
                                      <p:cBhvr>
                                        <p:cTn id="88" dur="500"/>
                                        <p:tgtEl>
                                          <p:spTgt spid="37"/>
                                        </p:tgtEl>
                                      </p:cBhvr>
                                    </p:animEffect>
                                  </p:childTnLst>
                                </p:cTn>
                              </p:par>
                              <p:par>
                                <p:cTn id="89" presetID="10" presetClass="entr" presetSubtype="0" fill="hold" grpId="0" nodeType="withEffect">
                                  <p:stCondLst>
                                    <p:cond delay="0"/>
                                  </p:stCondLst>
                                  <p:childTnLst>
                                    <p:set>
                                      <p:cBhvr>
                                        <p:cTn id="90" dur="1" fill="hold">
                                          <p:stCondLst>
                                            <p:cond delay="0"/>
                                          </p:stCondLst>
                                        </p:cTn>
                                        <p:tgtEl>
                                          <p:spTgt spid="38"/>
                                        </p:tgtEl>
                                        <p:attrNameLst>
                                          <p:attrName>style.visibility</p:attrName>
                                        </p:attrNameLst>
                                      </p:cBhvr>
                                      <p:to>
                                        <p:strVal val="visible"/>
                                      </p:to>
                                    </p:set>
                                    <p:animEffect transition="in" filter="fade">
                                      <p:cBhvr>
                                        <p:cTn id="91" dur="500"/>
                                        <p:tgtEl>
                                          <p:spTgt spid="38"/>
                                        </p:tgtEl>
                                      </p:cBhvr>
                                    </p:animEffect>
                                  </p:childTnLst>
                                </p:cTn>
                              </p:par>
                              <p:par>
                                <p:cTn id="92" presetID="10" presetClass="entr" presetSubtype="0" fill="hold" grpId="0" nodeType="withEffect">
                                  <p:stCondLst>
                                    <p:cond delay="0"/>
                                  </p:stCondLst>
                                  <p:childTnLst>
                                    <p:set>
                                      <p:cBhvr>
                                        <p:cTn id="93" dur="1" fill="hold">
                                          <p:stCondLst>
                                            <p:cond delay="0"/>
                                          </p:stCondLst>
                                        </p:cTn>
                                        <p:tgtEl>
                                          <p:spTgt spid="39"/>
                                        </p:tgtEl>
                                        <p:attrNameLst>
                                          <p:attrName>style.visibility</p:attrName>
                                        </p:attrNameLst>
                                      </p:cBhvr>
                                      <p:to>
                                        <p:strVal val="visible"/>
                                      </p:to>
                                    </p:set>
                                    <p:animEffect transition="in" filter="fade">
                                      <p:cBhvr>
                                        <p:cTn id="94" dur="500"/>
                                        <p:tgtEl>
                                          <p:spTgt spid="39"/>
                                        </p:tgtEl>
                                      </p:cBhvr>
                                    </p:animEffect>
                                  </p:childTnLst>
                                </p:cTn>
                              </p:par>
                              <p:par>
                                <p:cTn id="95" presetID="10" presetClass="entr" presetSubtype="0" fill="hold" grpId="0" nodeType="withEffect">
                                  <p:stCondLst>
                                    <p:cond delay="0"/>
                                  </p:stCondLst>
                                  <p:childTnLst>
                                    <p:set>
                                      <p:cBhvr>
                                        <p:cTn id="96" dur="1" fill="hold">
                                          <p:stCondLst>
                                            <p:cond delay="0"/>
                                          </p:stCondLst>
                                        </p:cTn>
                                        <p:tgtEl>
                                          <p:spTgt spid="40"/>
                                        </p:tgtEl>
                                        <p:attrNameLst>
                                          <p:attrName>style.visibility</p:attrName>
                                        </p:attrNameLst>
                                      </p:cBhvr>
                                      <p:to>
                                        <p:strVal val="visible"/>
                                      </p:to>
                                    </p:set>
                                    <p:animEffect transition="in" filter="fade">
                                      <p:cBhvr>
                                        <p:cTn id="97" dur="500"/>
                                        <p:tgtEl>
                                          <p:spTgt spid="40"/>
                                        </p:tgtEl>
                                      </p:cBhvr>
                                    </p:animEffect>
                                  </p:childTnLst>
                                </p:cTn>
                              </p:par>
                              <p:par>
                                <p:cTn id="98" presetID="10" presetClass="entr" presetSubtype="0" fill="hold" grpId="0" nodeType="withEffect">
                                  <p:stCondLst>
                                    <p:cond delay="0"/>
                                  </p:stCondLst>
                                  <p:childTnLst>
                                    <p:set>
                                      <p:cBhvr>
                                        <p:cTn id="99" dur="1" fill="hold">
                                          <p:stCondLst>
                                            <p:cond delay="0"/>
                                          </p:stCondLst>
                                        </p:cTn>
                                        <p:tgtEl>
                                          <p:spTgt spid="41"/>
                                        </p:tgtEl>
                                        <p:attrNameLst>
                                          <p:attrName>style.visibility</p:attrName>
                                        </p:attrNameLst>
                                      </p:cBhvr>
                                      <p:to>
                                        <p:strVal val="visible"/>
                                      </p:to>
                                    </p:set>
                                    <p:animEffect transition="in" filter="fade">
                                      <p:cBhvr>
                                        <p:cTn id="100" dur="500"/>
                                        <p:tgtEl>
                                          <p:spTgt spid="41"/>
                                        </p:tgtEl>
                                      </p:cBhvr>
                                    </p:animEffect>
                                  </p:childTnLst>
                                </p:cTn>
                              </p:par>
                              <p:par>
                                <p:cTn id="101" presetID="10" presetClass="entr" presetSubtype="0" fill="hold" grpId="0" nodeType="withEffect">
                                  <p:stCondLst>
                                    <p:cond delay="0"/>
                                  </p:stCondLst>
                                  <p:childTnLst>
                                    <p:set>
                                      <p:cBhvr>
                                        <p:cTn id="102" dur="1" fill="hold">
                                          <p:stCondLst>
                                            <p:cond delay="0"/>
                                          </p:stCondLst>
                                        </p:cTn>
                                        <p:tgtEl>
                                          <p:spTgt spid="42"/>
                                        </p:tgtEl>
                                        <p:attrNameLst>
                                          <p:attrName>style.visibility</p:attrName>
                                        </p:attrNameLst>
                                      </p:cBhvr>
                                      <p:to>
                                        <p:strVal val="visible"/>
                                      </p:to>
                                    </p:set>
                                    <p:animEffect transition="in" filter="fade">
                                      <p:cBhvr>
                                        <p:cTn id="103" dur="500"/>
                                        <p:tgtEl>
                                          <p:spTgt spid="42"/>
                                        </p:tgtEl>
                                      </p:cBhvr>
                                    </p:animEffect>
                                  </p:childTnLst>
                                </p:cTn>
                              </p:par>
                              <p:par>
                                <p:cTn id="104" presetID="10" presetClass="entr" presetSubtype="0" fill="hold" grpId="0" nodeType="withEffect">
                                  <p:stCondLst>
                                    <p:cond delay="0"/>
                                  </p:stCondLst>
                                  <p:childTnLst>
                                    <p:set>
                                      <p:cBhvr>
                                        <p:cTn id="105" dur="1" fill="hold">
                                          <p:stCondLst>
                                            <p:cond delay="0"/>
                                          </p:stCondLst>
                                        </p:cTn>
                                        <p:tgtEl>
                                          <p:spTgt spid="43"/>
                                        </p:tgtEl>
                                        <p:attrNameLst>
                                          <p:attrName>style.visibility</p:attrName>
                                        </p:attrNameLst>
                                      </p:cBhvr>
                                      <p:to>
                                        <p:strVal val="visible"/>
                                      </p:to>
                                    </p:set>
                                    <p:animEffect transition="in" filter="fade">
                                      <p:cBhvr>
                                        <p:cTn id="106" dur="500"/>
                                        <p:tgtEl>
                                          <p:spTgt spid="43"/>
                                        </p:tgtEl>
                                      </p:cBhvr>
                                    </p:animEffect>
                                  </p:childTnLst>
                                </p:cTn>
                              </p:par>
                            </p:childTnLst>
                          </p:cTn>
                        </p:par>
                      </p:childTnLst>
                    </p:cTn>
                  </p:par>
                  <p:par>
                    <p:cTn id="107" fill="hold">
                      <p:stCondLst>
                        <p:cond delay="indefinite"/>
                      </p:stCondLst>
                      <p:childTnLst>
                        <p:par>
                          <p:cTn id="108" fill="hold">
                            <p:stCondLst>
                              <p:cond delay="0"/>
                            </p:stCondLst>
                            <p:childTnLst>
                              <p:par>
                                <p:cTn id="109" presetID="10" presetClass="entr" presetSubtype="0" fill="hold" grpId="0" nodeType="clickEffect">
                                  <p:stCondLst>
                                    <p:cond delay="0"/>
                                  </p:stCondLst>
                                  <p:childTnLst>
                                    <p:set>
                                      <p:cBhvr>
                                        <p:cTn id="110" dur="1" fill="hold">
                                          <p:stCondLst>
                                            <p:cond delay="0"/>
                                          </p:stCondLst>
                                        </p:cTn>
                                        <p:tgtEl>
                                          <p:spTgt spid="44"/>
                                        </p:tgtEl>
                                        <p:attrNameLst>
                                          <p:attrName>style.visibility</p:attrName>
                                        </p:attrNameLst>
                                      </p:cBhvr>
                                      <p:to>
                                        <p:strVal val="visible"/>
                                      </p:to>
                                    </p:set>
                                    <p:animEffect transition="in" filter="fade">
                                      <p:cBhvr>
                                        <p:cTn id="111" dur="500"/>
                                        <p:tgtEl>
                                          <p:spTgt spid="44"/>
                                        </p:tgtEl>
                                      </p:cBhvr>
                                    </p:animEffect>
                                  </p:childTnLst>
                                </p:cTn>
                              </p:par>
                              <p:par>
                                <p:cTn id="112" presetID="10" presetClass="entr" presetSubtype="0" fill="hold" grpId="0" nodeType="withEffect">
                                  <p:stCondLst>
                                    <p:cond delay="0"/>
                                  </p:stCondLst>
                                  <p:childTnLst>
                                    <p:set>
                                      <p:cBhvr>
                                        <p:cTn id="113" dur="1" fill="hold">
                                          <p:stCondLst>
                                            <p:cond delay="0"/>
                                          </p:stCondLst>
                                        </p:cTn>
                                        <p:tgtEl>
                                          <p:spTgt spid="45"/>
                                        </p:tgtEl>
                                        <p:attrNameLst>
                                          <p:attrName>style.visibility</p:attrName>
                                        </p:attrNameLst>
                                      </p:cBhvr>
                                      <p:to>
                                        <p:strVal val="visible"/>
                                      </p:to>
                                    </p:set>
                                    <p:animEffect transition="in" filter="fade">
                                      <p:cBhvr>
                                        <p:cTn id="114"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17" grpId="0" animBg="1"/>
      <p:bldP spid="18" grpId="0" animBg="1"/>
      <p:bldP spid="19" grpId="0" animBg="1"/>
      <p:bldP spid="20" grpId="0" animBg="1"/>
      <p:bldP spid="21" grpId="0" animBg="1"/>
      <p:bldP spid="23" grpId="0" animBg="1"/>
      <p:bldP spid="24" grpId="0" animBg="1"/>
      <p:bldP spid="25" grpId="0" animBg="1"/>
      <p:bldP spid="26" grpId="0" animBg="1"/>
      <p:bldP spid="27" grpId="0" animBg="1"/>
      <p:bldP spid="28" grpId="0" animBg="1"/>
      <p:bldP spid="29" grpId="0" animBg="1"/>
      <p:bldP spid="31" grpId="0" animBg="1"/>
      <p:bldP spid="32" grpId="0" animBg="1"/>
      <p:bldP spid="33" grpId="0" animBg="1"/>
      <p:bldP spid="34" grpId="0" animBg="1"/>
      <p:bldP spid="35" grpId="0" animBg="1"/>
      <p:bldP spid="36" grpId="0" animBg="1"/>
      <p:bldP spid="37" grpId="0" animBg="1"/>
      <p:bldP spid="39" grpId="0" animBg="1"/>
      <p:bldP spid="40" grpId="0" animBg="1"/>
      <p:bldP spid="41" grpId="0" animBg="1"/>
      <p:bldP spid="42" grpId="0" animBg="1"/>
      <p:bldP spid="43" grpId="0" animBg="1"/>
      <p:bldP spid="44" grpId="0" animBg="1"/>
      <p:bldP spid="45" grpId="0" animBg="1"/>
    </p:bldLst>
  </p:timing>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b_77"/>
          <p:cNvSpPr/>
          <p:nvPr/>
        </p:nvSpPr>
        <p:spPr>
          <a:xfrm>
            <a:off x="548640" y="274320"/>
            <a:ext cx="1660550" cy="292608"/>
          </a:xfrm>
          <a:prstGeom prst="roundRect">
            <a:avLst>
              <a:gd name="adj" fmla="val 50000"/>
            </a:avLst>
          </a:prstGeom>
          <a:solidFill>
            <a:srgbClr val="0B1F3A"/>
          </a:solidFill>
          <a:ln/>
        </p:spPr>
      </p:sp>
      <p:sp>
        <p:nvSpPr>
          <p:cNvPr id="3" name="t_78"/>
          <p:cNvSpPr txBox="1"/>
          <p:nvPr/>
        </p:nvSpPr>
        <p:spPr>
          <a:xfrm>
            <a:off x="548640" y="274320"/>
            <a:ext cx="1660550"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HOW IT WORKS</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Sense → Decide → Act</a:t>
            </a:r>
            <a:endParaRPr lang="en-US" sz="3000" dirty="0"/>
          </a:p>
        </p:txBody>
      </p:sp>
      <p:sp>
        <p:nvSpPr>
          <p:cNvPr id="5" name="t_79"/>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Almost every safety system follows the same three steps</a:t>
            </a:r>
            <a:endParaRPr lang="en-US" sz="1800" dirty="0"/>
          </a:p>
        </p:txBody>
      </p:sp>
      <p:sp>
        <p:nvSpPr>
          <p:cNvPr id="6" name="a1w_b_80"/>
          <p:cNvSpPr/>
          <p:nvPr/>
        </p:nvSpPr>
        <p:spPr>
          <a:xfrm>
            <a:off x="548640" y="1737360"/>
            <a:ext cx="6309360" cy="1207008"/>
          </a:xfrm>
          <a:prstGeom prst="roundRect">
            <a:avLst>
              <a:gd name="adj" fmla="val 6061"/>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7" name="a1w_b_81"/>
          <p:cNvSpPr/>
          <p:nvPr/>
        </p:nvSpPr>
        <p:spPr>
          <a:xfrm>
            <a:off x="548640" y="1737360"/>
            <a:ext cx="128016" cy="1207008"/>
          </a:xfrm>
          <a:prstGeom prst="rect">
            <a:avLst/>
          </a:prstGeom>
          <a:solidFill>
            <a:srgbClr val="2563EB"/>
          </a:solidFill>
          <a:ln/>
        </p:spPr>
      </p:sp>
      <p:sp>
        <p:nvSpPr>
          <p:cNvPr id="8" name="a1w_c_82"/>
          <p:cNvSpPr/>
          <p:nvPr/>
        </p:nvSpPr>
        <p:spPr>
          <a:xfrm>
            <a:off x="868680" y="1975104"/>
            <a:ext cx="731520" cy="731520"/>
          </a:xfrm>
          <a:prstGeom prst="ellipse">
            <a:avLst/>
          </a:prstGeom>
          <a:solidFill>
            <a:srgbClr val="2563EB"/>
          </a:solidFill>
          <a:ln/>
        </p:spPr>
      </p:sp>
      <p:pic>
        <p:nvPicPr>
          <p:cNvPr id="9" name="a1w_i_83" descr="preencoded.png">    </p:cNvPr>
          <p:cNvPicPr>
            <a:picLocks noChangeAspect="1"/>
          </p:cNvPicPr>
          <p:nvPr/>
        </p:nvPicPr>
        <p:blipFill>
          <a:blip r:embed="rId1"/>
          <a:stretch>
            <a:fillRect/>
          </a:stretch>
        </p:blipFill>
        <p:spPr>
          <a:xfrm>
            <a:off x="1029614" y="2136038"/>
            <a:ext cx="409651" cy="409651"/>
          </a:xfrm>
          <a:prstGeom prst="rect">
            <a:avLst/>
          </a:prstGeom>
        </p:spPr>
      </p:pic>
      <p:sp>
        <p:nvSpPr>
          <p:cNvPr id="10" name="a1w_t_84"/>
          <p:cNvSpPr txBox="1"/>
          <p:nvPr/>
        </p:nvSpPr>
        <p:spPr>
          <a:xfrm>
            <a:off x="1783080" y="1810512"/>
            <a:ext cx="4983480" cy="1060704"/>
          </a:xfrm>
          <a:prstGeom prst="rect">
            <a:avLst/>
          </a:prstGeom>
          <a:noFill/>
          <a:ln/>
        </p:spPr>
        <p:txBody>
          <a:bodyPr wrap="square" lIns="508" tIns="508" rIns="508" bIns="508" rtlCol="0" anchor="ctr"/>
          <a:lstStyle/>
          <a:p>
            <a:pPr indent="0" marL="0">
              <a:buNone/>
            </a:pPr>
            <a:r>
              <a:rPr lang="en-US" sz="1700" b="1" dirty="0">
                <a:solidFill>
                  <a:srgbClr val="2563EB"/>
                </a:solidFill>
                <a:latin typeface="Arial" pitchFamily="34" charset="0"/>
                <a:ea typeface="Arial" pitchFamily="34" charset="-122"/>
                <a:cs typeface="Arial" pitchFamily="34" charset="-120"/>
              </a:rPr>
              <a:t>1  SENSE   </a:t>
            </a:r>
            <a:pPr indent="0" marL="0">
              <a:buNone/>
            </a:pPr>
            <a:r>
              <a:rPr lang="en-US" sz="1700" b="1" dirty="0">
                <a:solidFill>
                  <a:srgbClr val="0B1F3A"/>
                </a:solidFill>
                <a:latin typeface="Arial" pitchFamily="34" charset="0"/>
                <a:ea typeface="Arial" pitchFamily="34" charset="-122"/>
                <a:cs typeface="Arial" pitchFamily="34" charset="-120"/>
              </a:rPr>
              <a:t>Sensors measure what is happening</a:t>
            </a:r>
            <a:endParaRPr lang="en-US" sz="1700" dirty="0"/>
          </a:p>
          <a:p>
            <a:pPr indent="0" marL="0">
              <a:buNone/>
            </a:pPr>
            <a:r>
              <a:rPr lang="en-US" sz="1400" dirty="0">
                <a:solidFill>
                  <a:srgbClr val="475569"/>
                </a:solidFill>
                <a:latin typeface="Arial" pitchFamily="34" charset="0"/>
                <a:ea typeface="Arial" pitchFamily="34" charset="-122"/>
                <a:cs typeface="Arial" pitchFamily="34" charset="-120"/>
              </a:rPr>
              <a:t>Wheel-speed sensors, steering angle, camera, radar, crash sensors</a:t>
            </a:r>
            <a:endParaRPr lang="en-US" sz="1700" dirty="0"/>
          </a:p>
        </p:txBody>
      </p:sp>
      <p:sp>
        <p:nvSpPr>
          <p:cNvPr id="11" name="a2w_b_85"/>
          <p:cNvSpPr/>
          <p:nvPr/>
        </p:nvSpPr>
        <p:spPr>
          <a:xfrm>
            <a:off x="548640" y="3108960"/>
            <a:ext cx="6309360" cy="1207008"/>
          </a:xfrm>
          <a:prstGeom prst="roundRect">
            <a:avLst>
              <a:gd name="adj" fmla="val 6061"/>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12" name="a2w_b_86"/>
          <p:cNvSpPr/>
          <p:nvPr/>
        </p:nvSpPr>
        <p:spPr>
          <a:xfrm>
            <a:off x="548640" y="3108960"/>
            <a:ext cx="128016" cy="1207008"/>
          </a:xfrm>
          <a:prstGeom prst="rect">
            <a:avLst/>
          </a:prstGeom>
          <a:solidFill>
            <a:srgbClr val="0E7490"/>
          </a:solidFill>
          <a:ln/>
        </p:spPr>
      </p:sp>
      <p:sp>
        <p:nvSpPr>
          <p:cNvPr id="13" name="a2w_c_87"/>
          <p:cNvSpPr/>
          <p:nvPr/>
        </p:nvSpPr>
        <p:spPr>
          <a:xfrm>
            <a:off x="868680" y="3346704"/>
            <a:ext cx="731520" cy="731520"/>
          </a:xfrm>
          <a:prstGeom prst="ellipse">
            <a:avLst/>
          </a:prstGeom>
          <a:solidFill>
            <a:srgbClr val="0E7490"/>
          </a:solidFill>
          <a:ln/>
        </p:spPr>
      </p:sp>
      <p:pic>
        <p:nvPicPr>
          <p:cNvPr id="14" name="a2w_i_88" descr="preencoded.png">    </p:cNvPr>
          <p:cNvPicPr>
            <a:picLocks noChangeAspect="1"/>
          </p:cNvPicPr>
          <p:nvPr/>
        </p:nvPicPr>
        <p:blipFill>
          <a:blip r:embed="rId2"/>
          <a:stretch>
            <a:fillRect/>
          </a:stretch>
        </p:blipFill>
        <p:spPr>
          <a:xfrm>
            <a:off x="1029614" y="3507638"/>
            <a:ext cx="409651" cy="409651"/>
          </a:xfrm>
          <a:prstGeom prst="rect">
            <a:avLst/>
          </a:prstGeom>
        </p:spPr>
      </p:pic>
      <p:sp>
        <p:nvSpPr>
          <p:cNvPr id="15" name="a2w_t_89"/>
          <p:cNvSpPr txBox="1"/>
          <p:nvPr/>
        </p:nvSpPr>
        <p:spPr>
          <a:xfrm>
            <a:off x="1783080" y="3182112"/>
            <a:ext cx="4983480" cy="1060704"/>
          </a:xfrm>
          <a:prstGeom prst="rect">
            <a:avLst/>
          </a:prstGeom>
          <a:noFill/>
          <a:ln/>
        </p:spPr>
        <p:txBody>
          <a:bodyPr wrap="square" lIns="508" tIns="508" rIns="508" bIns="508" rtlCol="0" anchor="ctr"/>
          <a:lstStyle/>
          <a:p>
            <a:pPr indent="0" marL="0">
              <a:buNone/>
            </a:pPr>
            <a:r>
              <a:rPr lang="en-US" sz="1700" b="1" dirty="0">
                <a:solidFill>
                  <a:srgbClr val="0E7490"/>
                </a:solidFill>
                <a:latin typeface="Arial" pitchFamily="34" charset="0"/>
                <a:ea typeface="Arial" pitchFamily="34" charset="-122"/>
                <a:cs typeface="Arial" pitchFamily="34" charset="-120"/>
              </a:rPr>
              <a:t>2  DECIDE   </a:t>
            </a:r>
            <a:pPr indent="0" marL="0">
              <a:buNone/>
            </a:pPr>
            <a:r>
              <a:rPr lang="en-US" sz="1700" b="1" dirty="0">
                <a:solidFill>
                  <a:srgbClr val="0B1F3A"/>
                </a:solidFill>
                <a:latin typeface="Arial" pitchFamily="34" charset="0"/>
                <a:ea typeface="Arial" pitchFamily="34" charset="-122"/>
                <a:cs typeface="Arial" pitchFamily="34" charset="-120"/>
              </a:rPr>
              <a:t>A control unit compares it with what should happen</a:t>
            </a:r>
            <a:endParaRPr lang="en-US" sz="1700" dirty="0"/>
          </a:p>
          <a:p>
            <a:pPr indent="0" marL="0">
              <a:buNone/>
            </a:pPr>
            <a:r>
              <a:rPr lang="en-US" sz="1400" dirty="0">
                <a:solidFill>
                  <a:srgbClr val="475569"/>
                </a:solidFill>
                <a:latin typeface="Arial" pitchFamily="34" charset="0"/>
                <a:ea typeface="Arial" pitchFamily="34" charset="-122"/>
                <a:cs typeface="Arial" pitchFamily="34" charset="-120"/>
              </a:rPr>
              <a:t>Hundreds of times a second – far faster than a person</a:t>
            </a:r>
            <a:endParaRPr lang="en-US" sz="1700" dirty="0"/>
          </a:p>
        </p:txBody>
      </p:sp>
      <p:sp>
        <p:nvSpPr>
          <p:cNvPr id="16" name="a3w_b_90"/>
          <p:cNvSpPr/>
          <p:nvPr/>
        </p:nvSpPr>
        <p:spPr>
          <a:xfrm>
            <a:off x="548640" y="4480560"/>
            <a:ext cx="6309360" cy="1207008"/>
          </a:xfrm>
          <a:prstGeom prst="roundRect">
            <a:avLst>
              <a:gd name="adj" fmla="val 6061"/>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17" name="a3w_b_91"/>
          <p:cNvSpPr/>
          <p:nvPr/>
        </p:nvSpPr>
        <p:spPr>
          <a:xfrm>
            <a:off x="548640" y="4480560"/>
            <a:ext cx="128016" cy="1207008"/>
          </a:xfrm>
          <a:prstGeom prst="rect">
            <a:avLst/>
          </a:prstGeom>
          <a:solidFill>
            <a:srgbClr val="15803D"/>
          </a:solidFill>
          <a:ln/>
        </p:spPr>
      </p:sp>
      <p:sp>
        <p:nvSpPr>
          <p:cNvPr id="18" name="a3w_c_92"/>
          <p:cNvSpPr/>
          <p:nvPr/>
        </p:nvSpPr>
        <p:spPr>
          <a:xfrm>
            <a:off x="868680" y="4718304"/>
            <a:ext cx="731520" cy="731520"/>
          </a:xfrm>
          <a:prstGeom prst="ellipse">
            <a:avLst/>
          </a:prstGeom>
          <a:solidFill>
            <a:srgbClr val="15803D"/>
          </a:solidFill>
          <a:ln/>
        </p:spPr>
      </p:sp>
      <p:pic>
        <p:nvPicPr>
          <p:cNvPr id="19" name="a3w_i_93" descr="preencoded.png">    </p:cNvPr>
          <p:cNvPicPr>
            <a:picLocks noChangeAspect="1"/>
          </p:cNvPicPr>
          <p:nvPr/>
        </p:nvPicPr>
        <p:blipFill>
          <a:blip r:embed="rId3"/>
          <a:stretch>
            <a:fillRect/>
          </a:stretch>
        </p:blipFill>
        <p:spPr>
          <a:xfrm>
            <a:off x="1029614" y="4879238"/>
            <a:ext cx="409651" cy="409651"/>
          </a:xfrm>
          <a:prstGeom prst="rect">
            <a:avLst/>
          </a:prstGeom>
        </p:spPr>
      </p:pic>
      <p:sp>
        <p:nvSpPr>
          <p:cNvPr id="20" name="a3w_t_94"/>
          <p:cNvSpPr txBox="1"/>
          <p:nvPr/>
        </p:nvSpPr>
        <p:spPr>
          <a:xfrm>
            <a:off x="1783080" y="4553712"/>
            <a:ext cx="4983480" cy="1060704"/>
          </a:xfrm>
          <a:prstGeom prst="rect">
            <a:avLst/>
          </a:prstGeom>
          <a:noFill/>
          <a:ln/>
        </p:spPr>
        <p:txBody>
          <a:bodyPr wrap="square" lIns="508" tIns="508" rIns="508" bIns="508" rtlCol="0" anchor="ctr"/>
          <a:lstStyle/>
          <a:p>
            <a:pPr indent="0" marL="0">
              <a:buNone/>
            </a:pPr>
            <a:r>
              <a:rPr lang="en-US" sz="1700" b="1" dirty="0">
                <a:solidFill>
                  <a:srgbClr val="15803D"/>
                </a:solidFill>
                <a:latin typeface="Arial" pitchFamily="34" charset="0"/>
                <a:ea typeface="Arial" pitchFamily="34" charset="-122"/>
                <a:cs typeface="Arial" pitchFamily="34" charset="-120"/>
              </a:rPr>
              <a:t>3  ACT   </a:t>
            </a:r>
            <a:pPr indent="0" marL="0">
              <a:buNone/>
            </a:pPr>
            <a:r>
              <a:rPr lang="en-US" sz="1700" b="1" dirty="0">
                <a:solidFill>
                  <a:srgbClr val="0B1F3A"/>
                </a:solidFill>
                <a:latin typeface="Arial" pitchFamily="34" charset="0"/>
                <a:ea typeface="Arial" pitchFamily="34" charset="-122"/>
                <a:cs typeface="Arial" pitchFamily="34" charset="-120"/>
              </a:rPr>
              <a:t>The car responds</a:t>
            </a:r>
            <a:endParaRPr lang="en-US" sz="1700" dirty="0"/>
          </a:p>
          <a:p>
            <a:pPr indent="0" marL="0">
              <a:buNone/>
            </a:pPr>
            <a:r>
              <a:rPr lang="en-US" sz="1400" dirty="0">
                <a:solidFill>
                  <a:srgbClr val="475569"/>
                </a:solidFill>
                <a:latin typeface="Arial" pitchFamily="34" charset="0"/>
                <a:ea typeface="Arial" pitchFamily="34" charset="-122"/>
                <a:cs typeface="Arial" pitchFamily="34" charset="-120"/>
              </a:rPr>
              <a:t>Warning beep, brake one wheel, cut engine power, steer, fire an airbag</a:t>
            </a:r>
            <a:endParaRPr lang="en-US" sz="1700" dirty="0"/>
          </a:p>
        </p:txBody>
      </p:sp>
      <p:sp>
        <p:nvSpPr>
          <p:cNvPr id="21" name="a4_b_95"/>
          <p:cNvSpPr/>
          <p:nvPr/>
        </p:nvSpPr>
        <p:spPr>
          <a:xfrm>
            <a:off x="7086600" y="1737360"/>
            <a:ext cx="4553712" cy="4407408"/>
          </a:xfrm>
          <a:prstGeom prst="roundRect">
            <a:avLst>
              <a:gd name="adj" fmla="val 1660"/>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22" name="a4_t_96"/>
          <p:cNvSpPr txBox="1"/>
          <p:nvPr/>
        </p:nvSpPr>
        <p:spPr>
          <a:xfrm>
            <a:off x="7269480" y="1810512"/>
            <a:ext cx="4206240" cy="384048"/>
          </a:xfrm>
          <a:prstGeom prst="rect">
            <a:avLst/>
          </a:prstGeom>
          <a:noFill/>
          <a:ln/>
        </p:spPr>
        <p:txBody>
          <a:bodyPr wrap="square" lIns="508" tIns="508" rIns="508" bIns="508" rtlCol="0" anchor="t"/>
          <a:lstStyle/>
          <a:p>
            <a:pPr indent="0" marL="0">
              <a:buNone/>
            </a:pPr>
            <a:r>
              <a:rPr lang="en-US" sz="1600" b="1" dirty="0">
                <a:solidFill>
                  <a:srgbClr val="0E7490"/>
                </a:solidFill>
                <a:latin typeface="Arial" pitchFamily="34" charset="0"/>
                <a:ea typeface="Arial" pitchFamily="34" charset="-122"/>
                <a:cs typeface="Arial" pitchFamily="34" charset="-120"/>
              </a:rPr>
              <a:t>Example: Automatic Emergency Braking</a:t>
            </a:r>
            <a:endParaRPr lang="en-US" sz="1600" dirty="0"/>
          </a:p>
        </p:txBody>
      </p:sp>
      <p:pic>
        <p:nvPicPr>
          <p:cNvPr id="23" name="a4_p_97" descr="Stages of forward collision warning and automatic braking">    </p:cNvPr>
          <p:cNvPicPr>
            <a:picLocks noChangeAspect="1"/>
          </p:cNvPicPr>
          <p:nvPr/>
        </p:nvPicPr>
        <p:blipFill>
          <a:blip r:embed="rId4"/>
          <a:stretch>
            <a:fillRect/>
          </a:stretch>
        </p:blipFill>
        <p:spPr>
          <a:xfrm>
            <a:off x="7269480" y="2213090"/>
            <a:ext cx="2057400" cy="2614700"/>
          </a:xfrm>
          <a:prstGeom prst="rect">
            <a:avLst/>
          </a:prstGeom>
        </p:spPr>
      </p:pic>
      <p:sp>
        <p:nvSpPr>
          <p:cNvPr id="24" name="a4_t_98"/>
          <p:cNvSpPr txBox="1"/>
          <p:nvPr/>
        </p:nvSpPr>
        <p:spPr>
          <a:xfrm>
            <a:off x="9418320" y="2240280"/>
            <a:ext cx="2148840" cy="2606040"/>
          </a:xfrm>
          <a:prstGeom prst="rect">
            <a:avLst/>
          </a:prstGeom>
          <a:noFill/>
          <a:ln/>
        </p:spPr>
        <p:txBody>
          <a:bodyPr wrap="square" lIns="508" tIns="508" rIns="508" bIns="508" rtlCol="0" anchor="t"/>
          <a:lstStyle/>
          <a:p>
            <a:pPr indent="0" marL="0">
              <a:spcAft>
                <a:spcPts val="600"/>
              </a:spcAft>
              <a:buNone/>
            </a:pPr>
            <a:r>
              <a:rPr lang="en-US" sz="1400" b="1" dirty="0">
                <a:solidFill>
                  <a:srgbClr val="0B1F3A"/>
                </a:solidFill>
                <a:latin typeface="Arial" pitchFamily="34" charset="0"/>
                <a:ea typeface="Arial" pitchFamily="34" charset="-122"/>
                <a:cs typeface="Arial" pitchFamily="34" charset="-120"/>
              </a:rPr>
              <a:t>Sense: </a:t>
            </a:r>
            <a:pPr indent="0" marL="0">
              <a:spcAft>
                <a:spcPts val="600"/>
              </a:spcAft>
              <a:buNone/>
            </a:pPr>
            <a:r>
              <a:rPr lang="en-US" sz="1400" dirty="0">
                <a:solidFill>
                  <a:srgbClr val="0B1F3A"/>
                </a:solidFill>
                <a:latin typeface="Arial" pitchFamily="34" charset="0"/>
                <a:ea typeface="Arial" pitchFamily="34" charset="-122"/>
                <a:cs typeface="Arial" pitchFamily="34" charset="-120"/>
              </a:rPr>
              <a:t>camera and radar see a stopped car</a:t>
            </a:r>
            <a:endParaRPr lang="en-US" sz="1400" dirty="0"/>
          </a:p>
          <a:p>
            <a:pPr indent="0" marL="0">
              <a:spcAft>
                <a:spcPts val="600"/>
              </a:spcAft>
              <a:buNone/>
            </a:pPr>
            <a:r>
              <a:rPr lang="en-US" sz="1400" b="1" dirty="0">
                <a:solidFill>
                  <a:srgbClr val="0B1F3A"/>
                </a:solidFill>
                <a:latin typeface="Arial" pitchFamily="34" charset="0"/>
                <a:ea typeface="Arial" pitchFamily="34" charset="-122"/>
                <a:cs typeface="Arial" pitchFamily="34" charset="-120"/>
              </a:rPr>
              <a:t>Decide: </a:t>
            </a:r>
            <a:pPr indent="0" marL="0">
              <a:spcAft>
                <a:spcPts val="600"/>
              </a:spcAft>
              <a:buNone/>
            </a:pPr>
            <a:r>
              <a:rPr lang="en-US" sz="1400" dirty="0">
                <a:solidFill>
                  <a:srgbClr val="0B1F3A"/>
                </a:solidFill>
                <a:latin typeface="Arial" pitchFamily="34" charset="0"/>
                <a:ea typeface="Arial" pitchFamily="34" charset="-122"/>
                <a:cs typeface="Arial" pitchFamily="34" charset="-120"/>
              </a:rPr>
              <a:t>a crash is likely</a:t>
            </a:r>
            <a:endParaRPr lang="en-US" sz="1400" dirty="0"/>
          </a:p>
          <a:p>
            <a:pPr indent="0" marL="0">
              <a:spcAft>
                <a:spcPts val="600"/>
              </a:spcAft>
              <a:buNone/>
            </a:pPr>
            <a:r>
              <a:rPr lang="en-US" sz="1400" b="1" dirty="0">
                <a:solidFill>
                  <a:srgbClr val="0B1F3A"/>
                </a:solidFill>
                <a:latin typeface="Arial" pitchFamily="34" charset="0"/>
                <a:ea typeface="Arial" pitchFamily="34" charset="-122"/>
                <a:cs typeface="Arial" pitchFamily="34" charset="-120"/>
              </a:rPr>
              <a:t>Act: </a:t>
            </a:r>
            <a:pPr indent="0" marL="0">
              <a:spcAft>
                <a:spcPts val="600"/>
              </a:spcAft>
              <a:buNone/>
            </a:pPr>
            <a:r>
              <a:rPr lang="en-US" sz="1400" dirty="0">
                <a:solidFill>
                  <a:srgbClr val="0B1F3A"/>
                </a:solidFill>
                <a:latin typeface="Arial" pitchFamily="34" charset="0"/>
                <a:ea typeface="Arial" pitchFamily="34" charset="-122"/>
                <a:cs typeface="Arial" pitchFamily="34" charset="-120"/>
              </a:rPr>
              <a:t>warn → light brake → strong brake</a:t>
            </a:r>
            <a:endParaRPr lang="en-US" sz="1400" dirty="0"/>
          </a:p>
        </p:txBody>
      </p:sp>
      <p:sp>
        <p:nvSpPr>
          <p:cNvPr id="25" name="a4_b_99"/>
          <p:cNvSpPr/>
          <p:nvPr/>
        </p:nvSpPr>
        <p:spPr>
          <a:xfrm>
            <a:off x="7269480" y="4983480"/>
            <a:ext cx="4187952" cy="1005840"/>
          </a:xfrm>
          <a:prstGeom prst="roundRect">
            <a:avLst>
              <a:gd name="adj" fmla="val 7273"/>
            </a:avLst>
          </a:prstGeom>
          <a:solidFill>
            <a:srgbClr val="FEF3C7"/>
          </a:solidFill>
          <a:ln/>
        </p:spPr>
      </p:sp>
      <p:sp>
        <p:nvSpPr>
          <p:cNvPr id="26" name="a4_t_100"/>
          <p:cNvSpPr txBox="1"/>
          <p:nvPr/>
        </p:nvSpPr>
        <p:spPr>
          <a:xfrm>
            <a:off x="7406640" y="4983480"/>
            <a:ext cx="3931920" cy="1005840"/>
          </a:xfrm>
          <a:prstGeom prst="rect">
            <a:avLst/>
          </a:prstGeom>
          <a:noFill/>
          <a:ln/>
        </p:spPr>
        <p:txBody>
          <a:bodyPr wrap="square" lIns="508" tIns="508" rIns="508" bIns="508" rtlCol="0" anchor="ctr"/>
          <a:lstStyle/>
          <a:p>
            <a:pPr indent="0" marL="0">
              <a:buNone/>
            </a:pPr>
            <a:r>
              <a:rPr lang="en-US" sz="1500" b="1" dirty="0">
                <a:solidFill>
                  <a:srgbClr val="B45309"/>
                </a:solidFill>
                <a:latin typeface="Arial" pitchFamily="34" charset="0"/>
                <a:ea typeface="Arial" pitchFamily="34" charset="-122"/>
                <a:cs typeface="Arial" pitchFamily="34" charset="-120"/>
              </a:rPr>
              <a:t>These systems assist the driver. They do not replace your attention.</a:t>
            </a:r>
            <a:endParaRPr lang="en-US" sz="1500" dirty="0"/>
          </a:p>
        </p:txBody>
      </p:sp>
      <p:sp>
        <p:nvSpPr>
          <p:cNvPr id="27"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4</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par>
                                <p:cTn id="17" presetID="22" presetClass="entr" presetSubtype="8"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wipe(left)">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par>
                                <p:cTn id="31" presetID="22" presetClass="entr" presetSubtype="8"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wipe(left)">
                                      <p:cBhvr>
                                        <p:cTn id="33" dur="500"/>
                                        <p:tgtEl>
                                          <p:spTgt spid="14"/>
                                        </p:tgtEl>
                                      </p:cBhvr>
                                    </p:animEffect>
                                  </p:childTnLst>
                                </p:cTn>
                              </p:par>
                              <p:par>
                                <p:cTn id="34" presetID="22" presetClass="entr" presetSubtype="8"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wipe(left)">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22" presetClass="entr" presetSubtype="8"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wipe(left)">
                                      <p:cBhvr>
                                        <p:cTn id="41" dur="500"/>
                                        <p:tgtEl>
                                          <p:spTgt spid="16"/>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wipe(left)">
                                      <p:cBhvr>
                                        <p:cTn id="44" dur="500"/>
                                        <p:tgtEl>
                                          <p:spTgt spid="17"/>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wipe(left)">
                                      <p:cBhvr>
                                        <p:cTn id="47" dur="500"/>
                                        <p:tgtEl>
                                          <p:spTgt spid="18"/>
                                        </p:tgtEl>
                                      </p:cBhvr>
                                    </p:animEffect>
                                  </p:childTnLst>
                                </p:cTn>
                              </p:par>
                              <p:par>
                                <p:cTn id="48" presetID="22" presetClass="entr" presetSubtype="8"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wipe(left)">
                                      <p:cBhvr>
                                        <p:cTn id="50" dur="500"/>
                                        <p:tgtEl>
                                          <p:spTgt spid="19"/>
                                        </p:tgtEl>
                                      </p:cBhvr>
                                    </p:animEffect>
                                  </p:childTnLst>
                                </p:cTn>
                              </p:par>
                              <p:par>
                                <p:cTn id="51" presetID="22" presetClass="entr" presetSubtype="8"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wipe(left)">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par>
                                <p:cTn id="62" presetID="10" presetClass="entr" presetSubtype="0" fill="hold" grpId="0" nodeType="withEffect">
                                  <p:stCondLst>
                                    <p:cond delay="0"/>
                                  </p:stCondLst>
                                  <p:childTnLst>
                                    <p:set>
                                      <p:cBhvr>
                                        <p:cTn id="63" dur="1" fill="hold">
                                          <p:stCondLst>
                                            <p:cond delay="0"/>
                                          </p:stCondLst>
                                        </p:cTn>
                                        <p:tgtEl>
                                          <p:spTgt spid="23"/>
                                        </p:tgtEl>
                                        <p:attrNameLst>
                                          <p:attrName>style.visibility</p:attrName>
                                        </p:attrNameLst>
                                      </p:cBhvr>
                                      <p:to>
                                        <p:strVal val="visible"/>
                                      </p:to>
                                    </p:set>
                                    <p:animEffect transition="in" filter="fade">
                                      <p:cBhvr>
                                        <p:cTn id="64" dur="500"/>
                                        <p:tgtEl>
                                          <p:spTgt spid="23"/>
                                        </p:tgtEl>
                                      </p:cBhvr>
                                    </p:animEffect>
                                  </p:childTnLst>
                                </p:cTn>
                              </p:par>
                              <p:par>
                                <p:cTn id="65" presetID="10" presetClass="entr" presetSubtype="0" fill="hold" grpId="0" nodeType="withEffect">
                                  <p:stCondLst>
                                    <p:cond delay="0"/>
                                  </p:stCondLst>
                                  <p:childTnLst>
                                    <p:set>
                                      <p:cBhvr>
                                        <p:cTn id="66" dur="1" fill="hold">
                                          <p:stCondLst>
                                            <p:cond delay="0"/>
                                          </p:stCondLst>
                                        </p:cTn>
                                        <p:tgtEl>
                                          <p:spTgt spid="24"/>
                                        </p:tgtEl>
                                        <p:attrNameLst>
                                          <p:attrName>style.visibility</p:attrName>
                                        </p:attrNameLst>
                                      </p:cBhvr>
                                      <p:to>
                                        <p:strVal val="visible"/>
                                      </p:to>
                                    </p:set>
                                    <p:animEffect transition="in" filter="fade">
                                      <p:cBhvr>
                                        <p:cTn id="67" dur="500"/>
                                        <p:tgtEl>
                                          <p:spTgt spid="24"/>
                                        </p:tgtEl>
                                      </p:cBhvr>
                                    </p:animEffect>
                                  </p:childTnLst>
                                </p:cTn>
                              </p:par>
                              <p:par>
                                <p:cTn id="68" presetID="10" presetClass="entr" presetSubtype="0" fill="hold" grpId="0" nodeType="with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fade">
                                      <p:cBhvr>
                                        <p:cTn id="70" dur="500"/>
                                        <p:tgtEl>
                                          <p:spTgt spid="25"/>
                                        </p:tgtEl>
                                      </p:cBhvr>
                                    </p:animEffect>
                                  </p:childTnLst>
                                </p:cTn>
                              </p:par>
                              <p:par>
                                <p:cTn id="71" presetID="10" presetClass="entr" presetSubtype="0" fill="hold" grpId="0" nodeType="withEffect">
                                  <p:stCondLst>
                                    <p:cond delay="0"/>
                                  </p:stCondLst>
                                  <p:childTnLst>
                                    <p:set>
                                      <p:cBhvr>
                                        <p:cTn id="72" dur="1" fill="hold">
                                          <p:stCondLst>
                                            <p:cond delay="0"/>
                                          </p:stCondLst>
                                        </p:cTn>
                                        <p:tgtEl>
                                          <p:spTgt spid="26"/>
                                        </p:tgtEl>
                                        <p:attrNameLst>
                                          <p:attrName>style.visibility</p:attrName>
                                        </p:attrNameLst>
                                      </p:cBhvr>
                                      <p:to>
                                        <p:strVal val="visible"/>
                                      </p:to>
                                    </p:set>
                                    <p:animEffect transition="in" filter="fade">
                                      <p:cBhvr>
                                        <p:cTn id="73" dur="5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10" grpId="0" animBg="1"/>
      <p:bldP spid="11" grpId="0" animBg="1"/>
      <p:bldP spid="12" grpId="0" animBg="1"/>
      <p:bldP spid="13" grpId="0" animBg="1"/>
      <p:bldP spid="15" grpId="0" animBg="1"/>
      <p:bldP spid="16" grpId="0" animBg="1"/>
      <p:bldP spid="17" grpId="0" animBg="1"/>
      <p:bldP spid="18" grpId="0" animBg="1"/>
      <p:bldP spid="20" grpId="0" animBg="1"/>
      <p:bldP spid="21" grpId="0" animBg="1"/>
      <p:bldP spid="22" grpId="0" animBg="1"/>
      <p:bldP spid="24" grpId="0" animBg="1"/>
      <p:bldP spid="25" grpId="0" animBg="1"/>
      <p:bldP spid="26" grpId="0" animBg="1"/>
    </p:bldLst>
  </p:timing>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b_101"/>
          <p:cNvSpPr/>
          <p:nvPr/>
        </p:nvSpPr>
        <p:spPr>
          <a:xfrm>
            <a:off x="548640" y="274320"/>
            <a:ext cx="1768450" cy="292608"/>
          </a:xfrm>
          <a:prstGeom prst="roundRect">
            <a:avLst>
              <a:gd name="adj" fmla="val 50000"/>
            </a:avLst>
          </a:prstGeom>
          <a:solidFill>
            <a:srgbClr val="2563EB"/>
          </a:solidFill>
          <a:ln/>
        </p:spPr>
      </p:sp>
      <p:sp>
        <p:nvSpPr>
          <p:cNvPr id="3" name="t_102"/>
          <p:cNvSpPr txBox="1"/>
          <p:nvPr/>
        </p:nvSpPr>
        <p:spPr>
          <a:xfrm>
            <a:off x="548640" y="274320"/>
            <a:ext cx="1768450"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ACTIVE SAFETY</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Keeping Control: Brakes, Grip and Stability</a:t>
            </a:r>
            <a:endParaRPr lang="en-US" sz="3000" dirty="0"/>
          </a:p>
        </p:txBody>
      </p:sp>
      <p:sp>
        <p:nvSpPr>
          <p:cNvPr id="5" name="t_103"/>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Helps you stop, steer and keep grip</a:t>
            </a:r>
            <a:endParaRPr lang="en-US" sz="1800" dirty="0"/>
          </a:p>
        </p:txBody>
      </p:sp>
      <p:pic>
        <p:nvPicPr>
          <p:cNvPr id="6" name="p_104" descr="ABS diagram: with and without ABS">    </p:cNvPr>
          <p:cNvPicPr>
            <a:picLocks noChangeAspect="1"/>
          </p:cNvPicPr>
          <p:nvPr/>
        </p:nvPicPr>
        <p:blipFill>
          <a:blip r:embed="rId1"/>
          <a:srcRect l="0" r="0" t="21" b="-21"/>
          <a:stretch/>
        </p:blipFill>
        <p:spPr>
          <a:xfrm>
            <a:off x="548640" y="1691640"/>
            <a:ext cx="4206240" cy="1837944"/>
          </a:xfrm>
          <a:prstGeom prst="rect">
            <a:avLst/>
          </a:prstGeom>
        </p:spPr>
      </p:pic>
      <p:sp>
        <p:nvSpPr>
          <p:cNvPr id="7" name="t_105"/>
          <p:cNvSpPr txBox="1"/>
          <p:nvPr/>
        </p:nvSpPr>
        <p:spPr>
          <a:xfrm>
            <a:off x="548640" y="3547872"/>
            <a:ext cx="4206240" cy="320040"/>
          </a:xfrm>
          <a:prstGeom prst="rect">
            <a:avLst/>
          </a:prstGeom>
          <a:noFill/>
          <a:ln/>
        </p:spPr>
        <p:txBody>
          <a:bodyPr wrap="square" lIns="508" tIns="508" rIns="508" bIns="508" rtlCol="0" anchor="t"/>
          <a:lstStyle/>
          <a:p>
            <a:pPr indent="0" marL="0">
              <a:buNone/>
            </a:pPr>
            <a:r>
              <a:rPr lang="en-US" sz="1300" i="1" dirty="0">
                <a:solidFill>
                  <a:srgbClr val="475569"/>
                </a:solidFill>
                <a:latin typeface="Arial" pitchFamily="34" charset="0"/>
                <a:ea typeface="Arial" pitchFamily="34" charset="-122"/>
                <a:cs typeface="Arial" pitchFamily="34" charset="-120"/>
              </a:rPr>
              <a:t>ABS: wheels keep turning, so you can still steer</a:t>
            </a:r>
            <a:endParaRPr lang="en-US" sz="1300" dirty="0"/>
          </a:p>
        </p:txBody>
      </p:sp>
      <p:pic>
        <p:nvPicPr>
          <p:cNvPr id="8" name="p_106" descr="ESC diagram: car path with and without ESC">    </p:cNvPr>
          <p:cNvPicPr>
            <a:picLocks noChangeAspect="1"/>
          </p:cNvPicPr>
          <p:nvPr/>
        </p:nvPicPr>
        <p:blipFill>
          <a:blip r:embed="rId2"/>
          <a:stretch>
            <a:fillRect/>
          </a:stretch>
        </p:blipFill>
        <p:spPr>
          <a:xfrm>
            <a:off x="1143000" y="3931920"/>
            <a:ext cx="3017520" cy="2011680"/>
          </a:xfrm>
          <a:prstGeom prst="rect">
            <a:avLst/>
          </a:prstGeom>
        </p:spPr>
      </p:pic>
      <p:sp>
        <p:nvSpPr>
          <p:cNvPr id="9" name="t_107"/>
          <p:cNvSpPr txBox="1"/>
          <p:nvPr/>
        </p:nvSpPr>
        <p:spPr>
          <a:xfrm>
            <a:off x="548640" y="5943600"/>
            <a:ext cx="4206240" cy="292608"/>
          </a:xfrm>
          <a:prstGeom prst="rect">
            <a:avLst/>
          </a:prstGeom>
          <a:noFill/>
          <a:ln/>
        </p:spPr>
        <p:txBody>
          <a:bodyPr wrap="square" lIns="508" tIns="508" rIns="508" bIns="508" rtlCol="0" anchor="t"/>
          <a:lstStyle/>
          <a:p>
            <a:pPr indent="0" marL="0">
              <a:buNone/>
            </a:pPr>
            <a:r>
              <a:rPr lang="en-US" sz="1300" i="1" dirty="0">
                <a:solidFill>
                  <a:srgbClr val="475569"/>
                </a:solidFill>
                <a:latin typeface="Arial" pitchFamily="34" charset="0"/>
                <a:ea typeface="Arial" pitchFamily="34" charset="-122"/>
                <a:cs typeface="Arial" pitchFamily="34" charset="-120"/>
              </a:rPr>
              <a:t>ESC: green path with ESC; red path without, the car can spin</a:t>
            </a:r>
            <a:endParaRPr lang="en-US" sz="1300" dirty="0"/>
          </a:p>
        </p:txBody>
      </p:sp>
      <p:sp>
        <p:nvSpPr>
          <p:cNvPr id="10" name="a1_b_108"/>
          <p:cNvSpPr/>
          <p:nvPr/>
        </p:nvSpPr>
        <p:spPr>
          <a:xfrm>
            <a:off x="4983480" y="1691640"/>
            <a:ext cx="2130552" cy="1325880"/>
          </a:xfrm>
          <a:prstGeom prst="roundRect">
            <a:avLst>
              <a:gd name="adj" fmla="val 5517"/>
            </a:avLst>
          </a:prstGeom>
          <a:solidFill>
            <a:srgbClr val="FFFFFF"/>
          </a:solidFill>
          <a:ln w="12700">
            <a:solidFill>
              <a:srgbClr val="CBD5E1"/>
            </a:solidFill>
            <a:prstDash val="solid"/>
          </a:ln>
        </p:spPr>
      </p:sp>
      <p:sp>
        <p:nvSpPr>
          <p:cNvPr id="11" name="a1_b_109"/>
          <p:cNvSpPr/>
          <p:nvPr/>
        </p:nvSpPr>
        <p:spPr>
          <a:xfrm>
            <a:off x="4983480" y="1691640"/>
            <a:ext cx="2130552" cy="91440"/>
          </a:xfrm>
          <a:prstGeom prst="rect">
            <a:avLst/>
          </a:prstGeom>
          <a:solidFill>
            <a:srgbClr val="2563EB"/>
          </a:solidFill>
          <a:ln/>
        </p:spPr>
      </p:sp>
      <p:sp>
        <p:nvSpPr>
          <p:cNvPr id="12" name="a1_t_110"/>
          <p:cNvSpPr txBox="1"/>
          <p:nvPr/>
        </p:nvSpPr>
        <p:spPr>
          <a:xfrm>
            <a:off x="5093208" y="1847088"/>
            <a:ext cx="1947672" cy="384048"/>
          </a:xfrm>
          <a:prstGeom prst="rect">
            <a:avLst/>
          </a:prstGeom>
          <a:noFill/>
          <a:ln/>
        </p:spPr>
        <p:txBody>
          <a:bodyPr wrap="square" lIns="508" tIns="508" rIns="508" bIns="508" rtlCol="0" anchor="t"/>
          <a:lstStyle/>
          <a:p>
            <a:pPr indent="0" marL="0">
              <a:buNone/>
            </a:pPr>
            <a:r>
              <a:rPr lang="en-US" sz="1600" b="1" dirty="0">
                <a:solidFill>
                  <a:srgbClr val="2563EB"/>
                </a:solidFill>
                <a:latin typeface="Arial" pitchFamily="34" charset="0"/>
                <a:ea typeface="Arial" pitchFamily="34" charset="-122"/>
                <a:cs typeface="Arial" pitchFamily="34" charset="-120"/>
              </a:rPr>
              <a:t>ABS</a:t>
            </a:r>
            <a:endParaRPr lang="en-US" sz="1600" dirty="0"/>
          </a:p>
        </p:txBody>
      </p:sp>
      <p:sp>
        <p:nvSpPr>
          <p:cNvPr id="13" name="a1_t_111"/>
          <p:cNvSpPr txBox="1"/>
          <p:nvPr/>
        </p:nvSpPr>
        <p:spPr>
          <a:xfrm>
            <a:off x="5093208" y="2258568"/>
            <a:ext cx="1929384" cy="713232"/>
          </a:xfrm>
          <a:prstGeom prst="rect">
            <a:avLst/>
          </a:prstGeom>
          <a:noFill/>
          <a:ln/>
        </p:spPr>
        <p:txBody>
          <a:bodyPr wrap="square" lIns="508" tIns="508" rIns="508" bIns="508" rtlCol="0" anchor="t"/>
          <a:lstStyle/>
          <a:p>
            <a:pPr indent="0" marL="0">
              <a:buNone/>
            </a:pPr>
            <a:r>
              <a:rPr lang="en-US" sz="1400" dirty="0">
                <a:solidFill>
                  <a:srgbClr val="0B1F3A"/>
                </a:solidFill>
                <a:latin typeface="Arial" pitchFamily="34" charset="0"/>
                <a:ea typeface="Arial" pitchFamily="34" charset="-122"/>
                <a:cs typeface="Arial" pitchFamily="34" charset="-120"/>
              </a:rPr>
              <a:t>Stops wheels locking under hard braking</a:t>
            </a:r>
            <a:endParaRPr lang="en-US" sz="1400" dirty="0"/>
          </a:p>
        </p:txBody>
      </p:sp>
      <p:sp>
        <p:nvSpPr>
          <p:cNvPr id="14" name="a1_b_112"/>
          <p:cNvSpPr/>
          <p:nvPr/>
        </p:nvSpPr>
        <p:spPr>
          <a:xfrm>
            <a:off x="7242048" y="1691640"/>
            <a:ext cx="2130552" cy="1325880"/>
          </a:xfrm>
          <a:prstGeom prst="roundRect">
            <a:avLst>
              <a:gd name="adj" fmla="val 5517"/>
            </a:avLst>
          </a:prstGeom>
          <a:solidFill>
            <a:srgbClr val="FFFFFF"/>
          </a:solidFill>
          <a:ln w="12700">
            <a:solidFill>
              <a:srgbClr val="CBD5E1"/>
            </a:solidFill>
            <a:prstDash val="solid"/>
          </a:ln>
        </p:spPr>
      </p:sp>
      <p:sp>
        <p:nvSpPr>
          <p:cNvPr id="15" name="a1_b_113"/>
          <p:cNvSpPr/>
          <p:nvPr/>
        </p:nvSpPr>
        <p:spPr>
          <a:xfrm>
            <a:off x="7242048" y="1691640"/>
            <a:ext cx="2130552" cy="91440"/>
          </a:xfrm>
          <a:prstGeom prst="rect">
            <a:avLst/>
          </a:prstGeom>
          <a:solidFill>
            <a:srgbClr val="2563EB"/>
          </a:solidFill>
          <a:ln/>
        </p:spPr>
      </p:sp>
      <p:sp>
        <p:nvSpPr>
          <p:cNvPr id="16" name="a1_t_114"/>
          <p:cNvSpPr txBox="1"/>
          <p:nvPr/>
        </p:nvSpPr>
        <p:spPr>
          <a:xfrm>
            <a:off x="7351776" y="1847088"/>
            <a:ext cx="1947672" cy="384048"/>
          </a:xfrm>
          <a:prstGeom prst="rect">
            <a:avLst/>
          </a:prstGeom>
          <a:noFill/>
          <a:ln/>
        </p:spPr>
        <p:txBody>
          <a:bodyPr wrap="square" lIns="508" tIns="508" rIns="508" bIns="508" rtlCol="0" anchor="t"/>
          <a:lstStyle/>
          <a:p>
            <a:pPr indent="0" marL="0">
              <a:buNone/>
            </a:pPr>
            <a:r>
              <a:rPr lang="en-US" sz="1600" b="1" dirty="0">
                <a:solidFill>
                  <a:srgbClr val="2563EB"/>
                </a:solidFill>
                <a:latin typeface="Arial" pitchFamily="34" charset="0"/>
                <a:ea typeface="Arial" pitchFamily="34" charset="-122"/>
                <a:cs typeface="Arial" pitchFamily="34" charset="-120"/>
              </a:rPr>
              <a:t>EBD</a:t>
            </a:r>
            <a:endParaRPr lang="en-US" sz="1600" dirty="0"/>
          </a:p>
        </p:txBody>
      </p:sp>
      <p:sp>
        <p:nvSpPr>
          <p:cNvPr id="17" name="a1_t_115"/>
          <p:cNvSpPr txBox="1"/>
          <p:nvPr/>
        </p:nvSpPr>
        <p:spPr>
          <a:xfrm>
            <a:off x="7351776" y="2258568"/>
            <a:ext cx="1929384" cy="713232"/>
          </a:xfrm>
          <a:prstGeom prst="rect">
            <a:avLst/>
          </a:prstGeom>
          <a:noFill/>
          <a:ln/>
        </p:spPr>
        <p:txBody>
          <a:bodyPr wrap="square" lIns="508" tIns="508" rIns="508" bIns="508" rtlCol="0" anchor="t"/>
          <a:lstStyle/>
          <a:p>
            <a:pPr indent="0" marL="0">
              <a:buNone/>
            </a:pPr>
            <a:r>
              <a:rPr lang="en-US" sz="1400" dirty="0">
                <a:solidFill>
                  <a:srgbClr val="0B1F3A"/>
                </a:solidFill>
                <a:latin typeface="Arial" pitchFamily="34" charset="0"/>
                <a:ea typeface="Arial" pitchFamily="34" charset="-122"/>
                <a:cs typeface="Arial" pitchFamily="34" charset="-120"/>
              </a:rPr>
              <a:t>Shares brake force to suit the load</a:t>
            </a:r>
            <a:endParaRPr lang="en-US" sz="1400" dirty="0"/>
          </a:p>
        </p:txBody>
      </p:sp>
      <p:sp>
        <p:nvSpPr>
          <p:cNvPr id="18" name="a1_b_116"/>
          <p:cNvSpPr/>
          <p:nvPr/>
        </p:nvSpPr>
        <p:spPr>
          <a:xfrm>
            <a:off x="9500616" y="1691640"/>
            <a:ext cx="2130552" cy="1325880"/>
          </a:xfrm>
          <a:prstGeom prst="roundRect">
            <a:avLst>
              <a:gd name="adj" fmla="val 5517"/>
            </a:avLst>
          </a:prstGeom>
          <a:solidFill>
            <a:srgbClr val="FFFFFF"/>
          </a:solidFill>
          <a:ln w="12700">
            <a:solidFill>
              <a:srgbClr val="CBD5E1"/>
            </a:solidFill>
            <a:prstDash val="solid"/>
          </a:ln>
        </p:spPr>
      </p:sp>
      <p:sp>
        <p:nvSpPr>
          <p:cNvPr id="19" name="a1_b_117"/>
          <p:cNvSpPr/>
          <p:nvPr/>
        </p:nvSpPr>
        <p:spPr>
          <a:xfrm>
            <a:off x="9500616" y="1691640"/>
            <a:ext cx="2130552" cy="91440"/>
          </a:xfrm>
          <a:prstGeom prst="rect">
            <a:avLst/>
          </a:prstGeom>
          <a:solidFill>
            <a:srgbClr val="2563EB"/>
          </a:solidFill>
          <a:ln/>
        </p:spPr>
      </p:sp>
      <p:sp>
        <p:nvSpPr>
          <p:cNvPr id="20" name="a1_t_118"/>
          <p:cNvSpPr txBox="1"/>
          <p:nvPr/>
        </p:nvSpPr>
        <p:spPr>
          <a:xfrm>
            <a:off x="9610344" y="1847088"/>
            <a:ext cx="1947672" cy="384048"/>
          </a:xfrm>
          <a:prstGeom prst="rect">
            <a:avLst/>
          </a:prstGeom>
          <a:noFill/>
          <a:ln/>
        </p:spPr>
        <p:txBody>
          <a:bodyPr wrap="square" lIns="508" tIns="508" rIns="508" bIns="508" rtlCol="0" anchor="t"/>
          <a:lstStyle/>
          <a:p>
            <a:pPr indent="0" marL="0">
              <a:buNone/>
            </a:pPr>
            <a:r>
              <a:rPr lang="en-US" sz="1600" b="1" dirty="0">
                <a:solidFill>
                  <a:srgbClr val="2563EB"/>
                </a:solidFill>
                <a:latin typeface="Arial" pitchFamily="34" charset="0"/>
                <a:ea typeface="Arial" pitchFamily="34" charset="-122"/>
                <a:cs typeface="Arial" pitchFamily="34" charset="-120"/>
              </a:rPr>
              <a:t>Brake Assist</a:t>
            </a:r>
            <a:endParaRPr lang="en-US" sz="1600" dirty="0"/>
          </a:p>
        </p:txBody>
      </p:sp>
      <p:sp>
        <p:nvSpPr>
          <p:cNvPr id="21" name="a1_t_119"/>
          <p:cNvSpPr txBox="1"/>
          <p:nvPr/>
        </p:nvSpPr>
        <p:spPr>
          <a:xfrm>
            <a:off x="9610344" y="2258568"/>
            <a:ext cx="1929384" cy="713232"/>
          </a:xfrm>
          <a:prstGeom prst="rect">
            <a:avLst/>
          </a:prstGeom>
          <a:noFill/>
          <a:ln/>
        </p:spPr>
        <p:txBody>
          <a:bodyPr wrap="square" lIns="508" tIns="508" rIns="508" bIns="508" rtlCol="0" anchor="t"/>
          <a:lstStyle/>
          <a:p>
            <a:pPr indent="0" marL="0">
              <a:buNone/>
            </a:pPr>
            <a:r>
              <a:rPr lang="en-US" sz="1400" dirty="0">
                <a:solidFill>
                  <a:srgbClr val="0B1F3A"/>
                </a:solidFill>
                <a:latin typeface="Arial" pitchFamily="34" charset="0"/>
                <a:ea typeface="Arial" pitchFamily="34" charset="-122"/>
                <a:cs typeface="Arial" pitchFamily="34" charset="-120"/>
              </a:rPr>
              <a:t>Adds full force in a panic stop</a:t>
            </a:r>
            <a:endParaRPr lang="en-US" sz="1400" dirty="0"/>
          </a:p>
        </p:txBody>
      </p:sp>
      <p:sp>
        <p:nvSpPr>
          <p:cNvPr id="22" name="a2_b_120"/>
          <p:cNvSpPr/>
          <p:nvPr/>
        </p:nvSpPr>
        <p:spPr>
          <a:xfrm>
            <a:off x="4983480" y="3145536"/>
            <a:ext cx="2130552" cy="1325880"/>
          </a:xfrm>
          <a:prstGeom prst="roundRect">
            <a:avLst>
              <a:gd name="adj" fmla="val 5517"/>
            </a:avLst>
          </a:prstGeom>
          <a:solidFill>
            <a:srgbClr val="FFFFFF"/>
          </a:solidFill>
          <a:ln w="12700">
            <a:solidFill>
              <a:srgbClr val="CBD5E1"/>
            </a:solidFill>
            <a:prstDash val="solid"/>
          </a:ln>
        </p:spPr>
      </p:sp>
      <p:sp>
        <p:nvSpPr>
          <p:cNvPr id="23" name="a2_b_121"/>
          <p:cNvSpPr/>
          <p:nvPr/>
        </p:nvSpPr>
        <p:spPr>
          <a:xfrm>
            <a:off x="4983480" y="3145536"/>
            <a:ext cx="2130552" cy="91440"/>
          </a:xfrm>
          <a:prstGeom prst="rect">
            <a:avLst/>
          </a:prstGeom>
          <a:solidFill>
            <a:srgbClr val="2563EB"/>
          </a:solidFill>
          <a:ln/>
        </p:spPr>
      </p:sp>
      <p:sp>
        <p:nvSpPr>
          <p:cNvPr id="24" name="a2_t_122"/>
          <p:cNvSpPr txBox="1"/>
          <p:nvPr/>
        </p:nvSpPr>
        <p:spPr>
          <a:xfrm>
            <a:off x="5093208" y="3300984"/>
            <a:ext cx="1947672" cy="384048"/>
          </a:xfrm>
          <a:prstGeom prst="rect">
            <a:avLst/>
          </a:prstGeom>
          <a:noFill/>
          <a:ln/>
        </p:spPr>
        <p:txBody>
          <a:bodyPr wrap="square" lIns="508" tIns="508" rIns="508" bIns="508" rtlCol="0" anchor="t"/>
          <a:lstStyle/>
          <a:p>
            <a:pPr indent="0" marL="0">
              <a:buNone/>
            </a:pPr>
            <a:r>
              <a:rPr lang="en-US" sz="1600" b="1" dirty="0">
                <a:solidFill>
                  <a:srgbClr val="2563EB"/>
                </a:solidFill>
                <a:latin typeface="Arial" pitchFamily="34" charset="0"/>
                <a:ea typeface="Arial" pitchFamily="34" charset="-122"/>
                <a:cs typeface="Arial" pitchFamily="34" charset="-120"/>
              </a:rPr>
              <a:t>ESC</a:t>
            </a:r>
            <a:endParaRPr lang="en-US" sz="1600" dirty="0"/>
          </a:p>
        </p:txBody>
      </p:sp>
      <p:sp>
        <p:nvSpPr>
          <p:cNvPr id="25" name="a2_t_123"/>
          <p:cNvSpPr txBox="1"/>
          <p:nvPr/>
        </p:nvSpPr>
        <p:spPr>
          <a:xfrm>
            <a:off x="5093208" y="3712464"/>
            <a:ext cx="1929384" cy="713232"/>
          </a:xfrm>
          <a:prstGeom prst="rect">
            <a:avLst/>
          </a:prstGeom>
          <a:noFill/>
          <a:ln/>
        </p:spPr>
        <p:txBody>
          <a:bodyPr wrap="square" lIns="508" tIns="508" rIns="508" bIns="508" rtlCol="0" anchor="t"/>
          <a:lstStyle/>
          <a:p>
            <a:pPr indent="0" marL="0">
              <a:buNone/>
            </a:pPr>
            <a:r>
              <a:rPr lang="en-US" sz="1400" dirty="0">
                <a:solidFill>
                  <a:srgbClr val="0B1F3A"/>
                </a:solidFill>
                <a:latin typeface="Arial" pitchFamily="34" charset="0"/>
                <a:ea typeface="Arial" pitchFamily="34" charset="-122"/>
                <a:cs typeface="Arial" pitchFamily="34" charset="-120"/>
              </a:rPr>
              <a:t>Brakes single wheels to stop a skid</a:t>
            </a:r>
            <a:endParaRPr lang="en-US" sz="1400" dirty="0"/>
          </a:p>
        </p:txBody>
      </p:sp>
      <p:sp>
        <p:nvSpPr>
          <p:cNvPr id="26" name="a2_b_124"/>
          <p:cNvSpPr/>
          <p:nvPr/>
        </p:nvSpPr>
        <p:spPr>
          <a:xfrm>
            <a:off x="7242048" y="3145536"/>
            <a:ext cx="2130552" cy="1325880"/>
          </a:xfrm>
          <a:prstGeom prst="roundRect">
            <a:avLst>
              <a:gd name="adj" fmla="val 5517"/>
            </a:avLst>
          </a:prstGeom>
          <a:solidFill>
            <a:srgbClr val="FFFFFF"/>
          </a:solidFill>
          <a:ln w="12700">
            <a:solidFill>
              <a:srgbClr val="CBD5E1"/>
            </a:solidFill>
            <a:prstDash val="solid"/>
          </a:ln>
        </p:spPr>
      </p:sp>
      <p:sp>
        <p:nvSpPr>
          <p:cNvPr id="27" name="a2_b_125"/>
          <p:cNvSpPr/>
          <p:nvPr/>
        </p:nvSpPr>
        <p:spPr>
          <a:xfrm>
            <a:off x="7242048" y="3145536"/>
            <a:ext cx="2130552" cy="91440"/>
          </a:xfrm>
          <a:prstGeom prst="rect">
            <a:avLst/>
          </a:prstGeom>
          <a:solidFill>
            <a:srgbClr val="2563EB"/>
          </a:solidFill>
          <a:ln/>
        </p:spPr>
      </p:sp>
      <p:sp>
        <p:nvSpPr>
          <p:cNvPr id="28" name="a2_t_126"/>
          <p:cNvSpPr txBox="1"/>
          <p:nvPr/>
        </p:nvSpPr>
        <p:spPr>
          <a:xfrm>
            <a:off x="7351776" y="3300984"/>
            <a:ext cx="1947672" cy="384048"/>
          </a:xfrm>
          <a:prstGeom prst="rect">
            <a:avLst/>
          </a:prstGeom>
          <a:noFill/>
          <a:ln/>
        </p:spPr>
        <p:txBody>
          <a:bodyPr wrap="square" lIns="508" tIns="508" rIns="508" bIns="508" rtlCol="0" anchor="t"/>
          <a:lstStyle/>
          <a:p>
            <a:pPr indent="0" marL="0">
              <a:buNone/>
            </a:pPr>
            <a:r>
              <a:rPr lang="en-US" sz="1600" b="1" dirty="0">
                <a:solidFill>
                  <a:srgbClr val="2563EB"/>
                </a:solidFill>
                <a:latin typeface="Arial" pitchFamily="34" charset="0"/>
                <a:ea typeface="Arial" pitchFamily="34" charset="-122"/>
                <a:cs typeface="Arial" pitchFamily="34" charset="-120"/>
              </a:rPr>
              <a:t>Traction control</a:t>
            </a:r>
            <a:endParaRPr lang="en-US" sz="1600" dirty="0"/>
          </a:p>
        </p:txBody>
      </p:sp>
      <p:sp>
        <p:nvSpPr>
          <p:cNvPr id="29" name="a2_t_127"/>
          <p:cNvSpPr txBox="1"/>
          <p:nvPr/>
        </p:nvSpPr>
        <p:spPr>
          <a:xfrm>
            <a:off x="7351776" y="3712464"/>
            <a:ext cx="1929384" cy="713232"/>
          </a:xfrm>
          <a:prstGeom prst="rect">
            <a:avLst/>
          </a:prstGeom>
          <a:noFill/>
          <a:ln/>
        </p:spPr>
        <p:txBody>
          <a:bodyPr wrap="square" lIns="508" tIns="508" rIns="508" bIns="508" rtlCol="0" anchor="t"/>
          <a:lstStyle/>
          <a:p>
            <a:pPr indent="0" marL="0">
              <a:buNone/>
            </a:pPr>
            <a:r>
              <a:rPr lang="en-US" sz="1400" dirty="0">
                <a:solidFill>
                  <a:srgbClr val="0B1F3A"/>
                </a:solidFill>
                <a:latin typeface="Arial" pitchFamily="34" charset="0"/>
                <a:ea typeface="Arial" pitchFamily="34" charset="-122"/>
                <a:cs typeface="Arial" pitchFamily="34" charset="-120"/>
              </a:rPr>
              <a:t>Stops wheelspin when pulling away</a:t>
            </a:r>
            <a:endParaRPr lang="en-US" sz="1400" dirty="0"/>
          </a:p>
        </p:txBody>
      </p:sp>
      <p:sp>
        <p:nvSpPr>
          <p:cNvPr id="30" name="a2_b_128"/>
          <p:cNvSpPr/>
          <p:nvPr/>
        </p:nvSpPr>
        <p:spPr>
          <a:xfrm>
            <a:off x="9500616" y="3145536"/>
            <a:ext cx="2130552" cy="1325880"/>
          </a:xfrm>
          <a:prstGeom prst="roundRect">
            <a:avLst>
              <a:gd name="adj" fmla="val 5517"/>
            </a:avLst>
          </a:prstGeom>
          <a:solidFill>
            <a:srgbClr val="FFFFFF"/>
          </a:solidFill>
          <a:ln w="12700">
            <a:solidFill>
              <a:srgbClr val="CBD5E1"/>
            </a:solidFill>
            <a:prstDash val="solid"/>
          </a:ln>
        </p:spPr>
      </p:sp>
      <p:sp>
        <p:nvSpPr>
          <p:cNvPr id="31" name="a2_b_129"/>
          <p:cNvSpPr/>
          <p:nvPr/>
        </p:nvSpPr>
        <p:spPr>
          <a:xfrm>
            <a:off x="9500616" y="3145536"/>
            <a:ext cx="2130552" cy="91440"/>
          </a:xfrm>
          <a:prstGeom prst="rect">
            <a:avLst/>
          </a:prstGeom>
          <a:solidFill>
            <a:srgbClr val="2563EB"/>
          </a:solidFill>
          <a:ln/>
        </p:spPr>
      </p:sp>
      <p:sp>
        <p:nvSpPr>
          <p:cNvPr id="32" name="a2_t_130"/>
          <p:cNvSpPr txBox="1"/>
          <p:nvPr/>
        </p:nvSpPr>
        <p:spPr>
          <a:xfrm>
            <a:off x="9610344" y="3300984"/>
            <a:ext cx="1947672" cy="384048"/>
          </a:xfrm>
          <a:prstGeom prst="rect">
            <a:avLst/>
          </a:prstGeom>
          <a:noFill/>
          <a:ln/>
        </p:spPr>
        <p:txBody>
          <a:bodyPr wrap="square" lIns="508" tIns="508" rIns="508" bIns="508" rtlCol="0" anchor="t"/>
          <a:lstStyle/>
          <a:p>
            <a:pPr indent="0" marL="0">
              <a:buNone/>
            </a:pPr>
            <a:r>
              <a:rPr lang="en-US" sz="1600" b="1" dirty="0">
                <a:solidFill>
                  <a:srgbClr val="2563EB"/>
                </a:solidFill>
                <a:latin typeface="Arial" pitchFamily="34" charset="0"/>
                <a:ea typeface="Arial" pitchFamily="34" charset="-122"/>
                <a:cs typeface="Arial" pitchFamily="34" charset="-120"/>
              </a:rPr>
              <a:t>TPMS</a:t>
            </a:r>
            <a:endParaRPr lang="en-US" sz="1600" dirty="0"/>
          </a:p>
        </p:txBody>
      </p:sp>
      <p:sp>
        <p:nvSpPr>
          <p:cNvPr id="33" name="a2_t_131"/>
          <p:cNvSpPr txBox="1"/>
          <p:nvPr/>
        </p:nvSpPr>
        <p:spPr>
          <a:xfrm>
            <a:off x="9610344" y="3712464"/>
            <a:ext cx="1929384" cy="713232"/>
          </a:xfrm>
          <a:prstGeom prst="rect">
            <a:avLst/>
          </a:prstGeom>
          <a:noFill/>
          <a:ln/>
        </p:spPr>
        <p:txBody>
          <a:bodyPr wrap="square" lIns="508" tIns="508" rIns="508" bIns="508" rtlCol="0" anchor="t"/>
          <a:lstStyle/>
          <a:p>
            <a:pPr indent="0" marL="0">
              <a:buNone/>
            </a:pPr>
            <a:r>
              <a:rPr lang="en-US" sz="1400" dirty="0">
                <a:solidFill>
                  <a:srgbClr val="0B1F3A"/>
                </a:solidFill>
                <a:latin typeface="Arial" pitchFamily="34" charset="0"/>
                <a:ea typeface="Arial" pitchFamily="34" charset="-122"/>
                <a:cs typeface="Arial" pitchFamily="34" charset="-120"/>
              </a:rPr>
              <a:t>Warns of an under-inflated tyre</a:t>
            </a:r>
            <a:endParaRPr lang="en-US" sz="1400" dirty="0"/>
          </a:p>
        </p:txBody>
      </p:sp>
      <p:sp>
        <p:nvSpPr>
          <p:cNvPr id="34" name="a3_b_132"/>
          <p:cNvSpPr/>
          <p:nvPr/>
        </p:nvSpPr>
        <p:spPr>
          <a:xfrm>
            <a:off x="4983480" y="4599432"/>
            <a:ext cx="2130552" cy="1325880"/>
          </a:xfrm>
          <a:prstGeom prst="roundRect">
            <a:avLst>
              <a:gd name="adj" fmla="val 5517"/>
            </a:avLst>
          </a:prstGeom>
          <a:solidFill>
            <a:srgbClr val="FFFFFF"/>
          </a:solidFill>
          <a:ln w="12700">
            <a:solidFill>
              <a:srgbClr val="CBD5E1"/>
            </a:solidFill>
            <a:prstDash val="solid"/>
          </a:ln>
        </p:spPr>
      </p:sp>
      <p:sp>
        <p:nvSpPr>
          <p:cNvPr id="35" name="a3_b_133"/>
          <p:cNvSpPr/>
          <p:nvPr/>
        </p:nvSpPr>
        <p:spPr>
          <a:xfrm>
            <a:off x="4983480" y="4599432"/>
            <a:ext cx="2130552" cy="91440"/>
          </a:xfrm>
          <a:prstGeom prst="rect">
            <a:avLst/>
          </a:prstGeom>
          <a:solidFill>
            <a:srgbClr val="2563EB"/>
          </a:solidFill>
          <a:ln/>
        </p:spPr>
      </p:sp>
      <p:sp>
        <p:nvSpPr>
          <p:cNvPr id="36" name="a3_t_134"/>
          <p:cNvSpPr txBox="1"/>
          <p:nvPr/>
        </p:nvSpPr>
        <p:spPr>
          <a:xfrm>
            <a:off x="5093208" y="4754880"/>
            <a:ext cx="1947672" cy="384048"/>
          </a:xfrm>
          <a:prstGeom prst="rect">
            <a:avLst/>
          </a:prstGeom>
          <a:noFill/>
          <a:ln/>
        </p:spPr>
        <p:txBody>
          <a:bodyPr wrap="square" lIns="508" tIns="508" rIns="508" bIns="508" rtlCol="0" anchor="t"/>
          <a:lstStyle/>
          <a:p>
            <a:pPr indent="0" marL="0">
              <a:buNone/>
            </a:pPr>
            <a:r>
              <a:rPr lang="en-US" sz="1600" b="1" dirty="0">
                <a:solidFill>
                  <a:srgbClr val="2563EB"/>
                </a:solidFill>
                <a:latin typeface="Arial" pitchFamily="34" charset="0"/>
                <a:ea typeface="Arial" pitchFamily="34" charset="-122"/>
                <a:cs typeface="Arial" pitchFamily="34" charset="-120"/>
              </a:rPr>
              <a:t>Hill Start Assist</a:t>
            </a:r>
            <a:endParaRPr lang="en-US" sz="1600" dirty="0"/>
          </a:p>
        </p:txBody>
      </p:sp>
      <p:sp>
        <p:nvSpPr>
          <p:cNvPr id="37" name="a3_t_135"/>
          <p:cNvSpPr txBox="1"/>
          <p:nvPr/>
        </p:nvSpPr>
        <p:spPr>
          <a:xfrm>
            <a:off x="5093208" y="5166360"/>
            <a:ext cx="1929384" cy="713232"/>
          </a:xfrm>
          <a:prstGeom prst="rect">
            <a:avLst/>
          </a:prstGeom>
          <a:noFill/>
          <a:ln/>
        </p:spPr>
        <p:txBody>
          <a:bodyPr wrap="square" lIns="508" tIns="508" rIns="508" bIns="508" rtlCol="0" anchor="t"/>
          <a:lstStyle/>
          <a:p>
            <a:pPr indent="0" marL="0">
              <a:buNone/>
            </a:pPr>
            <a:r>
              <a:rPr lang="en-US" sz="1400" dirty="0">
                <a:solidFill>
                  <a:srgbClr val="0B1F3A"/>
                </a:solidFill>
                <a:latin typeface="Arial" pitchFamily="34" charset="0"/>
                <a:ea typeface="Arial" pitchFamily="34" charset="-122"/>
                <a:cs typeface="Arial" pitchFamily="34" charset="-120"/>
              </a:rPr>
              <a:t>Stops roll-back on a slope</a:t>
            </a:r>
            <a:endParaRPr lang="en-US" sz="1400" dirty="0"/>
          </a:p>
        </p:txBody>
      </p:sp>
      <p:sp>
        <p:nvSpPr>
          <p:cNvPr id="38" name="a3_b_136"/>
          <p:cNvSpPr/>
          <p:nvPr/>
        </p:nvSpPr>
        <p:spPr>
          <a:xfrm>
            <a:off x="7242048" y="4599432"/>
            <a:ext cx="2130552" cy="1325880"/>
          </a:xfrm>
          <a:prstGeom prst="roundRect">
            <a:avLst>
              <a:gd name="adj" fmla="val 5517"/>
            </a:avLst>
          </a:prstGeom>
          <a:solidFill>
            <a:srgbClr val="FFFFFF"/>
          </a:solidFill>
          <a:ln w="12700">
            <a:solidFill>
              <a:srgbClr val="CBD5E1"/>
            </a:solidFill>
            <a:prstDash val="solid"/>
          </a:ln>
        </p:spPr>
      </p:sp>
      <p:sp>
        <p:nvSpPr>
          <p:cNvPr id="39" name="a3_b_137"/>
          <p:cNvSpPr/>
          <p:nvPr/>
        </p:nvSpPr>
        <p:spPr>
          <a:xfrm>
            <a:off x="7242048" y="4599432"/>
            <a:ext cx="2130552" cy="91440"/>
          </a:xfrm>
          <a:prstGeom prst="rect">
            <a:avLst/>
          </a:prstGeom>
          <a:solidFill>
            <a:srgbClr val="2563EB"/>
          </a:solidFill>
          <a:ln/>
        </p:spPr>
      </p:sp>
      <p:sp>
        <p:nvSpPr>
          <p:cNvPr id="40" name="a3_t_138"/>
          <p:cNvSpPr txBox="1"/>
          <p:nvPr/>
        </p:nvSpPr>
        <p:spPr>
          <a:xfrm>
            <a:off x="7351776" y="4754880"/>
            <a:ext cx="1947672" cy="384048"/>
          </a:xfrm>
          <a:prstGeom prst="rect">
            <a:avLst/>
          </a:prstGeom>
          <a:noFill/>
          <a:ln/>
        </p:spPr>
        <p:txBody>
          <a:bodyPr wrap="square" lIns="508" tIns="508" rIns="508" bIns="508" rtlCol="0" anchor="t"/>
          <a:lstStyle/>
          <a:p>
            <a:pPr indent="0" marL="0">
              <a:buNone/>
            </a:pPr>
            <a:r>
              <a:rPr lang="en-US" sz="1600" b="1" dirty="0">
                <a:solidFill>
                  <a:srgbClr val="2563EB"/>
                </a:solidFill>
                <a:latin typeface="Arial" pitchFamily="34" charset="0"/>
                <a:ea typeface="Arial" pitchFamily="34" charset="-122"/>
                <a:cs typeface="Arial" pitchFamily="34" charset="-120"/>
              </a:rPr>
              <a:t>Hill Descent Control</a:t>
            </a:r>
            <a:endParaRPr lang="en-US" sz="1600" dirty="0"/>
          </a:p>
        </p:txBody>
      </p:sp>
      <p:sp>
        <p:nvSpPr>
          <p:cNvPr id="41" name="a3_t_139"/>
          <p:cNvSpPr txBox="1"/>
          <p:nvPr/>
        </p:nvSpPr>
        <p:spPr>
          <a:xfrm>
            <a:off x="7351776" y="5166360"/>
            <a:ext cx="1929384" cy="713232"/>
          </a:xfrm>
          <a:prstGeom prst="rect">
            <a:avLst/>
          </a:prstGeom>
          <a:noFill/>
          <a:ln/>
        </p:spPr>
        <p:txBody>
          <a:bodyPr wrap="square" lIns="508" tIns="508" rIns="508" bIns="508" rtlCol="0" anchor="t"/>
          <a:lstStyle/>
          <a:p>
            <a:pPr indent="0" marL="0">
              <a:buNone/>
            </a:pPr>
            <a:r>
              <a:rPr lang="en-US" sz="1400" dirty="0">
                <a:solidFill>
                  <a:srgbClr val="0B1F3A"/>
                </a:solidFill>
                <a:latin typeface="Arial" pitchFamily="34" charset="0"/>
                <a:ea typeface="Arial" pitchFamily="34" charset="-122"/>
                <a:cs typeface="Arial" pitchFamily="34" charset="-120"/>
              </a:rPr>
              <a:t>Holds a slow speed downhill</a:t>
            </a:r>
            <a:endParaRPr lang="en-US" sz="1400" dirty="0"/>
          </a:p>
        </p:txBody>
      </p:sp>
      <p:sp>
        <p:nvSpPr>
          <p:cNvPr id="42" name="a3_b_140"/>
          <p:cNvSpPr/>
          <p:nvPr/>
        </p:nvSpPr>
        <p:spPr>
          <a:xfrm>
            <a:off x="9500616" y="4599432"/>
            <a:ext cx="2130552" cy="1325880"/>
          </a:xfrm>
          <a:prstGeom prst="roundRect">
            <a:avLst>
              <a:gd name="adj" fmla="val 5517"/>
            </a:avLst>
          </a:prstGeom>
          <a:solidFill>
            <a:srgbClr val="FFFFFF"/>
          </a:solidFill>
          <a:ln w="12700">
            <a:solidFill>
              <a:srgbClr val="CBD5E1"/>
            </a:solidFill>
            <a:prstDash val="solid"/>
          </a:ln>
        </p:spPr>
      </p:sp>
      <p:sp>
        <p:nvSpPr>
          <p:cNvPr id="43" name="a3_b_141"/>
          <p:cNvSpPr/>
          <p:nvPr/>
        </p:nvSpPr>
        <p:spPr>
          <a:xfrm>
            <a:off x="9500616" y="4599432"/>
            <a:ext cx="2130552" cy="91440"/>
          </a:xfrm>
          <a:prstGeom prst="rect">
            <a:avLst/>
          </a:prstGeom>
          <a:solidFill>
            <a:srgbClr val="2563EB"/>
          </a:solidFill>
          <a:ln/>
        </p:spPr>
      </p:sp>
      <p:sp>
        <p:nvSpPr>
          <p:cNvPr id="44" name="a3_t_142"/>
          <p:cNvSpPr txBox="1"/>
          <p:nvPr/>
        </p:nvSpPr>
        <p:spPr>
          <a:xfrm>
            <a:off x="9610344" y="4754880"/>
            <a:ext cx="1947672" cy="384048"/>
          </a:xfrm>
          <a:prstGeom prst="rect">
            <a:avLst/>
          </a:prstGeom>
          <a:noFill/>
          <a:ln/>
        </p:spPr>
        <p:txBody>
          <a:bodyPr wrap="square" lIns="508" tIns="508" rIns="508" bIns="508" rtlCol="0" anchor="t"/>
          <a:lstStyle/>
          <a:p>
            <a:pPr indent="0" marL="0">
              <a:buNone/>
            </a:pPr>
            <a:r>
              <a:rPr lang="en-US" sz="1600" b="1" dirty="0">
                <a:solidFill>
                  <a:srgbClr val="2563EB"/>
                </a:solidFill>
                <a:latin typeface="Arial" pitchFamily="34" charset="0"/>
                <a:ea typeface="Arial" pitchFamily="34" charset="-122"/>
                <a:cs typeface="Arial" pitchFamily="34" charset="-120"/>
              </a:rPr>
              <a:t>EPB + Auto Hold</a:t>
            </a:r>
            <a:endParaRPr lang="en-US" sz="1600" dirty="0"/>
          </a:p>
        </p:txBody>
      </p:sp>
      <p:sp>
        <p:nvSpPr>
          <p:cNvPr id="45" name="a3_t_143"/>
          <p:cNvSpPr txBox="1"/>
          <p:nvPr/>
        </p:nvSpPr>
        <p:spPr>
          <a:xfrm>
            <a:off x="9610344" y="5166360"/>
            <a:ext cx="1929384" cy="713232"/>
          </a:xfrm>
          <a:prstGeom prst="rect">
            <a:avLst/>
          </a:prstGeom>
          <a:noFill/>
          <a:ln/>
        </p:spPr>
        <p:txBody>
          <a:bodyPr wrap="square" lIns="508" tIns="508" rIns="508" bIns="508" rtlCol="0" anchor="t"/>
          <a:lstStyle/>
          <a:p>
            <a:pPr indent="0" marL="0">
              <a:buNone/>
            </a:pPr>
            <a:r>
              <a:rPr lang="en-US" sz="1400" dirty="0">
                <a:solidFill>
                  <a:srgbClr val="0B1F3A"/>
                </a:solidFill>
                <a:latin typeface="Arial" pitchFamily="34" charset="0"/>
                <a:ea typeface="Arial" pitchFamily="34" charset="-122"/>
                <a:cs typeface="Arial" pitchFamily="34" charset="-120"/>
              </a:rPr>
              <a:t>Electric handbrake; holds you at stops</a:t>
            </a:r>
            <a:endParaRPr lang="en-US" sz="1400" dirty="0"/>
          </a:p>
        </p:txBody>
      </p:sp>
      <p:sp>
        <p:nvSpPr>
          <p:cNvPr id="46"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5</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0"/>
                                        </p:tgtEl>
                                        <p:attrNameLst>
                                          <p:attrName>style.visibility</p:attrName>
                                        </p:attrNameLst>
                                      </p:cBhvr>
                                      <p:to>
                                        <p:strVal val="visible"/>
                                      </p:to>
                                    </p:set>
                                    <p:animEffect transition="in" filter="fade">
                                      <p:cBhvr>
                                        <p:cTn id="7" dur="500"/>
                                        <p:tgtEl>
                                          <p:spTgt spid="10"/>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1"/>
                                        </p:tgtEl>
                                        <p:attrNameLst>
                                          <p:attrName>style.visibility</p:attrName>
                                        </p:attrNameLst>
                                      </p:cBhvr>
                                      <p:to>
                                        <p:strVal val="visible"/>
                                      </p:to>
                                    </p:set>
                                    <p:animEffect transition="in" filter="fade">
                                      <p:cBhvr>
                                        <p:cTn id="10" dur="500"/>
                                        <p:tgtEl>
                                          <p:spTgt spid="1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2"/>
                                        </p:tgtEl>
                                        <p:attrNameLst>
                                          <p:attrName>style.visibility</p:attrName>
                                        </p:attrNameLst>
                                      </p:cBhvr>
                                      <p:to>
                                        <p:strVal val="visible"/>
                                      </p:to>
                                    </p:set>
                                    <p:animEffect transition="in" filter="fade">
                                      <p:cBhvr>
                                        <p:cTn id="13" dur="500"/>
                                        <p:tgtEl>
                                          <p:spTgt spid="12"/>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3"/>
                                        </p:tgtEl>
                                        <p:attrNameLst>
                                          <p:attrName>style.visibility</p:attrName>
                                        </p:attrNameLst>
                                      </p:cBhvr>
                                      <p:to>
                                        <p:strVal val="visible"/>
                                      </p:to>
                                    </p:set>
                                    <p:animEffect transition="in" filter="fade">
                                      <p:cBhvr>
                                        <p:cTn id="16" dur="500"/>
                                        <p:tgtEl>
                                          <p:spTgt spid="13"/>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4"/>
                                        </p:tgtEl>
                                        <p:attrNameLst>
                                          <p:attrName>style.visibility</p:attrName>
                                        </p:attrNameLst>
                                      </p:cBhvr>
                                      <p:to>
                                        <p:strVal val="visible"/>
                                      </p:to>
                                    </p:set>
                                    <p:animEffect transition="in" filter="fade">
                                      <p:cBhvr>
                                        <p:cTn id="19" dur="500"/>
                                        <p:tgtEl>
                                          <p:spTgt spid="14"/>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5"/>
                                        </p:tgtEl>
                                        <p:attrNameLst>
                                          <p:attrName>style.visibility</p:attrName>
                                        </p:attrNameLst>
                                      </p:cBhvr>
                                      <p:to>
                                        <p:strVal val="visible"/>
                                      </p:to>
                                    </p:set>
                                    <p:animEffect transition="in" filter="fade">
                                      <p:cBhvr>
                                        <p:cTn id="22" dur="500"/>
                                        <p:tgtEl>
                                          <p:spTgt spid="15"/>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6"/>
                                        </p:tgtEl>
                                        <p:attrNameLst>
                                          <p:attrName>style.visibility</p:attrName>
                                        </p:attrNameLst>
                                      </p:cBhvr>
                                      <p:to>
                                        <p:strVal val="visible"/>
                                      </p:to>
                                    </p:set>
                                    <p:animEffect transition="in" filter="fade">
                                      <p:cBhvr>
                                        <p:cTn id="25" dur="500"/>
                                        <p:tgtEl>
                                          <p:spTgt spid="16"/>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7"/>
                                        </p:tgtEl>
                                        <p:attrNameLst>
                                          <p:attrName>style.visibility</p:attrName>
                                        </p:attrNameLst>
                                      </p:cBhvr>
                                      <p:to>
                                        <p:strVal val="visible"/>
                                      </p:to>
                                    </p:set>
                                    <p:animEffect transition="in" filter="fade">
                                      <p:cBhvr>
                                        <p:cTn id="28" dur="500"/>
                                        <p:tgtEl>
                                          <p:spTgt spid="17"/>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18"/>
                                        </p:tgtEl>
                                        <p:attrNameLst>
                                          <p:attrName>style.visibility</p:attrName>
                                        </p:attrNameLst>
                                      </p:cBhvr>
                                      <p:to>
                                        <p:strVal val="visible"/>
                                      </p:to>
                                    </p:set>
                                    <p:animEffect transition="in" filter="fade">
                                      <p:cBhvr>
                                        <p:cTn id="31" dur="500"/>
                                        <p:tgtEl>
                                          <p:spTgt spid="18"/>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fade">
                                      <p:cBhvr>
                                        <p:cTn id="34" dur="500"/>
                                        <p:tgtEl>
                                          <p:spTgt spid="19"/>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0"/>
                                        </p:tgtEl>
                                        <p:attrNameLst>
                                          <p:attrName>style.visibility</p:attrName>
                                        </p:attrNameLst>
                                      </p:cBhvr>
                                      <p:to>
                                        <p:strVal val="visible"/>
                                      </p:to>
                                    </p:set>
                                    <p:animEffect transition="in" filter="fade">
                                      <p:cBhvr>
                                        <p:cTn id="37" dur="500"/>
                                        <p:tgtEl>
                                          <p:spTgt spid="20"/>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1"/>
                                        </p:tgtEl>
                                        <p:attrNameLst>
                                          <p:attrName>style.visibility</p:attrName>
                                        </p:attrNameLst>
                                      </p:cBhvr>
                                      <p:to>
                                        <p:strVal val="visible"/>
                                      </p:to>
                                    </p:set>
                                    <p:animEffect transition="in" filter="fade">
                                      <p:cBhvr>
                                        <p:cTn id="40" dur="500"/>
                                        <p:tgtEl>
                                          <p:spTgt spid="21"/>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2"/>
                                        </p:tgtEl>
                                        <p:attrNameLst>
                                          <p:attrName>style.visibility</p:attrName>
                                        </p:attrNameLst>
                                      </p:cBhvr>
                                      <p:to>
                                        <p:strVal val="visible"/>
                                      </p:to>
                                    </p:set>
                                    <p:animEffect transition="in" filter="fade">
                                      <p:cBhvr>
                                        <p:cTn id="45" dur="500"/>
                                        <p:tgtEl>
                                          <p:spTgt spid="22"/>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fade">
                                      <p:cBhvr>
                                        <p:cTn id="48" dur="500"/>
                                        <p:tgtEl>
                                          <p:spTgt spid="23"/>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fade">
                                      <p:cBhvr>
                                        <p:cTn id="51" dur="500"/>
                                        <p:tgtEl>
                                          <p:spTgt spid="24"/>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5"/>
                                        </p:tgtEl>
                                        <p:attrNameLst>
                                          <p:attrName>style.visibility</p:attrName>
                                        </p:attrNameLst>
                                      </p:cBhvr>
                                      <p:to>
                                        <p:strVal val="visible"/>
                                      </p:to>
                                    </p:set>
                                    <p:animEffect transition="in" filter="fade">
                                      <p:cBhvr>
                                        <p:cTn id="54" dur="500"/>
                                        <p:tgtEl>
                                          <p:spTgt spid="25"/>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fade">
                                      <p:cBhvr>
                                        <p:cTn id="57" dur="500"/>
                                        <p:tgtEl>
                                          <p:spTgt spid="26"/>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7"/>
                                        </p:tgtEl>
                                        <p:attrNameLst>
                                          <p:attrName>style.visibility</p:attrName>
                                        </p:attrNameLst>
                                      </p:cBhvr>
                                      <p:to>
                                        <p:strVal val="visible"/>
                                      </p:to>
                                    </p:set>
                                    <p:animEffect transition="in" filter="fade">
                                      <p:cBhvr>
                                        <p:cTn id="60" dur="500"/>
                                        <p:tgtEl>
                                          <p:spTgt spid="27"/>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28"/>
                                        </p:tgtEl>
                                        <p:attrNameLst>
                                          <p:attrName>style.visibility</p:attrName>
                                        </p:attrNameLst>
                                      </p:cBhvr>
                                      <p:to>
                                        <p:strVal val="visible"/>
                                      </p:to>
                                    </p:set>
                                    <p:animEffect transition="in" filter="fade">
                                      <p:cBhvr>
                                        <p:cTn id="63" dur="500"/>
                                        <p:tgtEl>
                                          <p:spTgt spid="28"/>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9"/>
                                        </p:tgtEl>
                                        <p:attrNameLst>
                                          <p:attrName>style.visibility</p:attrName>
                                        </p:attrNameLst>
                                      </p:cBhvr>
                                      <p:to>
                                        <p:strVal val="visible"/>
                                      </p:to>
                                    </p:set>
                                    <p:animEffect transition="in" filter="fade">
                                      <p:cBhvr>
                                        <p:cTn id="66" dur="500"/>
                                        <p:tgtEl>
                                          <p:spTgt spid="29"/>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0"/>
                                        </p:tgtEl>
                                        <p:attrNameLst>
                                          <p:attrName>style.visibility</p:attrName>
                                        </p:attrNameLst>
                                      </p:cBhvr>
                                      <p:to>
                                        <p:strVal val="visible"/>
                                      </p:to>
                                    </p:set>
                                    <p:animEffect transition="in" filter="fade">
                                      <p:cBhvr>
                                        <p:cTn id="69" dur="500"/>
                                        <p:tgtEl>
                                          <p:spTgt spid="30"/>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fade">
                                      <p:cBhvr>
                                        <p:cTn id="72" dur="500"/>
                                        <p:tgtEl>
                                          <p:spTgt spid="31"/>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2"/>
                                        </p:tgtEl>
                                        <p:attrNameLst>
                                          <p:attrName>style.visibility</p:attrName>
                                        </p:attrNameLst>
                                      </p:cBhvr>
                                      <p:to>
                                        <p:strVal val="visible"/>
                                      </p:to>
                                    </p:set>
                                    <p:animEffect transition="in" filter="fade">
                                      <p:cBhvr>
                                        <p:cTn id="75" dur="500"/>
                                        <p:tgtEl>
                                          <p:spTgt spid="32"/>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3"/>
                                        </p:tgtEl>
                                        <p:attrNameLst>
                                          <p:attrName>style.visibility</p:attrName>
                                        </p:attrNameLst>
                                      </p:cBhvr>
                                      <p:to>
                                        <p:strVal val="visible"/>
                                      </p:to>
                                    </p:set>
                                    <p:animEffect transition="in" filter="fade">
                                      <p:cBhvr>
                                        <p:cTn id="78" dur="500"/>
                                        <p:tgtEl>
                                          <p:spTgt spid="33"/>
                                        </p:tgtEl>
                                      </p:cBhvr>
                                    </p:animEffect>
                                  </p:childTnLst>
                                </p:cTn>
                              </p:par>
                            </p:childTnLst>
                          </p:cTn>
                        </p:par>
                      </p:childTnLst>
                    </p:cTn>
                  </p:par>
                  <p:par>
                    <p:cTn id="79" fill="hold">
                      <p:stCondLst>
                        <p:cond delay="indefinite"/>
                      </p:stCondLst>
                      <p:childTnLst>
                        <p:par>
                          <p:cTn id="80" fill="hold">
                            <p:stCondLst>
                              <p:cond delay="0"/>
                            </p:stCondLst>
                            <p:childTnLst>
                              <p:par>
                                <p:cTn id="81" presetID="10" presetClass="entr" presetSubtype="0" fill="hold" grpId="0" nodeType="clickEffect">
                                  <p:stCondLst>
                                    <p:cond delay="0"/>
                                  </p:stCondLst>
                                  <p:childTnLst>
                                    <p:set>
                                      <p:cBhvr>
                                        <p:cTn id="82" dur="1" fill="hold">
                                          <p:stCondLst>
                                            <p:cond delay="0"/>
                                          </p:stCondLst>
                                        </p:cTn>
                                        <p:tgtEl>
                                          <p:spTgt spid="34"/>
                                        </p:tgtEl>
                                        <p:attrNameLst>
                                          <p:attrName>style.visibility</p:attrName>
                                        </p:attrNameLst>
                                      </p:cBhvr>
                                      <p:to>
                                        <p:strVal val="visible"/>
                                      </p:to>
                                    </p:set>
                                    <p:animEffect transition="in" filter="fade">
                                      <p:cBhvr>
                                        <p:cTn id="83" dur="500"/>
                                        <p:tgtEl>
                                          <p:spTgt spid="34"/>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5"/>
                                        </p:tgtEl>
                                        <p:attrNameLst>
                                          <p:attrName>style.visibility</p:attrName>
                                        </p:attrNameLst>
                                      </p:cBhvr>
                                      <p:to>
                                        <p:strVal val="visible"/>
                                      </p:to>
                                    </p:set>
                                    <p:animEffect transition="in" filter="fade">
                                      <p:cBhvr>
                                        <p:cTn id="86" dur="500"/>
                                        <p:tgtEl>
                                          <p:spTgt spid="35"/>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6"/>
                                        </p:tgtEl>
                                        <p:attrNameLst>
                                          <p:attrName>style.visibility</p:attrName>
                                        </p:attrNameLst>
                                      </p:cBhvr>
                                      <p:to>
                                        <p:strVal val="visible"/>
                                      </p:to>
                                    </p:set>
                                    <p:animEffect transition="in" filter="fade">
                                      <p:cBhvr>
                                        <p:cTn id="89" dur="500"/>
                                        <p:tgtEl>
                                          <p:spTgt spid="36"/>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7"/>
                                        </p:tgtEl>
                                        <p:attrNameLst>
                                          <p:attrName>style.visibility</p:attrName>
                                        </p:attrNameLst>
                                      </p:cBhvr>
                                      <p:to>
                                        <p:strVal val="visible"/>
                                      </p:to>
                                    </p:set>
                                    <p:animEffect transition="in" filter="fade">
                                      <p:cBhvr>
                                        <p:cTn id="92" dur="500"/>
                                        <p:tgtEl>
                                          <p:spTgt spid="37"/>
                                        </p:tgtEl>
                                      </p:cBhvr>
                                    </p:animEffect>
                                  </p:childTnLst>
                                </p:cTn>
                              </p:par>
                              <p:par>
                                <p:cTn id="93" presetID="10" presetClass="entr" presetSubtype="0" fill="hold" grpId="0" nodeType="withEffect">
                                  <p:stCondLst>
                                    <p:cond delay="0"/>
                                  </p:stCondLst>
                                  <p:childTnLst>
                                    <p:set>
                                      <p:cBhvr>
                                        <p:cTn id="94" dur="1" fill="hold">
                                          <p:stCondLst>
                                            <p:cond delay="0"/>
                                          </p:stCondLst>
                                        </p:cTn>
                                        <p:tgtEl>
                                          <p:spTgt spid="38"/>
                                        </p:tgtEl>
                                        <p:attrNameLst>
                                          <p:attrName>style.visibility</p:attrName>
                                        </p:attrNameLst>
                                      </p:cBhvr>
                                      <p:to>
                                        <p:strVal val="visible"/>
                                      </p:to>
                                    </p:set>
                                    <p:animEffect transition="in" filter="fade">
                                      <p:cBhvr>
                                        <p:cTn id="95" dur="500"/>
                                        <p:tgtEl>
                                          <p:spTgt spid="38"/>
                                        </p:tgtEl>
                                      </p:cBhvr>
                                    </p:animEffect>
                                  </p:childTnLst>
                                </p:cTn>
                              </p:par>
                              <p:par>
                                <p:cTn id="96" presetID="10" presetClass="entr" presetSubtype="0" fill="hold" grpId="0" nodeType="withEffect">
                                  <p:stCondLst>
                                    <p:cond delay="0"/>
                                  </p:stCondLst>
                                  <p:childTnLst>
                                    <p:set>
                                      <p:cBhvr>
                                        <p:cTn id="97" dur="1" fill="hold">
                                          <p:stCondLst>
                                            <p:cond delay="0"/>
                                          </p:stCondLst>
                                        </p:cTn>
                                        <p:tgtEl>
                                          <p:spTgt spid="39"/>
                                        </p:tgtEl>
                                        <p:attrNameLst>
                                          <p:attrName>style.visibility</p:attrName>
                                        </p:attrNameLst>
                                      </p:cBhvr>
                                      <p:to>
                                        <p:strVal val="visible"/>
                                      </p:to>
                                    </p:set>
                                    <p:animEffect transition="in" filter="fade">
                                      <p:cBhvr>
                                        <p:cTn id="98" dur="500"/>
                                        <p:tgtEl>
                                          <p:spTgt spid="39"/>
                                        </p:tgtEl>
                                      </p:cBhvr>
                                    </p:animEffect>
                                  </p:childTnLst>
                                </p:cTn>
                              </p:par>
                              <p:par>
                                <p:cTn id="99" presetID="10" presetClass="entr" presetSubtype="0" fill="hold" grpId="0" nodeType="withEffect">
                                  <p:stCondLst>
                                    <p:cond delay="0"/>
                                  </p:stCondLst>
                                  <p:childTnLst>
                                    <p:set>
                                      <p:cBhvr>
                                        <p:cTn id="100" dur="1" fill="hold">
                                          <p:stCondLst>
                                            <p:cond delay="0"/>
                                          </p:stCondLst>
                                        </p:cTn>
                                        <p:tgtEl>
                                          <p:spTgt spid="40"/>
                                        </p:tgtEl>
                                        <p:attrNameLst>
                                          <p:attrName>style.visibility</p:attrName>
                                        </p:attrNameLst>
                                      </p:cBhvr>
                                      <p:to>
                                        <p:strVal val="visible"/>
                                      </p:to>
                                    </p:set>
                                    <p:animEffect transition="in" filter="fade">
                                      <p:cBhvr>
                                        <p:cTn id="101" dur="500"/>
                                        <p:tgtEl>
                                          <p:spTgt spid="40"/>
                                        </p:tgtEl>
                                      </p:cBhvr>
                                    </p:animEffect>
                                  </p:childTnLst>
                                </p:cTn>
                              </p:par>
                              <p:par>
                                <p:cTn id="102" presetID="10" presetClass="entr" presetSubtype="0" fill="hold" grpId="0" nodeType="withEffect">
                                  <p:stCondLst>
                                    <p:cond delay="0"/>
                                  </p:stCondLst>
                                  <p:childTnLst>
                                    <p:set>
                                      <p:cBhvr>
                                        <p:cTn id="103" dur="1" fill="hold">
                                          <p:stCondLst>
                                            <p:cond delay="0"/>
                                          </p:stCondLst>
                                        </p:cTn>
                                        <p:tgtEl>
                                          <p:spTgt spid="41"/>
                                        </p:tgtEl>
                                        <p:attrNameLst>
                                          <p:attrName>style.visibility</p:attrName>
                                        </p:attrNameLst>
                                      </p:cBhvr>
                                      <p:to>
                                        <p:strVal val="visible"/>
                                      </p:to>
                                    </p:set>
                                    <p:animEffect transition="in" filter="fade">
                                      <p:cBhvr>
                                        <p:cTn id="104" dur="500"/>
                                        <p:tgtEl>
                                          <p:spTgt spid="41"/>
                                        </p:tgtEl>
                                      </p:cBhvr>
                                    </p:animEffect>
                                  </p:childTnLst>
                                </p:cTn>
                              </p:par>
                              <p:par>
                                <p:cTn id="105" presetID="10" presetClass="entr" presetSubtype="0" fill="hold" grpId="0" nodeType="withEffect">
                                  <p:stCondLst>
                                    <p:cond delay="0"/>
                                  </p:stCondLst>
                                  <p:childTnLst>
                                    <p:set>
                                      <p:cBhvr>
                                        <p:cTn id="106" dur="1" fill="hold">
                                          <p:stCondLst>
                                            <p:cond delay="0"/>
                                          </p:stCondLst>
                                        </p:cTn>
                                        <p:tgtEl>
                                          <p:spTgt spid="42"/>
                                        </p:tgtEl>
                                        <p:attrNameLst>
                                          <p:attrName>style.visibility</p:attrName>
                                        </p:attrNameLst>
                                      </p:cBhvr>
                                      <p:to>
                                        <p:strVal val="visible"/>
                                      </p:to>
                                    </p:set>
                                    <p:animEffect transition="in" filter="fade">
                                      <p:cBhvr>
                                        <p:cTn id="107" dur="500"/>
                                        <p:tgtEl>
                                          <p:spTgt spid="42"/>
                                        </p:tgtEl>
                                      </p:cBhvr>
                                    </p:animEffect>
                                  </p:childTnLst>
                                </p:cTn>
                              </p:par>
                              <p:par>
                                <p:cTn id="108" presetID="10" presetClass="entr" presetSubtype="0" fill="hold" grpId="0" nodeType="withEffect">
                                  <p:stCondLst>
                                    <p:cond delay="0"/>
                                  </p:stCondLst>
                                  <p:childTnLst>
                                    <p:set>
                                      <p:cBhvr>
                                        <p:cTn id="109" dur="1" fill="hold">
                                          <p:stCondLst>
                                            <p:cond delay="0"/>
                                          </p:stCondLst>
                                        </p:cTn>
                                        <p:tgtEl>
                                          <p:spTgt spid="43"/>
                                        </p:tgtEl>
                                        <p:attrNameLst>
                                          <p:attrName>style.visibility</p:attrName>
                                        </p:attrNameLst>
                                      </p:cBhvr>
                                      <p:to>
                                        <p:strVal val="visible"/>
                                      </p:to>
                                    </p:set>
                                    <p:animEffect transition="in" filter="fade">
                                      <p:cBhvr>
                                        <p:cTn id="110" dur="500"/>
                                        <p:tgtEl>
                                          <p:spTgt spid="43"/>
                                        </p:tgtEl>
                                      </p:cBhvr>
                                    </p:animEffect>
                                  </p:childTnLst>
                                </p:cTn>
                              </p:par>
                              <p:par>
                                <p:cTn id="111" presetID="10" presetClass="entr" presetSubtype="0" fill="hold" grpId="0" nodeType="withEffect">
                                  <p:stCondLst>
                                    <p:cond delay="0"/>
                                  </p:stCondLst>
                                  <p:childTnLst>
                                    <p:set>
                                      <p:cBhvr>
                                        <p:cTn id="112" dur="1" fill="hold">
                                          <p:stCondLst>
                                            <p:cond delay="0"/>
                                          </p:stCondLst>
                                        </p:cTn>
                                        <p:tgtEl>
                                          <p:spTgt spid="44"/>
                                        </p:tgtEl>
                                        <p:attrNameLst>
                                          <p:attrName>style.visibility</p:attrName>
                                        </p:attrNameLst>
                                      </p:cBhvr>
                                      <p:to>
                                        <p:strVal val="visible"/>
                                      </p:to>
                                    </p:set>
                                    <p:animEffect transition="in" filter="fade">
                                      <p:cBhvr>
                                        <p:cTn id="113" dur="500"/>
                                        <p:tgtEl>
                                          <p:spTgt spid="44"/>
                                        </p:tgtEl>
                                      </p:cBhvr>
                                    </p:animEffect>
                                  </p:childTnLst>
                                </p:cTn>
                              </p:par>
                              <p:par>
                                <p:cTn id="114" presetID="10" presetClass="entr" presetSubtype="0" fill="hold" grpId="0" nodeType="withEffect">
                                  <p:stCondLst>
                                    <p:cond delay="0"/>
                                  </p:stCondLst>
                                  <p:childTnLst>
                                    <p:set>
                                      <p:cBhvr>
                                        <p:cTn id="115" dur="1" fill="hold">
                                          <p:stCondLst>
                                            <p:cond delay="0"/>
                                          </p:stCondLst>
                                        </p:cTn>
                                        <p:tgtEl>
                                          <p:spTgt spid="45"/>
                                        </p:tgtEl>
                                        <p:attrNameLst>
                                          <p:attrName>style.visibility</p:attrName>
                                        </p:attrNameLst>
                                      </p:cBhvr>
                                      <p:to>
                                        <p:strVal val="visible"/>
                                      </p:to>
                                    </p:set>
                                    <p:animEffect transition="in" filter="fade">
                                      <p:cBhvr>
                                        <p:cTn id="116" dur="500"/>
                                        <p:tgtEl>
                                          <p:spTgt spid="4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P spid="25" grpId="0" animBg="1"/>
      <p:bldP spid="26" grpId="0" animBg="1"/>
      <p:bldP spid="27" grpId="0" animBg="1"/>
      <p:bldP spid="28" grpId="0" animBg="1"/>
      <p:bldP spid="29" grpId="0" animBg="1"/>
      <p:bldP spid="30" grpId="0" animBg="1"/>
      <p:bldP spid="31" grpId="0" animBg="1"/>
      <p:bldP spid="32" grpId="0" animBg="1"/>
      <p:bldP spid="33" grpId="0" animBg="1"/>
      <p:bldP spid="34" grpId="0" animBg="1"/>
      <p:bldP spid="35" grpId="0" animBg="1"/>
      <p:bldP spid="36" grpId="0" animBg="1"/>
      <p:bldP spid="37" grpId="0" animBg="1"/>
      <p:bldP spid="38" grpId="0" animBg="1"/>
      <p:bldP spid="39" grpId="0" animBg="1"/>
      <p:bldP spid="40" grpId="0" animBg="1"/>
      <p:bldP spid="41" grpId="0" animBg="1"/>
      <p:bldP spid="42" grpId="0" animBg="1"/>
      <p:bldP spid="43" grpId="0" animBg="1"/>
      <p:bldP spid="44" grpId="0" animBg="1"/>
      <p:bldP spid="45" grpId="0" animBg="1"/>
    </p:bldLst>
  </p:timing>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b_144"/>
          <p:cNvSpPr/>
          <p:nvPr/>
        </p:nvSpPr>
        <p:spPr>
          <a:xfrm>
            <a:off x="548640" y="274320"/>
            <a:ext cx="797357" cy="292608"/>
          </a:xfrm>
          <a:prstGeom prst="roundRect">
            <a:avLst>
              <a:gd name="adj" fmla="val 50000"/>
            </a:avLst>
          </a:prstGeom>
          <a:solidFill>
            <a:srgbClr val="0E7490"/>
          </a:solidFill>
          <a:ln/>
        </p:spPr>
      </p:sp>
      <p:sp>
        <p:nvSpPr>
          <p:cNvPr id="3" name="t_145"/>
          <p:cNvSpPr txBox="1"/>
          <p:nvPr/>
        </p:nvSpPr>
        <p:spPr>
          <a:xfrm>
            <a:off x="548640" y="274320"/>
            <a:ext cx="797357"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ADAS</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Is Your Car Watching the Road?</a:t>
            </a:r>
            <a:endParaRPr lang="en-US" sz="3000" dirty="0"/>
          </a:p>
        </p:txBody>
      </p:sp>
      <p:sp>
        <p:nvSpPr>
          <p:cNvPr id="5" name="t_146"/>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Driver assistance: warn first, then help brake or steer</a:t>
            </a:r>
            <a:endParaRPr lang="en-US" sz="1800" dirty="0"/>
          </a:p>
        </p:txBody>
      </p:sp>
      <p:pic>
        <p:nvPicPr>
          <p:cNvPr id="6" name="p_147" descr="Lane departure warning versus lane keeping assist">    </p:cNvPr>
          <p:cNvPicPr>
            <a:picLocks noChangeAspect="1"/>
          </p:cNvPicPr>
          <p:nvPr/>
        </p:nvPicPr>
        <p:blipFill>
          <a:blip r:embed="rId1"/>
          <a:srcRect l="0" r="0" t="43" b="-43"/>
          <a:stretch/>
        </p:blipFill>
        <p:spPr>
          <a:xfrm>
            <a:off x="548640" y="1691640"/>
            <a:ext cx="4754880" cy="3163824"/>
          </a:xfrm>
          <a:prstGeom prst="rect">
            <a:avLst/>
          </a:prstGeom>
        </p:spPr>
      </p:pic>
      <p:sp>
        <p:nvSpPr>
          <p:cNvPr id="7" name="t_148"/>
          <p:cNvSpPr txBox="1"/>
          <p:nvPr/>
        </p:nvSpPr>
        <p:spPr>
          <a:xfrm>
            <a:off x="548640" y="4873752"/>
            <a:ext cx="4754880" cy="457200"/>
          </a:xfrm>
          <a:prstGeom prst="rect">
            <a:avLst/>
          </a:prstGeom>
          <a:noFill/>
          <a:ln/>
        </p:spPr>
        <p:txBody>
          <a:bodyPr wrap="square" lIns="508" tIns="508" rIns="508" bIns="508" rtlCol="0" anchor="t"/>
          <a:lstStyle/>
          <a:p>
            <a:pPr indent="0" marL="0">
              <a:buNone/>
            </a:pPr>
            <a:r>
              <a:rPr lang="en-US" sz="1300" i="1" dirty="0">
                <a:solidFill>
                  <a:srgbClr val="475569"/>
                </a:solidFill>
                <a:latin typeface="Arial" pitchFamily="34" charset="0"/>
                <a:ea typeface="Arial" pitchFamily="34" charset="-122"/>
                <a:cs typeface="Arial" pitchFamily="34" charset="-120"/>
              </a:rPr>
              <a:t>Lane Departure Warning alerts you; Lane Keeping Assist also steers you back</a:t>
            </a:r>
            <a:endParaRPr lang="en-US" sz="1300" dirty="0"/>
          </a:p>
        </p:txBody>
      </p:sp>
      <p:sp>
        <p:nvSpPr>
          <p:cNvPr id="8" name="b_149"/>
          <p:cNvSpPr/>
          <p:nvPr/>
        </p:nvSpPr>
        <p:spPr>
          <a:xfrm>
            <a:off x="548640" y="5440680"/>
            <a:ext cx="4754880" cy="512064"/>
          </a:xfrm>
          <a:prstGeom prst="roundRect">
            <a:avLst>
              <a:gd name="adj" fmla="val 14286"/>
            </a:avLst>
          </a:prstGeom>
          <a:solidFill>
            <a:srgbClr val="CFFAFE"/>
          </a:solidFill>
          <a:ln w="15875">
            <a:solidFill>
              <a:srgbClr val="0E7490"/>
            </a:solidFill>
            <a:prstDash val="solid"/>
          </a:ln>
        </p:spPr>
      </p:sp>
      <p:sp>
        <p:nvSpPr>
          <p:cNvPr id="9" name="qc_150"/>
          <p:cNvSpPr/>
          <p:nvPr/>
        </p:nvSpPr>
        <p:spPr>
          <a:xfrm>
            <a:off x="658368" y="5522976"/>
            <a:ext cx="347472" cy="347472"/>
          </a:xfrm>
          <a:prstGeom prst="ellipse">
            <a:avLst/>
          </a:prstGeom>
          <a:solidFill>
            <a:srgbClr val="0E7490"/>
          </a:solidFill>
          <a:ln/>
        </p:spPr>
      </p:sp>
      <p:sp>
        <p:nvSpPr>
          <p:cNvPr id="10" name="t_151"/>
          <p:cNvSpPr txBox="1"/>
          <p:nvPr/>
        </p:nvSpPr>
        <p:spPr>
          <a:xfrm>
            <a:off x="658368" y="5522976"/>
            <a:ext cx="347472" cy="347472"/>
          </a:xfrm>
          <a:prstGeom prst="rect">
            <a:avLst/>
          </a:prstGeom>
          <a:noFill/>
          <a:ln/>
        </p:spPr>
        <p:txBody>
          <a:bodyPr wrap="square" lIns="0" tIns="0" rIns="0" bIns="0" rtlCol="0" anchor="ctr"/>
          <a:lstStyle/>
          <a:p>
            <a:pPr algn="ctr" indent="0" marL="0">
              <a:buNone/>
            </a:pPr>
            <a:r>
              <a:rPr lang="en-US" sz="1800" b="1" dirty="0">
                <a:solidFill>
                  <a:srgbClr val="FFFFFF"/>
                </a:solidFill>
                <a:latin typeface="Arial" pitchFamily="34" charset="0"/>
                <a:ea typeface="Arial" pitchFamily="34" charset="-122"/>
                <a:cs typeface="Arial" pitchFamily="34" charset="-120"/>
              </a:rPr>
              <a:t>?</a:t>
            </a:r>
            <a:endParaRPr lang="en-US" sz="1800" dirty="0"/>
          </a:p>
        </p:txBody>
      </p:sp>
      <p:sp>
        <p:nvSpPr>
          <p:cNvPr id="11" name="t_152"/>
          <p:cNvSpPr txBox="1"/>
          <p:nvPr/>
        </p:nvSpPr>
        <p:spPr>
          <a:xfrm>
            <a:off x="1115568" y="5440680"/>
            <a:ext cx="4069080" cy="512064"/>
          </a:xfrm>
          <a:prstGeom prst="rect">
            <a:avLst/>
          </a:prstGeom>
          <a:noFill/>
          <a:ln/>
        </p:spPr>
        <p:txBody>
          <a:bodyPr wrap="square" lIns="508" tIns="508" rIns="508" bIns="508" rtlCol="0" anchor="ctr"/>
          <a:lstStyle/>
          <a:p>
            <a:pPr indent="0" marL="0">
              <a:buNone/>
            </a:pPr>
            <a:r>
              <a:rPr lang="en-US" sz="1500" b="1" dirty="0">
                <a:solidFill>
                  <a:srgbClr val="0B1F3A"/>
                </a:solidFill>
                <a:latin typeface="Arial" pitchFamily="34" charset="0"/>
                <a:ea typeface="Arial" pitchFamily="34" charset="-122"/>
                <a:cs typeface="Arial" pitchFamily="34" charset="-120"/>
              </a:rPr>
              <a:t>Does blind-spot monitoring replace the shoulder check?</a:t>
            </a:r>
            <a:endParaRPr lang="en-US" sz="1500" dirty="0"/>
          </a:p>
        </p:txBody>
      </p:sp>
      <p:sp>
        <p:nvSpPr>
          <p:cNvPr id="12" name="a1_b_153"/>
          <p:cNvSpPr/>
          <p:nvPr/>
        </p:nvSpPr>
        <p:spPr>
          <a:xfrm>
            <a:off x="5577840" y="1691640"/>
            <a:ext cx="6062472" cy="548640"/>
          </a:xfrm>
          <a:prstGeom prst="roundRect">
            <a:avLst>
              <a:gd name="adj" fmla="val 13333"/>
            </a:avLst>
          </a:prstGeom>
          <a:solidFill>
            <a:srgbClr val="FFFFFF"/>
          </a:solidFill>
          <a:ln w="12700">
            <a:solidFill>
              <a:srgbClr val="CBD5E1"/>
            </a:solidFill>
            <a:prstDash val="solid"/>
          </a:ln>
        </p:spPr>
      </p:sp>
      <p:sp>
        <p:nvSpPr>
          <p:cNvPr id="13" name="a1_c_154"/>
          <p:cNvSpPr/>
          <p:nvPr/>
        </p:nvSpPr>
        <p:spPr>
          <a:xfrm>
            <a:off x="5650992" y="1755648"/>
            <a:ext cx="420624" cy="420624"/>
          </a:xfrm>
          <a:prstGeom prst="ellipse">
            <a:avLst/>
          </a:prstGeom>
          <a:solidFill>
            <a:srgbClr val="0E7490"/>
          </a:solidFill>
          <a:ln/>
        </p:spPr>
      </p:sp>
      <p:pic>
        <p:nvPicPr>
          <p:cNvPr id="14" name="a1_i_155" descr="preencoded.png">    </p:cNvPr>
          <p:cNvPicPr>
            <a:picLocks noChangeAspect="1"/>
          </p:cNvPicPr>
          <p:nvPr/>
        </p:nvPicPr>
        <p:blipFill>
          <a:blip r:embed="rId2"/>
          <a:stretch>
            <a:fillRect/>
          </a:stretch>
        </p:blipFill>
        <p:spPr>
          <a:xfrm>
            <a:off x="5743529" y="1848185"/>
            <a:ext cx="235549" cy="235549"/>
          </a:xfrm>
          <a:prstGeom prst="rect">
            <a:avLst/>
          </a:prstGeom>
        </p:spPr>
      </p:pic>
      <p:sp>
        <p:nvSpPr>
          <p:cNvPr id="15" name="a1_t_156"/>
          <p:cNvSpPr txBox="1"/>
          <p:nvPr/>
        </p:nvSpPr>
        <p:spPr>
          <a:xfrm>
            <a:off x="6172200" y="1691640"/>
            <a:ext cx="5394960" cy="54864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Forward Collision Warning  </a:t>
            </a:r>
            <a:pPr indent="0" marL="0">
              <a:buNone/>
            </a:pPr>
            <a:r>
              <a:rPr lang="en-US" sz="1400" dirty="0">
                <a:solidFill>
                  <a:srgbClr val="475569"/>
                </a:solidFill>
                <a:latin typeface="Arial" pitchFamily="34" charset="0"/>
                <a:ea typeface="Arial" pitchFamily="34" charset="-122"/>
                <a:cs typeface="Arial" pitchFamily="34" charset="-120"/>
              </a:rPr>
              <a:t>Beeps when you close in too fast</a:t>
            </a:r>
            <a:endParaRPr lang="en-US" sz="1400" dirty="0"/>
          </a:p>
        </p:txBody>
      </p:sp>
      <p:sp>
        <p:nvSpPr>
          <p:cNvPr id="16" name="a1_b_157"/>
          <p:cNvSpPr/>
          <p:nvPr/>
        </p:nvSpPr>
        <p:spPr>
          <a:xfrm>
            <a:off x="5577840" y="2331720"/>
            <a:ext cx="6062472" cy="548640"/>
          </a:xfrm>
          <a:prstGeom prst="roundRect">
            <a:avLst>
              <a:gd name="adj" fmla="val 13333"/>
            </a:avLst>
          </a:prstGeom>
          <a:solidFill>
            <a:srgbClr val="FFFFFF"/>
          </a:solidFill>
          <a:ln w="12700">
            <a:solidFill>
              <a:srgbClr val="CBD5E1"/>
            </a:solidFill>
            <a:prstDash val="solid"/>
          </a:ln>
        </p:spPr>
      </p:sp>
      <p:sp>
        <p:nvSpPr>
          <p:cNvPr id="17" name="a1_c_158"/>
          <p:cNvSpPr/>
          <p:nvPr/>
        </p:nvSpPr>
        <p:spPr>
          <a:xfrm>
            <a:off x="5650992" y="2395728"/>
            <a:ext cx="420624" cy="420624"/>
          </a:xfrm>
          <a:prstGeom prst="ellipse">
            <a:avLst/>
          </a:prstGeom>
          <a:solidFill>
            <a:srgbClr val="0E7490"/>
          </a:solidFill>
          <a:ln/>
        </p:spPr>
      </p:sp>
      <p:pic>
        <p:nvPicPr>
          <p:cNvPr id="18" name="a1_i_159" descr="preencoded.png">    </p:cNvPr>
          <p:cNvPicPr>
            <a:picLocks noChangeAspect="1"/>
          </p:cNvPicPr>
          <p:nvPr/>
        </p:nvPicPr>
        <p:blipFill>
          <a:blip r:embed="rId3"/>
          <a:stretch>
            <a:fillRect/>
          </a:stretch>
        </p:blipFill>
        <p:spPr>
          <a:xfrm>
            <a:off x="5743529" y="2488265"/>
            <a:ext cx="235549" cy="235549"/>
          </a:xfrm>
          <a:prstGeom prst="rect">
            <a:avLst/>
          </a:prstGeom>
        </p:spPr>
      </p:pic>
      <p:sp>
        <p:nvSpPr>
          <p:cNvPr id="19" name="a1_t_160"/>
          <p:cNvSpPr txBox="1"/>
          <p:nvPr/>
        </p:nvSpPr>
        <p:spPr>
          <a:xfrm>
            <a:off x="6172200" y="2331720"/>
            <a:ext cx="5394960" cy="54864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Automatic Emergency Braking  </a:t>
            </a:r>
            <a:pPr indent="0" marL="0">
              <a:buNone/>
            </a:pPr>
            <a:r>
              <a:rPr lang="en-US" sz="1400" dirty="0">
                <a:solidFill>
                  <a:srgbClr val="475569"/>
                </a:solidFill>
                <a:latin typeface="Arial" pitchFamily="34" charset="0"/>
                <a:ea typeface="Arial" pitchFamily="34" charset="-122"/>
                <a:cs typeface="Arial" pitchFamily="34" charset="-120"/>
              </a:rPr>
              <a:t>Brakes by itself if a crash is imminent</a:t>
            </a:r>
            <a:endParaRPr lang="en-US" sz="1400" dirty="0"/>
          </a:p>
        </p:txBody>
      </p:sp>
      <p:sp>
        <p:nvSpPr>
          <p:cNvPr id="20" name="a1_b_161"/>
          <p:cNvSpPr/>
          <p:nvPr/>
        </p:nvSpPr>
        <p:spPr>
          <a:xfrm>
            <a:off x="5577840" y="2971800"/>
            <a:ext cx="6062472" cy="548640"/>
          </a:xfrm>
          <a:prstGeom prst="roundRect">
            <a:avLst>
              <a:gd name="adj" fmla="val 13333"/>
            </a:avLst>
          </a:prstGeom>
          <a:solidFill>
            <a:srgbClr val="FFFFFF"/>
          </a:solidFill>
          <a:ln w="12700">
            <a:solidFill>
              <a:srgbClr val="CBD5E1"/>
            </a:solidFill>
            <a:prstDash val="solid"/>
          </a:ln>
        </p:spPr>
      </p:sp>
      <p:sp>
        <p:nvSpPr>
          <p:cNvPr id="21" name="a1_c_162"/>
          <p:cNvSpPr/>
          <p:nvPr/>
        </p:nvSpPr>
        <p:spPr>
          <a:xfrm>
            <a:off x="5650992" y="3035808"/>
            <a:ext cx="420624" cy="420624"/>
          </a:xfrm>
          <a:prstGeom prst="ellipse">
            <a:avLst/>
          </a:prstGeom>
          <a:solidFill>
            <a:srgbClr val="0E7490"/>
          </a:solidFill>
          <a:ln/>
        </p:spPr>
      </p:sp>
      <p:pic>
        <p:nvPicPr>
          <p:cNvPr id="22" name="a1_i_163" descr="preencoded.png">    </p:cNvPr>
          <p:cNvPicPr>
            <a:picLocks noChangeAspect="1"/>
          </p:cNvPicPr>
          <p:nvPr/>
        </p:nvPicPr>
        <p:blipFill>
          <a:blip r:embed="rId4"/>
          <a:stretch>
            <a:fillRect/>
          </a:stretch>
        </p:blipFill>
        <p:spPr>
          <a:xfrm>
            <a:off x="5743529" y="3128345"/>
            <a:ext cx="235549" cy="235549"/>
          </a:xfrm>
          <a:prstGeom prst="rect">
            <a:avLst/>
          </a:prstGeom>
        </p:spPr>
      </p:pic>
      <p:sp>
        <p:nvSpPr>
          <p:cNvPr id="23" name="a1_t_164"/>
          <p:cNvSpPr txBox="1"/>
          <p:nvPr/>
        </p:nvSpPr>
        <p:spPr>
          <a:xfrm>
            <a:off x="6172200" y="2971800"/>
            <a:ext cx="5394960" cy="54864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Adaptive Cruise Control  </a:t>
            </a:r>
            <a:pPr indent="0" marL="0">
              <a:buNone/>
            </a:pPr>
            <a:r>
              <a:rPr lang="en-US" sz="1400" dirty="0">
                <a:solidFill>
                  <a:srgbClr val="475569"/>
                </a:solidFill>
                <a:latin typeface="Arial" pitchFamily="34" charset="0"/>
                <a:ea typeface="Arial" pitchFamily="34" charset="-122"/>
                <a:cs typeface="Arial" pitchFamily="34" charset="-120"/>
              </a:rPr>
              <a:t>Keeps a set speed and a set gap</a:t>
            </a:r>
            <a:endParaRPr lang="en-US" sz="1400" dirty="0"/>
          </a:p>
        </p:txBody>
      </p:sp>
      <p:sp>
        <p:nvSpPr>
          <p:cNvPr id="24" name="a2_b_165"/>
          <p:cNvSpPr/>
          <p:nvPr/>
        </p:nvSpPr>
        <p:spPr>
          <a:xfrm>
            <a:off x="5577840" y="3611880"/>
            <a:ext cx="6062472" cy="548640"/>
          </a:xfrm>
          <a:prstGeom prst="roundRect">
            <a:avLst>
              <a:gd name="adj" fmla="val 13333"/>
            </a:avLst>
          </a:prstGeom>
          <a:solidFill>
            <a:srgbClr val="FFFFFF"/>
          </a:solidFill>
          <a:ln w="12700">
            <a:solidFill>
              <a:srgbClr val="CBD5E1"/>
            </a:solidFill>
            <a:prstDash val="solid"/>
          </a:ln>
        </p:spPr>
      </p:sp>
      <p:sp>
        <p:nvSpPr>
          <p:cNvPr id="25" name="a2_c_166"/>
          <p:cNvSpPr/>
          <p:nvPr/>
        </p:nvSpPr>
        <p:spPr>
          <a:xfrm>
            <a:off x="5650992" y="3675888"/>
            <a:ext cx="420624" cy="420624"/>
          </a:xfrm>
          <a:prstGeom prst="ellipse">
            <a:avLst/>
          </a:prstGeom>
          <a:solidFill>
            <a:srgbClr val="0E7490"/>
          </a:solidFill>
          <a:ln/>
        </p:spPr>
      </p:sp>
      <p:pic>
        <p:nvPicPr>
          <p:cNvPr id="26" name="a2_i_167" descr="preencoded.png">    </p:cNvPr>
          <p:cNvPicPr>
            <a:picLocks noChangeAspect="1"/>
          </p:cNvPicPr>
          <p:nvPr/>
        </p:nvPicPr>
        <p:blipFill>
          <a:blip r:embed="rId5"/>
          <a:stretch>
            <a:fillRect/>
          </a:stretch>
        </p:blipFill>
        <p:spPr>
          <a:xfrm>
            <a:off x="5743529" y="3768425"/>
            <a:ext cx="235549" cy="235549"/>
          </a:xfrm>
          <a:prstGeom prst="rect">
            <a:avLst/>
          </a:prstGeom>
        </p:spPr>
      </p:pic>
      <p:sp>
        <p:nvSpPr>
          <p:cNvPr id="27" name="a2_t_168"/>
          <p:cNvSpPr txBox="1"/>
          <p:nvPr/>
        </p:nvSpPr>
        <p:spPr>
          <a:xfrm>
            <a:off x="6172200" y="3611880"/>
            <a:ext cx="5394960" cy="54864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Lane Departure Warning  </a:t>
            </a:r>
            <a:pPr indent="0" marL="0">
              <a:buNone/>
            </a:pPr>
            <a:r>
              <a:rPr lang="en-US" sz="1400" dirty="0">
                <a:solidFill>
                  <a:srgbClr val="475569"/>
                </a:solidFill>
                <a:latin typeface="Arial" pitchFamily="34" charset="0"/>
                <a:ea typeface="Arial" pitchFamily="34" charset="-122"/>
                <a:cs typeface="Arial" pitchFamily="34" charset="-120"/>
              </a:rPr>
              <a:t>Alerts you if you drift over the lines</a:t>
            </a:r>
            <a:endParaRPr lang="en-US" sz="1400" dirty="0"/>
          </a:p>
        </p:txBody>
      </p:sp>
      <p:sp>
        <p:nvSpPr>
          <p:cNvPr id="28" name="a2_b_169"/>
          <p:cNvSpPr/>
          <p:nvPr/>
        </p:nvSpPr>
        <p:spPr>
          <a:xfrm>
            <a:off x="5577840" y="4251960"/>
            <a:ext cx="6062472" cy="548640"/>
          </a:xfrm>
          <a:prstGeom prst="roundRect">
            <a:avLst>
              <a:gd name="adj" fmla="val 13333"/>
            </a:avLst>
          </a:prstGeom>
          <a:solidFill>
            <a:srgbClr val="FFFFFF"/>
          </a:solidFill>
          <a:ln w="12700">
            <a:solidFill>
              <a:srgbClr val="CBD5E1"/>
            </a:solidFill>
            <a:prstDash val="solid"/>
          </a:ln>
        </p:spPr>
      </p:sp>
      <p:sp>
        <p:nvSpPr>
          <p:cNvPr id="29" name="a2_c_170"/>
          <p:cNvSpPr/>
          <p:nvPr/>
        </p:nvSpPr>
        <p:spPr>
          <a:xfrm>
            <a:off x="5650992" y="4315968"/>
            <a:ext cx="420624" cy="420624"/>
          </a:xfrm>
          <a:prstGeom prst="ellipse">
            <a:avLst/>
          </a:prstGeom>
          <a:solidFill>
            <a:srgbClr val="0E7490"/>
          </a:solidFill>
          <a:ln/>
        </p:spPr>
      </p:sp>
      <p:pic>
        <p:nvPicPr>
          <p:cNvPr id="30" name="a2_i_171" descr="preencoded.png">    </p:cNvPr>
          <p:cNvPicPr>
            <a:picLocks noChangeAspect="1"/>
          </p:cNvPicPr>
          <p:nvPr/>
        </p:nvPicPr>
        <p:blipFill>
          <a:blip r:embed="rId6"/>
          <a:stretch>
            <a:fillRect/>
          </a:stretch>
        </p:blipFill>
        <p:spPr>
          <a:xfrm>
            <a:off x="5743529" y="4408505"/>
            <a:ext cx="235549" cy="235549"/>
          </a:xfrm>
          <a:prstGeom prst="rect">
            <a:avLst/>
          </a:prstGeom>
        </p:spPr>
      </p:pic>
      <p:sp>
        <p:nvSpPr>
          <p:cNvPr id="31" name="a2_t_172"/>
          <p:cNvSpPr txBox="1"/>
          <p:nvPr/>
        </p:nvSpPr>
        <p:spPr>
          <a:xfrm>
            <a:off x="6172200" y="4251960"/>
            <a:ext cx="5394960" cy="54864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Lane Keeping Assist  </a:t>
            </a:r>
            <a:pPr indent="0" marL="0">
              <a:buNone/>
            </a:pPr>
            <a:r>
              <a:rPr lang="en-US" sz="1400" dirty="0">
                <a:solidFill>
                  <a:srgbClr val="475569"/>
                </a:solidFill>
                <a:latin typeface="Arial" pitchFamily="34" charset="0"/>
                <a:ea typeface="Arial" pitchFamily="34" charset="-122"/>
                <a:cs typeface="Arial" pitchFamily="34" charset="-120"/>
              </a:rPr>
              <a:t>Gently steers you back into the lane</a:t>
            </a:r>
            <a:endParaRPr lang="en-US" sz="1400" dirty="0"/>
          </a:p>
        </p:txBody>
      </p:sp>
      <p:sp>
        <p:nvSpPr>
          <p:cNvPr id="32" name="a3_b_173"/>
          <p:cNvSpPr/>
          <p:nvPr/>
        </p:nvSpPr>
        <p:spPr>
          <a:xfrm>
            <a:off x="5577840" y="4892040"/>
            <a:ext cx="6062472" cy="548640"/>
          </a:xfrm>
          <a:prstGeom prst="roundRect">
            <a:avLst>
              <a:gd name="adj" fmla="val 13333"/>
            </a:avLst>
          </a:prstGeom>
          <a:solidFill>
            <a:srgbClr val="FFFFFF"/>
          </a:solidFill>
          <a:ln w="12700">
            <a:solidFill>
              <a:srgbClr val="CBD5E1"/>
            </a:solidFill>
            <a:prstDash val="solid"/>
          </a:ln>
        </p:spPr>
      </p:sp>
      <p:sp>
        <p:nvSpPr>
          <p:cNvPr id="33" name="a3_c_174"/>
          <p:cNvSpPr/>
          <p:nvPr/>
        </p:nvSpPr>
        <p:spPr>
          <a:xfrm>
            <a:off x="5650992" y="4956048"/>
            <a:ext cx="420624" cy="420624"/>
          </a:xfrm>
          <a:prstGeom prst="ellipse">
            <a:avLst/>
          </a:prstGeom>
          <a:solidFill>
            <a:srgbClr val="0E7490"/>
          </a:solidFill>
          <a:ln/>
        </p:spPr>
      </p:sp>
      <p:pic>
        <p:nvPicPr>
          <p:cNvPr id="34" name="a3_i_175" descr="preencoded.png">    </p:cNvPr>
          <p:cNvPicPr>
            <a:picLocks noChangeAspect="1"/>
          </p:cNvPicPr>
          <p:nvPr/>
        </p:nvPicPr>
        <p:blipFill>
          <a:blip r:embed="rId7"/>
          <a:stretch>
            <a:fillRect/>
          </a:stretch>
        </p:blipFill>
        <p:spPr>
          <a:xfrm>
            <a:off x="5743529" y="5048585"/>
            <a:ext cx="235549" cy="235549"/>
          </a:xfrm>
          <a:prstGeom prst="rect">
            <a:avLst/>
          </a:prstGeom>
        </p:spPr>
      </p:pic>
      <p:sp>
        <p:nvSpPr>
          <p:cNvPr id="35" name="a3_t_176"/>
          <p:cNvSpPr txBox="1"/>
          <p:nvPr/>
        </p:nvSpPr>
        <p:spPr>
          <a:xfrm>
            <a:off x="6172200" y="4892040"/>
            <a:ext cx="5394960" cy="54864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Blind Spot Monitoring  </a:t>
            </a:r>
            <a:pPr indent="0" marL="0">
              <a:buNone/>
            </a:pPr>
            <a:r>
              <a:rPr lang="en-US" sz="1400" dirty="0">
                <a:solidFill>
                  <a:srgbClr val="475569"/>
                </a:solidFill>
                <a:latin typeface="Arial" pitchFamily="34" charset="0"/>
                <a:ea typeface="Arial" pitchFamily="34" charset="-122"/>
                <a:cs typeface="Arial" pitchFamily="34" charset="-120"/>
              </a:rPr>
              <a:t>Light in the mirror when a car is alongside</a:t>
            </a:r>
            <a:endParaRPr lang="en-US" sz="1400" dirty="0"/>
          </a:p>
        </p:txBody>
      </p:sp>
      <p:sp>
        <p:nvSpPr>
          <p:cNvPr id="36" name="a3_b_177"/>
          <p:cNvSpPr/>
          <p:nvPr/>
        </p:nvSpPr>
        <p:spPr>
          <a:xfrm>
            <a:off x="5577840" y="5532120"/>
            <a:ext cx="6062472" cy="548640"/>
          </a:xfrm>
          <a:prstGeom prst="roundRect">
            <a:avLst>
              <a:gd name="adj" fmla="val 13333"/>
            </a:avLst>
          </a:prstGeom>
          <a:solidFill>
            <a:srgbClr val="FFFFFF"/>
          </a:solidFill>
          <a:ln w="12700">
            <a:solidFill>
              <a:srgbClr val="CBD5E1"/>
            </a:solidFill>
            <a:prstDash val="solid"/>
          </a:ln>
        </p:spPr>
      </p:sp>
      <p:sp>
        <p:nvSpPr>
          <p:cNvPr id="37" name="a3_c_178"/>
          <p:cNvSpPr/>
          <p:nvPr/>
        </p:nvSpPr>
        <p:spPr>
          <a:xfrm>
            <a:off x="5650992" y="5596128"/>
            <a:ext cx="420624" cy="420624"/>
          </a:xfrm>
          <a:prstGeom prst="ellipse">
            <a:avLst/>
          </a:prstGeom>
          <a:solidFill>
            <a:srgbClr val="0E7490"/>
          </a:solidFill>
          <a:ln/>
        </p:spPr>
      </p:sp>
      <p:pic>
        <p:nvPicPr>
          <p:cNvPr id="38" name="a3_i_179" descr="preencoded.png">    </p:cNvPr>
          <p:cNvPicPr>
            <a:picLocks noChangeAspect="1"/>
          </p:cNvPicPr>
          <p:nvPr/>
        </p:nvPicPr>
        <p:blipFill>
          <a:blip r:embed="rId8"/>
          <a:stretch>
            <a:fillRect/>
          </a:stretch>
        </p:blipFill>
        <p:spPr>
          <a:xfrm>
            <a:off x="5743529" y="5688665"/>
            <a:ext cx="235549" cy="235549"/>
          </a:xfrm>
          <a:prstGeom prst="rect">
            <a:avLst/>
          </a:prstGeom>
        </p:spPr>
      </p:pic>
      <p:sp>
        <p:nvSpPr>
          <p:cNvPr id="39" name="a3_t_180"/>
          <p:cNvSpPr txBox="1"/>
          <p:nvPr/>
        </p:nvSpPr>
        <p:spPr>
          <a:xfrm>
            <a:off x="6172200" y="5532120"/>
            <a:ext cx="5394960" cy="54864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Rear Cross Traffic Alert  </a:t>
            </a:r>
            <a:pPr indent="0" marL="0">
              <a:buNone/>
            </a:pPr>
            <a:r>
              <a:rPr lang="en-US" sz="1400" dirty="0">
                <a:solidFill>
                  <a:srgbClr val="475569"/>
                </a:solidFill>
                <a:latin typeface="Arial" pitchFamily="34" charset="0"/>
                <a:ea typeface="Arial" pitchFamily="34" charset="-122"/>
                <a:cs typeface="Arial" pitchFamily="34" charset="-120"/>
              </a:rPr>
              <a:t>Warns of traffic crossing as you reverse</a:t>
            </a:r>
            <a:endParaRPr lang="en-US" sz="1400" dirty="0"/>
          </a:p>
        </p:txBody>
      </p:sp>
      <p:sp>
        <p:nvSpPr>
          <p:cNvPr id="40"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6</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500"/>
                                        <p:tgtEl>
                                          <p:spTgt spid="12"/>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4"/>
                                        </p:tgtEl>
                                        <p:attrNameLst>
                                          <p:attrName>style.visibility</p:attrName>
                                        </p:attrNameLst>
                                      </p:cBhvr>
                                      <p:to>
                                        <p:strVal val="visible"/>
                                      </p:to>
                                    </p:set>
                                    <p:animEffect transition="in" filter="fade">
                                      <p:cBhvr>
                                        <p:cTn id="13" dur="500"/>
                                        <p:tgtEl>
                                          <p:spTgt spid="14"/>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5"/>
                                        </p:tgtEl>
                                        <p:attrNameLst>
                                          <p:attrName>style.visibility</p:attrName>
                                        </p:attrNameLst>
                                      </p:cBhvr>
                                      <p:to>
                                        <p:strVal val="visible"/>
                                      </p:to>
                                    </p:set>
                                    <p:animEffect transition="in" filter="fade">
                                      <p:cBhvr>
                                        <p:cTn id="16" dur="500"/>
                                        <p:tgtEl>
                                          <p:spTgt spid="15"/>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6"/>
                                        </p:tgtEl>
                                        <p:attrNameLst>
                                          <p:attrName>style.visibility</p:attrName>
                                        </p:attrNameLst>
                                      </p:cBhvr>
                                      <p:to>
                                        <p:strVal val="visible"/>
                                      </p:to>
                                    </p:set>
                                    <p:animEffect transition="in" filter="fade">
                                      <p:cBhvr>
                                        <p:cTn id="19" dur="500"/>
                                        <p:tgtEl>
                                          <p:spTgt spid="16"/>
                                        </p:tgtEl>
                                      </p:cBhvr>
                                    </p:animEffect>
                                  </p:childTnLst>
                                </p:cTn>
                              </p:par>
                              <p:par>
                                <p:cTn id="20" presetID="10" presetClass="entr" presetSubtype="0" fill="hold" grpId="0" nodeType="withEffect">
                                  <p:stCondLst>
                                    <p:cond delay="0"/>
                                  </p:stCondLst>
                                  <p:childTnLst>
                                    <p:set>
                                      <p:cBhvr>
                                        <p:cTn id="21" dur="1" fill="hold">
                                          <p:stCondLst>
                                            <p:cond delay="0"/>
                                          </p:stCondLst>
                                        </p:cTn>
                                        <p:tgtEl>
                                          <p:spTgt spid="17"/>
                                        </p:tgtEl>
                                        <p:attrNameLst>
                                          <p:attrName>style.visibility</p:attrName>
                                        </p:attrNameLst>
                                      </p:cBhvr>
                                      <p:to>
                                        <p:strVal val="visible"/>
                                      </p:to>
                                    </p:set>
                                    <p:animEffect transition="in" filter="fade">
                                      <p:cBhvr>
                                        <p:cTn id="22" dur="500"/>
                                        <p:tgtEl>
                                          <p:spTgt spid="17"/>
                                        </p:tgtEl>
                                      </p:cBhvr>
                                    </p:animEffect>
                                  </p:childTnLst>
                                </p:cTn>
                              </p:par>
                              <p:par>
                                <p:cTn id="23" presetID="10" presetClass="entr" presetSubtype="0" fill="hold" grpId="0" nodeType="withEffect">
                                  <p:stCondLst>
                                    <p:cond delay="0"/>
                                  </p:stCondLst>
                                  <p:childTnLst>
                                    <p:set>
                                      <p:cBhvr>
                                        <p:cTn id="24" dur="1" fill="hold">
                                          <p:stCondLst>
                                            <p:cond delay="0"/>
                                          </p:stCondLst>
                                        </p:cTn>
                                        <p:tgtEl>
                                          <p:spTgt spid="18"/>
                                        </p:tgtEl>
                                        <p:attrNameLst>
                                          <p:attrName>style.visibility</p:attrName>
                                        </p:attrNameLst>
                                      </p:cBhvr>
                                      <p:to>
                                        <p:strVal val="visible"/>
                                      </p:to>
                                    </p:set>
                                    <p:animEffect transition="in" filter="fade">
                                      <p:cBhvr>
                                        <p:cTn id="25" dur="500"/>
                                        <p:tgtEl>
                                          <p:spTgt spid="18"/>
                                        </p:tgtEl>
                                      </p:cBhvr>
                                    </p:animEffect>
                                  </p:childTnLst>
                                </p:cTn>
                              </p:par>
                              <p:par>
                                <p:cTn id="26" presetID="10" presetClass="entr" presetSubtype="0" fill="hold" grpId="0" nodeType="withEffect">
                                  <p:stCondLst>
                                    <p:cond delay="0"/>
                                  </p:stCondLst>
                                  <p:childTnLst>
                                    <p:set>
                                      <p:cBhvr>
                                        <p:cTn id="27" dur="1" fill="hold">
                                          <p:stCondLst>
                                            <p:cond delay="0"/>
                                          </p:stCondLst>
                                        </p:cTn>
                                        <p:tgtEl>
                                          <p:spTgt spid="19"/>
                                        </p:tgtEl>
                                        <p:attrNameLst>
                                          <p:attrName>style.visibility</p:attrName>
                                        </p:attrNameLst>
                                      </p:cBhvr>
                                      <p:to>
                                        <p:strVal val="visible"/>
                                      </p:to>
                                    </p:set>
                                    <p:animEffect transition="in" filter="fade">
                                      <p:cBhvr>
                                        <p:cTn id="28" dur="500"/>
                                        <p:tgtEl>
                                          <p:spTgt spid="19"/>
                                        </p:tgtEl>
                                      </p:cBhvr>
                                    </p:animEffect>
                                  </p:childTnLst>
                                </p:cTn>
                              </p:par>
                              <p:par>
                                <p:cTn id="29" presetID="10" presetClass="entr" presetSubtype="0" fill="hold" grpId="0" nodeType="with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par>
                                <p:cTn id="35" presetID="10" presetClass="entr" presetSubtype="0" fill="hold" grpId="0" nodeType="withEffect">
                                  <p:stCondLst>
                                    <p:cond delay="0"/>
                                  </p:stCondLst>
                                  <p:childTnLst>
                                    <p:set>
                                      <p:cBhvr>
                                        <p:cTn id="36" dur="1" fill="hold">
                                          <p:stCondLst>
                                            <p:cond delay="0"/>
                                          </p:stCondLst>
                                        </p:cTn>
                                        <p:tgtEl>
                                          <p:spTgt spid="22"/>
                                        </p:tgtEl>
                                        <p:attrNameLst>
                                          <p:attrName>style.visibility</p:attrName>
                                        </p:attrNameLst>
                                      </p:cBhvr>
                                      <p:to>
                                        <p:strVal val="visible"/>
                                      </p:to>
                                    </p:set>
                                    <p:animEffect transition="in" filter="fade">
                                      <p:cBhvr>
                                        <p:cTn id="37" dur="500"/>
                                        <p:tgtEl>
                                          <p:spTgt spid="22"/>
                                        </p:tgtEl>
                                      </p:cBhvr>
                                    </p:animEffect>
                                  </p:childTnLst>
                                </p:cTn>
                              </p:par>
                              <p:par>
                                <p:cTn id="38" presetID="10" presetClass="entr" presetSubtype="0" fill="hold" grpId="0" nodeType="withEffect">
                                  <p:stCondLst>
                                    <p:cond delay="0"/>
                                  </p:stCondLst>
                                  <p:childTnLst>
                                    <p:set>
                                      <p:cBhvr>
                                        <p:cTn id="39" dur="1" fill="hold">
                                          <p:stCondLst>
                                            <p:cond delay="0"/>
                                          </p:stCondLst>
                                        </p:cTn>
                                        <p:tgtEl>
                                          <p:spTgt spid="23"/>
                                        </p:tgtEl>
                                        <p:attrNameLst>
                                          <p:attrName>style.visibility</p:attrName>
                                        </p:attrNameLst>
                                      </p:cBhvr>
                                      <p:to>
                                        <p:strVal val="visible"/>
                                      </p:to>
                                    </p:set>
                                    <p:animEffect transition="in" filter="fade">
                                      <p:cBhvr>
                                        <p:cTn id="40" dur="500"/>
                                        <p:tgtEl>
                                          <p:spTgt spid="23"/>
                                        </p:tgtEl>
                                      </p:cBhvr>
                                    </p:animEffect>
                                  </p:childTnLst>
                                </p:cTn>
                              </p:par>
                            </p:childTnLst>
                          </p:cTn>
                        </p:par>
                      </p:childTnLst>
                    </p:cTn>
                  </p:par>
                  <p:par>
                    <p:cTn id="41" fill="hold">
                      <p:stCondLst>
                        <p:cond delay="indefinite"/>
                      </p:stCondLst>
                      <p:childTnLst>
                        <p:par>
                          <p:cTn id="42" fill="hold">
                            <p:stCondLst>
                              <p:cond delay="0"/>
                            </p:stCondLst>
                            <p:childTnLst>
                              <p:par>
                                <p:cTn id="43" presetID="10" presetClass="entr" presetSubtype="0" fill="hold" grpId="0" nodeType="click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childTnLst>
                          </p:cTn>
                        </p:par>
                      </p:childTnLst>
                    </p:cTn>
                  </p:par>
                  <p:par>
                    <p:cTn id="67" fill="hold">
                      <p:stCondLst>
                        <p:cond delay="indefinite"/>
                      </p:stCondLst>
                      <p:childTnLst>
                        <p:par>
                          <p:cTn id="68" fill="hold">
                            <p:stCondLst>
                              <p:cond delay="0"/>
                            </p:stCondLst>
                            <p:childTnLst>
                              <p:par>
                                <p:cTn id="69" presetID="10" presetClass="entr" presetSubtype="0" fill="hold" grpId="0" nodeType="clickEffect">
                                  <p:stCondLst>
                                    <p:cond delay="0"/>
                                  </p:stCondLst>
                                  <p:childTnLst>
                                    <p:set>
                                      <p:cBhvr>
                                        <p:cTn id="70" dur="1" fill="hold">
                                          <p:stCondLst>
                                            <p:cond delay="0"/>
                                          </p:stCondLst>
                                        </p:cTn>
                                        <p:tgtEl>
                                          <p:spTgt spid="32"/>
                                        </p:tgtEl>
                                        <p:attrNameLst>
                                          <p:attrName>style.visibility</p:attrName>
                                        </p:attrNameLst>
                                      </p:cBhvr>
                                      <p:to>
                                        <p:strVal val="visible"/>
                                      </p:to>
                                    </p:set>
                                    <p:animEffect transition="in" filter="fade">
                                      <p:cBhvr>
                                        <p:cTn id="71" dur="500"/>
                                        <p:tgtEl>
                                          <p:spTgt spid="32"/>
                                        </p:tgtEl>
                                      </p:cBhvr>
                                    </p:animEffect>
                                  </p:childTnLst>
                                </p:cTn>
                              </p:par>
                              <p:par>
                                <p:cTn id="72" presetID="10" presetClass="entr" presetSubtype="0" fill="hold" grpId="0" nodeType="withEffect">
                                  <p:stCondLst>
                                    <p:cond delay="0"/>
                                  </p:stCondLst>
                                  <p:childTnLst>
                                    <p:set>
                                      <p:cBhvr>
                                        <p:cTn id="73" dur="1" fill="hold">
                                          <p:stCondLst>
                                            <p:cond delay="0"/>
                                          </p:stCondLst>
                                        </p:cTn>
                                        <p:tgtEl>
                                          <p:spTgt spid="33"/>
                                        </p:tgtEl>
                                        <p:attrNameLst>
                                          <p:attrName>style.visibility</p:attrName>
                                        </p:attrNameLst>
                                      </p:cBhvr>
                                      <p:to>
                                        <p:strVal val="visible"/>
                                      </p:to>
                                    </p:set>
                                    <p:animEffect transition="in" filter="fade">
                                      <p:cBhvr>
                                        <p:cTn id="74" dur="500"/>
                                        <p:tgtEl>
                                          <p:spTgt spid="33"/>
                                        </p:tgtEl>
                                      </p:cBhvr>
                                    </p:animEffect>
                                  </p:childTnLst>
                                </p:cTn>
                              </p:par>
                              <p:par>
                                <p:cTn id="75" presetID="10" presetClass="entr" presetSubtype="0" fill="hold" grpId="0" nodeType="withEffect">
                                  <p:stCondLst>
                                    <p:cond delay="0"/>
                                  </p:stCondLst>
                                  <p:childTnLst>
                                    <p:set>
                                      <p:cBhvr>
                                        <p:cTn id="76" dur="1" fill="hold">
                                          <p:stCondLst>
                                            <p:cond delay="0"/>
                                          </p:stCondLst>
                                        </p:cTn>
                                        <p:tgtEl>
                                          <p:spTgt spid="34"/>
                                        </p:tgtEl>
                                        <p:attrNameLst>
                                          <p:attrName>style.visibility</p:attrName>
                                        </p:attrNameLst>
                                      </p:cBhvr>
                                      <p:to>
                                        <p:strVal val="visible"/>
                                      </p:to>
                                    </p:set>
                                    <p:animEffect transition="in" filter="fade">
                                      <p:cBhvr>
                                        <p:cTn id="77" dur="500"/>
                                        <p:tgtEl>
                                          <p:spTgt spid="34"/>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5"/>
                                        </p:tgtEl>
                                        <p:attrNameLst>
                                          <p:attrName>style.visibility</p:attrName>
                                        </p:attrNameLst>
                                      </p:cBhvr>
                                      <p:to>
                                        <p:strVal val="visible"/>
                                      </p:to>
                                    </p:set>
                                    <p:animEffect transition="in" filter="fade">
                                      <p:cBhvr>
                                        <p:cTn id="80" dur="500"/>
                                        <p:tgtEl>
                                          <p:spTgt spid="35"/>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6"/>
                                        </p:tgtEl>
                                        <p:attrNameLst>
                                          <p:attrName>style.visibility</p:attrName>
                                        </p:attrNameLst>
                                      </p:cBhvr>
                                      <p:to>
                                        <p:strVal val="visible"/>
                                      </p:to>
                                    </p:set>
                                    <p:animEffect transition="in" filter="fade">
                                      <p:cBhvr>
                                        <p:cTn id="83" dur="500"/>
                                        <p:tgtEl>
                                          <p:spTgt spid="36"/>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500"/>
                                        <p:tgtEl>
                                          <p:spTgt spid="3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500"/>
                                        <p:tgtEl>
                                          <p:spTgt spid="38"/>
                                        </p:tgtEl>
                                      </p:cBhvr>
                                    </p:animEffect>
                                  </p:childTnLst>
                                </p:cTn>
                              </p:par>
                              <p:par>
                                <p:cTn id="90" presetID="10" presetClass="entr" presetSubtype="0" fill="hold" grpId="0" nodeType="withEffect">
                                  <p:stCondLst>
                                    <p:cond delay="0"/>
                                  </p:stCondLst>
                                  <p:childTnLst>
                                    <p:set>
                                      <p:cBhvr>
                                        <p:cTn id="91" dur="1" fill="hold">
                                          <p:stCondLst>
                                            <p:cond delay="0"/>
                                          </p:stCondLst>
                                        </p:cTn>
                                        <p:tgtEl>
                                          <p:spTgt spid="39"/>
                                        </p:tgtEl>
                                        <p:attrNameLst>
                                          <p:attrName>style.visibility</p:attrName>
                                        </p:attrNameLst>
                                      </p:cBhvr>
                                      <p:to>
                                        <p:strVal val="visible"/>
                                      </p:to>
                                    </p:set>
                                    <p:animEffect transition="in" filter="fade">
                                      <p:cBhvr>
                                        <p:cTn id="92"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 grpId="0" animBg="1"/>
      <p:bldP spid="13" grpId="0" animBg="1"/>
      <p:bldP spid="15" grpId="0" animBg="1"/>
      <p:bldP spid="16" grpId="0" animBg="1"/>
      <p:bldP spid="17" grpId="0" animBg="1"/>
      <p:bldP spid="19" grpId="0" animBg="1"/>
      <p:bldP spid="20" grpId="0" animBg="1"/>
      <p:bldP spid="21" grpId="0" animBg="1"/>
      <p:bldP spid="23" grpId="0" animBg="1"/>
      <p:bldP spid="24" grpId="0" animBg="1"/>
      <p:bldP spid="25" grpId="0" animBg="1"/>
      <p:bldP spid="27" grpId="0" animBg="1"/>
      <p:bldP spid="28" grpId="0" animBg="1"/>
      <p:bldP spid="29" grpId="0" animBg="1"/>
      <p:bldP spid="31" grpId="0" animBg="1"/>
      <p:bldP spid="32" grpId="0" animBg="1"/>
      <p:bldP spid="33" grpId="0" animBg="1"/>
      <p:bldP spid="35" grpId="0" animBg="1"/>
      <p:bldP spid="36" grpId="0" animBg="1"/>
      <p:bldP spid="37" grpId="0" animBg="1"/>
      <p:bldP spid="39"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b_181"/>
          <p:cNvSpPr/>
          <p:nvPr/>
        </p:nvSpPr>
        <p:spPr>
          <a:xfrm>
            <a:off x="548640" y="274320"/>
            <a:ext cx="1876349" cy="292608"/>
          </a:xfrm>
          <a:prstGeom prst="roundRect">
            <a:avLst>
              <a:gd name="adj" fmla="val 50000"/>
            </a:avLst>
          </a:prstGeom>
          <a:solidFill>
            <a:srgbClr val="15803D"/>
          </a:solidFill>
          <a:ln/>
        </p:spPr>
      </p:sp>
      <p:sp>
        <p:nvSpPr>
          <p:cNvPr id="3" name="t_182"/>
          <p:cNvSpPr txBox="1"/>
          <p:nvPr/>
        </p:nvSpPr>
        <p:spPr>
          <a:xfrm>
            <a:off x="548640" y="274320"/>
            <a:ext cx="1876349"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PASSIVE SAFETY</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What Protects You in a Crash?</a:t>
            </a:r>
            <a:endParaRPr lang="en-US" sz="3000" dirty="0"/>
          </a:p>
        </p:txBody>
      </p:sp>
      <p:sp>
        <p:nvSpPr>
          <p:cNvPr id="5" name="t_183"/>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Soft ends, a strong middle, and restraints that work together</a:t>
            </a:r>
            <a:endParaRPr lang="en-US" sz="1800" dirty="0"/>
          </a:p>
        </p:txBody>
      </p:sp>
      <p:pic>
        <p:nvPicPr>
          <p:cNvPr id="6" name="p_184" descr="Car body showing front and rear crumple zones and the central safety zone">    </p:cNvPr>
          <p:cNvPicPr>
            <a:picLocks noChangeAspect="1"/>
          </p:cNvPicPr>
          <p:nvPr/>
        </p:nvPicPr>
        <p:blipFill>
          <a:blip r:embed="rId1"/>
          <a:stretch>
            <a:fillRect/>
          </a:stretch>
        </p:blipFill>
        <p:spPr>
          <a:xfrm>
            <a:off x="548640" y="1693835"/>
            <a:ext cx="6035040" cy="2848539"/>
          </a:xfrm>
          <a:prstGeom prst="rect">
            <a:avLst/>
          </a:prstGeom>
        </p:spPr>
      </p:pic>
      <p:sp>
        <p:nvSpPr>
          <p:cNvPr id="7" name="t_185"/>
          <p:cNvSpPr txBox="1"/>
          <p:nvPr/>
        </p:nvSpPr>
        <p:spPr>
          <a:xfrm>
            <a:off x="548640" y="4526280"/>
            <a:ext cx="6035040" cy="320040"/>
          </a:xfrm>
          <a:prstGeom prst="rect">
            <a:avLst/>
          </a:prstGeom>
          <a:noFill/>
          <a:ln/>
        </p:spPr>
        <p:txBody>
          <a:bodyPr wrap="square" lIns="508" tIns="508" rIns="508" bIns="508" rtlCol="0" anchor="t"/>
          <a:lstStyle/>
          <a:p>
            <a:pPr indent="0" marL="0">
              <a:buNone/>
            </a:pPr>
            <a:r>
              <a:rPr lang="en-US" sz="1300" i="1" dirty="0">
                <a:solidFill>
                  <a:srgbClr val="475569"/>
                </a:solidFill>
                <a:latin typeface="Arial" pitchFamily="34" charset="0"/>
                <a:ea typeface="Arial" pitchFamily="34" charset="-122"/>
                <a:cs typeface="Arial" pitchFamily="34" charset="-120"/>
              </a:rPr>
              <a:t>Crumple zones absorb crash energy; the safety cell keeps space around you</a:t>
            </a:r>
            <a:endParaRPr lang="en-US" sz="1300" dirty="0"/>
          </a:p>
        </p:txBody>
      </p:sp>
      <p:pic>
        <p:nvPicPr>
          <p:cNvPr id="8" name="p_186" descr="Crash-test dummy with deployed airbag">    </p:cNvPr>
          <p:cNvPicPr>
            <a:picLocks noChangeAspect="1"/>
          </p:cNvPicPr>
          <p:nvPr/>
        </p:nvPicPr>
        <p:blipFill>
          <a:blip r:embed="rId2"/>
          <a:srcRect l="0" r="0" t="3506" b="-3506"/>
          <a:stretch/>
        </p:blipFill>
        <p:spPr>
          <a:xfrm>
            <a:off x="548640" y="4919472"/>
            <a:ext cx="2194560" cy="1280160"/>
          </a:xfrm>
          <a:prstGeom prst="rect">
            <a:avLst/>
          </a:prstGeom>
        </p:spPr>
      </p:pic>
      <p:sp>
        <p:nvSpPr>
          <p:cNvPr id="9" name="b_187"/>
          <p:cNvSpPr/>
          <p:nvPr/>
        </p:nvSpPr>
        <p:spPr>
          <a:xfrm>
            <a:off x="2880360" y="4919472"/>
            <a:ext cx="3703320" cy="1280160"/>
          </a:xfrm>
          <a:prstGeom prst="roundRect">
            <a:avLst>
              <a:gd name="adj" fmla="val 5714"/>
            </a:avLst>
          </a:prstGeom>
          <a:solidFill>
            <a:srgbClr val="DCFCE7"/>
          </a:solidFill>
          <a:ln/>
        </p:spPr>
      </p:sp>
      <p:sp>
        <p:nvSpPr>
          <p:cNvPr id="10" name="t_188"/>
          <p:cNvSpPr txBox="1"/>
          <p:nvPr/>
        </p:nvSpPr>
        <p:spPr>
          <a:xfrm>
            <a:off x="3017520" y="4919472"/>
            <a:ext cx="3474720" cy="1280160"/>
          </a:xfrm>
          <a:prstGeom prst="rect">
            <a:avLst/>
          </a:prstGeom>
          <a:noFill/>
          <a:ln/>
        </p:spPr>
        <p:txBody>
          <a:bodyPr wrap="square" lIns="508" tIns="508" rIns="508" bIns="508" rtlCol="0" anchor="ctr"/>
          <a:lstStyle/>
          <a:p>
            <a:pPr indent="0" marL="0">
              <a:buNone/>
            </a:pPr>
            <a:r>
              <a:rPr lang="en-US" sz="1500" b="1" dirty="0">
                <a:solidFill>
                  <a:srgbClr val="0B1F3A"/>
                </a:solidFill>
                <a:latin typeface="Arial" pitchFamily="34" charset="0"/>
                <a:ea typeface="Arial" pitchFamily="34" charset="-122"/>
                <a:cs typeface="Arial" pitchFamily="34" charset="-120"/>
              </a:rPr>
              <a:t>Airbags work WITH seatbelts, </a:t>
            </a:r>
            <a:pPr indent="0" marL="0">
              <a:buNone/>
            </a:pPr>
            <a:r>
              <a:rPr lang="en-US" sz="1500" dirty="0">
                <a:solidFill>
                  <a:srgbClr val="0B1F3A"/>
                </a:solidFill>
                <a:latin typeface="Arial" pitchFamily="34" charset="0"/>
                <a:ea typeface="Arial" pitchFamily="34" charset="-122"/>
                <a:cs typeface="Arial" pitchFamily="34" charset="-120"/>
              </a:rPr>
              <a:t>not instead of them. Hold the wheel at 9 and 3.</a:t>
            </a:r>
            <a:endParaRPr lang="en-US" sz="1500" dirty="0"/>
          </a:p>
        </p:txBody>
      </p:sp>
      <p:sp>
        <p:nvSpPr>
          <p:cNvPr id="11" name="a1_b_189"/>
          <p:cNvSpPr/>
          <p:nvPr/>
        </p:nvSpPr>
        <p:spPr>
          <a:xfrm>
            <a:off x="6858000" y="1691640"/>
            <a:ext cx="4782312" cy="658368"/>
          </a:xfrm>
          <a:prstGeom prst="roundRect">
            <a:avLst>
              <a:gd name="adj" fmla="val 11111"/>
            </a:avLst>
          </a:prstGeom>
          <a:solidFill>
            <a:srgbClr val="FFFFFF"/>
          </a:solidFill>
          <a:ln w="12700">
            <a:solidFill>
              <a:srgbClr val="CBD5E1"/>
            </a:solidFill>
            <a:prstDash val="solid"/>
          </a:ln>
        </p:spPr>
      </p:sp>
      <p:sp>
        <p:nvSpPr>
          <p:cNvPr id="12" name="a1_c_190"/>
          <p:cNvSpPr/>
          <p:nvPr/>
        </p:nvSpPr>
        <p:spPr>
          <a:xfrm>
            <a:off x="6931152" y="1783080"/>
            <a:ext cx="475488" cy="475488"/>
          </a:xfrm>
          <a:prstGeom prst="ellipse">
            <a:avLst/>
          </a:prstGeom>
          <a:solidFill>
            <a:srgbClr val="15803D"/>
          </a:solidFill>
          <a:ln/>
        </p:spPr>
      </p:sp>
      <p:pic>
        <p:nvPicPr>
          <p:cNvPr id="13" name="a1_i_191" descr="preencoded.png">    </p:cNvPr>
          <p:cNvPicPr>
            <a:picLocks noChangeAspect="1"/>
          </p:cNvPicPr>
          <p:nvPr/>
        </p:nvPicPr>
        <p:blipFill>
          <a:blip r:embed="rId3"/>
          <a:stretch>
            <a:fillRect/>
          </a:stretch>
        </p:blipFill>
        <p:spPr>
          <a:xfrm>
            <a:off x="7035759" y="1887687"/>
            <a:ext cx="266273" cy="266273"/>
          </a:xfrm>
          <a:prstGeom prst="rect">
            <a:avLst/>
          </a:prstGeom>
        </p:spPr>
      </p:pic>
      <p:sp>
        <p:nvSpPr>
          <p:cNvPr id="14" name="a1_t_192"/>
          <p:cNvSpPr txBox="1"/>
          <p:nvPr/>
        </p:nvSpPr>
        <p:spPr>
          <a:xfrm>
            <a:off x="7498080" y="1691640"/>
            <a:ext cx="4069080" cy="658368"/>
          </a:xfrm>
          <a:prstGeom prst="rect">
            <a:avLst/>
          </a:prstGeom>
          <a:noFill/>
          <a:ln/>
        </p:spPr>
        <p:txBody>
          <a:bodyPr wrap="square" lIns="508" tIns="508" rIns="508" bIns="508" rtlCol="0" anchor="ctr"/>
          <a:lstStyle/>
          <a:p>
            <a:pPr indent="0" marL="0">
              <a:buNone/>
            </a:pPr>
            <a:r>
              <a:rPr lang="en-US" sz="1500" b="1" dirty="0">
                <a:solidFill>
                  <a:srgbClr val="0B1F3A"/>
                </a:solidFill>
                <a:latin typeface="Arial" pitchFamily="34" charset="0"/>
                <a:ea typeface="Arial" pitchFamily="34" charset="-122"/>
                <a:cs typeface="Arial" pitchFamily="34" charset="-120"/>
              </a:rPr>
              <a:t>Airbags (front, side, curtain)</a:t>
            </a:r>
            <a:endParaRPr lang="en-US" sz="1500" dirty="0"/>
          </a:p>
          <a:p>
            <a:pPr indent="0" marL="0">
              <a:buNone/>
            </a:pPr>
            <a:r>
              <a:rPr lang="en-US" sz="1300" dirty="0">
                <a:solidFill>
                  <a:srgbClr val="475569"/>
                </a:solidFill>
                <a:latin typeface="Arial" pitchFamily="34" charset="0"/>
                <a:ea typeface="Arial" pitchFamily="34" charset="-122"/>
                <a:cs typeface="Arial" pitchFamily="34" charset="-120"/>
              </a:rPr>
              <a:t>Cushion you in certain crashes</a:t>
            </a:r>
            <a:endParaRPr lang="en-US" sz="1500" dirty="0"/>
          </a:p>
        </p:txBody>
      </p:sp>
      <p:sp>
        <p:nvSpPr>
          <p:cNvPr id="15" name="a2_b_193"/>
          <p:cNvSpPr/>
          <p:nvPr/>
        </p:nvSpPr>
        <p:spPr>
          <a:xfrm>
            <a:off x="6858000" y="2450592"/>
            <a:ext cx="4782312" cy="658368"/>
          </a:xfrm>
          <a:prstGeom prst="roundRect">
            <a:avLst>
              <a:gd name="adj" fmla="val 11111"/>
            </a:avLst>
          </a:prstGeom>
          <a:solidFill>
            <a:srgbClr val="FFFFFF"/>
          </a:solidFill>
          <a:ln w="12700">
            <a:solidFill>
              <a:srgbClr val="CBD5E1"/>
            </a:solidFill>
            <a:prstDash val="solid"/>
          </a:ln>
        </p:spPr>
      </p:sp>
      <p:sp>
        <p:nvSpPr>
          <p:cNvPr id="16" name="a2_c_194"/>
          <p:cNvSpPr/>
          <p:nvPr/>
        </p:nvSpPr>
        <p:spPr>
          <a:xfrm>
            <a:off x="6931152" y="2542032"/>
            <a:ext cx="475488" cy="475488"/>
          </a:xfrm>
          <a:prstGeom prst="ellipse">
            <a:avLst/>
          </a:prstGeom>
          <a:solidFill>
            <a:srgbClr val="15803D"/>
          </a:solidFill>
          <a:ln/>
        </p:spPr>
      </p:sp>
      <p:pic>
        <p:nvPicPr>
          <p:cNvPr id="17" name="a2_i_195" descr="preencoded.png">    </p:cNvPr>
          <p:cNvPicPr>
            <a:picLocks noChangeAspect="1"/>
          </p:cNvPicPr>
          <p:nvPr/>
        </p:nvPicPr>
        <p:blipFill>
          <a:blip r:embed="rId4"/>
          <a:stretch>
            <a:fillRect/>
          </a:stretch>
        </p:blipFill>
        <p:spPr>
          <a:xfrm>
            <a:off x="7035759" y="2646639"/>
            <a:ext cx="266273" cy="266273"/>
          </a:xfrm>
          <a:prstGeom prst="rect">
            <a:avLst/>
          </a:prstGeom>
        </p:spPr>
      </p:pic>
      <p:sp>
        <p:nvSpPr>
          <p:cNvPr id="18" name="a2_t_196"/>
          <p:cNvSpPr txBox="1"/>
          <p:nvPr/>
        </p:nvSpPr>
        <p:spPr>
          <a:xfrm>
            <a:off x="7498080" y="2450592"/>
            <a:ext cx="4069080" cy="658368"/>
          </a:xfrm>
          <a:prstGeom prst="rect">
            <a:avLst/>
          </a:prstGeom>
          <a:noFill/>
          <a:ln/>
        </p:spPr>
        <p:txBody>
          <a:bodyPr wrap="square" lIns="508" tIns="508" rIns="508" bIns="508" rtlCol="0" anchor="ctr"/>
          <a:lstStyle/>
          <a:p>
            <a:pPr indent="0" marL="0">
              <a:buNone/>
            </a:pPr>
            <a:r>
              <a:rPr lang="en-US" sz="1500" b="1" dirty="0">
                <a:solidFill>
                  <a:srgbClr val="0B1F3A"/>
                </a:solidFill>
                <a:latin typeface="Arial" pitchFamily="34" charset="0"/>
                <a:ea typeface="Arial" pitchFamily="34" charset="-122"/>
                <a:cs typeface="Arial" pitchFamily="34" charset="-120"/>
              </a:rPr>
              <a:t>Seatbelts</a:t>
            </a:r>
            <a:endParaRPr lang="en-US" sz="1500" dirty="0"/>
          </a:p>
          <a:p>
            <a:pPr indent="0" marL="0">
              <a:buNone/>
            </a:pPr>
            <a:r>
              <a:rPr lang="en-US" sz="1300" dirty="0">
                <a:solidFill>
                  <a:srgbClr val="475569"/>
                </a:solidFill>
                <a:latin typeface="Arial" pitchFamily="34" charset="0"/>
                <a:ea typeface="Arial" pitchFamily="34" charset="-122"/>
                <a:cs typeface="Arial" pitchFamily="34" charset="-120"/>
              </a:rPr>
              <a:t>Hold you in place and spread the forces</a:t>
            </a:r>
            <a:endParaRPr lang="en-US" sz="1500" dirty="0"/>
          </a:p>
        </p:txBody>
      </p:sp>
      <p:sp>
        <p:nvSpPr>
          <p:cNvPr id="19" name="a3_b_197"/>
          <p:cNvSpPr/>
          <p:nvPr/>
        </p:nvSpPr>
        <p:spPr>
          <a:xfrm>
            <a:off x="6858000" y="3209544"/>
            <a:ext cx="4782312" cy="658368"/>
          </a:xfrm>
          <a:prstGeom prst="roundRect">
            <a:avLst>
              <a:gd name="adj" fmla="val 11111"/>
            </a:avLst>
          </a:prstGeom>
          <a:solidFill>
            <a:srgbClr val="FFFFFF"/>
          </a:solidFill>
          <a:ln w="12700">
            <a:solidFill>
              <a:srgbClr val="CBD5E1"/>
            </a:solidFill>
            <a:prstDash val="solid"/>
          </a:ln>
        </p:spPr>
      </p:sp>
      <p:sp>
        <p:nvSpPr>
          <p:cNvPr id="20" name="a3_c_198"/>
          <p:cNvSpPr/>
          <p:nvPr/>
        </p:nvSpPr>
        <p:spPr>
          <a:xfrm>
            <a:off x="6931152" y="3300984"/>
            <a:ext cx="475488" cy="475488"/>
          </a:xfrm>
          <a:prstGeom prst="ellipse">
            <a:avLst/>
          </a:prstGeom>
          <a:solidFill>
            <a:srgbClr val="15803D"/>
          </a:solidFill>
          <a:ln/>
        </p:spPr>
      </p:sp>
      <p:pic>
        <p:nvPicPr>
          <p:cNvPr id="21" name="a3_i_199" descr="preencoded.png">    </p:cNvPr>
          <p:cNvPicPr>
            <a:picLocks noChangeAspect="1"/>
          </p:cNvPicPr>
          <p:nvPr/>
        </p:nvPicPr>
        <p:blipFill>
          <a:blip r:embed="rId5"/>
          <a:stretch>
            <a:fillRect/>
          </a:stretch>
        </p:blipFill>
        <p:spPr>
          <a:xfrm>
            <a:off x="7035759" y="3405591"/>
            <a:ext cx="266273" cy="266273"/>
          </a:xfrm>
          <a:prstGeom prst="rect">
            <a:avLst/>
          </a:prstGeom>
        </p:spPr>
      </p:pic>
      <p:sp>
        <p:nvSpPr>
          <p:cNvPr id="22" name="a3_t_200"/>
          <p:cNvSpPr txBox="1"/>
          <p:nvPr/>
        </p:nvSpPr>
        <p:spPr>
          <a:xfrm>
            <a:off x="7498080" y="3209544"/>
            <a:ext cx="4069080" cy="658368"/>
          </a:xfrm>
          <a:prstGeom prst="rect">
            <a:avLst/>
          </a:prstGeom>
          <a:noFill/>
          <a:ln/>
        </p:spPr>
        <p:txBody>
          <a:bodyPr wrap="square" lIns="508" tIns="508" rIns="508" bIns="508" rtlCol="0" anchor="ctr"/>
          <a:lstStyle/>
          <a:p>
            <a:pPr indent="0" marL="0">
              <a:buNone/>
            </a:pPr>
            <a:r>
              <a:rPr lang="en-US" sz="1500" b="1" dirty="0">
                <a:solidFill>
                  <a:srgbClr val="0B1F3A"/>
                </a:solidFill>
                <a:latin typeface="Arial" pitchFamily="34" charset="0"/>
                <a:ea typeface="Arial" pitchFamily="34" charset="-122"/>
                <a:cs typeface="Arial" pitchFamily="34" charset="-120"/>
              </a:rPr>
              <a:t>Pretensioners</a:t>
            </a:r>
            <a:endParaRPr lang="en-US" sz="1500" dirty="0"/>
          </a:p>
          <a:p>
            <a:pPr indent="0" marL="0">
              <a:buNone/>
            </a:pPr>
            <a:r>
              <a:rPr lang="en-US" sz="1300" dirty="0">
                <a:solidFill>
                  <a:srgbClr val="475569"/>
                </a:solidFill>
                <a:latin typeface="Arial" pitchFamily="34" charset="0"/>
                <a:ea typeface="Arial" pitchFamily="34" charset="-122"/>
                <a:cs typeface="Arial" pitchFamily="34" charset="-120"/>
              </a:rPr>
              <a:t>Pull the belt tight as the crash begins</a:t>
            </a:r>
            <a:endParaRPr lang="en-US" sz="1500" dirty="0"/>
          </a:p>
        </p:txBody>
      </p:sp>
      <p:sp>
        <p:nvSpPr>
          <p:cNvPr id="23" name="a4_b_201"/>
          <p:cNvSpPr/>
          <p:nvPr/>
        </p:nvSpPr>
        <p:spPr>
          <a:xfrm>
            <a:off x="6858000" y="3968496"/>
            <a:ext cx="4782312" cy="658368"/>
          </a:xfrm>
          <a:prstGeom prst="roundRect">
            <a:avLst>
              <a:gd name="adj" fmla="val 11111"/>
            </a:avLst>
          </a:prstGeom>
          <a:solidFill>
            <a:srgbClr val="FFFFFF"/>
          </a:solidFill>
          <a:ln w="12700">
            <a:solidFill>
              <a:srgbClr val="CBD5E1"/>
            </a:solidFill>
            <a:prstDash val="solid"/>
          </a:ln>
        </p:spPr>
      </p:sp>
      <p:sp>
        <p:nvSpPr>
          <p:cNvPr id="24" name="a4_c_202"/>
          <p:cNvSpPr/>
          <p:nvPr/>
        </p:nvSpPr>
        <p:spPr>
          <a:xfrm>
            <a:off x="6931152" y="4059936"/>
            <a:ext cx="475488" cy="475488"/>
          </a:xfrm>
          <a:prstGeom prst="ellipse">
            <a:avLst/>
          </a:prstGeom>
          <a:solidFill>
            <a:srgbClr val="15803D"/>
          </a:solidFill>
          <a:ln/>
        </p:spPr>
      </p:sp>
      <p:pic>
        <p:nvPicPr>
          <p:cNvPr id="25" name="a4_i_203" descr="preencoded.png">    </p:cNvPr>
          <p:cNvPicPr>
            <a:picLocks noChangeAspect="1"/>
          </p:cNvPicPr>
          <p:nvPr/>
        </p:nvPicPr>
        <p:blipFill>
          <a:blip r:embed="rId6"/>
          <a:stretch>
            <a:fillRect/>
          </a:stretch>
        </p:blipFill>
        <p:spPr>
          <a:xfrm>
            <a:off x="7035759" y="4164543"/>
            <a:ext cx="266273" cy="266273"/>
          </a:xfrm>
          <a:prstGeom prst="rect">
            <a:avLst/>
          </a:prstGeom>
        </p:spPr>
      </p:pic>
      <p:sp>
        <p:nvSpPr>
          <p:cNvPr id="26" name="a4_t_204"/>
          <p:cNvSpPr txBox="1"/>
          <p:nvPr/>
        </p:nvSpPr>
        <p:spPr>
          <a:xfrm>
            <a:off x="7498080" y="3968496"/>
            <a:ext cx="4069080" cy="658368"/>
          </a:xfrm>
          <a:prstGeom prst="rect">
            <a:avLst/>
          </a:prstGeom>
          <a:noFill/>
          <a:ln/>
        </p:spPr>
        <p:txBody>
          <a:bodyPr wrap="square" lIns="508" tIns="508" rIns="508" bIns="508" rtlCol="0" anchor="ctr"/>
          <a:lstStyle/>
          <a:p>
            <a:pPr indent="0" marL="0">
              <a:buNone/>
            </a:pPr>
            <a:r>
              <a:rPr lang="en-US" sz="1500" b="1" dirty="0">
                <a:solidFill>
                  <a:srgbClr val="0B1F3A"/>
                </a:solidFill>
                <a:latin typeface="Arial" pitchFamily="34" charset="0"/>
                <a:ea typeface="Arial" pitchFamily="34" charset="-122"/>
                <a:cs typeface="Arial" pitchFamily="34" charset="-120"/>
              </a:rPr>
              <a:t>Load limiters</a:t>
            </a:r>
            <a:endParaRPr lang="en-US" sz="1500" dirty="0"/>
          </a:p>
          <a:p>
            <a:pPr indent="0" marL="0">
              <a:buNone/>
            </a:pPr>
            <a:r>
              <a:rPr lang="en-US" sz="1300" dirty="0">
                <a:solidFill>
                  <a:srgbClr val="475569"/>
                </a:solidFill>
                <a:latin typeface="Arial" pitchFamily="34" charset="0"/>
                <a:ea typeface="Arial" pitchFamily="34" charset="-122"/>
                <a:cs typeface="Arial" pitchFamily="34" charset="-120"/>
              </a:rPr>
              <a:t>Let the belt give a little to protect the chest</a:t>
            </a:r>
            <a:endParaRPr lang="en-US" sz="1500" dirty="0"/>
          </a:p>
        </p:txBody>
      </p:sp>
      <p:sp>
        <p:nvSpPr>
          <p:cNvPr id="27" name="a5_b_205"/>
          <p:cNvSpPr/>
          <p:nvPr/>
        </p:nvSpPr>
        <p:spPr>
          <a:xfrm>
            <a:off x="6858000" y="4727448"/>
            <a:ext cx="4782312" cy="658368"/>
          </a:xfrm>
          <a:prstGeom prst="roundRect">
            <a:avLst>
              <a:gd name="adj" fmla="val 11111"/>
            </a:avLst>
          </a:prstGeom>
          <a:solidFill>
            <a:srgbClr val="FFFFFF"/>
          </a:solidFill>
          <a:ln w="12700">
            <a:solidFill>
              <a:srgbClr val="CBD5E1"/>
            </a:solidFill>
            <a:prstDash val="solid"/>
          </a:ln>
        </p:spPr>
      </p:sp>
      <p:sp>
        <p:nvSpPr>
          <p:cNvPr id="28" name="a5_c_206"/>
          <p:cNvSpPr/>
          <p:nvPr/>
        </p:nvSpPr>
        <p:spPr>
          <a:xfrm>
            <a:off x="6931152" y="4818888"/>
            <a:ext cx="475488" cy="475488"/>
          </a:xfrm>
          <a:prstGeom prst="ellipse">
            <a:avLst/>
          </a:prstGeom>
          <a:solidFill>
            <a:srgbClr val="15803D"/>
          </a:solidFill>
          <a:ln/>
        </p:spPr>
      </p:sp>
      <p:pic>
        <p:nvPicPr>
          <p:cNvPr id="29" name="a5_i_207" descr="preencoded.png">    </p:cNvPr>
          <p:cNvPicPr>
            <a:picLocks noChangeAspect="1"/>
          </p:cNvPicPr>
          <p:nvPr/>
        </p:nvPicPr>
        <p:blipFill>
          <a:blip r:embed="rId7"/>
          <a:stretch>
            <a:fillRect/>
          </a:stretch>
        </p:blipFill>
        <p:spPr>
          <a:xfrm>
            <a:off x="7035759" y="4923495"/>
            <a:ext cx="266273" cy="266273"/>
          </a:xfrm>
          <a:prstGeom prst="rect">
            <a:avLst/>
          </a:prstGeom>
        </p:spPr>
      </p:pic>
      <p:sp>
        <p:nvSpPr>
          <p:cNvPr id="30" name="a5_t_208"/>
          <p:cNvSpPr txBox="1"/>
          <p:nvPr/>
        </p:nvSpPr>
        <p:spPr>
          <a:xfrm>
            <a:off x="7498080" y="4727448"/>
            <a:ext cx="4069080" cy="658368"/>
          </a:xfrm>
          <a:prstGeom prst="rect">
            <a:avLst/>
          </a:prstGeom>
          <a:noFill/>
          <a:ln/>
        </p:spPr>
        <p:txBody>
          <a:bodyPr wrap="square" lIns="508" tIns="508" rIns="508" bIns="508" rtlCol="0" anchor="ctr"/>
          <a:lstStyle/>
          <a:p>
            <a:pPr indent="0" marL="0">
              <a:buNone/>
            </a:pPr>
            <a:r>
              <a:rPr lang="en-US" sz="1500" b="1" dirty="0">
                <a:solidFill>
                  <a:srgbClr val="0B1F3A"/>
                </a:solidFill>
                <a:latin typeface="Arial" pitchFamily="34" charset="0"/>
                <a:ea typeface="Arial" pitchFamily="34" charset="-122"/>
                <a:cs typeface="Arial" pitchFamily="34" charset="-120"/>
              </a:rPr>
              <a:t>ISOFIX anchors</a:t>
            </a:r>
            <a:endParaRPr lang="en-US" sz="1500" dirty="0"/>
          </a:p>
          <a:p>
            <a:pPr indent="0" marL="0">
              <a:buNone/>
            </a:pPr>
            <a:r>
              <a:rPr lang="en-US" sz="1300" dirty="0">
                <a:solidFill>
                  <a:srgbClr val="475569"/>
                </a:solidFill>
                <a:latin typeface="Arial" pitchFamily="34" charset="0"/>
                <a:ea typeface="Arial" pitchFamily="34" charset="-122"/>
                <a:cs typeface="Arial" pitchFamily="34" charset="-120"/>
              </a:rPr>
              <a:t>Click-in mounting for child seats</a:t>
            </a:r>
            <a:endParaRPr lang="en-US" sz="1500" dirty="0"/>
          </a:p>
        </p:txBody>
      </p:sp>
      <p:sp>
        <p:nvSpPr>
          <p:cNvPr id="31" name="a6_b_209"/>
          <p:cNvSpPr/>
          <p:nvPr/>
        </p:nvSpPr>
        <p:spPr>
          <a:xfrm>
            <a:off x="6858000" y="5486400"/>
            <a:ext cx="4782312" cy="658368"/>
          </a:xfrm>
          <a:prstGeom prst="roundRect">
            <a:avLst>
              <a:gd name="adj" fmla="val 11111"/>
            </a:avLst>
          </a:prstGeom>
          <a:solidFill>
            <a:srgbClr val="FFFFFF"/>
          </a:solidFill>
          <a:ln w="12700">
            <a:solidFill>
              <a:srgbClr val="CBD5E1"/>
            </a:solidFill>
            <a:prstDash val="solid"/>
          </a:ln>
        </p:spPr>
      </p:sp>
      <p:sp>
        <p:nvSpPr>
          <p:cNvPr id="32" name="a6_c_210"/>
          <p:cNvSpPr/>
          <p:nvPr/>
        </p:nvSpPr>
        <p:spPr>
          <a:xfrm>
            <a:off x="6931152" y="5577840"/>
            <a:ext cx="475488" cy="475488"/>
          </a:xfrm>
          <a:prstGeom prst="ellipse">
            <a:avLst/>
          </a:prstGeom>
          <a:solidFill>
            <a:srgbClr val="15803D"/>
          </a:solidFill>
          <a:ln/>
        </p:spPr>
      </p:sp>
      <p:pic>
        <p:nvPicPr>
          <p:cNvPr id="33" name="a6_i_211" descr="preencoded.png">    </p:cNvPr>
          <p:cNvPicPr>
            <a:picLocks noChangeAspect="1"/>
          </p:cNvPicPr>
          <p:nvPr/>
        </p:nvPicPr>
        <p:blipFill>
          <a:blip r:embed="rId8"/>
          <a:stretch>
            <a:fillRect/>
          </a:stretch>
        </p:blipFill>
        <p:spPr>
          <a:xfrm>
            <a:off x="7035759" y="5682447"/>
            <a:ext cx="266273" cy="266273"/>
          </a:xfrm>
          <a:prstGeom prst="rect">
            <a:avLst/>
          </a:prstGeom>
        </p:spPr>
      </p:pic>
      <p:sp>
        <p:nvSpPr>
          <p:cNvPr id="34" name="a6_t_212"/>
          <p:cNvSpPr txBox="1"/>
          <p:nvPr/>
        </p:nvSpPr>
        <p:spPr>
          <a:xfrm>
            <a:off x="7498080" y="5486400"/>
            <a:ext cx="4069080" cy="658368"/>
          </a:xfrm>
          <a:prstGeom prst="rect">
            <a:avLst/>
          </a:prstGeom>
          <a:noFill/>
          <a:ln/>
        </p:spPr>
        <p:txBody>
          <a:bodyPr wrap="square" lIns="508" tIns="508" rIns="508" bIns="508" rtlCol="0" anchor="ctr"/>
          <a:lstStyle/>
          <a:p>
            <a:pPr indent="0" marL="0">
              <a:buNone/>
            </a:pPr>
            <a:r>
              <a:rPr lang="en-US" sz="1500" b="1" dirty="0">
                <a:solidFill>
                  <a:srgbClr val="0B1F3A"/>
                </a:solidFill>
                <a:latin typeface="Arial" pitchFamily="34" charset="0"/>
                <a:ea typeface="Arial" pitchFamily="34" charset="-122"/>
                <a:cs typeface="Arial" pitchFamily="34" charset="-120"/>
              </a:rPr>
              <a:t>Crumple zones + safety cell</a:t>
            </a:r>
            <a:endParaRPr lang="en-US" sz="1500" dirty="0"/>
          </a:p>
          <a:p>
            <a:pPr indent="0" marL="0">
              <a:buNone/>
            </a:pPr>
            <a:r>
              <a:rPr lang="en-US" sz="1300" dirty="0">
                <a:solidFill>
                  <a:srgbClr val="475569"/>
                </a:solidFill>
                <a:latin typeface="Arial" pitchFamily="34" charset="0"/>
                <a:ea typeface="Arial" pitchFamily="34" charset="-122"/>
                <a:cs typeface="Arial" pitchFamily="34" charset="-120"/>
              </a:rPr>
              <a:t>Built into the body of every modern car</a:t>
            </a:r>
            <a:endParaRPr lang="en-US" sz="1500" dirty="0"/>
          </a:p>
        </p:txBody>
      </p:sp>
      <p:sp>
        <p:nvSpPr>
          <p:cNvPr id="35"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7</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11"/>
                                        </p:tgtEl>
                                        <p:attrNameLst>
                                          <p:attrName>style.visibility</p:attrName>
                                        </p:attrNameLst>
                                      </p:cBhvr>
                                      <p:to>
                                        <p:strVal val="visible"/>
                                      </p:to>
                                    </p:set>
                                    <p:animEffect transition="in" filter="fade">
                                      <p:cBhvr>
                                        <p:cTn id="7" dur="500"/>
                                        <p:tgtEl>
                                          <p:spTgt spid="11"/>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500"/>
                                        <p:tgtEl>
                                          <p:spTgt spid="12"/>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13"/>
                                        </p:tgtEl>
                                        <p:attrNameLst>
                                          <p:attrName>style.visibility</p:attrName>
                                        </p:attrNameLst>
                                      </p:cBhvr>
                                      <p:to>
                                        <p:strVal val="visible"/>
                                      </p:to>
                                    </p:set>
                                    <p:animEffect transition="in" filter="fade">
                                      <p:cBhvr>
                                        <p:cTn id="13" dur="500"/>
                                        <p:tgtEl>
                                          <p:spTgt spid="13"/>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4"/>
                                        </p:tgtEl>
                                        <p:attrNameLst>
                                          <p:attrName>style.visibility</p:attrName>
                                        </p:attrNameLst>
                                      </p:cBhvr>
                                      <p:to>
                                        <p:strVal val="visible"/>
                                      </p:to>
                                    </p:set>
                                    <p:animEffect transition="in" filter="fade">
                                      <p:cBhvr>
                                        <p:cTn id="16" dur="500"/>
                                        <p:tgtEl>
                                          <p:spTgt spid="14"/>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5"/>
                                        </p:tgtEl>
                                        <p:attrNameLst>
                                          <p:attrName>style.visibility</p:attrName>
                                        </p:attrNameLst>
                                      </p:cBhvr>
                                      <p:to>
                                        <p:strVal val="visible"/>
                                      </p:to>
                                    </p:set>
                                    <p:animEffect transition="in" filter="fade">
                                      <p:cBhvr>
                                        <p:cTn id="21" dur="500"/>
                                        <p:tgtEl>
                                          <p:spTgt spid="1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6"/>
                                        </p:tgtEl>
                                        <p:attrNameLst>
                                          <p:attrName>style.visibility</p:attrName>
                                        </p:attrNameLst>
                                      </p:cBhvr>
                                      <p:to>
                                        <p:strVal val="visible"/>
                                      </p:to>
                                    </p:set>
                                    <p:animEffect transition="in" filter="fade">
                                      <p:cBhvr>
                                        <p:cTn id="24" dur="500"/>
                                        <p:tgtEl>
                                          <p:spTgt spid="16"/>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7"/>
                                        </p:tgtEl>
                                        <p:attrNameLst>
                                          <p:attrName>style.visibility</p:attrName>
                                        </p:attrNameLst>
                                      </p:cBhvr>
                                      <p:to>
                                        <p:strVal val="visible"/>
                                      </p:to>
                                    </p:set>
                                    <p:animEffect transition="in" filter="fade">
                                      <p:cBhvr>
                                        <p:cTn id="27" dur="500"/>
                                        <p:tgtEl>
                                          <p:spTgt spid="17"/>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8"/>
                                        </p:tgtEl>
                                        <p:attrNameLst>
                                          <p:attrName>style.visibility</p:attrName>
                                        </p:attrNameLst>
                                      </p:cBhvr>
                                      <p:to>
                                        <p:strVal val="visible"/>
                                      </p:to>
                                    </p:set>
                                    <p:animEffect transition="in" filter="fade">
                                      <p:cBhvr>
                                        <p:cTn id="30" dur="500"/>
                                        <p:tgtEl>
                                          <p:spTgt spid="18"/>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9"/>
                                        </p:tgtEl>
                                        <p:attrNameLst>
                                          <p:attrName>style.visibility</p:attrName>
                                        </p:attrNameLst>
                                      </p:cBhvr>
                                      <p:to>
                                        <p:strVal val="visible"/>
                                      </p:to>
                                    </p:set>
                                    <p:animEffect transition="in" filter="fade">
                                      <p:cBhvr>
                                        <p:cTn id="35" dur="500"/>
                                        <p:tgtEl>
                                          <p:spTgt spid="19"/>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20"/>
                                        </p:tgtEl>
                                        <p:attrNameLst>
                                          <p:attrName>style.visibility</p:attrName>
                                        </p:attrNameLst>
                                      </p:cBhvr>
                                      <p:to>
                                        <p:strVal val="visible"/>
                                      </p:to>
                                    </p:set>
                                    <p:animEffect transition="in" filter="fade">
                                      <p:cBhvr>
                                        <p:cTn id="38" dur="500"/>
                                        <p:tgtEl>
                                          <p:spTgt spid="20"/>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21"/>
                                        </p:tgtEl>
                                        <p:attrNameLst>
                                          <p:attrName>style.visibility</p:attrName>
                                        </p:attrNameLst>
                                      </p:cBhvr>
                                      <p:to>
                                        <p:strVal val="visible"/>
                                      </p:to>
                                    </p:set>
                                    <p:animEffect transition="in" filter="fade">
                                      <p:cBhvr>
                                        <p:cTn id="41" dur="500"/>
                                        <p:tgtEl>
                                          <p:spTgt spid="21"/>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22"/>
                                        </p:tgtEl>
                                        <p:attrNameLst>
                                          <p:attrName>style.visibility</p:attrName>
                                        </p:attrNameLst>
                                      </p:cBhvr>
                                      <p:to>
                                        <p:strVal val="visible"/>
                                      </p:to>
                                    </p:set>
                                    <p:animEffect transition="in" filter="fade">
                                      <p:cBhvr>
                                        <p:cTn id="44" dur="500"/>
                                        <p:tgtEl>
                                          <p:spTgt spid="22"/>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23"/>
                                        </p:tgtEl>
                                        <p:attrNameLst>
                                          <p:attrName>style.visibility</p:attrName>
                                        </p:attrNameLst>
                                      </p:cBhvr>
                                      <p:to>
                                        <p:strVal val="visible"/>
                                      </p:to>
                                    </p:set>
                                    <p:animEffect transition="in" filter="fade">
                                      <p:cBhvr>
                                        <p:cTn id="49" dur="500"/>
                                        <p:tgtEl>
                                          <p:spTgt spid="23"/>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4"/>
                                        </p:tgtEl>
                                        <p:attrNameLst>
                                          <p:attrName>style.visibility</p:attrName>
                                        </p:attrNameLst>
                                      </p:cBhvr>
                                      <p:to>
                                        <p:strVal val="visible"/>
                                      </p:to>
                                    </p:set>
                                    <p:animEffect transition="in" filter="fade">
                                      <p:cBhvr>
                                        <p:cTn id="52" dur="500"/>
                                        <p:tgtEl>
                                          <p:spTgt spid="24"/>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5"/>
                                        </p:tgtEl>
                                        <p:attrNameLst>
                                          <p:attrName>style.visibility</p:attrName>
                                        </p:attrNameLst>
                                      </p:cBhvr>
                                      <p:to>
                                        <p:strVal val="visible"/>
                                      </p:to>
                                    </p:set>
                                    <p:animEffect transition="in" filter="fade">
                                      <p:cBhvr>
                                        <p:cTn id="55" dur="500"/>
                                        <p:tgtEl>
                                          <p:spTgt spid="25"/>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6"/>
                                        </p:tgtEl>
                                        <p:attrNameLst>
                                          <p:attrName>style.visibility</p:attrName>
                                        </p:attrNameLst>
                                      </p:cBhvr>
                                      <p:to>
                                        <p:strVal val="visible"/>
                                      </p:to>
                                    </p:set>
                                    <p:animEffect transition="in" filter="fade">
                                      <p:cBhvr>
                                        <p:cTn id="58" dur="500"/>
                                        <p:tgtEl>
                                          <p:spTgt spid="26"/>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fade">
                                      <p:cBhvr>
                                        <p:cTn id="63" dur="500"/>
                                        <p:tgtEl>
                                          <p:spTgt spid="27"/>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8"/>
                                        </p:tgtEl>
                                        <p:attrNameLst>
                                          <p:attrName>style.visibility</p:attrName>
                                        </p:attrNameLst>
                                      </p:cBhvr>
                                      <p:to>
                                        <p:strVal val="visible"/>
                                      </p:to>
                                    </p:set>
                                    <p:animEffect transition="in" filter="fade">
                                      <p:cBhvr>
                                        <p:cTn id="66" dur="500"/>
                                        <p:tgtEl>
                                          <p:spTgt spid="28"/>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29"/>
                                        </p:tgtEl>
                                        <p:attrNameLst>
                                          <p:attrName>style.visibility</p:attrName>
                                        </p:attrNameLst>
                                      </p:cBhvr>
                                      <p:to>
                                        <p:strVal val="visible"/>
                                      </p:to>
                                    </p:set>
                                    <p:animEffect transition="in" filter="fade">
                                      <p:cBhvr>
                                        <p:cTn id="69" dur="500"/>
                                        <p:tgtEl>
                                          <p:spTgt spid="29"/>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0"/>
                                        </p:tgtEl>
                                        <p:attrNameLst>
                                          <p:attrName>style.visibility</p:attrName>
                                        </p:attrNameLst>
                                      </p:cBhvr>
                                      <p:to>
                                        <p:strVal val="visible"/>
                                      </p:to>
                                    </p:set>
                                    <p:animEffect transition="in" filter="fade">
                                      <p:cBhvr>
                                        <p:cTn id="72" dur="500"/>
                                        <p:tgtEl>
                                          <p:spTgt spid="30"/>
                                        </p:tgtEl>
                                      </p:cBhvr>
                                    </p:animEffect>
                                  </p:childTnLst>
                                </p:cTn>
                              </p:par>
                            </p:childTnLst>
                          </p:cTn>
                        </p:par>
                      </p:childTnLst>
                    </p:cTn>
                  </p:par>
                  <p:par>
                    <p:cTn id="73" fill="hold">
                      <p:stCondLst>
                        <p:cond delay="indefinite"/>
                      </p:stCondLst>
                      <p:childTnLst>
                        <p:par>
                          <p:cTn id="74" fill="hold">
                            <p:stCondLst>
                              <p:cond delay="0"/>
                            </p:stCondLst>
                            <p:childTnLst>
                              <p:par>
                                <p:cTn id="75" presetID="10" presetClass="entr" presetSubtype="0" fill="hold" grpId="0" nodeType="clickEffect">
                                  <p:stCondLst>
                                    <p:cond delay="0"/>
                                  </p:stCondLst>
                                  <p:childTnLst>
                                    <p:set>
                                      <p:cBhvr>
                                        <p:cTn id="76" dur="1" fill="hold">
                                          <p:stCondLst>
                                            <p:cond delay="0"/>
                                          </p:stCondLst>
                                        </p:cTn>
                                        <p:tgtEl>
                                          <p:spTgt spid="31"/>
                                        </p:tgtEl>
                                        <p:attrNameLst>
                                          <p:attrName>style.visibility</p:attrName>
                                        </p:attrNameLst>
                                      </p:cBhvr>
                                      <p:to>
                                        <p:strVal val="visible"/>
                                      </p:to>
                                    </p:set>
                                    <p:animEffect transition="in" filter="fade">
                                      <p:cBhvr>
                                        <p:cTn id="77" dur="500"/>
                                        <p:tgtEl>
                                          <p:spTgt spid="31"/>
                                        </p:tgtEl>
                                      </p:cBhvr>
                                    </p:animEffect>
                                  </p:childTnLst>
                                </p:cTn>
                              </p:par>
                              <p:par>
                                <p:cTn id="78" presetID="10" presetClass="entr" presetSubtype="0" fill="hold" grpId="0" nodeType="withEffect">
                                  <p:stCondLst>
                                    <p:cond delay="0"/>
                                  </p:stCondLst>
                                  <p:childTnLst>
                                    <p:set>
                                      <p:cBhvr>
                                        <p:cTn id="79" dur="1" fill="hold">
                                          <p:stCondLst>
                                            <p:cond delay="0"/>
                                          </p:stCondLst>
                                        </p:cTn>
                                        <p:tgtEl>
                                          <p:spTgt spid="32"/>
                                        </p:tgtEl>
                                        <p:attrNameLst>
                                          <p:attrName>style.visibility</p:attrName>
                                        </p:attrNameLst>
                                      </p:cBhvr>
                                      <p:to>
                                        <p:strVal val="visible"/>
                                      </p:to>
                                    </p:set>
                                    <p:animEffect transition="in" filter="fade">
                                      <p:cBhvr>
                                        <p:cTn id="80" dur="500"/>
                                        <p:tgtEl>
                                          <p:spTgt spid="32"/>
                                        </p:tgtEl>
                                      </p:cBhvr>
                                    </p:animEffect>
                                  </p:childTnLst>
                                </p:cTn>
                              </p:par>
                              <p:par>
                                <p:cTn id="81" presetID="10" presetClass="entr" presetSubtype="0" fill="hold" grpId="0" nodeType="withEffect">
                                  <p:stCondLst>
                                    <p:cond delay="0"/>
                                  </p:stCondLst>
                                  <p:childTnLst>
                                    <p:set>
                                      <p:cBhvr>
                                        <p:cTn id="82" dur="1" fill="hold">
                                          <p:stCondLst>
                                            <p:cond delay="0"/>
                                          </p:stCondLst>
                                        </p:cTn>
                                        <p:tgtEl>
                                          <p:spTgt spid="33"/>
                                        </p:tgtEl>
                                        <p:attrNameLst>
                                          <p:attrName>style.visibility</p:attrName>
                                        </p:attrNameLst>
                                      </p:cBhvr>
                                      <p:to>
                                        <p:strVal val="visible"/>
                                      </p:to>
                                    </p:set>
                                    <p:animEffect transition="in" filter="fade">
                                      <p:cBhvr>
                                        <p:cTn id="83" dur="500"/>
                                        <p:tgtEl>
                                          <p:spTgt spid="33"/>
                                        </p:tgtEl>
                                      </p:cBhvr>
                                    </p:animEffect>
                                  </p:childTnLst>
                                </p:cTn>
                              </p:par>
                              <p:par>
                                <p:cTn id="84" presetID="10" presetClass="entr" presetSubtype="0" fill="hold" grpId="0" nodeType="withEffect">
                                  <p:stCondLst>
                                    <p:cond delay="0"/>
                                  </p:stCondLst>
                                  <p:childTnLst>
                                    <p:set>
                                      <p:cBhvr>
                                        <p:cTn id="85" dur="1" fill="hold">
                                          <p:stCondLst>
                                            <p:cond delay="0"/>
                                          </p:stCondLst>
                                        </p:cTn>
                                        <p:tgtEl>
                                          <p:spTgt spid="34"/>
                                        </p:tgtEl>
                                        <p:attrNameLst>
                                          <p:attrName>style.visibility</p:attrName>
                                        </p:attrNameLst>
                                      </p:cBhvr>
                                      <p:to>
                                        <p:strVal val="visible"/>
                                      </p:to>
                                    </p:set>
                                    <p:animEffect transition="in" filter="fade">
                                      <p:cBhvr>
                                        <p:cTn id="86" dur="500"/>
                                        <p:tgtEl>
                                          <p:spTgt spid="3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animBg="1"/>
      <p:bldP spid="12" grpId="0" animBg="1"/>
      <p:bldP spid="14" grpId="0" animBg="1"/>
      <p:bldP spid="15" grpId="0" animBg="1"/>
      <p:bldP spid="16" grpId="0" animBg="1"/>
      <p:bldP spid="18" grpId="0" animBg="1"/>
      <p:bldP spid="19" grpId="0" animBg="1"/>
      <p:bldP spid="20" grpId="0" animBg="1"/>
      <p:bldP spid="22" grpId="0" animBg="1"/>
      <p:bldP spid="23" grpId="0" animBg="1"/>
      <p:bldP spid="24" grpId="0" animBg="1"/>
      <p:bldP spid="26" grpId="0" animBg="1"/>
      <p:bldP spid="27" grpId="0" animBg="1"/>
      <p:bldP spid="28" grpId="0" animBg="1"/>
      <p:bldP spid="30" grpId="0" animBg="1"/>
      <p:bldP spid="31" grpId="0" animBg="1"/>
      <p:bldP spid="32" grpId="0" animBg="1"/>
      <p:bldP spid="34" grpId="0" animBg="1"/>
    </p:bldLst>
  </p:timing>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b_213"/>
          <p:cNvSpPr/>
          <p:nvPr/>
        </p:nvSpPr>
        <p:spPr>
          <a:xfrm>
            <a:off x="548640" y="274320"/>
            <a:ext cx="2307946" cy="292608"/>
          </a:xfrm>
          <a:prstGeom prst="roundRect">
            <a:avLst>
              <a:gd name="adj" fmla="val 50000"/>
            </a:avLst>
          </a:prstGeom>
          <a:solidFill>
            <a:srgbClr val="DC2626"/>
          </a:solidFill>
          <a:ln/>
        </p:spPr>
      </p:sp>
      <p:sp>
        <p:nvSpPr>
          <p:cNvPr id="3" name="t_214"/>
          <p:cNvSpPr txBox="1"/>
          <p:nvPr/>
        </p:nvSpPr>
        <p:spPr>
          <a:xfrm>
            <a:off x="548640" y="274320"/>
            <a:ext cx="2307946"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THE CRASH SEQUENCE</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Before, During and After a Crash</a:t>
            </a:r>
            <a:endParaRPr lang="en-US" sz="3000" dirty="0"/>
          </a:p>
        </p:txBody>
      </p:sp>
      <p:sp>
        <p:nvSpPr>
          <p:cNvPr id="5" name="t_215"/>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What the car does at each stage – where fitted</a:t>
            </a:r>
            <a:endParaRPr lang="en-US" sz="1800" dirty="0"/>
          </a:p>
        </p:txBody>
      </p:sp>
      <p:sp>
        <p:nvSpPr>
          <p:cNvPr id="6" name="a1w_b_216"/>
          <p:cNvSpPr/>
          <p:nvPr/>
        </p:nvSpPr>
        <p:spPr>
          <a:xfrm>
            <a:off x="548640" y="1691640"/>
            <a:ext cx="3611880" cy="566928"/>
          </a:xfrm>
          <a:prstGeom prst="rect">
            <a:avLst/>
          </a:prstGeom>
          <a:solidFill>
            <a:srgbClr val="0E7490"/>
          </a:solidFill>
          <a:ln/>
        </p:spPr>
      </p:sp>
      <p:sp>
        <p:nvSpPr>
          <p:cNvPr id="7" name="a1w_t_217"/>
          <p:cNvSpPr txBox="1"/>
          <p:nvPr/>
        </p:nvSpPr>
        <p:spPr>
          <a:xfrm>
            <a:off x="685800" y="1691640"/>
            <a:ext cx="3337560" cy="566928"/>
          </a:xfrm>
          <a:prstGeom prst="rect">
            <a:avLst/>
          </a:prstGeom>
          <a:noFill/>
          <a:ln/>
        </p:spPr>
        <p:txBody>
          <a:bodyPr wrap="square" lIns="508" tIns="508" rIns="508" bIns="508" rtlCol="0" anchor="ctr"/>
          <a:lstStyle/>
          <a:p>
            <a:pPr indent="0" marL="0">
              <a:buNone/>
            </a:pPr>
            <a:r>
              <a:rPr lang="en-US" sz="1700" b="1" dirty="0">
                <a:solidFill>
                  <a:srgbClr val="FFFFFF"/>
                </a:solidFill>
                <a:latin typeface="Arial" pitchFamily="34" charset="0"/>
                <a:ea typeface="Arial" pitchFamily="34" charset="-122"/>
                <a:cs typeface="Arial" pitchFamily="34" charset="-120"/>
              </a:rPr>
              <a:t>BEFORE  </a:t>
            </a:r>
            <a:pPr indent="0" marL="0">
              <a:buNone/>
            </a:pPr>
            <a:r>
              <a:rPr lang="en-US" sz="1700" i="1" dirty="0">
                <a:solidFill>
                  <a:srgbClr val="FFFFFF"/>
                </a:solidFill>
                <a:latin typeface="Arial" pitchFamily="34" charset="0"/>
                <a:ea typeface="Arial" pitchFamily="34" charset="-122"/>
                <a:cs typeface="Arial" pitchFamily="34" charset="-120"/>
              </a:rPr>
              <a:t>Seconds before</a:t>
            </a:r>
            <a:endParaRPr lang="en-US" sz="1700" dirty="0"/>
          </a:p>
        </p:txBody>
      </p:sp>
      <p:sp>
        <p:nvSpPr>
          <p:cNvPr id="8" name="a1w_b_218"/>
          <p:cNvSpPr/>
          <p:nvPr/>
        </p:nvSpPr>
        <p:spPr>
          <a:xfrm>
            <a:off x="548640" y="2258568"/>
            <a:ext cx="3611880" cy="1298448"/>
          </a:xfrm>
          <a:prstGeom prst="rect">
            <a:avLst/>
          </a:prstGeom>
          <a:solidFill>
            <a:srgbClr val="FFFFFF"/>
          </a:solidFill>
          <a:ln w="12700">
            <a:solidFill>
              <a:srgbClr val="CBD5E1"/>
            </a:solidFill>
            <a:prstDash val="solid"/>
          </a:ln>
        </p:spPr>
      </p:sp>
      <p:sp>
        <p:nvSpPr>
          <p:cNvPr id="9" name="a1w_t_219"/>
          <p:cNvSpPr txBox="1"/>
          <p:nvPr/>
        </p:nvSpPr>
        <p:spPr>
          <a:xfrm>
            <a:off x="685800" y="2304288"/>
            <a:ext cx="3337560" cy="1207008"/>
          </a:xfrm>
          <a:prstGeom prst="rect">
            <a:avLst/>
          </a:prstGeom>
          <a:noFill/>
          <a:ln/>
        </p:spPr>
        <p:txBody>
          <a:bodyPr wrap="square" lIns="508" tIns="508" rIns="508" bIns="508" rtlCol="0" anchor="ctr"/>
          <a:lstStyle/>
          <a:p>
            <a:pPr marL="177800" indent="-177800">
              <a:spcAft>
                <a:spcPts val="400"/>
              </a:spcAft>
              <a:buSzPct val="100000"/>
              <a:buChar char="•"/>
            </a:pPr>
            <a:r>
              <a:rPr lang="en-US" sz="1500" dirty="0">
                <a:solidFill>
                  <a:srgbClr val="0B1F3A"/>
                </a:solidFill>
                <a:latin typeface="Arial" pitchFamily="34" charset="0"/>
                <a:ea typeface="Arial" pitchFamily="34" charset="-122"/>
                <a:cs typeface="Arial" pitchFamily="34" charset="-120"/>
              </a:rPr>
              <a:t>FCW warns the driver</a:t>
            </a:r>
            <a:endParaRPr lang="en-US" sz="1500" dirty="0"/>
          </a:p>
          <a:p>
            <a:pPr marL="177800" indent="-177800">
              <a:spcAft>
                <a:spcPts val="400"/>
              </a:spcAft>
              <a:buSzPct val="100000"/>
              <a:buChar char="•"/>
            </a:pPr>
            <a:r>
              <a:rPr lang="en-US" sz="1500" dirty="0">
                <a:solidFill>
                  <a:srgbClr val="0B1F3A"/>
                </a:solidFill>
                <a:latin typeface="Arial" pitchFamily="34" charset="0"/>
                <a:ea typeface="Arial" pitchFamily="34" charset="-122"/>
                <a:cs typeface="Arial" pitchFamily="34" charset="-120"/>
              </a:rPr>
              <a:t>Brake Assist / AEB add braking</a:t>
            </a:r>
            <a:endParaRPr lang="en-US" sz="1500" dirty="0"/>
          </a:p>
          <a:p>
            <a:pPr marL="177800" indent="-177800">
              <a:spcAft>
                <a:spcPts val="400"/>
              </a:spcAft>
              <a:buSzPct val="100000"/>
              <a:buChar char="•"/>
            </a:pPr>
            <a:r>
              <a:rPr lang="en-US" sz="1500" dirty="0">
                <a:solidFill>
                  <a:srgbClr val="0B1F3A"/>
                </a:solidFill>
                <a:latin typeface="Arial" pitchFamily="34" charset="0"/>
                <a:ea typeface="Arial" pitchFamily="34" charset="-122"/>
                <a:cs typeface="Arial" pitchFamily="34" charset="-120"/>
              </a:rPr>
              <a:t>ABS &amp; ESC keep you steering</a:t>
            </a:r>
            <a:endParaRPr lang="en-US" sz="1500" dirty="0"/>
          </a:p>
        </p:txBody>
      </p:sp>
      <p:sp>
        <p:nvSpPr>
          <p:cNvPr id="10" name="a2w_b_220"/>
          <p:cNvSpPr/>
          <p:nvPr/>
        </p:nvSpPr>
        <p:spPr>
          <a:xfrm>
            <a:off x="4343400" y="1691640"/>
            <a:ext cx="3611880" cy="566928"/>
          </a:xfrm>
          <a:prstGeom prst="rect">
            <a:avLst/>
          </a:prstGeom>
          <a:solidFill>
            <a:srgbClr val="15803D"/>
          </a:solidFill>
          <a:ln/>
        </p:spPr>
      </p:sp>
      <p:sp>
        <p:nvSpPr>
          <p:cNvPr id="11" name="a2w_t_221"/>
          <p:cNvSpPr txBox="1"/>
          <p:nvPr/>
        </p:nvSpPr>
        <p:spPr>
          <a:xfrm>
            <a:off x="4480560" y="1691640"/>
            <a:ext cx="3337560" cy="566928"/>
          </a:xfrm>
          <a:prstGeom prst="rect">
            <a:avLst/>
          </a:prstGeom>
          <a:noFill/>
          <a:ln/>
        </p:spPr>
        <p:txBody>
          <a:bodyPr wrap="square" lIns="508" tIns="508" rIns="508" bIns="508" rtlCol="0" anchor="ctr"/>
          <a:lstStyle/>
          <a:p>
            <a:pPr indent="0" marL="0">
              <a:buNone/>
            </a:pPr>
            <a:r>
              <a:rPr lang="en-US" sz="1700" b="1" dirty="0">
                <a:solidFill>
                  <a:srgbClr val="FFFFFF"/>
                </a:solidFill>
                <a:latin typeface="Arial" pitchFamily="34" charset="0"/>
                <a:ea typeface="Arial" pitchFamily="34" charset="-122"/>
                <a:cs typeface="Arial" pitchFamily="34" charset="-120"/>
              </a:rPr>
              <a:t>DURING  </a:t>
            </a:r>
            <a:pPr indent="0" marL="0">
              <a:buNone/>
            </a:pPr>
            <a:r>
              <a:rPr lang="en-US" sz="1700" i="1" dirty="0">
                <a:solidFill>
                  <a:srgbClr val="FFFFFF"/>
                </a:solidFill>
                <a:latin typeface="Arial" pitchFamily="34" charset="0"/>
                <a:ea typeface="Arial" pitchFamily="34" charset="-122"/>
                <a:cs typeface="Arial" pitchFamily="34" charset="-120"/>
              </a:rPr>
              <a:t>Milliseconds</a:t>
            </a:r>
            <a:endParaRPr lang="en-US" sz="1700" dirty="0"/>
          </a:p>
        </p:txBody>
      </p:sp>
      <p:sp>
        <p:nvSpPr>
          <p:cNvPr id="12" name="a2w_b_222"/>
          <p:cNvSpPr/>
          <p:nvPr/>
        </p:nvSpPr>
        <p:spPr>
          <a:xfrm>
            <a:off x="4343400" y="2258568"/>
            <a:ext cx="3611880" cy="1298448"/>
          </a:xfrm>
          <a:prstGeom prst="rect">
            <a:avLst/>
          </a:prstGeom>
          <a:solidFill>
            <a:srgbClr val="FFFFFF"/>
          </a:solidFill>
          <a:ln w="12700">
            <a:solidFill>
              <a:srgbClr val="CBD5E1"/>
            </a:solidFill>
            <a:prstDash val="solid"/>
          </a:ln>
        </p:spPr>
      </p:sp>
      <p:sp>
        <p:nvSpPr>
          <p:cNvPr id="13" name="a2w_t_223"/>
          <p:cNvSpPr txBox="1"/>
          <p:nvPr/>
        </p:nvSpPr>
        <p:spPr>
          <a:xfrm>
            <a:off x="4480560" y="2304288"/>
            <a:ext cx="3337560" cy="1207008"/>
          </a:xfrm>
          <a:prstGeom prst="rect">
            <a:avLst/>
          </a:prstGeom>
          <a:noFill/>
          <a:ln/>
        </p:spPr>
        <p:txBody>
          <a:bodyPr wrap="square" lIns="508" tIns="508" rIns="508" bIns="508" rtlCol="0" anchor="ctr"/>
          <a:lstStyle/>
          <a:p>
            <a:pPr marL="177800" indent="-177800">
              <a:spcAft>
                <a:spcPts val="400"/>
              </a:spcAft>
              <a:buSzPct val="100000"/>
              <a:buChar char="•"/>
            </a:pPr>
            <a:r>
              <a:rPr lang="en-US" sz="1500" dirty="0">
                <a:solidFill>
                  <a:srgbClr val="0B1F3A"/>
                </a:solidFill>
                <a:latin typeface="Arial" pitchFamily="34" charset="0"/>
                <a:ea typeface="Arial" pitchFamily="34" charset="-122"/>
                <a:cs typeface="Arial" pitchFamily="34" charset="-120"/>
              </a:rPr>
              <a:t>Crumple zones absorb energy</a:t>
            </a:r>
            <a:endParaRPr lang="en-US" sz="1500" dirty="0"/>
          </a:p>
          <a:p>
            <a:pPr marL="177800" indent="-177800">
              <a:spcAft>
                <a:spcPts val="400"/>
              </a:spcAft>
              <a:buSzPct val="100000"/>
              <a:buChar char="•"/>
            </a:pPr>
            <a:r>
              <a:rPr lang="en-US" sz="1500" dirty="0">
                <a:solidFill>
                  <a:srgbClr val="0B1F3A"/>
                </a:solidFill>
                <a:latin typeface="Arial" pitchFamily="34" charset="0"/>
                <a:ea typeface="Arial" pitchFamily="34" charset="-122"/>
                <a:cs typeface="Arial" pitchFamily="34" charset="-120"/>
              </a:rPr>
              <a:t>Pretensioners tighten belts</a:t>
            </a:r>
            <a:endParaRPr lang="en-US" sz="1500" dirty="0"/>
          </a:p>
          <a:p>
            <a:pPr marL="177800" indent="-177800">
              <a:spcAft>
                <a:spcPts val="400"/>
              </a:spcAft>
              <a:buSzPct val="100000"/>
              <a:buChar char="•"/>
            </a:pPr>
            <a:r>
              <a:rPr lang="en-US" sz="1500" dirty="0">
                <a:solidFill>
                  <a:srgbClr val="0B1F3A"/>
                </a:solidFill>
                <a:latin typeface="Arial" pitchFamily="34" charset="0"/>
                <a:ea typeface="Arial" pitchFamily="34" charset="-122"/>
                <a:cs typeface="Arial" pitchFamily="34" charset="-120"/>
              </a:rPr>
              <a:t>Airbags inflate, then vent</a:t>
            </a:r>
            <a:endParaRPr lang="en-US" sz="1500" dirty="0"/>
          </a:p>
        </p:txBody>
      </p:sp>
      <p:sp>
        <p:nvSpPr>
          <p:cNvPr id="14" name="a3w_b_224"/>
          <p:cNvSpPr/>
          <p:nvPr/>
        </p:nvSpPr>
        <p:spPr>
          <a:xfrm>
            <a:off x="8138160" y="1691640"/>
            <a:ext cx="3611880" cy="566928"/>
          </a:xfrm>
          <a:prstGeom prst="rect">
            <a:avLst/>
          </a:prstGeom>
          <a:solidFill>
            <a:srgbClr val="DC2626"/>
          </a:solidFill>
          <a:ln/>
        </p:spPr>
      </p:sp>
      <p:sp>
        <p:nvSpPr>
          <p:cNvPr id="15" name="a3w_t_225"/>
          <p:cNvSpPr txBox="1"/>
          <p:nvPr/>
        </p:nvSpPr>
        <p:spPr>
          <a:xfrm>
            <a:off x="8275320" y="1691640"/>
            <a:ext cx="3337560" cy="566928"/>
          </a:xfrm>
          <a:prstGeom prst="rect">
            <a:avLst/>
          </a:prstGeom>
          <a:noFill/>
          <a:ln/>
        </p:spPr>
        <p:txBody>
          <a:bodyPr wrap="square" lIns="508" tIns="508" rIns="508" bIns="508" rtlCol="0" anchor="ctr"/>
          <a:lstStyle/>
          <a:p>
            <a:pPr indent="0" marL="0">
              <a:buNone/>
            </a:pPr>
            <a:r>
              <a:rPr lang="en-US" sz="1700" b="1" dirty="0">
                <a:solidFill>
                  <a:srgbClr val="FFFFFF"/>
                </a:solidFill>
                <a:latin typeface="Arial" pitchFamily="34" charset="0"/>
                <a:ea typeface="Arial" pitchFamily="34" charset="-122"/>
                <a:cs typeface="Arial" pitchFamily="34" charset="-120"/>
              </a:rPr>
              <a:t>AFTER  </a:t>
            </a:r>
            <a:pPr indent="0" marL="0">
              <a:buNone/>
            </a:pPr>
            <a:r>
              <a:rPr lang="en-US" sz="1700" i="1" dirty="0">
                <a:solidFill>
                  <a:srgbClr val="FFFFFF"/>
                </a:solidFill>
                <a:latin typeface="Arial" pitchFamily="34" charset="0"/>
                <a:ea typeface="Arial" pitchFamily="34" charset="-122"/>
                <a:cs typeface="Arial" pitchFamily="34" charset="-120"/>
              </a:rPr>
              <a:t>Minutes after</a:t>
            </a:r>
            <a:endParaRPr lang="en-US" sz="1700" dirty="0"/>
          </a:p>
        </p:txBody>
      </p:sp>
      <p:sp>
        <p:nvSpPr>
          <p:cNvPr id="16" name="a3w_b_226"/>
          <p:cNvSpPr/>
          <p:nvPr/>
        </p:nvSpPr>
        <p:spPr>
          <a:xfrm>
            <a:off x="8138160" y="2258568"/>
            <a:ext cx="3611880" cy="1298448"/>
          </a:xfrm>
          <a:prstGeom prst="rect">
            <a:avLst/>
          </a:prstGeom>
          <a:solidFill>
            <a:srgbClr val="FFFFFF"/>
          </a:solidFill>
          <a:ln w="12700">
            <a:solidFill>
              <a:srgbClr val="CBD5E1"/>
            </a:solidFill>
            <a:prstDash val="solid"/>
          </a:ln>
        </p:spPr>
      </p:sp>
      <p:sp>
        <p:nvSpPr>
          <p:cNvPr id="17" name="a3w_t_227"/>
          <p:cNvSpPr txBox="1"/>
          <p:nvPr/>
        </p:nvSpPr>
        <p:spPr>
          <a:xfrm>
            <a:off x="8275320" y="2304288"/>
            <a:ext cx="3337560" cy="1207008"/>
          </a:xfrm>
          <a:prstGeom prst="rect">
            <a:avLst/>
          </a:prstGeom>
          <a:noFill/>
          <a:ln/>
        </p:spPr>
        <p:txBody>
          <a:bodyPr wrap="square" lIns="508" tIns="508" rIns="508" bIns="508" rtlCol="0" anchor="ctr"/>
          <a:lstStyle/>
          <a:p>
            <a:pPr marL="177800" indent="-177800">
              <a:spcAft>
                <a:spcPts val="400"/>
              </a:spcAft>
              <a:buSzPct val="100000"/>
              <a:buChar char="•"/>
            </a:pPr>
            <a:r>
              <a:rPr lang="en-US" sz="1500" dirty="0">
                <a:solidFill>
                  <a:srgbClr val="0B1F3A"/>
                </a:solidFill>
                <a:latin typeface="Arial" pitchFamily="34" charset="0"/>
                <a:ea typeface="Arial" pitchFamily="34" charset="-122"/>
                <a:cs typeface="Arial" pitchFamily="34" charset="-120"/>
              </a:rPr>
              <a:t>eCall / SOS calls for help</a:t>
            </a:r>
            <a:endParaRPr lang="en-US" sz="1500" dirty="0"/>
          </a:p>
          <a:p>
            <a:pPr marL="177800" indent="-177800">
              <a:spcAft>
                <a:spcPts val="400"/>
              </a:spcAft>
              <a:buSzPct val="100000"/>
              <a:buChar char="•"/>
            </a:pPr>
            <a:r>
              <a:rPr lang="en-US" sz="1500" dirty="0">
                <a:solidFill>
                  <a:srgbClr val="0B1F3A"/>
                </a:solidFill>
                <a:latin typeface="Arial" pitchFamily="34" charset="0"/>
                <a:ea typeface="Arial" pitchFamily="34" charset="-122"/>
                <a:cs typeface="Arial" pitchFamily="34" charset="-120"/>
              </a:rPr>
              <a:t>Hazards on, doors unlock</a:t>
            </a:r>
            <a:endParaRPr lang="en-US" sz="1500" dirty="0"/>
          </a:p>
          <a:p>
            <a:pPr marL="177800" indent="-177800">
              <a:spcAft>
                <a:spcPts val="400"/>
              </a:spcAft>
              <a:buSzPct val="100000"/>
              <a:buChar char="•"/>
            </a:pPr>
            <a:r>
              <a:rPr lang="en-US" sz="1500" dirty="0">
                <a:solidFill>
                  <a:srgbClr val="0B1F3A"/>
                </a:solidFill>
                <a:latin typeface="Arial" pitchFamily="34" charset="0"/>
                <a:ea typeface="Arial" pitchFamily="34" charset="-122"/>
                <a:cs typeface="Arial" pitchFamily="34" charset="-120"/>
              </a:rPr>
              <a:t>Fuel or high voltage cut off; data recorded</a:t>
            </a:r>
            <a:endParaRPr lang="en-US" sz="1500" dirty="0"/>
          </a:p>
        </p:txBody>
      </p:sp>
      <p:pic>
        <p:nvPicPr>
          <p:cNvPr id="18" name="a2_p_228" descr="Car hitting a barrier: front crumple zone, safety cage, rear crumple zone">    </p:cNvPr>
          <p:cNvPicPr>
            <a:picLocks noChangeAspect="1"/>
          </p:cNvPicPr>
          <p:nvPr/>
        </p:nvPicPr>
        <p:blipFill>
          <a:blip r:embed="rId1"/>
          <a:srcRect l="0" r="0" t="2" b="-2"/>
          <a:stretch/>
        </p:blipFill>
        <p:spPr>
          <a:xfrm>
            <a:off x="548640" y="3730752"/>
            <a:ext cx="6172200" cy="2276856"/>
          </a:xfrm>
          <a:prstGeom prst="rect">
            <a:avLst/>
          </a:prstGeom>
        </p:spPr>
      </p:pic>
      <p:pic>
        <p:nvPicPr>
          <p:cNvPr id="19" name="a3_p_229" descr="Post-crash functions: eCall, hazards and unlock, fuel cut-off, high-voltage isolation, event data recorder">    </p:cNvPr>
          <p:cNvPicPr>
            <a:picLocks noChangeAspect="1"/>
          </p:cNvPicPr>
          <p:nvPr/>
        </p:nvPicPr>
        <p:blipFill>
          <a:blip r:embed="rId2"/>
          <a:stretch>
            <a:fillRect/>
          </a:stretch>
        </p:blipFill>
        <p:spPr>
          <a:xfrm>
            <a:off x="6950921" y="3730752"/>
            <a:ext cx="3041991" cy="2276856"/>
          </a:xfrm>
          <a:prstGeom prst="rect">
            <a:avLst/>
          </a:prstGeom>
        </p:spPr>
      </p:pic>
      <p:sp>
        <p:nvSpPr>
          <p:cNvPr id="20" name="a3_b_230"/>
          <p:cNvSpPr/>
          <p:nvPr/>
        </p:nvSpPr>
        <p:spPr>
          <a:xfrm>
            <a:off x="10104120" y="3730752"/>
            <a:ext cx="1536192" cy="2276856"/>
          </a:xfrm>
          <a:prstGeom prst="roundRect">
            <a:avLst>
              <a:gd name="adj" fmla="val 4762"/>
            </a:avLst>
          </a:prstGeom>
          <a:solidFill>
            <a:srgbClr val="FEE2E2"/>
          </a:solidFill>
          <a:ln/>
        </p:spPr>
      </p:sp>
      <p:sp>
        <p:nvSpPr>
          <p:cNvPr id="21" name="a3_t_231"/>
          <p:cNvSpPr txBox="1"/>
          <p:nvPr/>
        </p:nvSpPr>
        <p:spPr>
          <a:xfrm>
            <a:off x="10168128" y="3767328"/>
            <a:ext cx="1417320" cy="2212848"/>
          </a:xfrm>
          <a:prstGeom prst="rect">
            <a:avLst/>
          </a:prstGeom>
          <a:noFill/>
          <a:ln/>
        </p:spPr>
        <p:txBody>
          <a:bodyPr wrap="square" lIns="508" tIns="508" rIns="508" bIns="508" rtlCol="0" anchor="ctr"/>
          <a:lstStyle/>
          <a:p>
            <a:pPr indent="0" marL="0">
              <a:buNone/>
            </a:pPr>
            <a:r>
              <a:rPr lang="en-US" sz="1300" b="1" dirty="0">
                <a:solidFill>
                  <a:srgbClr val="DC2626"/>
                </a:solidFill>
                <a:latin typeface="Arial" pitchFamily="34" charset="0"/>
                <a:ea typeface="Arial" pitchFamily="34" charset="-122"/>
                <a:cs typeface="Arial" pitchFamily="34" charset="-120"/>
              </a:rPr>
              <a:t>EV crash rule: treat orange cables and the battery as live. Never touch them.</a:t>
            </a:r>
            <a:endParaRPr lang="en-US" sz="1300" dirty="0"/>
          </a:p>
        </p:txBody>
      </p:sp>
      <p:sp>
        <p:nvSpPr>
          <p:cNvPr id="22" name="t_232"/>
          <p:cNvSpPr txBox="1"/>
          <p:nvPr/>
        </p:nvSpPr>
        <p:spPr>
          <a:xfrm>
            <a:off x="548640" y="6272784"/>
            <a:ext cx="10332720" cy="329184"/>
          </a:xfrm>
          <a:prstGeom prst="rect">
            <a:avLst/>
          </a:prstGeom>
          <a:noFill/>
          <a:ln/>
        </p:spPr>
        <p:txBody>
          <a:bodyPr wrap="square" lIns="508" tIns="508" rIns="508" bIns="508" rtlCol="0" anchor="ctr"/>
          <a:lstStyle/>
          <a:p>
            <a:pPr indent="0" marL="0">
              <a:buNone/>
            </a:pPr>
            <a:r>
              <a:rPr lang="en-US" sz="1000" dirty="0">
                <a:solidFill>
                  <a:srgbClr val="64748B"/>
                </a:solidFill>
                <a:latin typeface="Arial" pitchFamily="34" charset="0"/>
                <a:ea typeface="Arial" pitchFamily="34" charset="-122"/>
                <a:cs typeface="Arial" pitchFamily="34" charset="-120"/>
              </a:rPr>
              <a:t>Illustrative images; not a specific vehicle. Features vary by vehicle, variant and market.</a:t>
            </a:r>
            <a:endParaRPr lang="en-US" sz="1000" dirty="0"/>
          </a:p>
        </p:txBody>
      </p:sp>
      <p:sp>
        <p:nvSpPr>
          <p:cNvPr id="23"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8</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wipe(left)">
                                      <p:cBhvr>
                                        <p:cTn id="10" dur="500"/>
                                        <p:tgtEl>
                                          <p:spTgt spid="7"/>
                                        </p:tgtEl>
                                      </p:cBhvr>
                                    </p:animEffect>
                                  </p:childTnLst>
                                </p:cTn>
                              </p:par>
                              <p:par>
                                <p:cTn id="11" presetID="22" presetClass="entr" presetSubtype="8"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wipe(left)">
                                      <p:cBhvr>
                                        <p:cTn id="13" dur="500"/>
                                        <p:tgtEl>
                                          <p:spTgt spid="8"/>
                                        </p:tgtEl>
                                      </p:cBhvr>
                                    </p:animEffect>
                                  </p:childTnLst>
                                </p:cTn>
                              </p:par>
                              <p:par>
                                <p:cTn id="14" presetID="22" presetClass="entr" presetSubtype="8"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wipe(left)">
                                      <p:cBhvr>
                                        <p:cTn id="16" dur="500"/>
                                        <p:tgtEl>
                                          <p:spTgt spid="9"/>
                                        </p:tgtEl>
                                      </p:cBhvr>
                                    </p:animEffect>
                                  </p:childTnLst>
                                </p:cTn>
                              </p:par>
                            </p:childTnLst>
                          </p:cTn>
                        </p:par>
                      </p:childTnLst>
                    </p:cTn>
                  </p:par>
                  <p:par>
                    <p:cTn id="17" fill="hold">
                      <p:stCondLst>
                        <p:cond delay="indefinite"/>
                      </p:stCondLst>
                      <p:childTnLst>
                        <p:par>
                          <p:cTn id="18" fill="hold">
                            <p:stCondLst>
                              <p:cond delay="0"/>
                            </p:stCondLst>
                            <p:childTnLst>
                              <p:par>
                                <p:cTn id="19" presetID="22" presetClass="entr" presetSubtype="8" fill="hold" grpId="0" nodeType="clickEffect">
                                  <p:stCondLst>
                                    <p:cond delay="0"/>
                                  </p:stCondLst>
                                  <p:childTnLst>
                                    <p:set>
                                      <p:cBhvr>
                                        <p:cTn id="20" dur="1" fill="hold">
                                          <p:stCondLst>
                                            <p:cond delay="0"/>
                                          </p:stCondLst>
                                        </p:cTn>
                                        <p:tgtEl>
                                          <p:spTgt spid="10"/>
                                        </p:tgtEl>
                                        <p:attrNameLst>
                                          <p:attrName>style.visibility</p:attrName>
                                        </p:attrNameLst>
                                      </p:cBhvr>
                                      <p:to>
                                        <p:strVal val="visible"/>
                                      </p:to>
                                    </p:set>
                                    <p:animEffect transition="in" filter="wipe(left)">
                                      <p:cBhvr>
                                        <p:cTn id="21" dur="500"/>
                                        <p:tgtEl>
                                          <p:spTgt spid="10"/>
                                        </p:tgtEl>
                                      </p:cBhvr>
                                    </p:animEffect>
                                  </p:childTnLst>
                                </p:cTn>
                              </p:par>
                              <p:par>
                                <p:cTn id="22" presetID="22" presetClass="entr" presetSubtype="8" fill="hold" grpId="0" nodeType="with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wipe(left)">
                                      <p:cBhvr>
                                        <p:cTn id="24" dur="500"/>
                                        <p:tgtEl>
                                          <p:spTgt spid="11"/>
                                        </p:tgtEl>
                                      </p:cBhvr>
                                    </p:animEffect>
                                  </p:childTnLst>
                                </p:cTn>
                              </p:par>
                              <p:par>
                                <p:cTn id="25" presetID="22" presetClass="entr" presetSubtype="8"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wipe(left)">
                                      <p:cBhvr>
                                        <p:cTn id="27" dur="500"/>
                                        <p:tgtEl>
                                          <p:spTgt spid="12"/>
                                        </p:tgtEl>
                                      </p:cBhvr>
                                    </p:animEffect>
                                  </p:childTnLst>
                                </p:cTn>
                              </p:par>
                              <p:par>
                                <p:cTn id="28" presetID="22" presetClass="entr" presetSubtype="8"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wipe(left)">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8"/>
                                        </p:tgtEl>
                                        <p:attrNameLst>
                                          <p:attrName>style.visibility</p:attrName>
                                        </p:attrNameLst>
                                      </p:cBhvr>
                                      <p:to>
                                        <p:strVal val="visible"/>
                                      </p:to>
                                    </p:set>
                                    <p:animEffect transition="in" filter="fade">
                                      <p:cBhvr>
                                        <p:cTn id="33" dur="500"/>
                                        <p:tgtEl>
                                          <p:spTgt spid="18"/>
                                        </p:tgtEl>
                                      </p:cBhvr>
                                    </p:animEffect>
                                  </p:childTnLst>
                                </p:cTn>
                              </p:par>
                            </p:childTnLst>
                          </p:cTn>
                        </p:par>
                      </p:childTnLst>
                    </p:cTn>
                  </p:par>
                  <p:par>
                    <p:cTn id="34" fill="hold">
                      <p:stCondLst>
                        <p:cond delay="indefinite"/>
                      </p:stCondLst>
                      <p:childTnLst>
                        <p:par>
                          <p:cTn id="35" fill="hold">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4"/>
                                        </p:tgtEl>
                                        <p:attrNameLst>
                                          <p:attrName>style.visibility</p:attrName>
                                        </p:attrNameLst>
                                      </p:cBhvr>
                                      <p:to>
                                        <p:strVal val="visible"/>
                                      </p:to>
                                    </p:set>
                                    <p:animEffect transition="in" filter="wipe(left)">
                                      <p:cBhvr>
                                        <p:cTn id="38" dur="500"/>
                                        <p:tgtEl>
                                          <p:spTgt spid="14"/>
                                        </p:tgtEl>
                                      </p:cBhvr>
                                    </p:animEffect>
                                  </p:childTnLst>
                                </p:cTn>
                              </p:par>
                              <p:par>
                                <p:cTn id="39" presetID="22" presetClass="entr" presetSubtype="8" fill="hold" grpId="0" nodeType="withEffect">
                                  <p:stCondLst>
                                    <p:cond delay="0"/>
                                  </p:stCondLst>
                                  <p:childTnLst>
                                    <p:set>
                                      <p:cBhvr>
                                        <p:cTn id="40" dur="1" fill="hold">
                                          <p:stCondLst>
                                            <p:cond delay="0"/>
                                          </p:stCondLst>
                                        </p:cTn>
                                        <p:tgtEl>
                                          <p:spTgt spid="15"/>
                                        </p:tgtEl>
                                        <p:attrNameLst>
                                          <p:attrName>style.visibility</p:attrName>
                                        </p:attrNameLst>
                                      </p:cBhvr>
                                      <p:to>
                                        <p:strVal val="visible"/>
                                      </p:to>
                                    </p:set>
                                    <p:animEffect transition="in" filter="wipe(left)">
                                      <p:cBhvr>
                                        <p:cTn id="41" dur="500"/>
                                        <p:tgtEl>
                                          <p:spTgt spid="15"/>
                                        </p:tgtEl>
                                      </p:cBhvr>
                                    </p:animEffect>
                                  </p:childTnLst>
                                </p:cTn>
                              </p:par>
                              <p:par>
                                <p:cTn id="42" presetID="22" presetClass="entr" presetSubtype="8" fill="hold" grpId="0" nodeType="withEffect">
                                  <p:stCondLst>
                                    <p:cond delay="0"/>
                                  </p:stCondLst>
                                  <p:childTnLst>
                                    <p:set>
                                      <p:cBhvr>
                                        <p:cTn id="43" dur="1" fill="hold">
                                          <p:stCondLst>
                                            <p:cond delay="0"/>
                                          </p:stCondLst>
                                        </p:cTn>
                                        <p:tgtEl>
                                          <p:spTgt spid="16"/>
                                        </p:tgtEl>
                                        <p:attrNameLst>
                                          <p:attrName>style.visibility</p:attrName>
                                        </p:attrNameLst>
                                      </p:cBhvr>
                                      <p:to>
                                        <p:strVal val="visible"/>
                                      </p:to>
                                    </p:set>
                                    <p:animEffect transition="in" filter="wipe(left)">
                                      <p:cBhvr>
                                        <p:cTn id="44" dur="500"/>
                                        <p:tgtEl>
                                          <p:spTgt spid="16"/>
                                        </p:tgtEl>
                                      </p:cBhvr>
                                    </p:animEffect>
                                  </p:childTnLst>
                                </p:cTn>
                              </p:par>
                              <p:par>
                                <p:cTn id="45" presetID="22" presetClass="entr" presetSubtype="8" fill="hold" grpId="0" nodeType="withEffect">
                                  <p:stCondLst>
                                    <p:cond delay="0"/>
                                  </p:stCondLst>
                                  <p:childTnLst>
                                    <p:set>
                                      <p:cBhvr>
                                        <p:cTn id="46" dur="1" fill="hold">
                                          <p:stCondLst>
                                            <p:cond delay="0"/>
                                          </p:stCondLst>
                                        </p:cTn>
                                        <p:tgtEl>
                                          <p:spTgt spid="17"/>
                                        </p:tgtEl>
                                        <p:attrNameLst>
                                          <p:attrName>style.visibility</p:attrName>
                                        </p:attrNameLst>
                                      </p:cBhvr>
                                      <p:to>
                                        <p:strVal val="visible"/>
                                      </p:to>
                                    </p:set>
                                    <p:animEffect transition="in" filter="wipe(left)">
                                      <p:cBhvr>
                                        <p:cTn id="47" dur="500"/>
                                        <p:tgtEl>
                                          <p:spTgt spid="17"/>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par>
                                <p:cTn id="54" presetID="10" presetClass="entr" presetSubtype="0" fill="hold" grpId="0" nodeType="withEffect">
                                  <p:stCondLst>
                                    <p:cond delay="0"/>
                                  </p:stCondLst>
                                  <p:childTnLst>
                                    <p:set>
                                      <p:cBhvr>
                                        <p:cTn id="55" dur="1" fill="hold">
                                          <p:stCondLst>
                                            <p:cond delay="0"/>
                                          </p:stCondLst>
                                        </p:cTn>
                                        <p:tgtEl>
                                          <p:spTgt spid="21"/>
                                        </p:tgtEl>
                                        <p:attrNameLst>
                                          <p:attrName>style.visibility</p:attrName>
                                        </p:attrNameLst>
                                      </p:cBhvr>
                                      <p:to>
                                        <p:strVal val="visible"/>
                                      </p:to>
                                    </p:set>
                                    <p:animEffect transition="in" filter="fade">
                                      <p:cBhvr>
                                        <p:cTn id="56"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20" grpId="0" animBg="1"/>
      <p:bldP spid="21" grpId="0" animBg="1"/>
    </p:bldLst>
  </p:timing>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b_233"/>
          <p:cNvSpPr/>
          <p:nvPr/>
        </p:nvSpPr>
        <p:spPr>
          <a:xfrm>
            <a:off x="548640" y="274320"/>
            <a:ext cx="1768450" cy="292608"/>
          </a:xfrm>
          <a:prstGeom prst="roundRect">
            <a:avLst>
              <a:gd name="adj" fmla="val 50000"/>
            </a:avLst>
          </a:prstGeom>
          <a:solidFill>
            <a:srgbClr val="0B1F3A"/>
          </a:solidFill>
          <a:ln/>
        </p:spPr>
      </p:sp>
      <p:sp>
        <p:nvSpPr>
          <p:cNvPr id="3" name="t_234"/>
          <p:cNvSpPr txBox="1"/>
          <p:nvPr/>
        </p:nvSpPr>
        <p:spPr>
          <a:xfrm>
            <a:off x="548640" y="274320"/>
            <a:ext cx="1768450"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REAL VEHICLES</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Real Cars, Exact Variants</a:t>
            </a:r>
            <a:endParaRPr lang="en-US" sz="3000" dirty="0"/>
          </a:p>
        </p:txBody>
      </p:sp>
      <p:sp>
        <p:nvSpPr>
          <p:cNvPr id="5" name="t_235"/>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Selected features confirmed in official manufacturer sources</a:t>
            </a:r>
            <a:endParaRPr lang="en-US" sz="1800" dirty="0"/>
          </a:p>
        </p:txBody>
      </p:sp>
      <p:graphicFrame>
        <p:nvGraphicFramePr>
          <p:cNvPr id="6" name="tbl_vehicles"/>
          <p:cNvGraphicFramePr>
            <a:graphicFrameLocks noGrp="1"/>
          </p:cNvGraphicFramePr>
          <p:nvPr>
            <p:extLst>
              <p:ext uri="{D42A27DB-BD31-4B8C-83A1-F6EECF244321}">
                <p14:modId xmlns:p14="http://schemas.microsoft.com/office/powerpoint/2010/main" val="1579011935"/>
              </p:ext>
            </p:extLst>
          </p:nvPr>
        </p:nvGraphicFramePr>
        <p:xfrm>
          <a:off x="548640" y="1691640"/>
          <a:ext cx="11094415" cy="914400"/>
        </p:xfrm>
        <a:graphic>
          <a:graphicData uri="http://schemas.openxmlformats.org/drawingml/2006/table">
            <a:tbl>
              <a:tblPr/>
              <a:tblGrid>
                <a:gridCol w="822960"/>
                <a:gridCol w="2011680"/>
                <a:gridCol w="2240280"/>
                <a:gridCol w="5120640"/>
                <a:gridCol w="898855"/>
              </a:tblGrid>
              <a:tr h="384048">
                <a:tc>
                  <a:txBody>
                    <a:bodyPr/>
                    <a:lstStyle/>
                    <a:p>
                      <a:pPr indent="0" marL="0">
                        <a:buNone/>
                      </a:pPr>
                      <a:r>
                        <a:rPr lang="en-US" sz="1300" b="1" dirty="0">
                          <a:solidFill>
                            <a:srgbClr val="FFFFFF"/>
                          </a:solidFill>
                          <a:latin typeface="Arial" pitchFamily="34" charset="0"/>
                          <a:ea typeface="Arial" pitchFamily="34" charset="-122"/>
                          <a:cs typeface="Arial" pitchFamily="34" charset="-120"/>
                        </a:rPr>
                        <a:t>Market</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Vehicle</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Exact variant · year</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Selected verified safety features</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c>
                  <a:txBody>
                    <a:bodyPr/>
                    <a:lstStyle/>
                    <a:p>
                      <a:pPr indent="0" marL="0">
                        <a:buNone/>
                      </a:pPr>
                      <a:r>
                        <a:rPr lang="en-US" sz="1300" b="1" dirty="0">
                          <a:solidFill>
                            <a:srgbClr val="FFFFFF"/>
                          </a:solidFill>
                          <a:latin typeface="Arial" pitchFamily="34" charset="0"/>
                          <a:ea typeface="Arial" pitchFamily="34" charset="-122"/>
                          <a:cs typeface="Arial" pitchFamily="34" charset="-120"/>
                        </a:rPr>
                        <a:t>Verified</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0B1F3A"/>
                    </a:solidFill>
                  </a:tcPr>
                </a:tc>
              </a:tr>
              <a:tr h="603504">
                <a:tc>
                  <a:txBody>
                    <a:bodyPr/>
                    <a:lstStyle/>
                    <a:p>
                      <a:pPr indent="0" marL="0">
                        <a:buNone/>
                      </a:pPr>
                      <a:r>
                        <a:rPr lang="en-US" sz="1300" b="1" dirty="0">
                          <a:solidFill>
                            <a:srgbClr val="B45309"/>
                          </a:solidFill>
                          <a:latin typeface="Arial" pitchFamily="34" charset="0"/>
                          <a:ea typeface="Arial" pitchFamily="34" charset="-122"/>
                          <a:cs typeface="Arial" pitchFamily="34" charset="-120"/>
                        </a:rPr>
                        <a:t>India</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b="1" dirty="0">
                          <a:solidFill>
                            <a:srgbClr val="0B1F3A"/>
                          </a:solidFill>
                          <a:latin typeface="Arial" pitchFamily="34" charset="0"/>
                          <a:ea typeface="Arial" pitchFamily="34" charset="-122"/>
                          <a:cs typeface="Arial" pitchFamily="34" charset="-120"/>
                        </a:rPr>
                        <a:t>Hyundai Creta</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475569"/>
                          </a:solidFill>
                          <a:latin typeface="Arial" pitchFamily="34" charset="0"/>
                          <a:ea typeface="Arial" pitchFamily="34" charset="-122"/>
                          <a:cs typeface="Arial" pitchFamily="34" charset="-120"/>
                        </a:rPr>
                        <a:t>King (automatic) · 2026</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B1F3A"/>
                          </a:solidFill>
                          <a:latin typeface="Arial" pitchFamily="34" charset="0"/>
                          <a:ea typeface="Arial" pitchFamily="34" charset="-122"/>
                          <a:cs typeface="Arial" pitchFamily="34" charset="-120"/>
                        </a:rPr>
                        <a:t>AEB, adaptive cruise, lane keeping, ESC, TPMS, EPB + Auto Hold, 6 airbags</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300" b="1" dirty="0">
                          <a:solidFill>
                            <a:srgbClr val="0B1F3A"/>
                          </a:solidFill>
                          <a:latin typeface="Arial" pitchFamily="34" charset="0"/>
                          <a:ea typeface="Arial" pitchFamily="34" charset="-122"/>
                          <a:cs typeface="Arial" pitchFamily="34" charset="-120"/>
                        </a:rPr>
                        <a:t>12/24</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603504">
                <a:tc>
                  <a:txBody>
                    <a:bodyPr/>
                    <a:lstStyle/>
                    <a:p>
                      <a:pPr indent="0" marL="0">
                        <a:buNone/>
                      </a:pPr>
                      <a:r>
                        <a:rPr lang="en-US" sz="1300" b="1" dirty="0">
                          <a:solidFill>
                            <a:srgbClr val="B45309"/>
                          </a:solidFill>
                          <a:latin typeface="Arial" pitchFamily="34" charset="0"/>
                          <a:ea typeface="Arial" pitchFamily="34" charset="-122"/>
                          <a:cs typeface="Arial" pitchFamily="34" charset="-120"/>
                        </a:rPr>
                        <a:t>India</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B1F3A"/>
                          </a:solidFill>
                          <a:latin typeface="Arial" pitchFamily="34" charset="0"/>
                          <a:ea typeface="Arial" pitchFamily="34" charset="-122"/>
                          <a:cs typeface="Arial" pitchFamily="34" charset="-120"/>
                        </a:rPr>
                        <a:t>Mahindra XEV 9e</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475569"/>
                          </a:solidFill>
                          <a:latin typeface="Arial" pitchFamily="34" charset="0"/>
                          <a:ea typeface="Arial" pitchFamily="34" charset="-122"/>
                          <a:cs typeface="Arial" pitchFamily="34" charset="-120"/>
                        </a:rPr>
                        <a:t>Pack Three · 2025–26 · EV</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Arial" pitchFamily="34" charset="0"/>
                          <a:ea typeface="Arial" pitchFamily="34" charset="-122"/>
                          <a:cs typeface="Arial" pitchFamily="34" charset="-120"/>
                        </a:rPr>
                        <a:t>AEB, lane centring, blind spot &amp; rear cross-traffic alert, ESP, 7 airbags</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1F3A"/>
                          </a:solidFill>
                          <a:latin typeface="Arial" pitchFamily="34" charset="0"/>
                          <a:ea typeface="Arial" pitchFamily="34" charset="-122"/>
                          <a:cs typeface="Arial" pitchFamily="34" charset="-120"/>
                        </a:rPr>
                        <a:t>10/24</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B45309"/>
                          </a:solidFill>
                          <a:latin typeface="Arial" pitchFamily="34" charset="0"/>
                          <a:ea typeface="Arial" pitchFamily="34" charset="-122"/>
                          <a:cs typeface="Arial" pitchFamily="34" charset="-120"/>
                        </a:rPr>
                        <a:t>India</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b="1" dirty="0">
                          <a:solidFill>
                            <a:srgbClr val="0B1F3A"/>
                          </a:solidFill>
                          <a:latin typeface="Arial" pitchFamily="34" charset="0"/>
                          <a:ea typeface="Arial" pitchFamily="34" charset="-122"/>
                          <a:cs typeface="Arial" pitchFamily="34" charset="-120"/>
                        </a:rPr>
                        <a:t>Maruti Suzuki Swift</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475569"/>
                          </a:solidFill>
                          <a:latin typeface="Arial" pitchFamily="34" charset="0"/>
                          <a:ea typeface="Arial" pitchFamily="34" charset="-122"/>
                          <a:cs typeface="Arial" pitchFamily="34" charset="-120"/>
                        </a:rPr>
                        <a:t>ZXi+ · 2024–</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B1F3A"/>
                          </a:solidFill>
                          <a:latin typeface="Arial" pitchFamily="34" charset="0"/>
                          <a:ea typeface="Arial" pitchFamily="34" charset="-122"/>
                          <a:cs typeface="Arial" pitchFamily="34" charset="-120"/>
                        </a:rPr>
                        <a:t>ABS + EBD, Brake Assist, ESP, Hill Hold, 6 airbags, pretensioners, load limiters</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300" b="1" dirty="0">
                          <a:solidFill>
                            <a:srgbClr val="0B1F3A"/>
                          </a:solidFill>
                          <a:latin typeface="Arial" pitchFamily="34" charset="0"/>
                          <a:ea typeface="Arial" pitchFamily="34" charset="-122"/>
                          <a:cs typeface="Arial" pitchFamily="34" charset="-120"/>
                        </a:rPr>
                        <a:t>9/24</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603504">
                <a:tc>
                  <a:txBody>
                    <a:bodyPr/>
                    <a:lstStyle/>
                    <a:p>
                      <a:pPr indent="0" marL="0">
                        <a:buNone/>
                      </a:pPr>
                      <a:r>
                        <a:rPr lang="en-US" sz="1300" b="1" dirty="0">
                          <a:solidFill>
                            <a:srgbClr val="2563EB"/>
                          </a:solidFill>
                          <a:latin typeface="Arial" pitchFamily="34" charset="0"/>
                          <a:ea typeface="Arial" pitchFamily="34" charset="-122"/>
                          <a:cs typeface="Arial" pitchFamily="34" charset="-120"/>
                        </a:rPr>
                        <a:t>USA</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B1F3A"/>
                          </a:solidFill>
                          <a:latin typeface="Arial" pitchFamily="34" charset="0"/>
                          <a:ea typeface="Arial" pitchFamily="34" charset="-122"/>
                          <a:cs typeface="Arial" pitchFamily="34" charset="-120"/>
                        </a:rPr>
                        <a:t>Hyundai IONIQ 5 N</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475569"/>
                          </a:solidFill>
                          <a:latin typeface="Arial" pitchFamily="34" charset="0"/>
                          <a:ea typeface="Arial" pitchFamily="34" charset="-122"/>
                          <a:cs typeface="Arial" pitchFamily="34" charset="-120"/>
                        </a:rPr>
                        <a:t>MY2026 · EV</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Arial" pitchFamily="34" charset="0"/>
                          <a:ea typeface="Arial" pitchFamily="34" charset="-122"/>
                          <a:cs typeface="Arial" pitchFamily="34" charset="-120"/>
                        </a:rPr>
                        <a:t>Adaptive cruise, lane keeping, blind-spot &amp; rear cross-traffic avoidance, SOS/auto-collision call</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1F3A"/>
                          </a:solidFill>
                          <a:latin typeface="Arial" pitchFamily="34" charset="0"/>
                          <a:ea typeface="Arial" pitchFamily="34" charset="-122"/>
                          <a:cs typeface="Arial" pitchFamily="34" charset="-120"/>
                        </a:rPr>
                        <a:t>13/24</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r h="603504">
                <a:tc>
                  <a:txBody>
                    <a:bodyPr/>
                    <a:lstStyle/>
                    <a:p>
                      <a:pPr indent="0" marL="0">
                        <a:buNone/>
                      </a:pPr>
                      <a:r>
                        <a:rPr lang="en-US" sz="1300" b="1" dirty="0">
                          <a:solidFill>
                            <a:srgbClr val="2563EB"/>
                          </a:solidFill>
                          <a:latin typeface="Arial" pitchFamily="34" charset="0"/>
                          <a:ea typeface="Arial" pitchFamily="34" charset="-122"/>
                          <a:cs typeface="Arial" pitchFamily="34" charset="-120"/>
                        </a:rPr>
                        <a:t>USA</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b="1" dirty="0">
                          <a:solidFill>
                            <a:srgbClr val="0B1F3A"/>
                          </a:solidFill>
                          <a:latin typeface="Arial" pitchFamily="34" charset="0"/>
                          <a:ea typeface="Arial" pitchFamily="34" charset="-122"/>
                          <a:cs typeface="Arial" pitchFamily="34" charset="-120"/>
                        </a:rPr>
                        <a:t>Tesla Model Y</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475569"/>
                          </a:solidFill>
                          <a:latin typeface="Arial" pitchFamily="34" charset="0"/>
                          <a:ea typeface="Arial" pitchFamily="34" charset="-122"/>
                          <a:cs typeface="Arial" pitchFamily="34" charset="-120"/>
                        </a:rPr>
                        <a:t>Premium · MY2026 · EV</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indent="0" marL="0">
                        <a:buNone/>
                      </a:pPr>
                      <a:r>
                        <a:rPr lang="en-US" sz="1300" dirty="0">
                          <a:solidFill>
                            <a:srgbClr val="0B1F3A"/>
                          </a:solidFill>
                          <a:latin typeface="Arial" pitchFamily="34" charset="0"/>
                          <a:ea typeface="Arial" pitchFamily="34" charset="-122"/>
                          <a:cs typeface="Arial" pitchFamily="34" charset="-120"/>
                        </a:rPr>
                        <a:t>FCW, AEB, lane departure avoidance and adaptive cruise (TACC) on every Model Y</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c>
                  <a:txBody>
                    <a:bodyPr/>
                    <a:lstStyle/>
                    <a:p>
                      <a:pPr algn="ctr" indent="0" marL="0">
                        <a:buNone/>
                      </a:pPr>
                      <a:r>
                        <a:rPr lang="en-US" sz="1300" b="1" dirty="0">
                          <a:solidFill>
                            <a:srgbClr val="0B1F3A"/>
                          </a:solidFill>
                          <a:latin typeface="Arial" pitchFamily="34" charset="0"/>
                          <a:ea typeface="Arial" pitchFamily="34" charset="-122"/>
                          <a:cs typeface="Arial" pitchFamily="34" charset="-120"/>
                        </a:rPr>
                        <a:t>6/24</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1F5F9"/>
                    </a:solidFill>
                  </a:tcPr>
                </a:tc>
              </a:tr>
              <a:tr h="603504">
                <a:tc>
                  <a:txBody>
                    <a:bodyPr/>
                    <a:lstStyle/>
                    <a:p>
                      <a:pPr indent="0" marL="0">
                        <a:buNone/>
                      </a:pPr>
                      <a:r>
                        <a:rPr lang="en-US" sz="1300" b="1" dirty="0">
                          <a:solidFill>
                            <a:srgbClr val="2563EB"/>
                          </a:solidFill>
                          <a:latin typeface="Arial" pitchFamily="34" charset="0"/>
                          <a:ea typeface="Arial" pitchFamily="34" charset="-122"/>
                          <a:cs typeface="Arial" pitchFamily="34" charset="-120"/>
                        </a:rPr>
                        <a:t>UK</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b="1" dirty="0">
                          <a:solidFill>
                            <a:srgbClr val="0B1F3A"/>
                          </a:solidFill>
                          <a:latin typeface="Arial" pitchFamily="34" charset="0"/>
                          <a:ea typeface="Arial" pitchFamily="34" charset="-122"/>
                          <a:cs typeface="Arial" pitchFamily="34" charset="-120"/>
                        </a:rPr>
                        <a:t>Dacia Sandero</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475569"/>
                          </a:solidFill>
                          <a:latin typeface="Arial" pitchFamily="34" charset="0"/>
                          <a:ea typeface="Arial" pitchFamily="34" charset="-122"/>
                          <a:cs typeface="Arial" pitchFamily="34" charset="-120"/>
                        </a:rPr>
                        <a:t>Essential (entry) · 2025–26</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indent="0" marL="0">
                        <a:buNone/>
                      </a:pPr>
                      <a:r>
                        <a:rPr lang="en-US" sz="1300" dirty="0">
                          <a:solidFill>
                            <a:srgbClr val="0B1F3A"/>
                          </a:solidFill>
                          <a:latin typeface="Arial" pitchFamily="34" charset="0"/>
                          <a:ea typeface="Arial" pitchFamily="34" charset="-122"/>
                          <a:cs typeface="Arial" pitchFamily="34" charset="-120"/>
                        </a:rPr>
                        <a:t>AEB, lane departure warning + lane keeping, eCall, ESC, 6 airbags – even on the base trim</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c>
                  <a:txBody>
                    <a:bodyPr/>
                    <a:lstStyle/>
                    <a:p>
                      <a:pPr algn="ctr" indent="0" marL="0">
                        <a:buNone/>
                      </a:pPr>
                      <a:r>
                        <a:rPr lang="en-US" sz="1300" b="1" dirty="0">
                          <a:solidFill>
                            <a:srgbClr val="0B1F3A"/>
                          </a:solidFill>
                          <a:latin typeface="Arial" pitchFamily="34" charset="0"/>
                          <a:ea typeface="Arial" pitchFamily="34" charset="-122"/>
                          <a:cs typeface="Arial" pitchFamily="34" charset="-120"/>
                        </a:rPr>
                        <a:t>11/24</a:t>
                      </a:r>
                      <a:endParaRPr lang="en-US" sz="1300" dirty="0">
                        <a:latin typeface="Arial" charset="0"/>
                        <a:ea typeface="Arial" charset="0"/>
                        <a:cs typeface="Arial" charset="0"/>
                      </a:endParaRPr>
                    </a:p>
                  </a:txBody>
                  <a:tcPr marL="73152" marR="73152" marT="36576" marB="36576" anchor="ctr">
                    <a:lnL w="9525" cap="flat" cmpd="sng" algn="ctr">
                      <a:solidFill>
                        <a:srgbClr val="CBD5E1"/>
                      </a:solidFill>
                      <a:prstDash val="solid"/>
                      <a:round/>
                      <a:headEnd type="none" w="med" len="med"/>
                      <a:tailEnd type="none" w="med" len="med"/>
                    </a:lnL>
                    <a:lnR w="9525" cap="flat" cmpd="sng" algn="ctr">
                      <a:solidFill>
                        <a:srgbClr val="CBD5E1"/>
                      </a:solidFill>
                      <a:prstDash val="solid"/>
                      <a:round/>
                      <a:headEnd type="none" w="med" len="med"/>
                      <a:tailEnd type="none" w="med" len="med"/>
                    </a:lnR>
                    <a:lnT w="9525" cap="flat" cmpd="sng" algn="ctr">
                      <a:solidFill>
                        <a:srgbClr val="CBD5E1"/>
                      </a:solidFill>
                      <a:prstDash val="solid"/>
                      <a:round/>
                      <a:headEnd type="none" w="med" len="med"/>
                      <a:tailEnd type="none" w="med" len="med"/>
                    </a:lnT>
                    <a:lnB w="9525" cap="flat" cmpd="sng" algn="ctr">
                      <a:solidFill>
                        <a:srgbClr val="CBD5E1"/>
                      </a:solidFill>
                      <a:prstDash val="solid"/>
                      <a:round/>
                      <a:headEnd type="none" w="med" len="med"/>
                      <a:tailEnd type="none" w="med" len="med"/>
                    </a:lnB>
                    <a:solidFill>
                      <a:srgbClr val="FFFFFF"/>
                    </a:solidFill>
                  </a:tcPr>
                </a:tc>
              </a:tr>
            </a:tbl>
          </a:graphicData>
        </a:graphic>
      </p:graphicFrame>
      <p:sp>
        <p:nvSpPr>
          <p:cNvPr id="7" name="a1_b_236"/>
          <p:cNvSpPr/>
          <p:nvPr/>
        </p:nvSpPr>
        <p:spPr>
          <a:xfrm>
            <a:off x="548640" y="5870448"/>
            <a:ext cx="11094415" cy="384048"/>
          </a:xfrm>
          <a:prstGeom prst="roundRect">
            <a:avLst>
              <a:gd name="adj" fmla="val 19048"/>
            </a:avLst>
          </a:prstGeom>
          <a:solidFill>
            <a:srgbClr val="FEF3C7"/>
          </a:solidFill>
          <a:ln/>
        </p:spPr>
      </p:sp>
      <p:sp>
        <p:nvSpPr>
          <p:cNvPr id="8" name="a1_t_237"/>
          <p:cNvSpPr txBox="1"/>
          <p:nvPr/>
        </p:nvSpPr>
        <p:spPr>
          <a:xfrm>
            <a:off x="685800" y="5870448"/>
            <a:ext cx="10820095" cy="384048"/>
          </a:xfrm>
          <a:prstGeom prst="rect">
            <a:avLst/>
          </a:prstGeom>
          <a:noFill/>
          <a:ln/>
        </p:spPr>
        <p:txBody>
          <a:bodyPr wrap="square" lIns="508" tIns="508" rIns="508" bIns="508" rtlCol="0" anchor="ctr"/>
          <a:lstStyle/>
          <a:p>
            <a:pPr indent="0" marL="0">
              <a:buNone/>
            </a:pPr>
            <a:r>
              <a:rPr lang="en-US" sz="1500" b="1" dirty="0">
                <a:solidFill>
                  <a:srgbClr val="B45309"/>
                </a:solidFill>
                <a:latin typeface="Arial" pitchFamily="34" charset="0"/>
                <a:ea typeface="Arial" pitchFamily="34" charset="-122"/>
                <a:cs typeface="Arial" pitchFamily="34" charset="-120"/>
              </a:rPr>
              <a:t>Same model name ≠ same safety kit. Always check the brochure for your exact variant.</a:t>
            </a:r>
            <a:endParaRPr lang="en-US" sz="1500" dirty="0"/>
          </a:p>
        </p:txBody>
      </p:sp>
      <p:sp>
        <p:nvSpPr>
          <p:cNvPr id="9" name="t_238"/>
          <p:cNvSpPr txBox="1"/>
          <p:nvPr/>
        </p:nvSpPr>
        <p:spPr>
          <a:xfrm>
            <a:off x="548640" y="6272784"/>
            <a:ext cx="10332720" cy="329184"/>
          </a:xfrm>
          <a:prstGeom prst="rect">
            <a:avLst/>
          </a:prstGeom>
          <a:noFill/>
          <a:ln/>
        </p:spPr>
        <p:txBody>
          <a:bodyPr wrap="square" lIns="508" tIns="508" rIns="508" bIns="508" rtlCol="0" anchor="ctr"/>
          <a:lstStyle/>
          <a:p>
            <a:pPr indent="0" marL="0">
              <a:buNone/>
            </a:pPr>
            <a:r>
              <a:rPr lang="en-US" sz="1000" dirty="0">
                <a:solidFill>
                  <a:srgbClr val="64748B"/>
                </a:solidFill>
                <a:latin typeface="Arial" pitchFamily="34" charset="0"/>
                <a:ea typeface="Arial" pitchFamily="34" charset="-122"/>
                <a:cs typeface="Arial" pitchFamily="34" charset="-120"/>
              </a:rPr>
              <a:t>Sources: hyundai.com/in · mahindraelectricsuv.com · marutisuzuki.com · hyundainews.com · tesla.com · press.dacia.co.uk (full list in notes and research report)</a:t>
            </a:r>
            <a:endParaRPr lang="en-US" sz="1000" dirty="0"/>
          </a:p>
        </p:txBody>
      </p:sp>
      <p:sp>
        <p:nvSpPr>
          <p:cNvPr id="10"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9</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b_239"/>
          <p:cNvSpPr/>
          <p:nvPr/>
        </p:nvSpPr>
        <p:spPr>
          <a:xfrm>
            <a:off x="548640" y="274320"/>
            <a:ext cx="1984248" cy="292608"/>
          </a:xfrm>
          <a:prstGeom prst="roundRect">
            <a:avLst>
              <a:gd name="adj" fmla="val 50000"/>
            </a:avLst>
          </a:prstGeom>
          <a:solidFill>
            <a:srgbClr val="0B1F3A"/>
          </a:solidFill>
          <a:ln/>
        </p:spPr>
      </p:sp>
      <p:sp>
        <p:nvSpPr>
          <p:cNvPr id="3" name="t_240"/>
          <p:cNvSpPr txBox="1"/>
          <p:nvPr/>
        </p:nvSpPr>
        <p:spPr>
          <a:xfrm>
            <a:off x="548640" y="274320"/>
            <a:ext cx="1984248"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INDIA VS GLOBAL</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Why Safety Kit Differs by Market</a:t>
            </a:r>
            <a:endParaRPr lang="en-US" sz="3000" dirty="0"/>
          </a:p>
        </p:txBody>
      </p:sp>
      <p:sp>
        <p:nvSpPr>
          <p:cNvPr id="5" name="t_241"/>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Rules set the minimum; manufacturers decide the rest</a:t>
            </a:r>
            <a:endParaRPr lang="en-US" sz="1800" dirty="0"/>
          </a:p>
        </p:txBody>
      </p:sp>
      <p:sp>
        <p:nvSpPr>
          <p:cNvPr id="6" name="a1_b_242"/>
          <p:cNvSpPr/>
          <p:nvPr/>
        </p:nvSpPr>
        <p:spPr>
          <a:xfrm>
            <a:off x="548640" y="1691640"/>
            <a:ext cx="3611880" cy="3977640"/>
          </a:xfrm>
          <a:prstGeom prst="roundRect">
            <a:avLst>
              <a:gd name="adj" fmla="val 2025"/>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7" name="a1_b_243"/>
          <p:cNvSpPr/>
          <p:nvPr/>
        </p:nvSpPr>
        <p:spPr>
          <a:xfrm>
            <a:off x="548640" y="1691640"/>
            <a:ext cx="3611880" cy="685800"/>
          </a:xfrm>
          <a:prstGeom prst="rect">
            <a:avLst/>
          </a:prstGeom>
          <a:solidFill>
            <a:srgbClr val="B45309"/>
          </a:solidFill>
          <a:ln/>
        </p:spPr>
      </p:sp>
      <p:pic>
        <p:nvPicPr>
          <p:cNvPr id="8" name="a1_i_244" descr="preencoded.png">    </p:cNvPr>
          <p:cNvPicPr>
            <a:picLocks noChangeAspect="1"/>
          </p:cNvPicPr>
          <p:nvPr/>
        </p:nvPicPr>
        <p:blipFill>
          <a:blip r:embed="rId1"/>
          <a:stretch>
            <a:fillRect/>
          </a:stretch>
        </p:blipFill>
        <p:spPr>
          <a:xfrm>
            <a:off x="731520" y="1819656"/>
            <a:ext cx="429768" cy="429768"/>
          </a:xfrm>
          <a:prstGeom prst="rect">
            <a:avLst/>
          </a:prstGeom>
        </p:spPr>
      </p:pic>
      <p:sp>
        <p:nvSpPr>
          <p:cNvPr id="9" name="a1_t_245"/>
          <p:cNvSpPr txBox="1"/>
          <p:nvPr/>
        </p:nvSpPr>
        <p:spPr>
          <a:xfrm>
            <a:off x="1280160" y="1691640"/>
            <a:ext cx="2743200" cy="685800"/>
          </a:xfrm>
          <a:prstGeom prst="rect">
            <a:avLst/>
          </a:prstGeom>
          <a:noFill/>
          <a:ln/>
        </p:spPr>
        <p:txBody>
          <a:bodyPr wrap="square" lIns="508" tIns="508" rIns="508" bIns="508" rtlCol="0" anchor="ctr"/>
          <a:lstStyle/>
          <a:p>
            <a:pPr indent="0" marL="0">
              <a:buNone/>
            </a:pPr>
            <a:r>
              <a:rPr lang="en-US" sz="1800" b="1" dirty="0">
                <a:solidFill>
                  <a:srgbClr val="FFFFFF"/>
                </a:solidFill>
                <a:latin typeface="Arial" pitchFamily="34" charset="0"/>
                <a:ea typeface="Arial" pitchFamily="34" charset="-122"/>
                <a:cs typeface="Arial" pitchFamily="34" charset="-120"/>
              </a:rPr>
              <a:t>INDIA</a:t>
            </a:r>
            <a:endParaRPr lang="en-US" sz="1800" dirty="0"/>
          </a:p>
        </p:txBody>
      </p:sp>
      <p:sp>
        <p:nvSpPr>
          <p:cNvPr id="10" name="a1_t_246"/>
          <p:cNvSpPr txBox="1"/>
          <p:nvPr/>
        </p:nvSpPr>
        <p:spPr>
          <a:xfrm>
            <a:off x="685800" y="2514600"/>
            <a:ext cx="3337560" cy="3063240"/>
          </a:xfrm>
          <a:prstGeom prst="rect">
            <a:avLst/>
          </a:prstGeom>
          <a:noFill/>
          <a:ln/>
        </p:spPr>
        <p:txBody>
          <a:bodyPr wrap="square" lIns="508" tIns="508" rIns="508" bIns="508" rtlCol="0" anchor="t"/>
          <a:lstStyle/>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ABS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compulsory on all cars on sale since April 2019</a:t>
            </a:r>
            <a:endParaRPr lang="en-US" sz="1500" dirty="0"/>
          </a:p>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Bharat NCAP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voluntary star ratings since October 2023</a:t>
            </a:r>
            <a:endParaRPr lang="en-US" sz="1500" dirty="0"/>
          </a:p>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6 airbags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now standard on many models (e.g. Swift, Alto K10)</a:t>
            </a:r>
            <a:endParaRPr lang="en-US" sz="1500" dirty="0"/>
          </a:p>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ADAS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mostly on top variants (e.g. Creta King, XEV 9e Pack Three)</a:t>
            </a:r>
            <a:endParaRPr lang="en-US" sz="1500" dirty="0"/>
          </a:p>
        </p:txBody>
      </p:sp>
      <p:sp>
        <p:nvSpPr>
          <p:cNvPr id="11" name="a2_b_247"/>
          <p:cNvSpPr/>
          <p:nvPr/>
        </p:nvSpPr>
        <p:spPr>
          <a:xfrm>
            <a:off x="4343400" y="1691640"/>
            <a:ext cx="3611880" cy="3977640"/>
          </a:xfrm>
          <a:prstGeom prst="roundRect">
            <a:avLst>
              <a:gd name="adj" fmla="val 2025"/>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12" name="a2_b_248"/>
          <p:cNvSpPr/>
          <p:nvPr/>
        </p:nvSpPr>
        <p:spPr>
          <a:xfrm>
            <a:off x="4343400" y="1691640"/>
            <a:ext cx="3611880" cy="685800"/>
          </a:xfrm>
          <a:prstGeom prst="rect">
            <a:avLst/>
          </a:prstGeom>
          <a:solidFill>
            <a:srgbClr val="2563EB"/>
          </a:solidFill>
          <a:ln/>
        </p:spPr>
      </p:sp>
      <p:pic>
        <p:nvPicPr>
          <p:cNvPr id="13" name="a2_i_249" descr="preencoded.png">    </p:cNvPr>
          <p:cNvPicPr>
            <a:picLocks noChangeAspect="1"/>
          </p:cNvPicPr>
          <p:nvPr/>
        </p:nvPicPr>
        <p:blipFill>
          <a:blip r:embed="rId2"/>
          <a:stretch>
            <a:fillRect/>
          </a:stretch>
        </p:blipFill>
        <p:spPr>
          <a:xfrm>
            <a:off x="4526280" y="1819656"/>
            <a:ext cx="429768" cy="429768"/>
          </a:xfrm>
          <a:prstGeom prst="rect">
            <a:avLst/>
          </a:prstGeom>
        </p:spPr>
      </p:pic>
      <p:sp>
        <p:nvSpPr>
          <p:cNvPr id="14" name="a2_t_250"/>
          <p:cNvSpPr txBox="1"/>
          <p:nvPr/>
        </p:nvSpPr>
        <p:spPr>
          <a:xfrm>
            <a:off x="5074920" y="1691640"/>
            <a:ext cx="2743200" cy="685800"/>
          </a:xfrm>
          <a:prstGeom prst="rect">
            <a:avLst/>
          </a:prstGeom>
          <a:noFill/>
          <a:ln/>
        </p:spPr>
        <p:txBody>
          <a:bodyPr wrap="square" lIns="508" tIns="508" rIns="508" bIns="508" rtlCol="0" anchor="ctr"/>
          <a:lstStyle/>
          <a:p>
            <a:pPr indent="0" marL="0">
              <a:buNone/>
            </a:pPr>
            <a:r>
              <a:rPr lang="en-US" sz="1800" b="1" dirty="0">
                <a:solidFill>
                  <a:srgbClr val="FFFFFF"/>
                </a:solidFill>
                <a:latin typeface="Arial" pitchFamily="34" charset="0"/>
                <a:ea typeface="Arial" pitchFamily="34" charset="-122"/>
                <a:cs typeface="Arial" pitchFamily="34" charset="-120"/>
              </a:rPr>
              <a:t>EUROPEAN UNION</a:t>
            </a:r>
            <a:endParaRPr lang="en-US" sz="1800" dirty="0"/>
          </a:p>
        </p:txBody>
      </p:sp>
      <p:sp>
        <p:nvSpPr>
          <p:cNvPr id="15" name="a2_t_251"/>
          <p:cNvSpPr txBox="1"/>
          <p:nvPr/>
        </p:nvSpPr>
        <p:spPr>
          <a:xfrm>
            <a:off x="4480560" y="2514600"/>
            <a:ext cx="3337560" cy="3063240"/>
          </a:xfrm>
          <a:prstGeom prst="rect">
            <a:avLst/>
          </a:prstGeom>
          <a:noFill/>
          <a:ln/>
        </p:spPr>
        <p:txBody>
          <a:bodyPr wrap="square" lIns="508" tIns="508" rIns="508" bIns="508" rtlCol="0" anchor="t"/>
          <a:lstStyle/>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eCall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on new models approved after 31 March 2018</a:t>
            </a:r>
            <a:endParaRPr lang="en-US" sz="1500" dirty="0"/>
          </a:p>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From 7 July 2024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all new cars need AEB, emergency lane keeping, EDR, TPMS and more</a:t>
            </a:r>
            <a:endParaRPr lang="en-US" sz="1500" dirty="0"/>
          </a:p>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UK example: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Dacia fitted the same kit to the Sandero Essential</a:t>
            </a:r>
            <a:endParaRPr lang="en-US" sz="1500" dirty="0"/>
          </a:p>
        </p:txBody>
      </p:sp>
      <p:sp>
        <p:nvSpPr>
          <p:cNvPr id="16" name="a3_b_252"/>
          <p:cNvSpPr/>
          <p:nvPr/>
        </p:nvSpPr>
        <p:spPr>
          <a:xfrm>
            <a:off x="8138160" y="1691640"/>
            <a:ext cx="3611880" cy="3977640"/>
          </a:xfrm>
          <a:prstGeom prst="roundRect">
            <a:avLst>
              <a:gd name="adj" fmla="val 2025"/>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17" name="a3_b_253"/>
          <p:cNvSpPr/>
          <p:nvPr/>
        </p:nvSpPr>
        <p:spPr>
          <a:xfrm>
            <a:off x="8138160" y="1691640"/>
            <a:ext cx="3611880" cy="685800"/>
          </a:xfrm>
          <a:prstGeom prst="rect">
            <a:avLst/>
          </a:prstGeom>
          <a:solidFill>
            <a:srgbClr val="0E7490"/>
          </a:solidFill>
          <a:ln/>
        </p:spPr>
      </p:sp>
      <p:pic>
        <p:nvPicPr>
          <p:cNvPr id="18" name="a3_i_254" descr="preencoded.png">    </p:cNvPr>
          <p:cNvPicPr>
            <a:picLocks noChangeAspect="1"/>
          </p:cNvPicPr>
          <p:nvPr/>
        </p:nvPicPr>
        <p:blipFill>
          <a:blip r:embed="rId3"/>
          <a:stretch>
            <a:fillRect/>
          </a:stretch>
        </p:blipFill>
        <p:spPr>
          <a:xfrm>
            <a:off x="8321040" y="1819656"/>
            <a:ext cx="429768" cy="429768"/>
          </a:xfrm>
          <a:prstGeom prst="rect">
            <a:avLst/>
          </a:prstGeom>
        </p:spPr>
      </p:pic>
      <p:sp>
        <p:nvSpPr>
          <p:cNvPr id="19" name="a3_t_255"/>
          <p:cNvSpPr txBox="1"/>
          <p:nvPr/>
        </p:nvSpPr>
        <p:spPr>
          <a:xfrm>
            <a:off x="8869680" y="1691640"/>
            <a:ext cx="2743200" cy="685800"/>
          </a:xfrm>
          <a:prstGeom prst="rect">
            <a:avLst/>
          </a:prstGeom>
          <a:noFill/>
          <a:ln/>
        </p:spPr>
        <p:txBody>
          <a:bodyPr wrap="square" lIns="508" tIns="508" rIns="508" bIns="508" rtlCol="0" anchor="ctr"/>
          <a:lstStyle/>
          <a:p>
            <a:pPr indent="0" marL="0">
              <a:buNone/>
            </a:pPr>
            <a:r>
              <a:rPr lang="en-US" sz="1800" b="1" dirty="0">
                <a:solidFill>
                  <a:srgbClr val="FFFFFF"/>
                </a:solidFill>
                <a:latin typeface="Arial" pitchFamily="34" charset="0"/>
                <a:ea typeface="Arial" pitchFamily="34" charset="-122"/>
                <a:cs typeface="Arial" pitchFamily="34" charset="-120"/>
              </a:rPr>
              <a:t>UNITED STATES</a:t>
            </a:r>
            <a:endParaRPr lang="en-US" sz="1800" dirty="0"/>
          </a:p>
        </p:txBody>
      </p:sp>
      <p:sp>
        <p:nvSpPr>
          <p:cNvPr id="20" name="a3_t_256"/>
          <p:cNvSpPr txBox="1"/>
          <p:nvPr/>
        </p:nvSpPr>
        <p:spPr>
          <a:xfrm>
            <a:off x="8275320" y="2514600"/>
            <a:ext cx="3337560" cy="3063240"/>
          </a:xfrm>
          <a:prstGeom prst="rect">
            <a:avLst/>
          </a:prstGeom>
          <a:noFill/>
          <a:ln/>
        </p:spPr>
        <p:txBody>
          <a:bodyPr wrap="square" lIns="508" tIns="508" rIns="508" bIns="508" rtlCol="0" anchor="t"/>
          <a:lstStyle/>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ESC &amp; TPMS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required by federal safety standards (FMVSS 126, 138)</a:t>
            </a:r>
            <a:endParaRPr lang="en-US" sz="1500" dirty="0"/>
          </a:p>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AEB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rule finalised 2024; compliance from Sept 2029 (FMVSS 127)</a:t>
            </a:r>
            <a:endParaRPr lang="en-US" sz="1500" dirty="0"/>
          </a:p>
          <a:p>
            <a:pPr marL="177800" indent="-177800">
              <a:spcAft>
                <a:spcPts val="1000"/>
              </a:spcAft>
              <a:buSzPct val="100000"/>
              <a:buChar char="•"/>
            </a:pPr>
            <a:r>
              <a:rPr lang="en-US" sz="1500" b="1" dirty="0">
                <a:solidFill>
                  <a:srgbClr val="0B1F3A"/>
                </a:solidFill>
                <a:latin typeface="Arial" pitchFamily="34" charset="0"/>
                <a:ea typeface="Arial" pitchFamily="34" charset="-122"/>
                <a:cs typeface="Arial" pitchFamily="34" charset="-120"/>
              </a:rPr>
              <a:t>Example: </a:t>
            </a:r>
            <a:pPr indent="0" marL="0">
              <a:spcAft>
                <a:spcPts val="1000"/>
              </a:spcAft>
              <a:buNone/>
            </a:pPr>
            <a:r>
              <a:rPr lang="en-US" sz="1500" dirty="0">
                <a:solidFill>
                  <a:srgbClr val="0B1F3A"/>
                </a:solidFill>
                <a:latin typeface="Arial" pitchFamily="34" charset="0"/>
                <a:ea typeface="Arial" pitchFamily="34" charset="-122"/>
                <a:cs typeface="Arial" pitchFamily="34" charset="-120"/>
              </a:rPr>
              <a:t>Tesla fits FCW, AEB and lane departure avoidance on every Model Y</a:t>
            </a:r>
            <a:endParaRPr lang="en-US" sz="1500" dirty="0"/>
          </a:p>
        </p:txBody>
      </p:sp>
      <p:sp>
        <p:nvSpPr>
          <p:cNvPr id="21" name="a4_b_257"/>
          <p:cNvSpPr/>
          <p:nvPr/>
        </p:nvSpPr>
        <p:spPr>
          <a:xfrm>
            <a:off x="548640" y="5760720"/>
            <a:ext cx="11094415" cy="438912"/>
          </a:xfrm>
          <a:prstGeom prst="roundRect">
            <a:avLst>
              <a:gd name="adj" fmla="val 16667"/>
            </a:avLst>
          </a:prstGeom>
          <a:solidFill>
            <a:srgbClr val="FEF3C7"/>
          </a:solidFill>
          <a:ln/>
        </p:spPr>
      </p:sp>
      <p:sp>
        <p:nvSpPr>
          <p:cNvPr id="22" name="a4_t_258"/>
          <p:cNvSpPr txBox="1"/>
          <p:nvPr/>
        </p:nvSpPr>
        <p:spPr>
          <a:xfrm>
            <a:off x="685800" y="5760720"/>
            <a:ext cx="10820095" cy="438912"/>
          </a:xfrm>
          <a:prstGeom prst="rect">
            <a:avLst/>
          </a:prstGeom>
          <a:noFill/>
          <a:ln/>
        </p:spPr>
        <p:txBody>
          <a:bodyPr wrap="square" lIns="508" tIns="508" rIns="508" bIns="508" rtlCol="0" anchor="ctr"/>
          <a:lstStyle/>
          <a:p>
            <a:pPr indent="0" marL="0">
              <a:buNone/>
            </a:pPr>
            <a:r>
              <a:rPr lang="en-US" sz="1500" b="1" dirty="0">
                <a:solidFill>
                  <a:srgbClr val="B45309"/>
                </a:solidFill>
                <a:latin typeface="Arial" pitchFamily="34" charset="0"/>
                <a:ea typeface="Arial" pitchFamily="34" charset="-122"/>
                <a:cs typeface="Arial" pitchFamily="34" charset="-120"/>
              </a:rPr>
              <a:t>A crash-test star rating is not a feature list. Five stars do not mean every system is fitted.</a:t>
            </a:r>
            <a:endParaRPr lang="en-US" sz="1500" dirty="0"/>
          </a:p>
        </p:txBody>
      </p:sp>
      <p:sp>
        <p:nvSpPr>
          <p:cNvPr id="23"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10</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fade">
                                      <p:cBhvr>
                                        <p:cTn id="7" dur="500"/>
                                        <p:tgtEl>
                                          <p:spTgt spid="6"/>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7"/>
                                        </p:tgtEl>
                                        <p:attrNameLst>
                                          <p:attrName>style.visibility</p:attrName>
                                        </p:attrNameLst>
                                      </p:cBhvr>
                                      <p:to>
                                        <p:strVal val="visible"/>
                                      </p:to>
                                    </p:set>
                                    <p:animEffect transition="in" filter="fade">
                                      <p:cBhvr>
                                        <p:cTn id="10" dur="500"/>
                                        <p:tgtEl>
                                          <p:spTgt spid="7"/>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8"/>
                                        </p:tgtEl>
                                        <p:attrNameLst>
                                          <p:attrName>style.visibility</p:attrName>
                                        </p:attrNameLst>
                                      </p:cBhvr>
                                      <p:to>
                                        <p:strVal val="visible"/>
                                      </p:to>
                                    </p:set>
                                    <p:animEffect transition="in" filter="fade">
                                      <p:cBhvr>
                                        <p:cTn id="13" dur="500"/>
                                        <p:tgtEl>
                                          <p:spTgt spid="8"/>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9"/>
                                        </p:tgtEl>
                                        <p:attrNameLst>
                                          <p:attrName>style.visibility</p:attrName>
                                        </p:attrNameLst>
                                      </p:cBhvr>
                                      <p:to>
                                        <p:strVal val="visible"/>
                                      </p:to>
                                    </p:set>
                                    <p:animEffect transition="in" filter="fade">
                                      <p:cBhvr>
                                        <p:cTn id="16" dur="500"/>
                                        <p:tgtEl>
                                          <p:spTgt spid="9"/>
                                        </p:tgtEl>
                                      </p:cBhvr>
                                    </p:animEffect>
                                  </p:childTnLst>
                                </p:cTn>
                              </p:par>
                              <p:par>
                                <p:cTn id="17" presetID="10" presetClass="entr" presetSubtype="0" fill="hold" grpId="0" nodeType="withEffect">
                                  <p:stCondLst>
                                    <p:cond delay="0"/>
                                  </p:stCondLst>
                                  <p:childTnLst>
                                    <p:set>
                                      <p:cBhvr>
                                        <p:cTn id="18" dur="1" fill="hold">
                                          <p:stCondLst>
                                            <p:cond delay="0"/>
                                          </p:stCondLst>
                                        </p:cTn>
                                        <p:tgtEl>
                                          <p:spTgt spid="10"/>
                                        </p:tgtEl>
                                        <p:attrNameLst>
                                          <p:attrName>style.visibility</p:attrName>
                                        </p:attrNameLst>
                                      </p:cBhvr>
                                      <p:to>
                                        <p:strVal val="visible"/>
                                      </p:to>
                                    </p:set>
                                    <p:animEffect transition="in" filter="fade">
                                      <p:cBhvr>
                                        <p:cTn id="19" dur="500"/>
                                        <p:tgtEl>
                                          <p:spTgt spid="10"/>
                                        </p:tgtEl>
                                      </p:cBhvr>
                                    </p:animEffect>
                                  </p:childTnLst>
                                </p:cTn>
                              </p:par>
                            </p:childTnLst>
                          </p:cTn>
                        </p:par>
                      </p:childTnLst>
                    </p:cTn>
                  </p:par>
                  <p:par>
                    <p:cTn id="20" fill="hold">
                      <p:stCondLst>
                        <p:cond delay="indefinite"/>
                      </p:stCondLst>
                      <p:childTnLst>
                        <p:par>
                          <p:cTn id="21" fill="hold">
                            <p:stCondLst>
                              <p:cond delay="0"/>
                            </p:stCondLst>
                            <p:childTnLst>
                              <p:par>
                                <p:cTn id="22" presetID="10" presetClass="entr" presetSubtype="0" fill="hold" grpId="0" nodeType="clickEffect">
                                  <p:stCondLst>
                                    <p:cond delay="0"/>
                                  </p:stCondLst>
                                  <p:childTnLst>
                                    <p:set>
                                      <p:cBhvr>
                                        <p:cTn id="23" dur="1" fill="hold">
                                          <p:stCondLst>
                                            <p:cond delay="0"/>
                                          </p:stCondLst>
                                        </p:cTn>
                                        <p:tgtEl>
                                          <p:spTgt spid="11"/>
                                        </p:tgtEl>
                                        <p:attrNameLst>
                                          <p:attrName>style.visibility</p:attrName>
                                        </p:attrNameLst>
                                      </p:cBhvr>
                                      <p:to>
                                        <p:strVal val="visible"/>
                                      </p:to>
                                    </p:set>
                                    <p:animEffect transition="in" filter="fade">
                                      <p:cBhvr>
                                        <p:cTn id="24" dur="500"/>
                                        <p:tgtEl>
                                          <p:spTgt spid="11"/>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Effect transition="in" filter="fade">
                                      <p:cBhvr>
                                        <p:cTn id="27" dur="500"/>
                                        <p:tgtEl>
                                          <p:spTgt spid="12"/>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3"/>
                                        </p:tgtEl>
                                        <p:attrNameLst>
                                          <p:attrName>style.visibility</p:attrName>
                                        </p:attrNameLst>
                                      </p:cBhvr>
                                      <p:to>
                                        <p:strVal val="visible"/>
                                      </p:to>
                                    </p:set>
                                    <p:animEffect transition="in" filter="fade">
                                      <p:cBhvr>
                                        <p:cTn id="30" dur="500"/>
                                        <p:tgtEl>
                                          <p:spTgt spid="13"/>
                                        </p:tgtEl>
                                      </p:cBhvr>
                                    </p:animEffect>
                                  </p:childTnLst>
                                </p:cTn>
                              </p:par>
                              <p:par>
                                <p:cTn id="31" presetID="10" presetClass="entr" presetSubtype="0" fill="hold" grpId="0" nodeType="withEffect">
                                  <p:stCondLst>
                                    <p:cond delay="0"/>
                                  </p:stCondLst>
                                  <p:childTnLst>
                                    <p:set>
                                      <p:cBhvr>
                                        <p:cTn id="32" dur="1" fill="hold">
                                          <p:stCondLst>
                                            <p:cond delay="0"/>
                                          </p:stCondLst>
                                        </p:cTn>
                                        <p:tgtEl>
                                          <p:spTgt spid="14"/>
                                        </p:tgtEl>
                                        <p:attrNameLst>
                                          <p:attrName>style.visibility</p:attrName>
                                        </p:attrNameLst>
                                      </p:cBhvr>
                                      <p:to>
                                        <p:strVal val="visible"/>
                                      </p:to>
                                    </p:set>
                                    <p:animEffect transition="in" filter="fade">
                                      <p:cBhvr>
                                        <p:cTn id="33" dur="500"/>
                                        <p:tgtEl>
                                          <p:spTgt spid="14"/>
                                        </p:tgtEl>
                                      </p:cBhvr>
                                    </p:animEffect>
                                  </p:childTnLst>
                                </p:cTn>
                              </p:par>
                              <p:par>
                                <p:cTn id="34" presetID="10" presetClass="entr" presetSubtype="0" fill="hold" grpId="0" nodeType="withEffect">
                                  <p:stCondLst>
                                    <p:cond delay="0"/>
                                  </p:stCondLst>
                                  <p:childTnLst>
                                    <p:set>
                                      <p:cBhvr>
                                        <p:cTn id="35" dur="1" fill="hold">
                                          <p:stCondLst>
                                            <p:cond delay="0"/>
                                          </p:stCondLst>
                                        </p:cTn>
                                        <p:tgtEl>
                                          <p:spTgt spid="15"/>
                                        </p:tgtEl>
                                        <p:attrNameLst>
                                          <p:attrName>style.visibility</p:attrName>
                                        </p:attrNameLst>
                                      </p:cBhvr>
                                      <p:to>
                                        <p:strVal val="visible"/>
                                      </p:to>
                                    </p:set>
                                    <p:animEffect transition="in" filter="fade">
                                      <p:cBhvr>
                                        <p:cTn id="36" dur="500"/>
                                        <p:tgtEl>
                                          <p:spTgt spid="15"/>
                                        </p:tgtEl>
                                      </p:cBhvr>
                                    </p:animEffect>
                                  </p:childTnLst>
                                </p:cTn>
                              </p:par>
                            </p:childTnLst>
                          </p:cTn>
                        </p:par>
                      </p:childTnLst>
                    </p:cTn>
                  </p:par>
                  <p:par>
                    <p:cTn id="37" fill="hold">
                      <p:stCondLst>
                        <p:cond delay="indefinite"/>
                      </p:stCondLst>
                      <p:childTnLst>
                        <p:par>
                          <p:cTn id="38" fill="hold">
                            <p:stCondLst>
                              <p:cond delay="0"/>
                            </p:stCondLst>
                            <p:childTnLst>
                              <p:par>
                                <p:cTn id="39" presetID="10" presetClass="entr" presetSubtype="0" fill="hold" grpId="0" nodeType="clickEffect">
                                  <p:stCondLst>
                                    <p:cond delay="0"/>
                                  </p:stCondLst>
                                  <p:childTnLst>
                                    <p:set>
                                      <p:cBhvr>
                                        <p:cTn id="40" dur="1" fill="hold">
                                          <p:stCondLst>
                                            <p:cond delay="0"/>
                                          </p:stCondLst>
                                        </p:cTn>
                                        <p:tgtEl>
                                          <p:spTgt spid="16"/>
                                        </p:tgtEl>
                                        <p:attrNameLst>
                                          <p:attrName>style.visibility</p:attrName>
                                        </p:attrNameLst>
                                      </p:cBhvr>
                                      <p:to>
                                        <p:strVal val="visible"/>
                                      </p:to>
                                    </p:set>
                                    <p:animEffect transition="in" filter="fade">
                                      <p:cBhvr>
                                        <p:cTn id="41" dur="500"/>
                                        <p:tgtEl>
                                          <p:spTgt spid="16"/>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7"/>
                                        </p:tgtEl>
                                        <p:attrNameLst>
                                          <p:attrName>style.visibility</p:attrName>
                                        </p:attrNameLst>
                                      </p:cBhvr>
                                      <p:to>
                                        <p:strVal val="visible"/>
                                      </p:to>
                                    </p:set>
                                    <p:animEffect transition="in" filter="fade">
                                      <p:cBhvr>
                                        <p:cTn id="44" dur="500"/>
                                        <p:tgtEl>
                                          <p:spTgt spid="17"/>
                                        </p:tgtEl>
                                      </p:cBhvr>
                                    </p:animEffect>
                                  </p:childTnLst>
                                </p:cTn>
                              </p:par>
                              <p:par>
                                <p:cTn id="45" presetID="10" presetClass="entr" presetSubtype="0" fill="hold" grpId="0" nodeType="withEffect">
                                  <p:stCondLst>
                                    <p:cond delay="0"/>
                                  </p:stCondLst>
                                  <p:childTnLst>
                                    <p:set>
                                      <p:cBhvr>
                                        <p:cTn id="46" dur="1" fill="hold">
                                          <p:stCondLst>
                                            <p:cond delay="0"/>
                                          </p:stCondLst>
                                        </p:cTn>
                                        <p:tgtEl>
                                          <p:spTgt spid="18"/>
                                        </p:tgtEl>
                                        <p:attrNameLst>
                                          <p:attrName>style.visibility</p:attrName>
                                        </p:attrNameLst>
                                      </p:cBhvr>
                                      <p:to>
                                        <p:strVal val="visible"/>
                                      </p:to>
                                    </p:set>
                                    <p:animEffect transition="in" filter="fade">
                                      <p:cBhvr>
                                        <p:cTn id="47" dur="500"/>
                                        <p:tgtEl>
                                          <p:spTgt spid="18"/>
                                        </p:tgtEl>
                                      </p:cBhvr>
                                    </p:animEffect>
                                  </p:childTnLst>
                                </p:cTn>
                              </p:par>
                              <p:par>
                                <p:cTn id="48" presetID="10" presetClass="entr" presetSubtype="0" fill="hold" grpId="0" nodeType="withEffect">
                                  <p:stCondLst>
                                    <p:cond delay="0"/>
                                  </p:stCondLst>
                                  <p:childTnLst>
                                    <p:set>
                                      <p:cBhvr>
                                        <p:cTn id="49" dur="1" fill="hold">
                                          <p:stCondLst>
                                            <p:cond delay="0"/>
                                          </p:stCondLst>
                                        </p:cTn>
                                        <p:tgtEl>
                                          <p:spTgt spid="19"/>
                                        </p:tgtEl>
                                        <p:attrNameLst>
                                          <p:attrName>style.visibility</p:attrName>
                                        </p:attrNameLst>
                                      </p:cBhvr>
                                      <p:to>
                                        <p:strVal val="visible"/>
                                      </p:to>
                                    </p:set>
                                    <p:animEffect transition="in" filter="fade">
                                      <p:cBhvr>
                                        <p:cTn id="50" dur="500"/>
                                        <p:tgtEl>
                                          <p:spTgt spid="19"/>
                                        </p:tgtEl>
                                      </p:cBhvr>
                                    </p:animEffect>
                                  </p:childTnLst>
                                </p:cTn>
                              </p:par>
                              <p:par>
                                <p:cTn id="51" presetID="10" presetClass="entr" presetSubtype="0" fill="hold" grpId="0" nodeType="withEffect">
                                  <p:stCondLst>
                                    <p:cond delay="0"/>
                                  </p:stCondLst>
                                  <p:childTnLst>
                                    <p:set>
                                      <p:cBhvr>
                                        <p:cTn id="52" dur="1" fill="hold">
                                          <p:stCondLst>
                                            <p:cond delay="0"/>
                                          </p:stCondLst>
                                        </p:cTn>
                                        <p:tgtEl>
                                          <p:spTgt spid="20"/>
                                        </p:tgtEl>
                                        <p:attrNameLst>
                                          <p:attrName>style.visibility</p:attrName>
                                        </p:attrNameLst>
                                      </p:cBhvr>
                                      <p:to>
                                        <p:strVal val="visible"/>
                                      </p:to>
                                    </p:set>
                                    <p:animEffect transition="in" filter="fade">
                                      <p:cBhvr>
                                        <p:cTn id="53" dur="500"/>
                                        <p:tgtEl>
                                          <p:spTgt spid="20"/>
                                        </p:tgtEl>
                                      </p:cBhvr>
                                    </p:animEffect>
                                  </p:childTnLst>
                                </p:cTn>
                              </p:par>
                            </p:childTnLst>
                          </p:cTn>
                        </p:par>
                      </p:childTnLst>
                    </p:cTn>
                  </p:par>
                  <p:par>
                    <p:cTn id="54" fill="hold">
                      <p:stCondLst>
                        <p:cond delay="indefinite"/>
                      </p:stCondLst>
                      <p:childTnLst>
                        <p:par>
                          <p:cTn id="55" fill="hold">
                            <p:stCondLst>
                              <p:cond delay="0"/>
                            </p:stCondLst>
                            <p:childTnLst>
                              <p:par>
                                <p:cTn id="56" presetID="10" presetClass="entr" presetSubtype="0" fill="hold" grpId="0" nodeType="clickEffect">
                                  <p:stCondLst>
                                    <p:cond delay="0"/>
                                  </p:stCondLst>
                                  <p:childTnLst>
                                    <p:set>
                                      <p:cBhvr>
                                        <p:cTn id="57" dur="1" fill="hold">
                                          <p:stCondLst>
                                            <p:cond delay="0"/>
                                          </p:stCondLst>
                                        </p:cTn>
                                        <p:tgtEl>
                                          <p:spTgt spid="21"/>
                                        </p:tgtEl>
                                        <p:attrNameLst>
                                          <p:attrName>style.visibility</p:attrName>
                                        </p:attrNameLst>
                                      </p:cBhvr>
                                      <p:to>
                                        <p:strVal val="visible"/>
                                      </p:to>
                                    </p:set>
                                    <p:animEffect transition="in" filter="fade">
                                      <p:cBhvr>
                                        <p:cTn id="58" dur="500"/>
                                        <p:tgtEl>
                                          <p:spTgt spid="21"/>
                                        </p:tgtEl>
                                      </p:cBhvr>
                                    </p:animEffect>
                                  </p:childTnLst>
                                </p:cTn>
                              </p:par>
                              <p:par>
                                <p:cTn id="59" presetID="10" presetClass="entr" presetSubtype="0" fill="hold" grpId="0" nodeType="withEffect">
                                  <p:stCondLst>
                                    <p:cond delay="0"/>
                                  </p:stCondLst>
                                  <p:childTnLst>
                                    <p:set>
                                      <p:cBhvr>
                                        <p:cTn id="60" dur="1" fill="hold">
                                          <p:stCondLst>
                                            <p:cond delay="0"/>
                                          </p:stCondLst>
                                        </p:cTn>
                                        <p:tgtEl>
                                          <p:spTgt spid="22"/>
                                        </p:tgtEl>
                                        <p:attrNameLst>
                                          <p:attrName>style.visibility</p:attrName>
                                        </p:attrNameLst>
                                      </p:cBhvr>
                                      <p:to>
                                        <p:strVal val="visible"/>
                                      </p:to>
                                    </p:set>
                                    <p:animEffect transition="in" filter="fade">
                                      <p:cBhvr>
                                        <p:cTn id="61" dur="500"/>
                                        <p:tgtEl>
                                          <p:spTgt spid="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animBg="1"/>
      <p:bldP spid="9" grpId="0" animBg="1"/>
      <p:bldP spid="10" grpId="0" animBg="1"/>
      <p:bldP spid="11" grpId="0" animBg="1"/>
      <p:bldP spid="12" grpId="0" animBg="1"/>
      <p:bldP spid="14" grpId="0" animBg="1"/>
      <p:bldP spid="15" grpId="0" animBg="1"/>
      <p:bldP spid="16" grpId="0" animBg="1"/>
      <p:bldP spid="17" grpId="0" animBg="1"/>
      <p:bldP spid="19" grpId="0" animBg="1"/>
      <p:bldP spid="20" grpId="0" animBg="1"/>
      <p:bldP spid="21" grpId="0" animBg="1"/>
      <p:bldP spid="22"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b_259"/>
          <p:cNvSpPr/>
          <p:nvPr/>
        </p:nvSpPr>
        <p:spPr>
          <a:xfrm>
            <a:off x="548640" y="274320"/>
            <a:ext cx="2092147" cy="292608"/>
          </a:xfrm>
          <a:prstGeom prst="roundRect">
            <a:avLst>
              <a:gd name="adj" fmla="val 50000"/>
            </a:avLst>
          </a:prstGeom>
          <a:solidFill>
            <a:srgbClr val="0B1F3A"/>
          </a:solidFill>
          <a:ln/>
        </p:spPr>
      </p:sp>
      <p:sp>
        <p:nvSpPr>
          <p:cNvPr id="3" name="t_260"/>
          <p:cNvSpPr txBox="1"/>
          <p:nvPr/>
        </p:nvSpPr>
        <p:spPr>
          <a:xfrm>
            <a:off x="548640" y="274320"/>
            <a:ext cx="2092147"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FEATURE COVERAGE</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How Complete Is the Safety Kit?</a:t>
            </a:r>
            <a:endParaRPr lang="en-US" sz="3000" dirty="0"/>
          </a:p>
        </p:txBody>
      </p:sp>
      <p:sp>
        <p:nvSpPr>
          <p:cNvPr id="5" name="t_261"/>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Verified features out of a fixed 24-feature checklist</a:t>
            </a:r>
            <a:endParaRPr lang="en-US" sz="1800" dirty="0"/>
          </a:p>
        </p:txBody>
      </p:sp>
      <p:graphicFrame>
        <p:nvGraphicFramePr>
          <p:cNvPr id="6" name="chart_cov" descr=""/>
          <p:cNvGraphicFramePr/>
          <p:nvPr/>
        </p:nvGraphicFramePr>
        <p:xfrm>
          <a:off x="548640" y="1645920"/>
          <a:ext cx="6675120" cy="4572000"/>
        </p:xfrm>
        <a:graphic xmlns:a="http://schemas.openxmlformats.org/drawingml/2006/main">
          <a:graphicData uri="http://schemas.openxmlformats.org/drawingml/2006/chart">
            <c:chart xmlns:c="http://schemas.openxmlformats.org/drawingml/2006/chart" r:id="rId1"/>
          </a:graphicData>
        </a:graphic>
      </p:graphicFrame>
      <p:sp>
        <p:nvSpPr>
          <p:cNvPr id="7" name="a1_b_262"/>
          <p:cNvSpPr/>
          <p:nvPr/>
        </p:nvSpPr>
        <p:spPr>
          <a:xfrm>
            <a:off x="7452360" y="1691640"/>
            <a:ext cx="4187952" cy="694944"/>
          </a:xfrm>
          <a:prstGeom prst="roundRect">
            <a:avLst>
              <a:gd name="adj" fmla="val 10526"/>
            </a:avLst>
          </a:prstGeom>
          <a:solidFill>
            <a:srgbClr val="FFFFFF"/>
          </a:solidFill>
          <a:ln w="12700">
            <a:solidFill>
              <a:srgbClr val="CBD5E1"/>
            </a:solidFill>
            <a:prstDash val="solid"/>
          </a:ln>
        </p:spPr>
      </p:sp>
      <p:sp>
        <p:nvSpPr>
          <p:cNvPr id="8" name="a1_b_263"/>
          <p:cNvSpPr/>
          <p:nvPr/>
        </p:nvSpPr>
        <p:spPr>
          <a:xfrm>
            <a:off x="7452360" y="1691640"/>
            <a:ext cx="1051560" cy="694944"/>
          </a:xfrm>
          <a:prstGeom prst="rect">
            <a:avLst/>
          </a:prstGeom>
          <a:solidFill>
            <a:srgbClr val="0B1F3A"/>
          </a:solidFill>
          <a:ln/>
        </p:spPr>
      </p:sp>
      <p:sp>
        <p:nvSpPr>
          <p:cNvPr id="9" name="a1_t_264"/>
          <p:cNvSpPr txBox="1"/>
          <p:nvPr/>
        </p:nvSpPr>
        <p:spPr>
          <a:xfrm>
            <a:off x="7452360" y="1691640"/>
            <a:ext cx="1051560" cy="694944"/>
          </a:xfrm>
          <a:prstGeom prst="rect">
            <a:avLst/>
          </a:prstGeom>
          <a:noFill/>
          <a:ln/>
        </p:spPr>
        <p:txBody>
          <a:bodyPr wrap="square" lIns="508" tIns="508" rIns="508" bIns="508"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100%</a:t>
            </a:r>
            <a:endParaRPr lang="en-US" sz="1600" dirty="0"/>
          </a:p>
        </p:txBody>
      </p:sp>
      <p:sp>
        <p:nvSpPr>
          <p:cNvPr id="10" name="a1_t_265"/>
          <p:cNvSpPr txBox="1"/>
          <p:nvPr/>
        </p:nvSpPr>
        <p:spPr>
          <a:xfrm>
            <a:off x="8577072" y="1691640"/>
            <a:ext cx="3017520" cy="694944"/>
          </a:xfrm>
          <a:prstGeom prst="rect">
            <a:avLst/>
          </a:prstGeom>
          <a:noFill/>
          <a:ln/>
        </p:spPr>
        <p:txBody>
          <a:bodyPr wrap="square" lIns="508" tIns="508" rIns="508" bIns="508" rtlCol="0" anchor="ctr"/>
          <a:lstStyle/>
          <a:p>
            <a:pPr indent="0" marL="0">
              <a:buNone/>
            </a:pPr>
            <a:r>
              <a:rPr lang="en-US" sz="1300" dirty="0">
                <a:solidFill>
                  <a:srgbClr val="0B1F3A"/>
                </a:solidFill>
                <a:latin typeface="Arial" pitchFamily="34" charset="0"/>
                <a:ea typeface="Arial" pitchFamily="34" charset="-122"/>
                <a:cs typeface="Arial" pitchFamily="34" charset="-120"/>
              </a:rPr>
              <a:t>No vehicle could be confirmed with all 24</a:t>
            </a:r>
            <a:endParaRPr lang="en-US" sz="1300" dirty="0"/>
          </a:p>
        </p:txBody>
      </p:sp>
      <p:sp>
        <p:nvSpPr>
          <p:cNvPr id="11" name="a2_b_266"/>
          <p:cNvSpPr/>
          <p:nvPr/>
        </p:nvSpPr>
        <p:spPr>
          <a:xfrm>
            <a:off x="7452360" y="2478024"/>
            <a:ext cx="4187952" cy="694944"/>
          </a:xfrm>
          <a:prstGeom prst="roundRect">
            <a:avLst>
              <a:gd name="adj" fmla="val 10526"/>
            </a:avLst>
          </a:prstGeom>
          <a:solidFill>
            <a:srgbClr val="FFFFFF"/>
          </a:solidFill>
          <a:ln w="12700">
            <a:solidFill>
              <a:srgbClr val="CBD5E1"/>
            </a:solidFill>
            <a:prstDash val="solid"/>
          </a:ln>
        </p:spPr>
      </p:sp>
      <p:sp>
        <p:nvSpPr>
          <p:cNvPr id="12" name="a2_b_267"/>
          <p:cNvSpPr/>
          <p:nvPr/>
        </p:nvSpPr>
        <p:spPr>
          <a:xfrm>
            <a:off x="7452360" y="2478024"/>
            <a:ext cx="1051560" cy="694944"/>
          </a:xfrm>
          <a:prstGeom prst="rect">
            <a:avLst/>
          </a:prstGeom>
          <a:solidFill>
            <a:srgbClr val="2563EB"/>
          </a:solidFill>
          <a:ln/>
        </p:spPr>
      </p:sp>
      <p:sp>
        <p:nvSpPr>
          <p:cNvPr id="13" name="a2_t_268"/>
          <p:cNvSpPr txBox="1"/>
          <p:nvPr/>
        </p:nvSpPr>
        <p:spPr>
          <a:xfrm>
            <a:off x="7452360" y="2478024"/>
            <a:ext cx="1051560" cy="694944"/>
          </a:xfrm>
          <a:prstGeom prst="rect">
            <a:avLst/>
          </a:prstGeom>
          <a:noFill/>
          <a:ln/>
        </p:spPr>
        <p:txBody>
          <a:bodyPr wrap="square" lIns="508" tIns="508" rIns="508" bIns="508"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75–99%</a:t>
            </a:r>
            <a:endParaRPr lang="en-US" sz="1600" dirty="0"/>
          </a:p>
        </p:txBody>
      </p:sp>
      <p:sp>
        <p:nvSpPr>
          <p:cNvPr id="14" name="a2_t_269"/>
          <p:cNvSpPr txBox="1"/>
          <p:nvPr/>
        </p:nvSpPr>
        <p:spPr>
          <a:xfrm>
            <a:off x="8577072" y="2478024"/>
            <a:ext cx="3017520" cy="694944"/>
          </a:xfrm>
          <a:prstGeom prst="rect">
            <a:avLst/>
          </a:prstGeom>
          <a:noFill/>
          <a:ln/>
        </p:spPr>
        <p:txBody>
          <a:bodyPr wrap="square" lIns="508" tIns="508" rIns="508" bIns="508" rtlCol="0" anchor="ctr"/>
          <a:lstStyle/>
          <a:p>
            <a:pPr indent="0" marL="0">
              <a:buNone/>
            </a:pPr>
            <a:r>
              <a:rPr lang="en-US" sz="1300" dirty="0">
                <a:solidFill>
                  <a:srgbClr val="0B1F3A"/>
                </a:solidFill>
                <a:latin typeface="Arial" pitchFamily="34" charset="0"/>
                <a:ea typeface="Arial" pitchFamily="34" charset="-122"/>
                <a:cs typeface="Arial" pitchFamily="34" charset="-120"/>
              </a:rPr>
              <a:t>None verified</a:t>
            </a:r>
            <a:endParaRPr lang="en-US" sz="1300" dirty="0"/>
          </a:p>
        </p:txBody>
      </p:sp>
      <p:sp>
        <p:nvSpPr>
          <p:cNvPr id="15" name="a3_b_270"/>
          <p:cNvSpPr/>
          <p:nvPr/>
        </p:nvSpPr>
        <p:spPr>
          <a:xfrm>
            <a:off x="7452360" y="3264408"/>
            <a:ext cx="4187952" cy="694944"/>
          </a:xfrm>
          <a:prstGeom prst="roundRect">
            <a:avLst>
              <a:gd name="adj" fmla="val 10526"/>
            </a:avLst>
          </a:prstGeom>
          <a:solidFill>
            <a:srgbClr val="FFFFFF"/>
          </a:solidFill>
          <a:ln w="12700">
            <a:solidFill>
              <a:srgbClr val="CBD5E1"/>
            </a:solidFill>
            <a:prstDash val="solid"/>
          </a:ln>
        </p:spPr>
      </p:sp>
      <p:sp>
        <p:nvSpPr>
          <p:cNvPr id="16" name="a3_b_271"/>
          <p:cNvSpPr/>
          <p:nvPr/>
        </p:nvSpPr>
        <p:spPr>
          <a:xfrm>
            <a:off x="7452360" y="3264408"/>
            <a:ext cx="1051560" cy="694944"/>
          </a:xfrm>
          <a:prstGeom prst="rect">
            <a:avLst/>
          </a:prstGeom>
          <a:solidFill>
            <a:srgbClr val="15803D"/>
          </a:solidFill>
          <a:ln/>
        </p:spPr>
      </p:sp>
      <p:sp>
        <p:nvSpPr>
          <p:cNvPr id="17" name="a3_t_272"/>
          <p:cNvSpPr txBox="1"/>
          <p:nvPr/>
        </p:nvSpPr>
        <p:spPr>
          <a:xfrm>
            <a:off x="7452360" y="3264408"/>
            <a:ext cx="1051560" cy="694944"/>
          </a:xfrm>
          <a:prstGeom prst="rect">
            <a:avLst/>
          </a:prstGeom>
          <a:noFill/>
          <a:ln/>
        </p:spPr>
        <p:txBody>
          <a:bodyPr wrap="square" lIns="508" tIns="508" rIns="508" bIns="508"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50–74%</a:t>
            </a:r>
            <a:endParaRPr lang="en-US" sz="1600" dirty="0"/>
          </a:p>
        </p:txBody>
      </p:sp>
      <p:sp>
        <p:nvSpPr>
          <p:cNvPr id="18" name="a3_t_273"/>
          <p:cNvSpPr txBox="1"/>
          <p:nvPr/>
        </p:nvSpPr>
        <p:spPr>
          <a:xfrm>
            <a:off x="8577072" y="3264408"/>
            <a:ext cx="3017520" cy="694944"/>
          </a:xfrm>
          <a:prstGeom prst="rect">
            <a:avLst/>
          </a:prstGeom>
          <a:noFill/>
          <a:ln/>
        </p:spPr>
        <p:txBody>
          <a:bodyPr wrap="square" lIns="508" tIns="508" rIns="508" bIns="508" rtlCol="0" anchor="ctr"/>
          <a:lstStyle/>
          <a:p>
            <a:pPr indent="0" marL="0">
              <a:buNone/>
            </a:pPr>
            <a:r>
              <a:rPr lang="en-US" sz="1300" dirty="0">
                <a:solidFill>
                  <a:srgbClr val="0B1F3A"/>
                </a:solidFill>
                <a:latin typeface="Arial" pitchFamily="34" charset="0"/>
                <a:ea typeface="Arial" pitchFamily="34" charset="-122"/>
                <a:cs typeface="Arial" pitchFamily="34" charset="-120"/>
              </a:rPr>
              <a:t>IONIQ 5 N 13/24 (54.2%) · Creta King 12/24 (50.0%)</a:t>
            </a:r>
            <a:endParaRPr lang="en-US" sz="1300" dirty="0"/>
          </a:p>
        </p:txBody>
      </p:sp>
      <p:sp>
        <p:nvSpPr>
          <p:cNvPr id="19" name="a4_b_274"/>
          <p:cNvSpPr/>
          <p:nvPr/>
        </p:nvSpPr>
        <p:spPr>
          <a:xfrm>
            <a:off x="7452360" y="4050792"/>
            <a:ext cx="4187952" cy="694944"/>
          </a:xfrm>
          <a:prstGeom prst="roundRect">
            <a:avLst>
              <a:gd name="adj" fmla="val 10526"/>
            </a:avLst>
          </a:prstGeom>
          <a:solidFill>
            <a:srgbClr val="FFFFFF"/>
          </a:solidFill>
          <a:ln w="12700">
            <a:solidFill>
              <a:srgbClr val="CBD5E1"/>
            </a:solidFill>
            <a:prstDash val="solid"/>
          </a:ln>
        </p:spPr>
      </p:sp>
      <p:sp>
        <p:nvSpPr>
          <p:cNvPr id="20" name="a4_b_275"/>
          <p:cNvSpPr/>
          <p:nvPr/>
        </p:nvSpPr>
        <p:spPr>
          <a:xfrm>
            <a:off x="7452360" y="4050792"/>
            <a:ext cx="1051560" cy="694944"/>
          </a:xfrm>
          <a:prstGeom prst="rect">
            <a:avLst/>
          </a:prstGeom>
          <a:solidFill>
            <a:srgbClr val="B45309"/>
          </a:solidFill>
          <a:ln/>
        </p:spPr>
      </p:sp>
      <p:sp>
        <p:nvSpPr>
          <p:cNvPr id="21" name="a4_t_276"/>
          <p:cNvSpPr txBox="1"/>
          <p:nvPr/>
        </p:nvSpPr>
        <p:spPr>
          <a:xfrm>
            <a:off x="7452360" y="4050792"/>
            <a:ext cx="1051560" cy="694944"/>
          </a:xfrm>
          <a:prstGeom prst="rect">
            <a:avLst/>
          </a:prstGeom>
          <a:noFill/>
          <a:ln/>
        </p:spPr>
        <p:txBody>
          <a:bodyPr wrap="square" lIns="508" tIns="508" rIns="508" bIns="508" rtlCol="0" anchor="ctr"/>
          <a:lstStyle/>
          <a:p>
            <a:pPr algn="ctr" indent="0" marL="0">
              <a:buNone/>
            </a:pPr>
            <a:r>
              <a:rPr lang="en-US" sz="1600" b="1" dirty="0">
                <a:solidFill>
                  <a:srgbClr val="FFFFFF"/>
                </a:solidFill>
                <a:latin typeface="Arial" pitchFamily="34" charset="0"/>
                <a:ea typeface="Arial" pitchFamily="34" charset="-122"/>
                <a:cs typeface="Arial" pitchFamily="34" charset="-120"/>
              </a:rPr>
              <a:t>25–49%</a:t>
            </a:r>
            <a:endParaRPr lang="en-US" sz="1600" dirty="0"/>
          </a:p>
        </p:txBody>
      </p:sp>
      <p:sp>
        <p:nvSpPr>
          <p:cNvPr id="22" name="a4_t_277"/>
          <p:cNvSpPr txBox="1"/>
          <p:nvPr/>
        </p:nvSpPr>
        <p:spPr>
          <a:xfrm>
            <a:off x="8577072" y="4050792"/>
            <a:ext cx="3017520" cy="694944"/>
          </a:xfrm>
          <a:prstGeom prst="rect">
            <a:avLst/>
          </a:prstGeom>
          <a:noFill/>
          <a:ln/>
        </p:spPr>
        <p:txBody>
          <a:bodyPr wrap="square" lIns="508" tIns="508" rIns="508" bIns="508" rtlCol="0" anchor="ctr"/>
          <a:lstStyle/>
          <a:p>
            <a:pPr indent="0" marL="0">
              <a:buNone/>
            </a:pPr>
            <a:r>
              <a:rPr lang="en-US" sz="1300" dirty="0">
                <a:solidFill>
                  <a:srgbClr val="0B1F3A"/>
                </a:solidFill>
                <a:latin typeface="Arial" pitchFamily="34" charset="0"/>
                <a:ea typeface="Arial" pitchFamily="34" charset="-122"/>
                <a:cs typeface="Arial" pitchFamily="34" charset="-120"/>
              </a:rPr>
              <a:t>Sandero 45.8% · XEV 9e 41.7% · Swift 37.5% · Model Y 25.0%</a:t>
            </a:r>
            <a:endParaRPr lang="en-US" sz="1300" dirty="0"/>
          </a:p>
        </p:txBody>
      </p:sp>
      <p:sp>
        <p:nvSpPr>
          <p:cNvPr id="23" name="a5_b_278"/>
          <p:cNvSpPr/>
          <p:nvPr/>
        </p:nvSpPr>
        <p:spPr>
          <a:xfrm>
            <a:off x="7452360" y="4892040"/>
            <a:ext cx="4187952" cy="1325880"/>
          </a:xfrm>
          <a:prstGeom prst="roundRect">
            <a:avLst>
              <a:gd name="adj" fmla="val 5517"/>
            </a:avLst>
          </a:prstGeom>
          <a:solidFill>
            <a:srgbClr val="FEF3C7"/>
          </a:solidFill>
          <a:ln/>
        </p:spPr>
      </p:sp>
      <p:sp>
        <p:nvSpPr>
          <p:cNvPr id="24" name="a5_t_279"/>
          <p:cNvSpPr txBox="1"/>
          <p:nvPr/>
        </p:nvSpPr>
        <p:spPr>
          <a:xfrm>
            <a:off x="7589520" y="4892040"/>
            <a:ext cx="3931920" cy="1325880"/>
          </a:xfrm>
          <a:prstGeom prst="rect">
            <a:avLst/>
          </a:prstGeom>
          <a:noFill/>
          <a:ln/>
        </p:spPr>
        <p:txBody>
          <a:bodyPr wrap="square" lIns="508" tIns="508" rIns="508" bIns="508" rtlCol="0" anchor="ctr"/>
          <a:lstStyle/>
          <a:p>
            <a:pPr indent="0" marL="0">
              <a:buNone/>
            </a:pPr>
            <a:r>
              <a:rPr lang="en-US" sz="1400" b="1" dirty="0">
                <a:solidFill>
                  <a:srgbClr val="B45309"/>
                </a:solidFill>
                <a:latin typeface="Arial" pitchFamily="34" charset="0"/>
                <a:ea typeface="Arial" pitchFamily="34" charset="-122"/>
                <a:cs typeface="Arial" pitchFamily="34" charset="-120"/>
              </a:rPr>
              <a:t>Low verified ≠ unsafe. </a:t>
            </a:r>
            <a:pPr indent="0" marL="0">
              <a:buNone/>
            </a:pPr>
            <a:r>
              <a:rPr lang="en-US" sz="1400" dirty="0">
                <a:solidFill>
                  <a:srgbClr val="0B1F3A"/>
                </a:solidFill>
                <a:latin typeface="Arial" pitchFamily="34" charset="0"/>
                <a:ea typeface="Arial" pitchFamily="34" charset="-122"/>
                <a:cs typeface="Arial" pitchFamily="34" charset="-120"/>
              </a:rPr>
              <a:t>It means we could not prove the feature for that exact variant from official documents. Unproven features are not counted.</a:t>
            </a:r>
            <a:endParaRPr lang="en-US" sz="1400" dirty="0"/>
          </a:p>
        </p:txBody>
      </p:sp>
      <p:sp>
        <p:nvSpPr>
          <p:cNvPr id="25" name="t_280"/>
          <p:cNvSpPr txBox="1"/>
          <p:nvPr/>
        </p:nvSpPr>
        <p:spPr>
          <a:xfrm>
            <a:off x="548640" y="6272784"/>
            <a:ext cx="10332720" cy="329184"/>
          </a:xfrm>
          <a:prstGeom prst="rect">
            <a:avLst/>
          </a:prstGeom>
          <a:noFill/>
          <a:ln/>
        </p:spPr>
        <p:txBody>
          <a:bodyPr wrap="square" lIns="508" tIns="508" rIns="508" bIns="508" rtlCol="0" anchor="ctr"/>
          <a:lstStyle/>
          <a:p>
            <a:pPr indent="0" marL="0">
              <a:buNone/>
            </a:pPr>
            <a:r>
              <a:rPr lang="en-US" sz="1000" dirty="0">
                <a:solidFill>
                  <a:srgbClr val="64748B"/>
                </a:solidFill>
                <a:latin typeface="Arial" pitchFamily="34" charset="0"/>
                <a:ea typeface="Arial" pitchFamily="34" charset="-122"/>
                <a:cs typeface="Arial" pitchFamily="34" charset="-120"/>
              </a:rPr>
              <a:t>Coverage = verified features ÷ 24 × 100. Below 25%: Kylaq Prestige+ 20.8%, XC90 Core 20.8%, Alto K10 16.7%. Research date 13 Oct 2026; see research report.</a:t>
            </a:r>
            <a:endParaRPr lang="en-US" sz="1000" dirty="0"/>
          </a:p>
        </p:txBody>
      </p:sp>
      <p:sp>
        <p:nvSpPr>
          <p:cNvPr id="26"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11</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8"/>
                                        </p:tgtEl>
                                        <p:attrNameLst>
                                          <p:attrName>style.visibility</p:attrName>
                                        </p:attrNameLst>
                                      </p:cBhvr>
                                      <p:to>
                                        <p:strVal val="visible"/>
                                      </p:to>
                                    </p:set>
                                    <p:animEffect transition="in" filter="fade">
                                      <p:cBhvr>
                                        <p:cTn id="10" dur="500"/>
                                        <p:tgtEl>
                                          <p:spTgt spid="8"/>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9"/>
                                        </p:tgtEl>
                                        <p:attrNameLst>
                                          <p:attrName>style.visibility</p:attrName>
                                        </p:attrNameLst>
                                      </p:cBhvr>
                                      <p:to>
                                        <p:strVal val="visible"/>
                                      </p:to>
                                    </p:set>
                                    <p:animEffect transition="in" filter="fade">
                                      <p:cBhvr>
                                        <p:cTn id="13" dur="500"/>
                                        <p:tgtEl>
                                          <p:spTgt spid="9"/>
                                        </p:tgtEl>
                                      </p:cBhvr>
                                    </p:animEffect>
                                  </p:childTnLst>
                                </p:cTn>
                              </p:par>
                              <p:par>
                                <p:cTn id="14" presetID="10" presetClass="entr" presetSubtype="0" fill="hold" grpId="0" nodeType="withEffect">
                                  <p:stCondLst>
                                    <p:cond delay="0"/>
                                  </p:stCondLst>
                                  <p:childTnLst>
                                    <p:set>
                                      <p:cBhvr>
                                        <p:cTn id="15" dur="1" fill="hold">
                                          <p:stCondLst>
                                            <p:cond delay="0"/>
                                          </p:stCondLst>
                                        </p:cTn>
                                        <p:tgtEl>
                                          <p:spTgt spid="10"/>
                                        </p:tgtEl>
                                        <p:attrNameLst>
                                          <p:attrName>style.visibility</p:attrName>
                                        </p:attrNameLst>
                                      </p:cBhvr>
                                      <p:to>
                                        <p:strVal val="visible"/>
                                      </p:to>
                                    </p:set>
                                    <p:animEffect transition="in" filter="fade">
                                      <p:cBhvr>
                                        <p:cTn id="16" dur="500"/>
                                        <p:tgtEl>
                                          <p:spTgt spid="10"/>
                                        </p:tgtEl>
                                      </p:cBhvr>
                                    </p:animEffect>
                                  </p:childTnLst>
                                </p:cTn>
                              </p:par>
                            </p:childTnLst>
                          </p:cTn>
                        </p:par>
                      </p:childTnLst>
                    </p:cTn>
                  </p:par>
                  <p:par>
                    <p:cTn id="17" fill="hold">
                      <p:stCondLst>
                        <p:cond delay="indefinite"/>
                      </p:stCondLst>
                      <p:childTnLst>
                        <p:par>
                          <p:cTn id="18" fill="hold">
                            <p:stCondLst>
                              <p:cond delay="0"/>
                            </p:stCondLst>
                            <p:childTnLst>
                              <p:par>
                                <p:cTn id="19" presetID="10" presetClass="entr" presetSubtype="0" fill="hold" grpId="0" nodeType="clickEffect">
                                  <p:stCondLst>
                                    <p:cond delay="0"/>
                                  </p:stCondLst>
                                  <p:childTnLst>
                                    <p:set>
                                      <p:cBhvr>
                                        <p:cTn id="20" dur="1" fill="hold">
                                          <p:stCondLst>
                                            <p:cond delay="0"/>
                                          </p:stCondLst>
                                        </p:cTn>
                                        <p:tgtEl>
                                          <p:spTgt spid="11"/>
                                        </p:tgtEl>
                                        <p:attrNameLst>
                                          <p:attrName>style.visibility</p:attrName>
                                        </p:attrNameLst>
                                      </p:cBhvr>
                                      <p:to>
                                        <p:strVal val="visible"/>
                                      </p:to>
                                    </p:set>
                                    <p:animEffect transition="in" filter="fade">
                                      <p:cBhvr>
                                        <p:cTn id="21" dur="500"/>
                                        <p:tgtEl>
                                          <p:spTgt spid="11"/>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12"/>
                                        </p:tgtEl>
                                        <p:attrNameLst>
                                          <p:attrName>style.visibility</p:attrName>
                                        </p:attrNameLst>
                                      </p:cBhvr>
                                      <p:to>
                                        <p:strVal val="visible"/>
                                      </p:to>
                                    </p:set>
                                    <p:animEffect transition="in" filter="fade">
                                      <p:cBhvr>
                                        <p:cTn id="24" dur="500"/>
                                        <p:tgtEl>
                                          <p:spTgt spid="12"/>
                                        </p:tgtEl>
                                      </p:cBhvr>
                                    </p:animEffect>
                                  </p:childTnLst>
                                </p:cTn>
                              </p:par>
                              <p:par>
                                <p:cTn id="25" presetID="10" presetClass="entr" presetSubtype="0" fill="hold" grpId="0" nodeType="withEffect">
                                  <p:stCondLst>
                                    <p:cond delay="0"/>
                                  </p:stCondLst>
                                  <p:childTnLst>
                                    <p:set>
                                      <p:cBhvr>
                                        <p:cTn id="26" dur="1" fill="hold">
                                          <p:stCondLst>
                                            <p:cond delay="0"/>
                                          </p:stCondLst>
                                        </p:cTn>
                                        <p:tgtEl>
                                          <p:spTgt spid="13"/>
                                        </p:tgtEl>
                                        <p:attrNameLst>
                                          <p:attrName>style.visibility</p:attrName>
                                        </p:attrNameLst>
                                      </p:cBhvr>
                                      <p:to>
                                        <p:strVal val="visible"/>
                                      </p:to>
                                    </p:set>
                                    <p:animEffect transition="in" filter="fade">
                                      <p:cBhvr>
                                        <p:cTn id="27" dur="500"/>
                                        <p:tgtEl>
                                          <p:spTgt spid="13"/>
                                        </p:tgtEl>
                                      </p:cBhvr>
                                    </p:animEffect>
                                  </p:childTnLst>
                                </p:cTn>
                              </p:par>
                              <p:par>
                                <p:cTn id="28" presetID="10" presetClass="entr" presetSubtype="0" fill="hold" grpId="0" nodeType="withEffect">
                                  <p:stCondLst>
                                    <p:cond delay="0"/>
                                  </p:stCondLst>
                                  <p:childTnLst>
                                    <p:set>
                                      <p:cBhvr>
                                        <p:cTn id="29" dur="1" fill="hold">
                                          <p:stCondLst>
                                            <p:cond delay="0"/>
                                          </p:stCondLst>
                                        </p:cTn>
                                        <p:tgtEl>
                                          <p:spTgt spid="14"/>
                                        </p:tgtEl>
                                        <p:attrNameLst>
                                          <p:attrName>style.visibility</p:attrName>
                                        </p:attrNameLst>
                                      </p:cBhvr>
                                      <p:to>
                                        <p:strVal val="visible"/>
                                      </p:to>
                                    </p:set>
                                    <p:animEffect transition="in" filter="fade">
                                      <p:cBhvr>
                                        <p:cTn id="30" dur="500"/>
                                        <p:tgtEl>
                                          <p:spTgt spid="14"/>
                                        </p:tgtEl>
                                      </p:cBhvr>
                                    </p:animEffect>
                                  </p:childTnLst>
                                </p:cTn>
                              </p:par>
                            </p:childTnLst>
                          </p:cTn>
                        </p:par>
                      </p:childTnLst>
                    </p:cTn>
                  </p:par>
                  <p:par>
                    <p:cTn id="31" fill="hold">
                      <p:stCondLst>
                        <p:cond delay="indefinite"/>
                      </p:stCondLst>
                      <p:childTnLst>
                        <p:par>
                          <p:cTn id="32" fill="hold">
                            <p:stCondLst>
                              <p:cond delay="0"/>
                            </p:stCondLst>
                            <p:childTnLst>
                              <p:par>
                                <p:cTn id="33" presetID="10" presetClass="entr" presetSubtype="0" fill="hold" grpId="0" nodeType="clickEffect">
                                  <p:stCondLst>
                                    <p:cond delay="0"/>
                                  </p:stCondLst>
                                  <p:childTnLst>
                                    <p:set>
                                      <p:cBhvr>
                                        <p:cTn id="34" dur="1" fill="hold">
                                          <p:stCondLst>
                                            <p:cond delay="0"/>
                                          </p:stCondLst>
                                        </p:cTn>
                                        <p:tgtEl>
                                          <p:spTgt spid="15"/>
                                        </p:tgtEl>
                                        <p:attrNameLst>
                                          <p:attrName>style.visibility</p:attrName>
                                        </p:attrNameLst>
                                      </p:cBhvr>
                                      <p:to>
                                        <p:strVal val="visible"/>
                                      </p:to>
                                    </p:set>
                                    <p:animEffect transition="in" filter="fade">
                                      <p:cBhvr>
                                        <p:cTn id="35" dur="500"/>
                                        <p:tgtEl>
                                          <p:spTgt spid="15"/>
                                        </p:tgtEl>
                                      </p:cBhvr>
                                    </p:animEffect>
                                  </p:childTnLst>
                                </p:cTn>
                              </p:par>
                              <p:par>
                                <p:cTn id="36" presetID="10" presetClass="entr" presetSubtype="0" fill="hold" grpId="0" nodeType="with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fade">
                                      <p:cBhvr>
                                        <p:cTn id="38" dur="500"/>
                                        <p:tgtEl>
                                          <p:spTgt spid="16"/>
                                        </p:tgtEl>
                                      </p:cBhvr>
                                    </p:animEffect>
                                  </p:childTnLst>
                                </p:cTn>
                              </p:par>
                              <p:par>
                                <p:cTn id="39" presetID="10" presetClass="entr" presetSubtype="0" fill="hold" grpId="0" nodeType="withEffect">
                                  <p:stCondLst>
                                    <p:cond delay="0"/>
                                  </p:stCondLst>
                                  <p:childTnLst>
                                    <p:set>
                                      <p:cBhvr>
                                        <p:cTn id="40" dur="1" fill="hold">
                                          <p:stCondLst>
                                            <p:cond delay="0"/>
                                          </p:stCondLst>
                                        </p:cTn>
                                        <p:tgtEl>
                                          <p:spTgt spid="17"/>
                                        </p:tgtEl>
                                        <p:attrNameLst>
                                          <p:attrName>style.visibility</p:attrName>
                                        </p:attrNameLst>
                                      </p:cBhvr>
                                      <p:to>
                                        <p:strVal val="visible"/>
                                      </p:to>
                                    </p:set>
                                    <p:animEffect transition="in" filter="fade">
                                      <p:cBhvr>
                                        <p:cTn id="41" dur="500"/>
                                        <p:tgtEl>
                                          <p:spTgt spid="17"/>
                                        </p:tgtEl>
                                      </p:cBhvr>
                                    </p:animEffect>
                                  </p:childTnLst>
                                </p:cTn>
                              </p:par>
                              <p:par>
                                <p:cTn id="42" presetID="10" presetClass="entr" presetSubtype="0" fill="hold" grpId="0" nodeType="withEffect">
                                  <p:stCondLst>
                                    <p:cond delay="0"/>
                                  </p:stCondLst>
                                  <p:childTnLst>
                                    <p:set>
                                      <p:cBhvr>
                                        <p:cTn id="43" dur="1" fill="hold">
                                          <p:stCondLst>
                                            <p:cond delay="0"/>
                                          </p:stCondLst>
                                        </p:cTn>
                                        <p:tgtEl>
                                          <p:spTgt spid="18"/>
                                        </p:tgtEl>
                                        <p:attrNameLst>
                                          <p:attrName>style.visibility</p:attrName>
                                        </p:attrNameLst>
                                      </p:cBhvr>
                                      <p:to>
                                        <p:strVal val="visible"/>
                                      </p:to>
                                    </p:set>
                                    <p:animEffect transition="in" filter="fade">
                                      <p:cBhvr>
                                        <p:cTn id="44" dur="500"/>
                                        <p:tgtEl>
                                          <p:spTgt spid="18"/>
                                        </p:tgtEl>
                                      </p:cBhvr>
                                    </p:animEffect>
                                  </p:childTnLst>
                                </p:cTn>
                              </p:par>
                            </p:childTnLst>
                          </p:cTn>
                        </p:par>
                      </p:childTnLst>
                    </p:cTn>
                  </p:par>
                  <p:par>
                    <p:cTn id="45" fill="hold">
                      <p:stCondLst>
                        <p:cond delay="indefinite"/>
                      </p:stCondLst>
                      <p:childTnLst>
                        <p:par>
                          <p:cTn id="46" fill="hold">
                            <p:stCondLst>
                              <p:cond delay="0"/>
                            </p:stCondLst>
                            <p:childTnLst>
                              <p:par>
                                <p:cTn id="47" presetID="10" presetClass="entr" presetSubtype="0" fill="hold" grpId="0" nodeType="clickEffect">
                                  <p:stCondLst>
                                    <p:cond delay="0"/>
                                  </p:stCondLst>
                                  <p:childTnLst>
                                    <p:set>
                                      <p:cBhvr>
                                        <p:cTn id="48" dur="1" fill="hold">
                                          <p:stCondLst>
                                            <p:cond delay="0"/>
                                          </p:stCondLst>
                                        </p:cTn>
                                        <p:tgtEl>
                                          <p:spTgt spid="19"/>
                                        </p:tgtEl>
                                        <p:attrNameLst>
                                          <p:attrName>style.visibility</p:attrName>
                                        </p:attrNameLst>
                                      </p:cBhvr>
                                      <p:to>
                                        <p:strVal val="visible"/>
                                      </p:to>
                                    </p:set>
                                    <p:animEffect transition="in" filter="fade">
                                      <p:cBhvr>
                                        <p:cTn id="49" dur="500"/>
                                        <p:tgtEl>
                                          <p:spTgt spid="19"/>
                                        </p:tgtEl>
                                      </p:cBhvr>
                                    </p:animEffect>
                                  </p:childTnLst>
                                </p:cTn>
                              </p:par>
                              <p:par>
                                <p:cTn id="50" presetID="10" presetClass="entr" presetSubtype="0" fill="hold" grpId="0" nodeType="withEffect">
                                  <p:stCondLst>
                                    <p:cond delay="0"/>
                                  </p:stCondLst>
                                  <p:childTnLst>
                                    <p:set>
                                      <p:cBhvr>
                                        <p:cTn id="51" dur="1" fill="hold">
                                          <p:stCondLst>
                                            <p:cond delay="0"/>
                                          </p:stCondLst>
                                        </p:cTn>
                                        <p:tgtEl>
                                          <p:spTgt spid="20"/>
                                        </p:tgtEl>
                                        <p:attrNameLst>
                                          <p:attrName>style.visibility</p:attrName>
                                        </p:attrNameLst>
                                      </p:cBhvr>
                                      <p:to>
                                        <p:strVal val="visible"/>
                                      </p:to>
                                    </p:set>
                                    <p:animEffect transition="in" filter="fade">
                                      <p:cBhvr>
                                        <p:cTn id="52" dur="500"/>
                                        <p:tgtEl>
                                          <p:spTgt spid="20"/>
                                        </p:tgtEl>
                                      </p:cBhvr>
                                    </p:animEffect>
                                  </p:childTnLst>
                                </p:cTn>
                              </p:par>
                              <p:par>
                                <p:cTn id="53" presetID="10" presetClass="entr" presetSubtype="0" fill="hold" grpId="0" nodeType="withEffect">
                                  <p:stCondLst>
                                    <p:cond delay="0"/>
                                  </p:stCondLst>
                                  <p:childTnLst>
                                    <p:set>
                                      <p:cBhvr>
                                        <p:cTn id="54" dur="1" fill="hold">
                                          <p:stCondLst>
                                            <p:cond delay="0"/>
                                          </p:stCondLst>
                                        </p:cTn>
                                        <p:tgtEl>
                                          <p:spTgt spid="21"/>
                                        </p:tgtEl>
                                        <p:attrNameLst>
                                          <p:attrName>style.visibility</p:attrName>
                                        </p:attrNameLst>
                                      </p:cBhvr>
                                      <p:to>
                                        <p:strVal val="visible"/>
                                      </p:to>
                                    </p:set>
                                    <p:animEffect transition="in" filter="fade">
                                      <p:cBhvr>
                                        <p:cTn id="55" dur="500"/>
                                        <p:tgtEl>
                                          <p:spTgt spid="21"/>
                                        </p:tgtEl>
                                      </p:cBhvr>
                                    </p:animEffect>
                                  </p:childTnLst>
                                </p:cTn>
                              </p:par>
                              <p:par>
                                <p:cTn id="56" presetID="10" presetClass="entr" presetSubtype="0" fill="hold" grpId="0" nodeType="withEffect">
                                  <p:stCondLst>
                                    <p:cond delay="0"/>
                                  </p:stCondLst>
                                  <p:childTnLst>
                                    <p:set>
                                      <p:cBhvr>
                                        <p:cTn id="57" dur="1" fill="hold">
                                          <p:stCondLst>
                                            <p:cond delay="0"/>
                                          </p:stCondLst>
                                        </p:cTn>
                                        <p:tgtEl>
                                          <p:spTgt spid="22"/>
                                        </p:tgtEl>
                                        <p:attrNameLst>
                                          <p:attrName>style.visibility</p:attrName>
                                        </p:attrNameLst>
                                      </p:cBhvr>
                                      <p:to>
                                        <p:strVal val="visible"/>
                                      </p:to>
                                    </p:set>
                                    <p:animEffect transition="in" filter="fade">
                                      <p:cBhvr>
                                        <p:cTn id="58" dur="500"/>
                                        <p:tgtEl>
                                          <p:spTgt spid="22"/>
                                        </p:tgtEl>
                                      </p:cBhvr>
                                    </p:animEffect>
                                  </p:childTnLst>
                                </p:cTn>
                              </p:par>
                            </p:childTnLst>
                          </p:cTn>
                        </p:par>
                      </p:childTnLst>
                    </p:cTn>
                  </p:par>
                  <p:par>
                    <p:cTn id="59" fill="hold">
                      <p:stCondLst>
                        <p:cond delay="indefinite"/>
                      </p:stCondLst>
                      <p:childTnLst>
                        <p:par>
                          <p:cTn id="60" fill="hold">
                            <p:stCondLst>
                              <p:cond delay="0"/>
                            </p:stCondLst>
                            <p:childTnLst>
                              <p:par>
                                <p:cTn id="61" presetID="10" presetClass="entr" presetSubtype="0" fill="hold" grpId="0" nodeType="clickEffect">
                                  <p:stCondLst>
                                    <p:cond delay="0"/>
                                  </p:stCondLst>
                                  <p:childTnLst>
                                    <p:set>
                                      <p:cBhvr>
                                        <p:cTn id="62" dur="1" fill="hold">
                                          <p:stCondLst>
                                            <p:cond delay="0"/>
                                          </p:stCondLst>
                                        </p:cTn>
                                        <p:tgtEl>
                                          <p:spTgt spid="23"/>
                                        </p:tgtEl>
                                        <p:attrNameLst>
                                          <p:attrName>style.visibility</p:attrName>
                                        </p:attrNameLst>
                                      </p:cBhvr>
                                      <p:to>
                                        <p:strVal val="visible"/>
                                      </p:to>
                                    </p:set>
                                    <p:animEffect transition="in" filter="fade">
                                      <p:cBhvr>
                                        <p:cTn id="63" dur="500"/>
                                        <p:tgtEl>
                                          <p:spTgt spid="23"/>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24"/>
                                        </p:tgtEl>
                                        <p:attrNameLst>
                                          <p:attrName>style.visibility</p:attrName>
                                        </p:attrNameLst>
                                      </p:cBhvr>
                                      <p:to>
                                        <p:strVal val="visible"/>
                                      </p:to>
                                    </p:set>
                                    <p:animEffect transition="in" filter="fade">
                                      <p:cBhvr>
                                        <p:cTn id="66"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P spid="9" grpId="0" animBg="1"/>
      <p:bldP spid="10" grpId="0" animBg="1"/>
      <p:bldP spid="11" grpId="0" animBg="1"/>
      <p:bldP spid="12" grpId="0" animBg="1"/>
      <p:bldP spid="13" grpId="0" animBg="1"/>
      <p:bldP spid="14" grpId="0" animBg="1"/>
      <p:bldP spid="15" grpId="0" animBg="1"/>
      <p:bldP spid="16" grpId="0" animBg="1"/>
      <p:bldP spid="17" grpId="0" animBg="1"/>
      <p:bldP spid="18" grpId="0" animBg="1"/>
      <p:bldP spid="19" grpId="0" animBg="1"/>
      <p:bldP spid="20" grpId="0" animBg="1"/>
      <p:bldP spid="21" grpId="0" animBg="1"/>
      <p:bldP spid="22" grpId="0" animBg="1"/>
      <p:bldP spid="23" grpId="0" animBg="1"/>
      <p:bldP spid="24"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b_281"/>
          <p:cNvSpPr/>
          <p:nvPr/>
        </p:nvSpPr>
        <p:spPr>
          <a:xfrm>
            <a:off x="548640" y="274320"/>
            <a:ext cx="1984248" cy="292608"/>
          </a:xfrm>
          <a:prstGeom prst="roundRect">
            <a:avLst>
              <a:gd name="adj" fmla="val 50000"/>
            </a:avLst>
          </a:prstGeom>
          <a:solidFill>
            <a:srgbClr val="15803D"/>
          </a:solidFill>
          <a:ln/>
        </p:spPr>
      </p:sp>
      <p:sp>
        <p:nvSpPr>
          <p:cNvPr id="3" name="t_282"/>
          <p:cNvSpPr txBox="1"/>
          <p:nvPr/>
        </p:nvSpPr>
        <p:spPr>
          <a:xfrm>
            <a:off x="548640" y="274320"/>
            <a:ext cx="1984248" cy="292608"/>
          </a:xfrm>
          <a:prstGeom prst="rect">
            <a:avLst/>
          </a:prstGeom>
          <a:noFill/>
          <a:ln/>
        </p:spPr>
        <p:txBody>
          <a:bodyPr wrap="square" lIns="0" tIns="0" rIns="0" bIns="0" rtlCol="0" anchor="ctr"/>
          <a:lstStyle/>
          <a:p>
            <a:pPr algn="ctr" indent="0" marL="0">
              <a:buNone/>
            </a:pPr>
            <a:r>
              <a:rPr lang="en-US" sz="1200" b="1" spc="100" kern="0" dirty="0">
                <a:solidFill>
                  <a:srgbClr val="FFFFFF"/>
                </a:solidFill>
                <a:latin typeface="Arial" pitchFamily="34" charset="0"/>
                <a:ea typeface="Arial" pitchFamily="34" charset="-122"/>
                <a:cs typeface="Arial" pitchFamily="34" charset="-120"/>
              </a:rPr>
              <a:t>KNOWLEDGE CHECK</a:t>
            </a:r>
            <a:endParaRPr lang="en-US" sz="1200" dirty="0"/>
          </a:p>
        </p:txBody>
      </p:sp>
      <p:sp>
        <p:nvSpPr>
          <p:cNvPr id="4" name="Text 0"/>
          <p:cNvSpPr/>
          <p:nvPr>
            <p:ph idx="100" type="title" hasCustomPrompt="1"/>
          </p:nvPr>
        </p:nvSpPr>
        <p:spPr>
          <a:xfrm>
            <a:off x="548640" y="603504"/>
            <a:ext cx="9326880" cy="585216"/>
          </a:xfrm>
          <a:prstGeom prst="rect">
            <a:avLst/>
          </a:prstGeom>
          <a:noFill/>
          <a:ln/>
        </p:spPr>
        <p:txBody>
          <a:bodyPr wrap="square" lIns="0" tIns="0" rIns="0" bIns="0" rtlCol="0" anchor="ctr"/>
          <a:lstStyle/>
          <a:p>
            <a:pPr algn="l" indent="0" marL="0">
              <a:buNone/>
            </a:pPr>
            <a:r>
              <a:rPr lang="en-US" sz="3000" b="1" dirty="0">
                <a:solidFill>
                  <a:srgbClr val="0B1F3A"/>
                </a:solidFill>
                <a:latin typeface="Arial" pitchFamily="34" charset="0"/>
                <a:ea typeface="Arial" pitchFamily="34" charset="-122"/>
                <a:cs typeface="Arial" pitchFamily="34" charset="-120"/>
              </a:rPr>
              <a:t>Quick Quiz and Key Takeaways</a:t>
            </a:r>
            <a:endParaRPr lang="en-US" sz="3000" dirty="0"/>
          </a:p>
        </p:txBody>
      </p:sp>
      <p:sp>
        <p:nvSpPr>
          <p:cNvPr id="5" name="t_283"/>
          <p:cNvSpPr txBox="1"/>
          <p:nvPr/>
        </p:nvSpPr>
        <p:spPr>
          <a:xfrm>
            <a:off x="548640" y="1170432"/>
            <a:ext cx="9509760" cy="384048"/>
          </a:xfrm>
          <a:prstGeom prst="rect">
            <a:avLst/>
          </a:prstGeom>
          <a:noFill/>
          <a:ln/>
        </p:spPr>
        <p:txBody>
          <a:bodyPr wrap="square" lIns="0" tIns="0" rIns="0" bIns="0" rtlCol="0" anchor="t"/>
          <a:lstStyle/>
          <a:p>
            <a:pPr indent="0" marL="0">
              <a:buNone/>
            </a:pPr>
            <a:r>
              <a:rPr lang="en-US" sz="1800" i="1" dirty="0">
                <a:solidFill>
                  <a:srgbClr val="475569"/>
                </a:solidFill>
                <a:latin typeface="Arial" pitchFamily="34" charset="0"/>
                <a:ea typeface="Arial" pitchFamily="34" charset="-122"/>
                <a:cs typeface="Arial" pitchFamily="34" charset="-120"/>
              </a:rPr>
              <a:t>Answer out loud – then click to check</a:t>
            </a:r>
            <a:endParaRPr lang="en-US" sz="1800" dirty="0"/>
          </a:p>
        </p:txBody>
      </p:sp>
      <p:sp>
        <p:nvSpPr>
          <p:cNvPr id="6" name="b_284"/>
          <p:cNvSpPr/>
          <p:nvPr/>
        </p:nvSpPr>
        <p:spPr>
          <a:xfrm>
            <a:off x="548640" y="1691640"/>
            <a:ext cx="5440680" cy="1188720"/>
          </a:xfrm>
          <a:prstGeom prst="roundRect">
            <a:avLst>
              <a:gd name="adj" fmla="val 6154"/>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7" name="t_285"/>
          <p:cNvSpPr txBox="1"/>
          <p:nvPr/>
        </p:nvSpPr>
        <p:spPr>
          <a:xfrm>
            <a:off x="731520" y="1764792"/>
            <a:ext cx="5120640" cy="548640"/>
          </a:xfrm>
          <a:prstGeom prst="rect">
            <a:avLst/>
          </a:prstGeom>
          <a:noFill/>
          <a:ln/>
        </p:spPr>
        <p:txBody>
          <a:bodyPr wrap="square" lIns="508" tIns="508" rIns="508" bIns="508" rtlCol="0" anchor="ctr"/>
          <a:lstStyle/>
          <a:p>
            <a:pPr indent="0" marL="0">
              <a:buNone/>
            </a:pPr>
            <a:r>
              <a:rPr lang="en-US" sz="1600" b="1" dirty="0">
                <a:solidFill>
                  <a:srgbClr val="0B1F3A"/>
                </a:solidFill>
                <a:latin typeface="Arial" pitchFamily="34" charset="0"/>
                <a:ea typeface="Arial" pitchFamily="34" charset="-122"/>
                <a:cs typeface="Arial" pitchFamily="34" charset="-120"/>
              </a:rPr>
              <a:t>1. ABS is working and the pedal buzzes. Pump or hold?</a:t>
            </a:r>
            <a:endParaRPr lang="en-US" sz="1600" dirty="0"/>
          </a:p>
        </p:txBody>
      </p:sp>
      <p:sp>
        <p:nvSpPr>
          <p:cNvPr id="8" name="a1_b_286"/>
          <p:cNvSpPr/>
          <p:nvPr/>
        </p:nvSpPr>
        <p:spPr>
          <a:xfrm>
            <a:off x="731520" y="2331720"/>
            <a:ext cx="5074920" cy="438912"/>
          </a:xfrm>
          <a:prstGeom prst="roundRect">
            <a:avLst>
              <a:gd name="adj" fmla="val 16667"/>
            </a:avLst>
          </a:prstGeom>
          <a:solidFill>
            <a:srgbClr val="DCFCE7"/>
          </a:solidFill>
          <a:ln/>
        </p:spPr>
      </p:sp>
      <p:sp>
        <p:nvSpPr>
          <p:cNvPr id="9" name="a1_t_287"/>
          <p:cNvSpPr txBox="1"/>
          <p:nvPr/>
        </p:nvSpPr>
        <p:spPr>
          <a:xfrm>
            <a:off x="822960" y="2331720"/>
            <a:ext cx="4937760" cy="438912"/>
          </a:xfrm>
          <a:prstGeom prst="rect">
            <a:avLst/>
          </a:prstGeom>
          <a:noFill/>
          <a:ln/>
        </p:spPr>
        <p:txBody>
          <a:bodyPr wrap="square" lIns="508" tIns="508" rIns="508" bIns="508" rtlCol="0" anchor="ctr"/>
          <a:lstStyle/>
          <a:p>
            <a:pPr indent="0" marL="0">
              <a:buNone/>
            </a:pPr>
            <a:r>
              <a:rPr lang="en-US" sz="1500" b="1" dirty="0">
                <a:solidFill>
                  <a:srgbClr val="15803D"/>
                </a:solidFill>
                <a:latin typeface="Arial" pitchFamily="34" charset="0"/>
                <a:ea typeface="Arial" pitchFamily="34" charset="-122"/>
                <a:cs typeface="Arial" pitchFamily="34" charset="-120"/>
              </a:rPr>
              <a:t>✓ Hold firmly and steer around the hazard.</a:t>
            </a:r>
            <a:endParaRPr lang="en-US" sz="1500" dirty="0"/>
          </a:p>
        </p:txBody>
      </p:sp>
      <p:sp>
        <p:nvSpPr>
          <p:cNvPr id="10" name="b_288"/>
          <p:cNvSpPr/>
          <p:nvPr/>
        </p:nvSpPr>
        <p:spPr>
          <a:xfrm>
            <a:off x="6199632" y="1691640"/>
            <a:ext cx="5440680" cy="1188720"/>
          </a:xfrm>
          <a:prstGeom prst="roundRect">
            <a:avLst>
              <a:gd name="adj" fmla="val 6154"/>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11" name="t_289"/>
          <p:cNvSpPr txBox="1"/>
          <p:nvPr/>
        </p:nvSpPr>
        <p:spPr>
          <a:xfrm>
            <a:off x="6382512" y="1764792"/>
            <a:ext cx="5120640" cy="548640"/>
          </a:xfrm>
          <a:prstGeom prst="rect">
            <a:avLst/>
          </a:prstGeom>
          <a:noFill/>
          <a:ln/>
        </p:spPr>
        <p:txBody>
          <a:bodyPr wrap="square" lIns="508" tIns="508" rIns="508" bIns="508" rtlCol="0" anchor="ctr"/>
          <a:lstStyle/>
          <a:p>
            <a:pPr indent="0" marL="0">
              <a:buNone/>
            </a:pPr>
            <a:r>
              <a:rPr lang="en-US" sz="1600" b="1" dirty="0">
                <a:solidFill>
                  <a:srgbClr val="0B1F3A"/>
                </a:solidFill>
                <a:latin typeface="Arial" pitchFamily="34" charset="0"/>
                <a:ea typeface="Arial" pitchFamily="34" charset="-122"/>
                <a:cs typeface="Arial" pitchFamily="34" charset="-120"/>
              </a:rPr>
              <a:t>2. Does ESC let you take a bend faster?</a:t>
            </a:r>
            <a:endParaRPr lang="en-US" sz="1600" dirty="0"/>
          </a:p>
        </p:txBody>
      </p:sp>
      <p:sp>
        <p:nvSpPr>
          <p:cNvPr id="12" name="a2_b_290"/>
          <p:cNvSpPr/>
          <p:nvPr/>
        </p:nvSpPr>
        <p:spPr>
          <a:xfrm>
            <a:off x="6382512" y="2331720"/>
            <a:ext cx="5074920" cy="438912"/>
          </a:xfrm>
          <a:prstGeom prst="roundRect">
            <a:avLst>
              <a:gd name="adj" fmla="val 16667"/>
            </a:avLst>
          </a:prstGeom>
          <a:solidFill>
            <a:srgbClr val="DCFCE7"/>
          </a:solidFill>
          <a:ln/>
        </p:spPr>
      </p:sp>
      <p:sp>
        <p:nvSpPr>
          <p:cNvPr id="13" name="a2_t_291"/>
          <p:cNvSpPr txBox="1"/>
          <p:nvPr/>
        </p:nvSpPr>
        <p:spPr>
          <a:xfrm>
            <a:off x="6473952" y="2331720"/>
            <a:ext cx="4937760" cy="438912"/>
          </a:xfrm>
          <a:prstGeom prst="rect">
            <a:avLst/>
          </a:prstGeom>
          <a:noFill/>
          <a:ln/>
        </p:spPr>
        <p:txBody>
          <a:bodyPr wrap="square" lIns="508" tIns="508" rIns="508" bIns="508" rtlCol="0" anchor="ctr"/>
          <a:lstStyle/>
          <a:p>
            <a:pPr indent="0" marL="0">
              <a:buNone/>
            </a:pPr>
            <a:r>
              <a:rPr lang="en-US" sz="1500" b="1" dirty="0">
                <a:solidFill>
                  <a:srgbClr val="15803D"/>
                </a:solidFill>
                <a:latin typeface="Arial" pitchFamily="34" charset="0"/>
                <a:ea typeface="Arial" pitchFamily="34" charset="-122"/>
                <a:cs typeface="Arial" pitchFamily="34" charset="-120"/>
              </a:rPr>
              <a:t>✓ No. It only works within the tyres' grip.</a:t>
            </a:r>
            <a:endParaRPr lang="en-US" sz="1500" dirty="0"/>
          </a:p>
        </p:txBody>
      </p:sp>
      <p:sp>
        <p:nvSpPr>
          <p:cNvPr id="14" name="b_292"/>
          <p:cNvSpPr/>
          <p:nvPr/>
        </p:nvSpPr>
        <p:spPr>
          <a:xfrm>
            <a:off x="548640" y="2990088"/>
            <a:ext cx="5440680" cy="1188720"/>
          </a:xfrm>
          <a:prstGeom prst="roundRect">
            <a:avLst>
              <a:gd name="adj" fmla="val 6154"/>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15" name="t_293"/>
          <p:cNvSpPr txBox="1"/>
          <p:nvPr/>
        </p:nvSpPr>
        <p:spPr>
          <a:xfrm>
            <a:off x="731520" y="3063240"/>
            <a:ext cx="5120640" cy="548640"/>
          </a:xfrm>
          <a:prstGeom prst="rect">
            <a:avLst/>
          </a:prstGeom>
          <a:noFill/>
          <a:ln/>
        </p:spPr>
        <p:txBody>
          <a:bodyPr wrap="square" lIns="508" tIns="508" rIns="508" bIns="508" rtlCol="0" anchor="ctr"/>
          <a:lstStyle/>
          <a:p>
            <a:pPr indent="0" marL="0">
              <a:buNone/>
            </a:pPr>
            <a:r>
              <a:rPr lang="en-US" sz="1600" b="1" dirty="0">
                <a:solidFill>
                  <a:srgbClr val="0B1F3A"/>
                </a:solidFill>
                <a:latin typeface="Arial" pitchFamily="34" charset="0"/>
                <a:ea typeface="Arial" pitchFamily="34" charset="-122"/>
                <a:cs typeface="Arial" pitchFamily="34" charset="-120"/>
              </a:rPr>
              <a:t>3. Does blind-spot monitoring replace the shoulder check?</a:t>
            </a:r>
            <a:endParaRPr lang="en-US" sz="1600" dirty="0"/>
          </a:p>
        </p:txBody>
      </p:sp>
      <p:sp>
        <p:nvSpPr>
          <p:cNvPr id="16" name="a3_b_294"/>
          <p:cNvSpPr/>
          <p:nvPr/>
        </p:nvSpPr>
        <p:spPr>
          <a:xfrm>
            <a:off x="731520" y="3630168"/>
            <a:ext cx="5074920" cy="438912"/>
          </a:xfrm>
          <a:prstGeom prst="roundRect">
            <a:avLst>
              <a:gd name="adj" fmla="val 16667"/>
            </a:avLst>
          </a:prstGeom>
          <a:solidFill>
            <a:srgbClr val="DCFCE7"/>
          </a:solidFill>
          <a:ln/>
        </p:spPr>
      </p:sp>
      <p:sp>
        <p:nvSpPr>
          <p:cNvPr id="17" name="a3_t_295"/>
          <p:cNvSpPr txBox="1"/>
          <p:nvPr/>
        </p:nvSpPr>
        <p:spPr>
          <a:xfrm>
            <a:off x="822960" y="3630168"/>
            <a:ext cx="4937760" cy="438912"/>
          </a:xfrm>
          <a:prstGeom prst="rect">
            <a:avLst/>
          </a:prstGeom>
          <a:noFill/>
          <a:ln/>
        </p:spPr>
        <p:txBody>
          <a:bodyPr wrap="square" lIns="508" tIns="508" rIns="508" bIns="508" rtlCol="0" anchor="ctr"/>
          <a:lstStyle/>
          <a:p>
            <a:pPr indent="0" marL="0">
              <a:buNone/>
            </a:pPr>
            <a:r>
              <a:rPr lang="en-US" sz="1500" b="1" dirty="0">
                <a:solidFill>
                  <a:srgbClr val="15803D"/>
                </a:solidFill>
                <a:latin typeface="Arial" pitchFamily="34" charset="0"/>
                <a:ea typeface="Arial" pitchFamily="34" charset="-122"/>
                <a:cs typeface="Arial" pitchFamily="34" charset="-120"/>
              </a:rPr>
              <a:t>✓ No. Mirrors and shoulder check, every time.</a:t>
            </a:r>
            <a:endParaRPr lang="en-US" sz="1500" dirty="0"/>
          </a:p>
        </p:txBody>
      </p:sp>
      <p:sp>
        <p:nvSpPr>
          <p:cNvPr id="18" name="b_296"/>
          <p:cNvSpPr/>
          <p:nvPr/>
        </p:nvSpPr>
        <p:spPr>
          <a:xfrm>
            <a:off x="6199632" y="2990088"/>
            <a:ext cx="5440680" cy="1188720"/>
          </a:xfrm>
          <a:prstGeom prst="roundRect">
            <a:avLst>
              <a:gd name="adj" fmla="val 6154"/>
            </a:avLst>
          </a:prstGeom>
          <a:solidFill>
            <a:srgbClr val="FFFFFF"/>
          </a:solidFill>
          <a:ln w="12700">
            <a:solidFill>
              <a:srgbClr val="CBD5E1"/>
            </a:solidFill>
            <a:prstDash val="solid"/>
          </a:ln>
          <a:effectLst>
            <a:outerShdw sx="100000" sy="100000" kx="0" ky="0" algn="bl" rotWithShape="0" blurRad="63500" dist="25400" dir="5400000">
              <a:srgbClr val="000000">
                <a:alpha val="12000"/>
              </a:srgbClr>
            </a:outerShdw>
          </a:effectLst>
        </p:spPr>
      </p:sp>
      <p:sp>
        <p:nvSpPr>
          <p:cNvPr id="19" name="t_297"/>
          <p:cNvSpPr txBox="1"/>
          <p:nvPr/>
        </p:nvSpPr>
        <p:spPr>
          <a:xfrm>
            <a:off x="6382512" y="3063240"/>
            <a:ext cx="5120640" cy="548640"/>
          </a:xfrm>
          <a:prstGeom prst="rect">
            <a:avLst/>
          </a:prstGeom>
          <a:noFill/>
          <a:ln/>
        </p:spPr>
        <p:txBody>
          <a:bodyPr wrap="square" lIns="508" tIns="508" rIns="508" bIns="508" rtlCol="0" anchor="ctr"/>
          <a:lstStyle/>
          <a:p>
            <a:pPr indent="0" marL="0">
              <a:buNone/>
            </a:pPr>
            <a:r>
              <a:rPr lang="en-US" sz="1600" b="1" dirty="0">
                <a:solidFill>
                  <a:srgbClr val="0B1F3A"/>
                </a:solidFill>
                <a:latin typeface="Arial" pitchFamily="34" charset="0"/>
                <a:ea typeface="Arial" pitchFamily="34" charset="-122"/>
                <a:cs typeface="Arial" pitchFamily="34" charset="-120"/>
              </a:rPr>
              <a:t>4. Same model name = same safety features?</a:t>
            </a:r>
            <a:endParaRPr lang="en-US" sz="1600" dirty="0"/>
          </a:p>
        </p:txBody>
      </p:sp>
      <p:sp>
        <p:nvSpPr>
          <p:cNvPr id="20" name="a4_b_298"/>
          <p:cNvSpPr/>
          <p:nvPr/>
        </p:nvSpPr>
        <p:spPr>
          <a:xfrm>
            <a:off x="6382512" y="3630168"/>
            <a:ext cx="5074920" cy="438912"/>
          </a:xfrm>
          <a:prstGeom prst="roundRect">
            <a:avLst>
              <a:gd name="adj" fmla="val 16667"/>
            </a:avLst>
          </a:prstGeom>
          <a:solidFill>
            <a:srgbClr val="DCFCE7"/>
          </a:solidFill>
          <a:ln/>
        </p:spPr>
      </p:sp>
      <p:sp>
        <p:nvSpPr>
          <p:cNvPr id="21" name="a4_t_299"/>
          <p:cNvSpPr txBox="1"/>
          <p:nvPr/>
        </p:nvSpPr>
        <p:spPr>
          <a:xfrm>
            <a:off x="6473952" y="3630168"/>
            <a:ext cx="4937760" cy="438912"/>
          </a:xfrm>
          <a:prstGeom prst="rect">
            <a:avLst/>
          </a:prstGeom>
          <a:noFill/>
          <a:ln/>
        </p:spPr>
        <p:txBody>
          <a:bodyPr wrap="square" lIns="508" tIns="508" rIns="508" bIns="508" rtlCol="0" anchor="ctr"/>
          <a:lstStyle/>
          <a:p>
            <a:pPr indent="0" marL="0">
              <a:buNone/>
            </a:pPr>
            <a:r>
              <a:rPr lang="en-US" sz="1500" b="1" dirty="0">
                <a:solidFill>
                  <a:srgbClr val="15803D"/>
                </a:solidFill>
                <a:latin typeface="Arial" pitchFamily="34" charset="0"/>
                <a:ea typeface="Arial" pitchFamily="34" charset="-122"/>
                <a:cs typeface="Arial" pitchFamily="34" charset="-120"/>
              </a:rPr>
              <a:t>✓ No. Check the brochure for your exact variant.</a:t>
            </a:r>
            <a:endParaRPr lang="en-US" sz="1500" dirty="0"/>
          </a:p>
        </p:txBody>
      </p:sp>
      <p:sp>
        <p:nvSpPr>
          <p:cNvPr id="22" name="a5_c_300"/>
          <p:cNvSpPr/>
          <p:nvPr/>
        </p:nvSpPr>
        <p:spPr>
          <a:xfrm>
            <a:off x="548640" y="4370832"/>
            <a:ext cx="502920" cy="502920"/>
          </a:xfrm>
          <a:prstGeom prst="ellipse">
            <a:avLst/>
          </a:prstGeom>
          <a:solidFill>
            <a:srgbClr val="0B1F3A"/>
          </a:solidFill>
          <a:ln/>
        </p:spPr>
      </p:sp>
      <p:pic>
        <p:nvPicPr>
          <p:cNvPr id="23" name="a5_i_301" descr="preencoded.png">    </p:cNvPr>
          <p:cNvPicPr>
            <a:picLocks noChangeAspect="1"/>
          </p:cNvPicPr>
          <p:nvPr/>
        </p:nvPicPr>
        <p:blipFill>
          <a:blip r:embed="rId1"/>
          <a:stretch>
            <a:fillRect/>
          </a:stretch>
        </p:blipFill>
        <p:spPr>
          <a:xfrm>
            <a:off x="659282" y="4481474"/>
            <a:ext cx="281635" cy="281635"/>
          </a:xfrm>
          <a:prstGeom prst="rect">
            <a:avLst/>
          </a:prstGeom>
        </p:spPr>
      </p:pic>
      <p:sp>
        <p:nvSpPr>
          <p:cNvPr id="24" name="a5_t_302"/>
          <p:cNvSpPr txBox="1"/>
          <p:nvPr/>
        </p:nvSpPr>
        <p:spPr>
          <a:xfrm>
            <a:off x="1115568" y="4370832"/>
            <a:ext cx="1600200" cy="50292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Safe speed</a:t>
            </a:r>
            <a:endParaRPr lang="en-US" sz="1400" dirty="0"/>
          </a:p>
        </p:txBody>
      </p:sp>
      <p:sp>
        <p:nvSpPr>
          <p:cNvPr id="25" name="a5_c_303"/>
          <p:cNvSpPr/>
          <p:nvPr/>
        </p:nvSpPr>
        <p:spPr>
          <a:xfrm>
            <a:off x="2798064" y="4370832"/>
            <a:ext cx="502920" cy="502920"/>
          </a:xfrm>
          <a:prstGeom prst="ellipse">
            <a:avLst/>
          </a:prstGeom>
          <a:solidFill>
            <a:srgbClr val="0B1F3A"/>
          </a:solidFill>
          <a:ln/>
        </p:spPr>
      </p:sp>
      <p:pic>
        <p:nvPicPr>
          <p:cNvPr id="26" name="a5_i_304" descr="preencoded.png">    </p:cNvPr>
          <p:cNvPicPr>
            <a:picLocks noChangeAspect="1"/>
          </p:cNvPicPr>
          <p:nvPr/>
        </p:nvPicPr>
        <p:blipFill>
          <a:blip r:embed="rId2"/>
          <a:stretch>
            <a:fillRect/>
          </a:stretch>
        </p:blipFill>
        <p:spPr>
          <a:xfrm>
            <a:off x="2908706" y="4481474"/>
            <a:ext cx="281635" cy="281635"/>
          </a:xfrm>
          <a:prstGeom prst="rect">
            <a:avLst/>
          </a:prstGeom>
        </p:spPr>
      </p:pic>
      <p:sp>
        <p:nvSpPr>
          <p:cNvPr id="27" name="a5_t_305"/>
          <p:cNvSpPr txBox="1"/>
          <p:nvPr/>
        </p:nvSpPr>
        <p:spPr>
          <a:xfrm>
            <a:off x="3364992" y="4370832"/>
            <a:ext cx="1600200" cy="50292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Safe distance</a:t>
            </a:r>
            <a:endParaRPr lang="en-US" sz="1400" dirty="0"/>
          </a:p>
        </p:txBody>
      </p:sp>
      <p:sp>
        <p:nvSpPr>
          <p:cNvPr id="28" name="a5_c_306"/>
          <p:cNvSpPr/>
          <p:nvPr/>
        </p:nvSpPr>
        <p:spPr>
          <a:xfrm>
            <a:off x="5047488" y="4370832"/>
            <a:ext cx="502920" cy="502920"/>
          </a:xfrm>
          <a:prstGeom prst="ellipse">
            <a:avLst/>
          </a:prstGeom>
          <a:solidFill>
            <a:srgbClr val="0B1F3A"/>
          </a:solidFill>
          <a:ln/>
        </p:spPr>
      </p:sp>
      <p:pic>
        <p:nvPicPr>
          <p:cNvPr id="29" name="a5_i_307" descr="preencoded.png">    </p:cNvPr>
          <p:cNvPicPr>
            <a:picLocks noChangeAspect="1"/>
          </p:cNvPicPr>
          <p:nvPr/>
        </p:nvPicPr>
        <p:blipFill>
          <a:blip r:embed="rId3"/>
          <a:stretch>
            <a:fillRect/>
          </a:stretch>
        </p:blipFill>
        <p:spPr>
          <a:xfrm>
            <a:off x="5158130" y="4481474"/>
            <a:ext cx="281635" cy="281635"/>
          </a:xfrm>
          <a:prstGeom prst="rect">
            <a:avLst/>
          </a:prstGeom>
        </p:spPr>
      </p:pic>
      <p:sp>
        <p:nvSpPr>
          <p:cNvPr id="30" name="a5_t_308"/>
          <p:cNvSpPr txBox="1"/>
          <p:nvPr/>
        </p:nvSpPr>
        <p:spPr>
          <a:xfrm>
            <a:off x="5614416" y="4370832"/>
            <a:ext cx="1600200" cy="50292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Belt on, every trip</a:t>
            </a:r>
            <a:endParaRPr lang="en-US" sz="1400" dirty="0"/>
          </a:p>
        </p:txBody>
      </p:sp>
      <p:sp>
        <p:nvSpPr>
          <p:cNvPr id="31" name="a5_c_309"/>
          <p:cNvSpPr/>
          <p:nvPr/>
        </p:nvSpPr>
        <p:spPr>
          <a:xfrm>
            <a:off x="7296912" y="4370832"/>
            <a:ext cx="502920" cy="502920"/>
          </a:xfrm>
          <a:prstGeom prst="ellipse">
            <a:avLst/>
          </a:prstGeom>
          <a:solidFill>
            <a:srgbClr val="0B1F3A"/>
          </a:solidFill>
          <a:ln/>
        </p:spPr>
      </p:sp>
      <p:pic>
        <p:nvPicPr>
          <p:cNvPr id="32" name="a5_i_310" descr="preencoded.png">    </p:cNvPr>
          <p:cNvPicPr>
            <a:picLocks noChangeAspect="1"/>
          </p:cNvPicPr>
          <p:nvPr/>
        </p:nvPicPr>
        <p:blipFill>
          <a:blip r:embed="rId4"/>
          <a:stretch>
            <a:fillRect/>
          </a:stretch>
        </p:blipFill>
        <p:spPr>
          <a:xfrm>
            <a:off x="7407554" y="4481474"/>
            <a:ext cx="281635" cy="281635"/>
          </a:xfrm>
          <a:prstGeom prst="rect">
            <a:avLst/>
          </a:prstGeom>
        </p:spPr>
      </p:pic>
      <p:sp>
        <p:nvSpPr>
          <p:cNvPr id="33" name="a5_t_311"/>
          <p:cNvSpPr txBox="1"/>
          <p:nvPr/>
        </p:nvSpPr>
        <p:spPr>
          <a:xfrm>
            <a:off x="7863840" y="4370832"/>
            <a:ext cx="1600200" cy="50292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Tyres &amp; brakes checked</a:t>
            </a:r>
            <a:endParaRPr lang="en-US" sz="1400" dirty="0"/>
          </a:p>
        </p:txBody>
      </p:sp>
      <p:sp>
        <p:nvSpPr>
          <p:cNvPr id="34" name="a5_c_312"/>
          <p:cNvSpPr/>
          <p:nvPr/>
        </p:nvSpPr>
        <p:spPr>
          <a:xfrm>
            <a:off x="9546336" y="4370832"/>
            <a:ext cx="502920" cy="502920"/>
          </a:xfrm>
          <a:prstGeom prst="ellipse">
            <a:avLst/>
          </a:prstGeom>
          <a:solidFill>
            <a:srgbClr val="0B1F3A"/>
          </a:solidFill>
          <a:ln/>
        </p:spPr>
      </p:sp>
      <p:pic>
        <p:nvPicPr>
          <p:cNvPr id="35" name="a5_i_313" descr="preencoded.png">    </p:cNvPr>
          <p:cNvPicPr>
            <a:picLocks noChangeAspect="1"/>
          </p:cNvPicPr>
          <p:nvPr/>
        </p:nvPicPr>
        <p:blipFill>
          <a:blip r:embed="rId5"/>
          <a:stretch>
            <a:fillRect/>
          </a:stretch>
        </p:blipFill>
        <p:spPr>
          <a:xfrm>
            <a:off x="9656978" y="4481474"/>
            <a:ext cx="281635" cy="281635"/>
          </a:xfrm>
          <a:prstGeom prst="rect">
            <a:avLst/>
          </a:prstGeom>
        </p:spPr>
      </p:pic>
      <p:sp>
        <p:nvSpPr>
          <p:cNvPr id="36" name="a5_t_314"/>
          <p:cNvSpPr txBox="1"/>
          <p:nvPr/>
        </p:nvSpPr>
        <p:spPr>
          <a:xfrm>
            <a:off x="10113264" y="4370832"/>
            <a:ext cx="1600200" cy="502920"/>
          </a:xfrm>
          <a:prstGeom prst="rect">
            <a:avLst/>
          </a:prstGeom>
          <a:noFill/>
          <a:ln/>
        </p:spPr>
        <p:txBody>
          <a:bodyPr wrap="square" lIns="508" tIns="508" rIns="508" bIns="508" rtlCol="0" anchor="ctr"/>
          <a:lstStyle/>
          <a:p>
            <a:pPr indent="0" marL="0">
              <a:buNone/>
            </a:pPr>
            <a:r>
              <a:rPr lang="en-US" sz="1400" b="1" dirty="0">
                <a:solidFill>
                  <a:srgbClr val="0B1F3A"/>
                </a:solidFill>
                <a:latin typeface="Arial" pitchFamily="34" charset="0"/>
                <a:ea typeface="Arial" pitchFamily="34" charset="-122"/>
                <a:cs typeface="Arial" pitchFamily="34" charset="-120"/>
              </a:rPr>
              <a:t>Never rely on assists</a:t>
            </a:r>
            <a:endParaRPr lang="en-US" sz="1400" dirty="0"/>
          </a:p>
        </p:txBody>
      </p:sp>
      <p:sp>
        <p:nvSpPr>
          <p:cNvPr id="37" name="a6_b_315"/>
          <p:cNvSpPr/>
          <p:nvPr/>
        </p:nvSpPr>
        <p:spPr>
          <a:xfrm>
            <a:off x="548640" y="5074920"/>
            <a:ext cx="11094415" cy="1051560"/>
          </a:xfrm>
          <a:prstGeom prst="roundRect">
            <a:avLst>
              <a:gd name="adj" fmla="val 6957"/>
            </a:avLst>
          </a:prstGeom>
          <a:solidFill>
            <a:srgbClr val="0B1F3A"/>
          </a:solidFill>
          <a:ln/>
        </p:spPr>
      </p:sp>
      <p:sp>
        <p:nvSpPr>
          <p:cNvPr id="38" name="a6_t_316"/>
          <p:cNvSpPr txBox="1"/>
          <p:nvPr/>
        </p:nvSpPr>
        <p:spPr>
          <a:xfrm>
            <a:off x="822960" y="5074920"/>
            <a:ext cx="10545775" cy="1051560"/>
          </a:xfrm>
          <a:prstGeom prst="rect">
            <a:avLst/>
          </a:prstGeom>
          <a:noFill/>
          <a:ln/>
        </p:spPr>
        <p:txBody>
          <a:bodyPr wrap="square" lIns="508" tIns="508" rIns="508" bIns="508" rtlCol="0" anchor="ctr"/>
          <a:lstStyle/>
          <a:p>
            <a:pPr algn="ctr" indent="0" marL="0">
              <a:buNone/>
            </a:pPr>
            <a:r>
              <a:rPr lang="en-US" sz="3000" b="1" dirty="0">
                <a:solidFill>
                  <a:srgbClr val="FFFFFF"/>
                </a:solidFill>
                <a:latin typeface="Arial" pitchFamily="34" charset="0"/>
                <a:ea typeface="Arial" pitchFamily="34" charset="-122"/>
                <a:cs typeface="Arial" pitchFamily="34" charset="-120"/>
              </a:rPr>
              <a:t>Safety technology helps. </a:t>
            </a:r>
            <a:pPr algn="ctr" indent="0" marL="0">
              <a:buNone/>
            </a:pPr>
            <a:r>
              <a:rPr lang="en-US" sz="3000" b="1" dirty="0">
                <a:solidFill>
                  <a:srgbClr val="F59E0B"/>
                </a:solidFill>
                <a:latin typeface="Arial" pitchFamily="34" charset="0"/>
                <a:ea typeface="Arial" pitchFamily="34" charset="-122"/>
                <a:cs typeface="Arial" pitchFamily="34" charset="-120"/>
              </a:rPr>
              <a:t>Safe driving saves lives.</a:t>
            </a:r>
            <a:endParaRPr lang="en-US" sz="3000" dirty="0"/>
          </a:p>
        </p:txBody>
      </p:sp>
      <p:sp>
        <p:nvSpPr>
          <p:cNvPr id="39" name="Slide Number Placeholder 0"/>
          <p:cNvSpPr>
            <a:spLocks noGrp="1"/>
          </p:cNvSpPr>
          <p:nvPr>
            <p:ph type="sldNum" sz="quarter" idx="4294967295"/>
          </p:nvPr>
        </p:nvSpPr>
        <p:spPr>
          <a:xfrm>
            <a:off x="11292840" y="6355080"/>
            <a:ext cx="457200" cy="274320"/>
          </a:xfrm>
          <a:prstGeom prst="rect">
            <a:avLst/>
          </a:prstGeom>
          <a:extLst>
            <a:ext uri="{C572A759-6A51-4108-AA02-DFA0A04FC94B}">
              <ma14:wrappingTextBoxFlag xmlns:ma14="http://schemas.microsoft.com/office/mac/drawingml/2011/main" val="0"/>
            </a:ext>
          </a:extLst>
        </p:spPr>
        <p:txBody>
          <a:bodyPr/>
          <a:lstStyle>
            <a:lvl1pPr>
              <a:defRPr sz="1100">
                <a:solidFill>
                  <a:srgbClr val="64748B"/>
                </a:solidFill>
                <a:latin typeface="Arial"/>
                <a:ea typeface="Arial"/>
                <a:cs typeface="Arial"/>
              </a:defRPr>
            </a:lvl1pPr>
          </a:lstStyle>
          <a:p>
            <a:pPr algn="r"/>
            <a:fld id="{F7021451-1387-4CA6-816F-3879F97B5CBC}" type="slidenum">
              <a:rPr b="0" lang="en-US"/>
              <a:t>12</a:t>
            </a:fld>
            <a:endParaRPr lang="en-US"/>
          </a:p>
        </p:txBody>
      </p:sp>
    </p:spTree>
  </p:cSld>
  <p:clrMapOvr>
    <a:masterClrMapping/>
  </p:clrMapOvr>
  <p:transition spd="med">
    <p:fade/>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9"/>
                                        </p:tgtEl>
                                        <p:attrNameLst>
                                          <p:attrName>style.visibility</p:attrName>
                                        </p:attrNameLst>
                                      </p:cBhvr>
                                      <p:to>
                                        <p:strVal val="visible"/>
                                      </p:to>
                                    </p:set>
                                    <p:animEffect transition="in" filter="fade">
                                      <p:cBhvr>
                                        <p:cTn id="10" dur="500"/>
                                        <p:tgtEl>
                                          <p:spTgt spid="9"/>
                                        </p:tgtEl>
                                      </p:cBhvr>
                                    </p:animEffect>
                                  </p:childTnLst>
                                </p:cTn>
                              </p:par>
                            </p:childTnLst>
                          </p:cTn>
                        </p:par>
                      </p:childTnLst>
                    </p:cTn>
                  </p:par>
                  <p:par>
                    <p:cTn id="11" fill="hold">
                      <p:stCondLst>
                        <p:cond delay="indefinite"/>
                      </p:stCondLst>
                      <p:childTnLst>
                        <p:par>
                          <p:cTn id="12" fill="hold">
                            <p:stCondLst>
                              <p:cond delay="0"/>
                            </p:stCondLst>
                            <p:childTnLst>
                              <p:par>
                                <p:cTn id="13" presetID="10" presetClass="entr" presetSubtype="0" fill="hold" grpId="0" nodeType="clickEffect">
                                  <p:stCondLst>
                                    <p:cond delay="0"/>
                                  </p:stCondLst>
                                  <p:childTnLst>
                                    <p:set>
                                      <p:cBhvr>
                                        <p:cTn id="14" dur="1" fill="hold">
                                          <p:stCondLst>
                                            <p:cond delay="0"/>
                                          </p:stCondLst>
                                        </p:cTn>
                                        <p:tgtEl>
                                          <p:spTgt spid="12"/>
                                        </p:tgtEl>
                                        <p:attrNameLst>
                                          <p:attrName>style.visibility</p:attrName>
                                        </p:attrNameLst>
                                      </p:cBhvr>
                                      <p:to>
                                        <p:strVal val="visible"/>
                                      </p:to>
                                    </p:set>
                                    <p:animEffect transition="in" filter="fade">
                                      <p:cBhvr>
                                        <p:cTn id="15" dur="500"/>
                                        <p:tgtEl>
                                          <p:spTgt spid="12"/>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13"/>
                                        </p:tgtEl>
                                        <p:attrNameLst>
                                          <p:attrName>style.visibility</p:attrName>
                                        </p:attrNameLst>
                                      </p:cBhvr>
                                      <p:to>
                                        <p:strVal val="visible"/>
                                      </p:to>
                                    </p:set>
                                    <p:animEffect transition="in" filter="fade">
                                      <p:cBhvr>
                                        <p:cTn id="18" dur="500"/>
                                        <p:tgtEl>
                                          <p:spTgt spid="13"/>
                                        </p:tgtEl>
                                      </p:cBhvr>
                                    </p:animEffect>
                                  </p:childTnLst>
                                </p:cTn>
                              </p:par>
                            </p:childTnLst>
                          </p:cTn>
                        </p:par>
                      </p:childTnLst>
                    </p:cTn>
                  </p:par>
                  <p:par>
                    <p:cTn id="19" fill="hold">
                      <p:stCondLst>
                        <p:cond delay="indefinite"/>
                      </p:stCondLst>
                      <p:childTnLst>
                        <p:par>
                          <p:cTn id="20" fill="hold">
                            <p:stCondLst>
                              <p:cond delay="0"/>
                            </p:stCondLst>
                            <p:childTnLst>
                              <p:par>
                                <p:cTn id="21" presetID="10" presetClass="entr" presetSubtype="0" fill="hold" grpId="0" nodeType="clickEffect">
                                  <p:stCondLst>
                                    <p:cond delay="0"/>
                                  </p:stCondLst>
                                  <p:childTnLst>
                                    <p:set>
                                      <p:cBhvr>
                                        <p:cTn id="22" dur="1" fill="hold">
                                          <p:stCondLst>
                                            <p:cond delay="0"/>
                                          </p:stCondLst>
                                        </p:cTn>
                                        <p:tgtEl>
                                          <p:spTgt spid="16"/>
                                        </p:tgtEl>
                                        <p:attrNameLst>
                                          <p:attrName>style.visibility</p:attrName>
                                        </p:attrNameLst>
                                      </p:cBhvr>
                                      <p:to>
                                        <p:strVal val="visible"/>
                                      </p:to>
                                    </p:set>
                                    <p:animEffect transition="in" filter="fade">
                                      <p:cBhvr>
                                        <p:cTn id="23" dur="500"/>
                                        <p:tgtEl>
                                          <p:spTgt spid="16"/>
                                        </p:tgtEl>
                                      </p:cBhvr>
                                    </p:animEffect>
                                  </p:childTnLst>
                                </p:cTn>
                              </p:par>
                              <p:par>
                                <p:cTn id="24" presetID="10" presetClass="entr" presetSubtype="0" fill="hold" grpId="0" nodeType="withEffect">
                                  <p:stCondLst>
                                    <p:cond delay="0"/>
                                  </p:stCondLst>
                                  <p:childTnLst>
                                    <p:set>
                                      <p:cBhvr>
                                        <p:cTn id="25" dur="1" fill="hold">
                                          <p:stCondLst>
                                            <p:cond delay="0"/>
                                          </p:stCondLst>
                                        </p:cTn>
                                        <p:tgtEl>
                                          <p:spTgt spid="17"/>
                                        </p:tgtEl>
                                        <p:attrNameLst>
                                          <p:attrName>style.visibility</p:attrName>
                                        </p:attrNameLst>
                                      </p:cBhvr>
                                      <p:to>
                                        <p:strVal val="visible"/>
                                      </p:to>
                                    </p:set>
                                    <p:animEffect transition="in" filter="fade">
                                      <p:cBhvr>
                                        <p:cTn id="26" dur="500"/>
                                        <p:tgtEl>
                                          <p:spTgt spid="17"/>
                                        </p:tgtEl>
                                      </p:cBhvr>
                                    </p:animEffect>
                                  </p:childTnLst>
                                </p:cTn>
                              </p:par>
                            </p:childTnLst>
                          </p:cTn>
                        </p:par>
                      </p:childTnLst>
                    </p:cTn>
                  </p:par>
                  <p:par>
                    <p:cTn id="27" fill="hold">
                      <p:stCondLst>
                        <p:cond delay="indefinite"/>
                      </p:stCondLst>
                      <p:childTnLst>
                        <p:par>
                          <p:cTn id="28" fill="hold">
                            <p:stCondLst>
                              <p:cond delay="0"/>
                            </p:stCondLst>
                            <p:childTnLst>
                              <p:par>
                                <p:cTn id="29" presetID="10" presetClass="entr" presetSubtype="0" fill="hold" grpId="0" nodeType="clickEffect">
                                  <p:stCondLst>
                                    <p:cond delay="0"/>
                                  </p:stCondLst>
                                  <p:childTnLst>
                                    <p:set>
                                      <p:cBhvr>
                                        <p:cTn id="30" dur="1" fill="hold">
                                          <p:stCondLst>
                                            <p:cond delay="0"/>
                                          </p:stCondLst>
                                        </p:cTn>
                                        <p:tgtEl>
                                          <p:spTgt spid="20"/>
                                        </p:tgtEl>
                                        <p:attrNameLst>
                                          <p:attrName>style.visibility</p:attrName>
                                        </p:attrNameLst>
                                      </p:cBhvr>
                                      <p:to>
                                        <p:strVal val="visible"/>
                                      </p:to>
                                    </p:set>
                                    <p:animEffect transition="in" filter="fade">
                                      <p:cBhvr>
                                        <p:cTn id="31" dur="500"/>
                                        <p:tgtEl>
                                          <p:spTgt spid="20"/>
                                        </p:tgtEl>
                                      </p:cBhvr>
                                    </p:animEffect>
                                  </p:childTnLst>
                                </p:cTn>
                              </p:par>
                              <p:par>
                                <p:cTn id="32" presetID="10" presetClass="entr" presetSubtype="0" fill="hold" grpId="0" nodeType="withEffect">
                                  <p:stCondLst>
                                    <p:cond delay="0"/>
                                  </p:stCondLst>
                                  <p:childTnLst>
                                    <p:set>
                                      <p:cBhvr>
                                        <p:cTn id="33" dur="1" fill="hold">
                                          <p:stCondLst>
                                            <p:cond delay="0"/>
                                          </p:stCondLst>
                                        </p:cTn>
                                        <p:tgtEl>
                                          <p:spTgt spid="21"/>
                                        </p:tgtEl>
                                        <p:attrNameLst>
                                          <p:attrName>style.visibility</p:attrName>
                                        </p:attrNameLst>
                                      </p:cBhvr>
                                      <p:to>
                                        <p:strVal val="visible"/>
                                      </p:to>
                                    </p:set>
                                    <p:animEffect transition="in" filter="fade">
                                      <p:cBhvr>
                                        <p:cTn id="34" dur="500"/>
                                        <p:tgtEl>
                                          <p:spTgt spid="21"/>
                                        </p:tgtEl>
                                      </p:cBhvr>
                                    </p:animEffect>
                                  </p:childTnLst>
                                </p:cTn>
                              </p:par>
                            </p:childTnLst>
                          </p:cTn>
                        </p:par>
                      </p:childTnLst>
                    </p:cTn>
                  </p:par>
                  <p:par>
                    <p:cTn id="35" fill="hold">
                      <p:stCondLst>
                        <p:cond delay="indefinite"/>
                      </p:stCondLst>
                      <p:childTnLst>
                        <p:par>
                          <p:cTn id="36" fill="hold">
                            <p:stCondLst>
                              <p:cond delay="0"/>
                            </p:stCondLst>
                            <p:childTnLst>
                              <p:par>
                                <p:cTn id="37" presetID="10" presetClass="entr" presetSubtype="0" fill="hold" grpId="0" nodeType="clickEffect">
                                  <p:stCondLst>
                                    <p:cond delay="0"/>
                                  </p:stCondLst>
                                  <p:childTnLst>
                                    <p:set>
                                      <p:cBhvr>
                                        <p:cTn id="38" dur="1" fill="hold">
                                          <p:stCondLst>
                                            <p:cond delay="0"/>
                                          </p:stCondLst>
                                        </p:cTn>
                                        <p:tgtEl>
                                          <p:spTgt spid="22"/>
                                        </p:tgtEl>
                                        <p:attrNameLst>
                                          <p:attrName>style.visibility</p:attrName>
                                        </p:attrNameLst>
                                      </p:cBhvr>
                                      <p:to>
                                        <p:strVal val="visible"/>
                                      </p:to>
                                    </p:set>
                                    <p:animEffect transition="in" filter="fade">
                                      <p:cBhvr>
                                        <p:cTn id="39" dur="500"/>
                                        <p:tgtEl>
                                          <p:spTgt spid="22"/>
                                        </p:tgtEl>
                                      </p:cBhvr>
                                    </p:animEffect>
                                  </p:childTnLst>
                                </p:cTn>
                              </p:par>
                              <p:par>
                                <p:cTn id="40" presetID="10" presetClass="entr" presetSubtype="0" fill="hold" grpId="0" nodeType="withEffect">
                                  <p:stCondLst>
                                    <p:cond delay="0"/>
                                  </p:stCondLst>
                                  <p:childTnLst>
                                    <p:set>
                                      <p:cBhvr>
                                        <p:cTn id="41" dur="1" fill="hold">
                                          <p:stCondLst>
                                            <p:cond delay="0"/>
                                          </p:stCondLst>
                                        </p:cTn>
                                        <p:tgtEl>
                                          <p:spTgt spid="23"/>
                                        </p:tgtEl>
                                        <p:attrNameLst>
                                          <p:attrName>style.visibility</p:attrName>
                                        </p:attrNameLst>
                                      </p:cBhvr>
                                      <p:to>
                                        <p:strVal val="visible"/>
                                      </p:to>
                                    </p:set>
                                    <p:animEffect transition="in" filter="fade">
                                      <p:cBhvr>
                                        <p:cTn id="42" dur="500"/>
                                        <p:tgtEl>
                                          <p:spTgt spid="23"/>
                                        </p:tgtEl>
                                      </p:cBhvr>
                                    </p:animEffect>
                                  </p:childTnLst>
                                </p:cTn>
                              </p:par>
                              <p:par>
                                <p:cTn id="43" presetID="10" presetClass="entr" presetSubtype="0" fill="hold" grpId="0" nodeType="withEffect">
                                  <p:stCondLst>
                                    <p:cond delay="0"/>
                                  </p:stCondLst>
                                  <p:childTnLst>
                                    <p:set>
                                      <p:cBhvr>
                                        <p:cTn id="44" dur="1" fill="hold">
                                          <p:stCondLst>
                                            <p:cond delay="0"/>
                                          </p:stCondLst>
                                        </p:cTn>
                                        <p:tgtEl>
                                          <p:spTgt spid="24"/>
                                        </p:tgtEl>
                                        <p:attrNameLst>
                                          <p:attrName>style.visibility</p:attrName>
                                        </p:attrNameLst>
                                      </p:cBhvr>
                                      <p:to>
                                        <p:strVal val="visible"/>
                                      </p:to>
                                    </p:set>
                                    <p:animEffect transition="in" filter="fade">
                                      <p:cBhvr>
                                        <p:cTn id="45" dur="500"/>
                                        <p:tgtEl>
                                          <p:spTgt spid="24"/>
                                        </p:tgtEl>
                                      </p:cBhvr>
                                    </p:animEffect>
                                  </p:childTnLst>
                                </p:cTn>
                              </p:par>
                              <p:par>
                                <p:cTn id="46" presetID="10" presetClass="entr" presetSubtype="0" fill="hold" grpId="0" nodeType="withEffect">
                                  <p:stCondLst>
                                    <p:cond delay="0"/>
                                  </p:stCondLst>
                                  <p:childTnLst>
                                    <p:set>
                                      <p:cBhvr>
                                        <p:cTn id="47" dur="1" fill="hold">
                                          <p:stCondLst>
                                            <p:cond delay="0"/>
                                          </p:stCondLst>
                                        </p:cTn>
                                        <p:tgtEl>
                                          <p:spTgt spid="25"/>
                                        </p:tgtEl>
                                        <p:attrNameLst>
                                          <p:attrName>style.visibility</p:attrName>
                                        </p:attrNameLst>
                                      </p:cBhvr>
                                      <p:to>
                                        <p:strVal val="visible"/>
                                      </p:to>
                                    </p:set>
                                    <p:animEffect transition="in" filter="fade">
                                      <p:cBhvr>
                                        <p:cTn id="48" dur="500"/>
                                        <p:tgtEl>
                                          <p:spTgt spid="25"/>
                                        </p:tgtEl>
                                      </p:cBhvr>
                                    </p:animEffect>
                                  </p:childTnLst>
                                </p:cTn>
                              </p:par>
                              <p:par>
                                <p:cTn id="49" presetID="10" presetClass="entr" presetSubtype="0" fill="hold" grpId="0" nodeType="withEffect">
                                  <p:stCondLst>
                                    <p:cond delay="0"/>
                                  </p:stCondLst>
                                  <p:childTnLst>
                                    <p:set>
                                      <p:cBhvr>
                                        <p:cTn id="50" dur="1" fill="hold">
                                          <p:stCondLst>
                                            <p:cond delay="0"/>
                                          </p:stCondLst>
                                        </p:cTn>
                                        <p:tgtEl>
                                          <p:spTgt spid="26"/>
                                        </p:tgtEl>
                                        <p:attrNameLst>
                                          <p:attrName>style.visibility</p:attrName>
                                        </p:attrNameLst>
                                      </p:cBhvr>
                                      <p:to>
                                        <p:strVal val="visible"/>
                                      </p:to>
                                    </p:set>
                                    <p:animEffect transition="in" filter="fade">
                                      <p:cBhvr>
                                        <p:cTn id="51" dur="500"/>
                                        <p:tgtEl>
                                          <p:spTgt spid="26"/>
                                        </p:tgtEl>
                                      </p:cBhvr>
                                    </p:animEffect>
                                  </p:childTnLst>
                                </p:cTn>
                              </p:par>
                              <p:par>
                                <p:cTn id="52" presetID="10" presetClass="entr" presetSubtype="0" fill="hold" grpId="0" nodeType="withEffect">
                                  <p:stCondLst>
                                    <p:cond delay="0"/>
                                  </p:stCondLst>
                                  <p:childTnLst>
                                    <p:set>
                                      <p:cBhvr>
                                        <p:cTn id="53" dur="1" fill="hold">
                                          <p:stCondLst>
                                            <p:cond delay="0"/>
                                          </p:stCondLst>
                                        </p:cTn>
                                        <p:tgtEl>
                                          <p:spTgt spid="27"/>
                                        </p:tgtEl>
                                        <p:attrNameLst>
                                          <p:attrName>style.visibility</p:attrName>
                                        </p:attrNameLst>
                                      </p:cBhvr>
                                      <p:to>
                                        <p:strVal val="visible"/>
                                      </p:to>
                                    </p:set>
                                    <p:animEffect transition="in" filter="fade">
                                      <p:cBhvr>
                                        <p:cTn id="54" dur="500"/>
                                        <p:tgtEl>
                                          <p:spTgt spid="27"/>
                                        </p:tgtEl>
                                      </p:cBhvr>
                                    </p:animEffect>
                                  </p:childTnLst>
                                </p:cTn>
                              </p:par>
                              <p:par>
                                <p:cTn id="55" presetID="10" presetClass="entr" presetSubtype="0" fill="hold" grpId="0" nodeType="withEffect">
                                  <p:stCondLst>
                                    <p:cond delay="0"/>
                                  </p:stCondLst>
                                  <p:childTnLst>
                                    <p:set>
                                      <p:cBhvr>
                                        <p:cTn id="56" dur="1" fill="hold">
                                          <p:stCondLst>
                                            <p:cond delay="0"/>
                                          </p:stCondLst>
                                        </p:cTn>
                                        <p:tgtEl>
                                          <p:spTgt spid="28"/>
                                        </p:tgtEl>
                                        <p:attrNameLst>
                                          <p:attrName>style.visibility</p:attrName>
                                        </p:attrNameLst>
                                      </p:cBhvr>
                                      <p:to>
                                        <p:strVal val="visible"/>
                                      </p:to>
                                    </p:set>
                                    <p:animEffect transition="in" filter="fade">
                                      <p:cBhvr>
                                        <p:cTn id="57" dur="500"/>
                                        <p:tgtEl>
                                          <p:spTgt spid="28"/>
                                        </p:tgtEl>
                                      </p:cBhvr>
                                    </p:animEffect>
                                  </p:childTnLst>
                                </p:cTn>
                              </p:par>
                              <p:par>
                                <p:cTn id="58" presetID="10" presetClass="entr" presetSubtype="0" fill="hold" grpId="0" nodeType="withEffect">
                                  <p:stCondLst>
                                    <p:cond delay="0"/>
                                  </p:stCondLst>
                                  <p:childTnLst>
                                    <p:set>
                                      <p:cBhvr>
                                        <p:cTn id="59" dur="1" fill="hold">
                                          <p:stCondLst>
                                            <p:cond delay="0"/>
                                          </p:stCondLst>
                                        </p:cTn>
                                        <p:tgtEl>
                                          <p:spTgt spid="29"/>
                                        </p:tgtEl>
                                        <p:attrNameLst>
                                          <p:attrName>style.visibility</p:attrName>
                                        </p:attrNameLst>
                                      </p:cBhvr>
                                      <p:to>
                                        <p:strVal val="visible"/>
                                      </p:to>
                                    </p:set>
                                    <p:animEffect transition="in" filter="fade">
                                      <p:cBhvr>
                                        <p:cTn id="60" dur="500"/>
                                        <p:tgtEl>
                                          <p:spTgt spid="29"/>
                                        </p:tgtEl>
                                      </p:cBhvr>
                                    </p:animEffect>
                                  </p:childTnLst>
                                </p:cTn>
                              </p:par>
                              <p:par>
                                <p:cTn id="61" presetID="10" presetClass="entr" presetSubtype="0" fill="hold" grpId="0" nodeType="withEffect">
                                  <p:stCondLst>
                                    <p:cond delay="0"/>
                                  </p:stCondLst>
                                  <p:childTnLst>
                                    <p:set>
                                      <p:cBhvr>
                                        <p:cTn id="62" dur="1" fill="hold">
                                          <p:stCondLst>
                                            <p:cond delay="0"/>
                                          </p:stCondLst>
                                        </p:cTn>
                                        <p:tgtEl>
                                          <p:spTgt spid="30"/>
                                        </p:tgtEl>
                                        <p:attrNameLst>
                                          <p:attrName>style.visibility</p:attrName>
                                        </p:attrNameLst>
                                      </p:cBhvr>
                                      <p:to>
                                        <p:strVal val="visible"/>
                                      </p:to>
                                    </p:set>
                                    <p:animEffect transition="in" filter="fade">
                                      <p:cBhvr>
                                        <p:cTn id="63" dur="500"/>
                                        <p:tgtEl>
                                          <p:spTgt spid="30"/>
                                        </p:tgtEl>
                                      </p:cBhvr>
                                    </p:animEffect>
                                  </p:childTnLst>
                                </p:cTn>
                              </p:par>
                              <p:par>
                                <p:cTn id="64" presetID="10" presetClass="entr" presetSubtype="0" fill="hold" grpId="0" nodeType="withEffect">
                                  <p:stCondLst>
                                    <p:cond delay="0"/>
                                  </p:stCondLst>
                                  <p:childTnLst>
                                    <p:set>
                                      <p:cBhvr>
                                        <p:cTn id="65" dur="1" fill="hold">
                                          <p:stCondLst>
                                            <p:cond delay="0"/>
                                          </p:stCondLst>
                                        </p:cTn>
                                        <p:tgtEl>
                                          <p:spTgt spid="31"/>
                                        </p:tgtEl>
                                        <p:attrNameLst>
                                          <p:attrName>style.visibility</p:attrName>
                                        </p:attrNameLst>
                                      </p:cBhvr>
                                      <p:to>
                                        <p:strVal val="visible"/>
                                      </p:to>
                                    </p:set>
                                    <p:animEffect transition="in" filter="fade">
                                      <p:cBhvr>
                                        <p:cTn id="66" dur="500"/>
                                        <p:tgtEl>
                                          <p:spTgt spid="31"/>
                                        </p:tgtEl>
                                      </p:cBhvr>
                                    </p:animEffect>
                                  </p:childTnLst>
                                </p:cTn>
                              </p:par>
                              <p:par>
                                <p:cTn id="67" presetID="10" presetClass="entr" presetSubtype="0" fill="hold" grpId="0" nodeType="withEffect">
                                  <p:stCondLst>
                                    <p:cond delay="0"/>
                                  </p:stCondLst>
                                  <p:childTnLst>
                                    <p:set>
                                      <p:cBhvr>
                                        <p:cTn id="68" dur="1" fill="hold">
                                          <p:stCondLst>
                                            <p:cond delay="0"/>
                                          </p:stCondLst>
                                        </p:cTn>
                                        <p:tgtEl>
                                          <p:spTgt spid="32"/>
                                        </p:tgtEl>
                                        <p:attrNameLst>
                                          <p:attrName>style.visibility</p:attrName>
                                        </p:attrNameLst>
                                      </p:cBhvr>
                                      <p:to>
                                        <p:strVal val="visible"/>
                                      </p:to>
                                    </p:set>
                                    <p:animEffect transition="in" filter="fade">
                                      <p:cBhvr>
                                        <p:cTn id="69" dur="500"/>
                                        <p:tgtEl>
                                          <p:spTgt spid="32"/>
                                        </p:tgtEl>
                                      </p:cBhvr>
                                    </p:animEffect>
                                  </p:childTnLst>
                                </p:cTn>
                              </p:par>
                              <p:par>
                                <p:cTn id="70" presetID="10" presetClass="entr" presetSubtype="0" fill="hold" grpId="0" nodeType="withEffect">
                                  <p:stCondLst>
                                    <p:cond delay="0"/>
                                  </p:stCondLst>
                                  <p:childTnLst>
                                    <p:set>
                                      <p:cBhvr>
                                        <p:cTn id="71" dur="1" fill="hold">
                                          <p:stCondLst>
                                            <p:cond delay="0"/>
                                          </p:stCondLst>
                                        </p:cTn>
                                        <p:tgtEl>
                                          <p:spTgt spid="33"/>
                                        </p:tgtEl>
                                        <p:attrNameLst>
                                          <p:attrName>style.visibility</p:attrName>
                                        </p:attrNameLst>
                                      </p:cBhvr>
                                      <p:to>
                                        <p:strVal val="visible"/>
                                      </p:to>
                                    </p:set>
                                    <p:animEffect transition="in" filter="fade">
                                      <p:cBhvr>
                                        <p:cTn id="72" dur="500"/>
                                        <p:tgtEl>
                                          <p:spTgt spid="33"/>
                                        </p:tgtEl>
                                      </p:cBhvr>
                                    </p:animEffect>
                                  </p:childTnLst>
                                </p:cTn>
                              </p:par>
                              <p:par>
                                <p:cTn id="73" presetID="10" presetClass="entr" presetSubtype="0" fill="hold" grpId="0" nodeType="withEffect">
                                  <p:stCondLst>
                                    <p:cond delay="0"/>
                                  </p:stCondLst>
                                  <p:childTnLst>
                                    <p:set>
                                      <p:cBhvr>
                                        <p:cTn id="74" dur="1" fill="hold">
                                          <p:stCondLst>
                                            <p:cond delay="0"/>
                                          </p:stCondLst>
                                        </p:cTn>
                                        <p:tgtEl>
                                          <p:spTgt spid="34"/>
                                        </p:tgtEl>
                                        <p:attrNameLst>
                                          <p:attrName>style.visibility</p:attrName>
                                        </p:attrNameLst>
                                      </p:cBhvr>
                                      <p:to>
                                        <p:strVal val="visible"/>
                                      </p:to>
                                    </p:set>
                                    <p:animEffect transition="in" filter="fade">
                                      <p:cBhvr>
                                        <p:cTn id="75" dur="500"/>
                                        <p:tgtEl>
                                          <p:spTgt spid="34"/>
                                        </p:tgtEl>
                                      </p:cBhvr>
                                    </p:animEffect>
                                  </p:childTnLst>
                                </p:cTn>
                              </p:par>
                              <p:par>
                                <p:cTn id="76" presetID="10" presetClass="entr" presetSubtype="0" fill="hold" grpId="0" nodeType="withEffect">
                                  <p:stCondLst>
                                    <p:cond delay="0"/>
                                  </p:stCondLst>
                                  <p:childTnLst>
                                    <p:set>
                                      <p:cBhvr>
                                        <p:cTn id="77" dur="1" fill="hold">
                                          <p:stCondLst>
                                            <p:cond delay="0"/>
                                          </p:stCondLst>
                                        </p:cTn>
                                        <p:tgtEl>
                                          <p:spTgt spid="35"/>
                                        </p:tgtEl>
                                        <p:attrNameLst>
                                          <p:attrName>style.visibility</p:attrName>
                                        </p:attrNameLst>
                                      </p:cBhvr>
                                      <p:to>
                                        <p:strVal val="visible"/>
                                      </p:to>
                                    </p:set>
                                    <p:animEffect transition="in" filter="fade">
                                      <p:cBhvr>
                                        <p:cTn id="78" dur="500"/>
                                        <p:tgtEl>
                                          <p:spTgt spid="35"/>
                                        </p:tgtEl>
                                      </p:cBhvr>
                                    </p:animEffect>
                                  </p:childTnLst>
                                </p:cTn>
                              </p:par>
                              <p:par>
                                <p:cTn id="79" presetID="10" presetClass="entr" presetSubtype="0" fill="hold" grpId="0" nodeType="withEffect">
                                  <p:stCondLst>
                                    <p:cond delay="0"/>
                                  </p:stCondLst>
                                  <p:childTnLst>
                                    <p:set>
                                      <p:cBhvr>
                                        <p:cTn id="80" dur="1" fill="hold">
                                          <p:stCondLst>
                                            <p:cond delay="0"/>
                                          </p:stCondLst>
                                        </p:cTn>
                                        <p:tgtEl>
                                          <p:spTgt spid="36"/>
                                        </p:tgtEl>
                                        <p:attrNameLst>
                                          <p:attrName>style.visibility</p:attrName>
                                        </p:attrNameLst>
                                      </p:cBhvr>
                                      <p:to>
                                        <p:strVal val="visible"/>
                                      </p:to>
                                    </p:set>
                                    <p:animEffect transition="in" filter="fade">
                                      <p:cBhvr>
                                        <p:cTn id="81" dur="500"/>
                                        <p:tgtEl>
                                          <p:spTgt spid="36"/>
                                        </p:tgtEl>
                                      </p:cBhvr>
                                    </p:animEffect>
                                  </p:childTnLst>
                                </p:cTn>
                              </p:par>
                            </p:childTnLst>
                          </p:cTn>
                        </p:par>
                      </p:childTnLst>
                    </p:cTn>
                  </p:par>
                  <p:par>
                    <p:cTn id="82" fill="hold">
                      <p:stCondLst>
                        <p:cond delay="indefinite"/>
                      </p:stCondLst>
                      <p:childTnLst>
                        <p:par>
                          <p:cTn id="83" fill="hold">
                            <p:stCondLst>
                              <p:cond delay="0"/>
                            </p:stCondLst>
                            <p:childTnLst>
                              <p:par>
                                <p:cTn id="84" presetID="10" presetClass="entr" presetSubtype="0" fill="hold" grpId="0" nodeType="clickEffect">
                                  <p:stCondLst>
                                    <p:cond delay="0"/>
                                  </p:stCondLst>
                                  <p:childTnLst>
                                    <p:set>
                                      <p:cBhvr>
                                        <p:cTn id="85" dur="1" fill="hold">
                                          <p:stCondLst>
                                            <p:cond delay="0"/>
                                          </p:stCondLst>
                                        </p:cTn>
                                        <p:tgtEl>
                                          <p:spTgt spid="37"/>
                                        </p:tgtEl>
                                        <p:attrNameLst>
                                          <p:attrName>style.visibility</p:attrName>
                                        </p:attrNameLst>
                                      </p:cBhvr>
                                      <p:to>
                                        <p:strVal val="visible"/>
                                      </p:to>
                                    </p:set>
                                    <p:animEffect transition="in" filter="fade">
                                      <p:cBhvr>
                                        <p:cTn id="86" dur="500"/>
                                        <p:tgtEl>
                                          <p:spTgt spid="37"/>
                                        </p:tgtEl>
                                      </p:cBhvr>
                                    </p:animEffect>
                                  </p:childTnLst>
                                </p:cTn>
                              </p:par>
                              <p:par>
                                <p:cTn id="87" presetID="10" presetClass="entr" presetSubtype="0" fill="hold" grpId="0" nodeType="withEffect">
                                  <p:stCondLst>
                                    <p:cond delay="0"/>
                                  </p:stCondLst>
                                  <p:childTnLst>
                                    <p:set>
                                      <p:cBhvr>
                                        <p:cTn id="88" dur="1" fill="hold">
                                          <p:stCondLst>
                                            <p:cond delay="0"/>
                                          </p:stCondLst>
                                        </p:cTn>
                                        <p:tgtEl>
                                          <p:spTgt spid="38"/>
                                        </p:tgtEl>
                                        <p:attrNameLst>
                                          <p:attrName>style.visibility</p:attrName>
                                        </p:attrNameLst>
                                      </p:cBhvr>
                                      <p:to>
                                        <p:strVal val="visible"/>
                                      </p:to>
                                    </p:set>
                                    <p:animEffect transition="in" filter="fade">
                                      <p:cBhvr>
                                        <p:cTn id="89"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9" grpId="0" animBg="1"/>
      <p:bldP spid="12" grpId="0" animBg="1"/>
      <p:bldP spid="13" grpId="0" animBg="1"/>
      <p:bldP spid="16" grpId="0" animBg="1"/>
      <p:bldP spid="17" grpId="0" animBg="1"/>
      <p:bldP spid="20" grpId="0" animBg="1"/>
      <p:bldP spid="21" grpId="0" animBg="1"/>
      <p:bldP spid="22" grpId="0" animBg="1"/>
      <p:bldP spid="24" grpId="0" animBg="1"/>
      <p:bldP spid="25" grpId="0" animBg="1"/>
      <p:bldP spid="27" grpId="0" animBg="1"/>
      <p:bldP spid="28" grpId="0" animBg="1"/>
      <p:bldP spid="30" grpId="0" animBg="1"/>
      <p:bldP spid="31" grpId="0" animBg="1"/>
      <p:bldP spid="33" grpId="0" animBg="1"/>
      <p:bldP spid="34" grpId="0" animBg="1"/>
      <p:bldP spid="36" grpId="0" animBg="1"/>
      <p:bldP spid="37" grpId="0" animBg="1"/>
      <p:bldP spid="38" grpId="0" animBg="1"/>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12</Slides>
  <Notes>12</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12</vt:i4>
      </vt:variant>
    </vt:vector>
  </HeadingPairs>
  <TitlesOfParts>
    <vt:vector size="15"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vector>
  </TitlesOfParts>
  <Company>Petrofac</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Automotive Safety Systems – Beginner Training</dc:title>
  <dc:subject>PptxGenJS Presentation</dc:subject>
  <dc:creator>HSE Toolbox Talk</dc:creator>
  <cp:lastModifiedBy>HSE Toolbox Talk</cp:lastModifiedBy>
  <cp:revision>1</cp:revision>
  <dcterms:created xsi:type="dcterms:W3CDTF">2026-10-13T13:13:13Z</dcterms:created>
  <dcterms:modified xsi:type="dcterms:W3CDTF">2026-10-13T13:13:13Z</dcterms:modified>
</cp:coreProperties>
</file>