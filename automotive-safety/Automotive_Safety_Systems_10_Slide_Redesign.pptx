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Open with a question: how many safety systems are working in your car right now? Take 2–3 guesses.
• Most people say two or three (belts, airbags) – the real answer is often 20 or more.
• Click: show the opening message. Promise: in a few minutes they'll know what the systems do and where their limits 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Škoda says the Kylaq has 25+ active and passive safety features as standard (press release, 6 Nov 2024).
• India also mandated a driver airbag, seatbelt reminders and a speed-warning system from July 2019 (Autocar India).
• Click 1–4: the four layers. Before a crash: Active + ADAS. During: Passive. After: Post-crash.
• Ask: which two layers work before a crash? (Active safety and ADAS.)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ABS: wheel sensors stop a wheel locking – locked wheels slide and can't steer. Buzzing pedal is normal.
• ESC compares where you steer with where the car goes; TCS stops wheelspin on wet paint, mud or gravel.
• TPMS doesn't replace monthly checks with a gauge. Auto Hold: you're still responsible for securing a parked car.
• Ask: should you pump the brakes with ABS? (No – press firmly, hold, steer.)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Camera behind the windscreen, radar behind the grille badge, ultrasonic sensors in the bumpers.
• FCW warns; AEB can brake by itself; with adaptive cruise on, the driver is still responsible for braking.
• Rain, fog, glare, dirty sensors and faded lines reduce performance. Blind-spot systems can miss motorcycles.
• Ask: what could stop a camera seeing properly? (Rain, fog, dirt, sun glare, faded markings.)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Crumple zones fold in a planned way; the safety cell (pillars, sills) keeps its shape – soft ends, strong middle.
• Airbags are supplemental: without a belt you can hit the bag – or the car – out of position.
• Belt over shoulder and hips, never behind your back. Head restraint top roughly level with the top of your head.
• Ask: why is it good that the front crumples? (It absorbs energy, so less force reaches people.)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Show the photo and let the group answer before clicking.
• Click 1: red circles on both hands. Click 2: the hazard. Click 3: the safe grip.
• Answer: hands at the top are in the airbag's path; it inflates in milliseconds from the wheel centre.
• Safe action: 9 and 3, thumbs on the rim, chest at least ~25 cm (10 in) from the wheel centre.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EU: new car models approved after 31 March 2018 must have 112-based eCall (auto or button).
• EVs: many cut high voltage outside the battery when airbags fire – but the battery stays charged (Tesla 2025 Model Y ERG).
• EU GSR2: EDR on new cars from 7 July 2024; US 49 CFR Part 563 standardises EDR data where fitted.
• Ask: you arrive first at an EV crash – what must you not touch? (Orange cables and the battery pack.)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Chain: which step depends entirely on you? Step 2 – your own reaction. Everything else only supports you.
• Not every car has all these systems, and none guarantees a crash is avoided.
• Clicks 6–10 reveal unsafe → safe pairs. TPMS light on: slow down, stop safely, check pressures.
• The DOT code may be only on the inner sidewall.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Read each question; take answers by show of hands, then click to reveal.
• Q1: B – press firmly, hold, steer. Pumping fights the ABS.
• Q2: B – blind-spot systems can miss motorcycles and fast-approaching vehicles.
• Q3: B – treat orange cables and the battery as live; call emergency services, keep clear.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Recap: active safety keeps control, ADAS watches the road, passive safety protects, post-crash calls for help.
• The driver is still the most important safety system in the car.
• Close: "Safety technology helps – safe driving saves lives." Take one or two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TITLE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21792"/>
            <a:ext cx="932688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slideLayout" Target="../slideLayouts/slideLayout3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jp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_1"/>
          <p:cNvSpPr/>
          <p:nvPr/>
        </p:nvSpPr>
        <p:spPr>
          <a:xfrm>
            <a:off x="411480" y="411480"/>
            <a:ext cx="5989320" cy="3931920"/>
          </a:xfrm>
          <a:prstGeom prst="roundRect">
            <a:avLst>
              <a:gd name="adj" fmla="val 2326"/>
            </a:avLst>
          </a:prstGeom>
          <a:solidFill>
            <a:srgbClr val="0B1F3A">
              <a:alpha val="90000"/>
            </a:srgbClr>
          </a:solidFill>
          <a:ln/>
        </p:spPr>
      </p:sp>
      <p:sp>
        <p:nvSpPr>
          <p:cNvPr id="3" name="t_2"/>
          <p:cNvSpPr txBox="1"/>
          <p:nvPr/>
        </p:nvSpPr>
        <p:spPr>
          <a:xfrm>
            <a:off x="731520" y="685800"/>
            <a:ext cx="54864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TOOLBOX TALK</a:t>
            </a:r>
            <a:endParaRPr lang="en-US" sz="1800" dirty="0"/>
          </a:p>
        </p:txBody>
      </p:sp>
      <p:sp>
        <p:nvSpPr>
          <p:cNvPr id="4" name="t_3"/>
          <p:cNvSpPr txBox="1"/>
          <p:nvPr/>
        </p:nvSpPr>
        <p:spPr>
          <a:xfrm>
            <a:off x="731520" y="1097280"/>
            <a:ext cx="548640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AUTOMOTIVE SAFETY SYSTEMS</a:t>
            </a:r>
            <a:endParaRPr lang="en-US" sz="3800" dirty="0"/>
          </a:p>
        </p:txBody>
      </p:sp>
      <p:sp>
        <p:nvSpPr>
          <p:cNvPr id="5" name="t_4"/>
          <p:cNvSpPr txBox="1"/>
          <p:nvPr/>
        </p:nvSpPr>
        <p:spPr>
          <a:xfrm>
            <a:off x="731520" y="2468880"/>
            <a:ext cx="53949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that prevents accidents and protects lives</a:t>
            </a:r>
            <a:endParaRPr lang="en-US" sz="2200" dirty="0"/>
          </a:p>
        </p:txBody>
      </p:sp>
      <p:sp>
        <p:nvSpPr>
          <p:cNvPr id="6" name="a1_b_5"/>
          <p:cNvSpPr/>
          <p:nvPr/>
        </p:nvSpPr>
        <p:spPr>
          <a:xfrm>
            <a:off x="731520" y="333756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F59E0B"/>
          </a:solidFill>
          <a:ln/>
        </p:spPr>
      </p:sp>
      <p:sp>
        <p:nvSpPr>
          <p:cNvPr id="7" name="a1_t_6"/>
          <p:cNvSpPr txBox="1"/>
          <p:nvPr/>
        </p:nvSpPr>
        <p:spPr>
          <a:xfrm>
            <a:off x="868680" y="3337560"/>
            <a:ext cx="512064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car is protecting you right now. Do you know how?</a:t>
            </a:r>
            <a:endParaRPr lang="en-US" sz="2000" dirty="0"/>
          </a:p>
        </p:txBody>
      </p:sp>
      <p:sp>
        <p:nvSpPr>
          <p:cNvPr id="8" name="b_7"/>
          <p:cNvSpPr/>
          <p:nvPr/>
        </p:nvSpPr>
        <p:spPr>
          <a:xfrm>
            <a:off x="6858000" y="548640"/>
            <a:ext cx="480060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p_8" descr="Close-up of a car tyre on the road">    </p:cNvPr>
          <p:cNvPicPr>
            <a:picLocks noChangeAspect="1"/>
          </p:cNvPicPr>
          <p:nvPr/>
        </p:nvPicPr>
        <p:blipFill>
          <a:blip r:embed="rId1"/>
          <a:srcRect l="0" r="0" t="49" b="-49"/>
          <a:stretch/>
        </p:blipFill>
        <p:spPr>
          <a:xfrm>
            <a:off x="6931152" y="621792"/>
            <a:ext cx="4654296" cy="309981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_9"/>
          <p:cNvSpPr/>
          <p:nvPr/>
        </p:nvSpPr>
        <p:spPr>
          <a:xfrm>
            <a:off x="548640" y="274320"/>
            <a:ext cx="1876349" cy="292608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3" name="t_10"/>
          <p:cNvSpPr txBox="1"/>
          <p:nvPr/>
        </p:nvSpPr>
        <p:spPr>
          <a:xfrm>
            <a:off x="548640" y="274320"/>
            <a:ext cx="18763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621792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Safety Systems Than You Think</a:t>
            </a:r>
            <a:endParaRPr lang="en-US" sz="3200" dirty="0"/>
          </a:p>
        </p:txBody>
      </p:sp>
      <p:sp>
        <p:nvSpPr>
          <p:cNvPr id="5" name="b_11"/>
          <p:cNvSpPr/>
          <p:nvPr/>
        </p:nvSpPr>
        <p:spPr>
          <a:xfrm>
            <a:off x="548640" y="1463040"/>
            <a:ext cx="4343400" cy="3246120"/>
          </a:xfrm>
          <a:prstGeom prst="roundRect">
            <a:avLst>
              <a:gd name="adj" fmla="val 2817"/>
            </a:avLst>
          </a:prstGeom>
          <a:solidFill>
            <a:srgbClr val="0B1F3A"/>
          </a:solidFill>
          <a:ln/>
        </p:spPr>
      </p:sp>
      <p:sp>
        <p:nvSpPr>
          <p:cNvPr id="6" name="t_12"/>
          <p:cNvSpPr txBox="1"/>
          <p:nvPr/>
        </p:nvSpPr>
        <p:spPr>
          <a:xfrm>
            <a:off x="777240" y="1554480"/>
            <a:ext cx="393192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25+</a:t>
            </a:r>
            <a:endParaRPr lang="en-US" sz="8000" dirty="0"/>
          </a:p>
        </p:txBody>
      </p:sp>
      <p:sp>
        <p:nvSpPr>
          <p:cNvPr id="7" name="t_13"/>
          <p:cNvSpPr txBox="1"/>
          <p:nvPr/>
        </p:nvSpPr>
        <p:spPr>
          <a:xfrm>
            <a:off x="777240" y="2788920"/>
            <a:ext cx="393192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features fitted as standard on one compact SUV sold in India</a:t>
            </a:r>
            <a:endParaRPr lang="en-US" sz="2100" dirty="0"/>
          </a:p>
        </p:txBody>
      </p:sp>
      <p:sp>
        <p:nvSpPr>
          <p:cNvPr id="8" name="t_14"/>
          <p:cNvSpPr txBox="1"/>
          <p:nvPr/>
        </p:nvSpPr>
        <p:spPr>
          <a:xfrm>
            <a:off x="777240" y="4069080"/>
            <a:ext cx="39319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Škoda Auto press release, Kylaq launch, 6 Nov 2024</a:t>
            </a:r>
            <a:endParaRPr lang="en-US" sz="1300" dirty="0"/>
          </a:p>
        </p:txBody>
      </p:sp>
      <p:sp>
        <p:nvSpPr>
          <p:cNvPr id="9" name="b_15"/>
          <p:cNvSpPr/>
          <p:nvPr/>
        </p:nvSpPr>
        <p:spPr>
          <a:xfrm>
            <a:off x="548640" y="4846320"/>
            <a:ext cx="4343400" cy="1325880"/>
          </a:xfrm>
          <a:prstGeom prst="roundRect">
            <a:avLst>
              <a:gd name="adj" fmla="val 5517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_16"/>
          <p:cNvSpPr txBox="1"/>
          <p:nvPr/>
        </p:nvSpPr>
        <p:spPr>
          <a:xfrm>
            <a:off x="731520" y="4864608"/>
            <a:ext cx="402336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 is compulsory </a:t>
            </a:r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every car on sale in India since April 2019.</a:t>
            </a:r>
            <a:endParaRPr lang="en-US" sz="1800" dirty="0"/>
          </a:p>
        </p:txBody>
      </p:sp>
      <p:sp>
        <p:nvSpPr>
          <p:cNvPr id="11" name="t_17"/>
          <p:cNvSpPr txBox="1"/>
          <p:nvPr/>
        </p:nvSpPr>
        <p:spPr>
          <a:xfrm>
            <a:off x="731520" y="5760720"/>
            <a:ext cx="40233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Autocar India</a:t>
            </a:r>
            <a:endParaRPr lang="en-US" sz="1300" dirty="0"/>
          </a:p>
        </p:txBody>
      </p:sp>
      <p:sp>
        <p:nvSpPr>
          <p:cNvPr id="12" name="t_18"/>
          <p:cNvSpPr txBox="1"/>
          <p:nvPr/>
        </p:nvSpPr>
        <p:spPr>
          <a:xfrm>
            <a:off x="5166360" y="1463040"/>
            <a:ext cx="64008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layers protect you:</a:t>
            </a:r>
            <a:endParaRPr lang="en-US" sz="2000" dirty="0"/>
          </a:p>
        </p:txBody>
      </p:sp>
      <p:sp>
        <p:nvSpPr>
          <p:cNvPr id="13" name="a1_b_19"/>
          <p:cNvSpPr/>
          <p:nvPr/>
        </p:nvSpPr>
        <p:spPr>
          <a:xfrm>
            <a:off x="5166360" y="1965960"/>
            <a:ext cx="3172968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a1_b_20"/>
          <p:cNvSpPr/>
          <p:nvPr/>
        </p:nvSpPr>
        <p:spPr>
          <a:xfrm>
            <a:off x="5166360" y="1965960"/>
            <a:ext cx="3172968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a1_c_21"/>
          <p:cNvSpPr/>
          <p:nvPr/>
        </p:nvSpPr>
        <p:spPr>
          <a:xfrm>
            <a:off x="5349240" y="2286000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6" name="a1_i_2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0174" y="2446934"/>
            <a:ext cx="409651" cy="409651"/>
          </a:xfrm>
          <a:prstGeom prst="rect">
            <a:avLst/>
          </a:prstGeom>
        </p:spPr>
      </p:pic>
      <p:sp>
        <p:nvSpPr>
          <p:cNvPr id="17" name="a1_t_23"/>
          <p:cNvSpPr txBox="1"/>
          <p:nvPr/>
        </p:nvSpPr>
        <p:spPr>
          <a:xfrm>
            <a:off x="6217920" y="2258568"/>
            <a:ext cx="2029968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</a:t>
            </a:r>
            <a:endParaRPr lang="en-US" sz="1400" dirty="0"/>
          </a:p>
        </p:txBody>
      </p:sp>
      <p:sp>
        <p:nvSpPr>
          <p:cNvPr id="18" name="a1_t_24"/>
          <p:cNvSpPr txBox="1"/>
          <p:nvPr/>
        </p:nvSpPr>
        <p:spPr>
          <a:xfrm>
            <a:off x="6217920" y="2587752"/>
            <a:ext cx="2029968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safety</a:t>
            </a:r>
            <a:endParaRPr lang="en-US" sz="2200" dirty="0"/>
          </a:p>
        </p:txBody>
      </p:sp>
      <p:sp>
        <p:nvSpPr>
          <p:cNvPr id="19" name="a1_t_25"/>
          <p:cNvSpPr txBox="1"/>
          <p:nvPr/>
        </p:nvSpPr>
        <p:spPr>
          <a:xfrm>
            <a:off x="5349240" y="3200400"/>
            <a:ext cx="2807208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you in control</a:t>
            </a:r>
            <a:endParaRPr lang="en-US" sz="1900" dirty="0"/>
          </a:p>
        </p:txBody>
      </p:sp>
      <p:sp>
        <p:nvSpPr>
          <p:cNvPr id="20" name="a2_b_26"/>
          <p:cNvSpPr/>
          <p:nvPr/>
        </p:nvSpPr>
        <p:spPr>
          <a:xfrm>
            <a:off x="8467344" y="1965960"/>
            <a:ext cx="3172968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a2_b_27"/>
          <p:cNvSpPr/>
          <p:nvPr/>
        </p:nvSpPr>
        <p:spPr>
          <a:xfrm>
            <a:off x="8467344" y="1965960"/>
            <a:ext cx="3172968" cy="109728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2" name="a2_c_28"/>
          <p:cNvSpPr/>
          <p:nvPr/>
        </p:nvSpPr>
        <p:spPr>
          <a:xfrm>
            <a:off x="8650224" y="2286000"/>
            <a:ext cx="731520" cy="731520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23" name="a2_i_2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1158" y="2446934"/>
            <a:ext cx="409651" cy="409651"/>
          </a:xfrm>
          <a:prstGeom prst="rect">
            <a:avLst/>
          </a:prstGeom>
        </p:spPr>
      </p:pic>
      <p:sp>
        <p:nvSpPr>
          <p:cNvPr id="24" name="a2_t_30"/>
          <p:cNvSpPr txBox="1"/>
          <p:nvPr/>
        </p:nvSpPr>
        <p:spPr>
          <a:xfrm>
            <a:off x="9518904" y="2258568"/>
            <a:ext cx="2029968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 &amp; ASSIST</a:t>
            </a:r>
            <a:endParaRPr lang="en-US" sz="1400" dirty="0"/>
          </a:p>
        </p:txBody>
      </p:sp>
      <p:sp>
        <p:nvSpPr>
          <p:cNvPr id="25" name="a2_t_31"/>
          <p:cNvSpPr txBox="1"/>
          <p:nvPr/>
        </p:nvSpPr>
        <p:spPr>
          <a:xfrm>
            <a:off x="9518904" y="2587752"/>
            <a:ext cx="2029968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ADAS</a:t>
            </a:r>
            <a:endParaRPr lang="en-US" sz="2200" dirty="0"/>
          </a:p>
        </p:txBody>
      </p:sp>
      <p:sp>
        <p:nvSpPr>
          <p:cNvPr id="26" name="a2_t_32"/>
          <p:cNvSpPr txBox="1"/>
          <p:nvPr/>
        </p:nvSpPr>
        <p:spPr>
          <a:xfrm>
            <a:off x="8650224" y="3200400"/>
            <a:ext cx="2807208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Sensors watch the road</a:t>
            </a:r>
            <a:endParaRPr lang="en-US" sz="1900" dirty="0"/>
          </a:p>
        </p:txBody>
      </p:sp>
      <p:sp>
        <p:nvSpPr>
          <p:cNvPr id="27" name="a3_b_33"/>
          <p:cNvSpPr/>
          <p:nvPr/>
        </p:nvSpPr>
        <p:spPr>
          <a:xfrm>
            <a:off x="5166360" y="4151376"/>
            <a:ext cx="3172968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a3_b_34"/>
          <p:cNvSpPr/>
          <p:nvPr/>
        </p:nvSpPr>
        <p:spPr>
          <a:xfrm>
            <a:off x="5166360" y="4151376"/>
            <a:ext cx="3172968" cy="109728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9" name="a3_c_35"/>
          <p:cNvSpPr/>
          <p:nvPr/>
        </p:nvSpPr>
        <p:spPr>
          <a:xfrm>
            <a:off x="5349240" y="4471416"/>
            <a:ext cx="731520" cy="731520"/>
          </a:xfrm>
          <a:prstGeom prst="ellipse">
            <a:avLst/>
          </a:prstGeom>
          <a:solidFill>
            <a:srgbClr val="15803D"/>
          </a:solidFill>
          <a:ln/>
        </p:spPr>
      </p:sp>
      <p:pic>
        <p:nvPicPr>
          <p:cNvPr id="30" name="a3_i_3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0174" y="4632350"/>
            <a:ext cx="409651" cy="409651"/>
          </a:xfrm>
          <a:prstGeom prst="rect">
            <a:avLst/>
          </a:prstGeom>
        </p:spPr>
      </p:pic>
      <p:sp>
        <p:nvSpPr>
          <p:cNvPr id="31" name="a3_t_37"/>
          <p:cNvSpPr txBox="1"/>
          <p:nvPr/>
        </p:nvSpPr>
        <p:spPr>
          <a:xfrm>
            <a:off x="6217920" y="4443984"/>
            <a:ext cx="2029968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</a:t>
            </a:r>
            <a:endParaRPr lang="en-US" sz="1400" dirty="0"/>
          </a:p>
        </p:txBody>
      </p:sp>
      <p:sp>
        <p:nvSpPr>
          <p:cNvPr id="32" name="a3_t_38"/>
          <p:cNvSpPr txBox="1"/>
          <p:nvPr/>
        </p:nvSpPr>
        <p:spPr>
          <a:xfrm>
            <a:off x="6217920" y="4773168"/>
            <a:ext cx="2029968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Passive safety</a:t>
            </a:r>
            <a:endParaRPr lang="en-US" sz="2200" dirty="0"/>
          </a:p>
        </p:txBody>
      </p:sp>
      <p:sp>
        <p:nvSpPr>
          <p:cNvPr id="33" name="a3_t_39"/>
          <p:cNvSpPr txBox="1"/>
          <p:nvPr/>
        </p:nvSpPr>
        <p:spPr>
          <a:xfrm>
            <a:off x="5349240" y="5385816"/>
            <a:ext cx="2807208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Protects you in a crash</a:t>
            </a:r>
            <a:endParaRPr lang="en-US" sz="1900" dirty="0"/>
          </a:p>
        </p:txBody>
      </p:sp>
      <p:sp>
        <p:nvSpPr>
          <p:cNvPr id="34" name="a4_b_40"/>
          <p:cNvSpPr/>
          <p:nvPr/>
        </p:nvSpPr>
        <p:spPr>
          <a:xfrm>
            <a:off x="8467344" y="4151376"/>
            <a:ext cx="3172968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a4_b_41"/>
          <p:cNvSpPr/>
          <p:nvPr/>
        </p:nvSpPr>
        <p:spPr>
          <a:xfrm>
            <a:off x="8467344" y="4151376"/>
            <a:ext cx="3172968" cy="10972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6" name="a4_c_42"/>
          <p:cNvSpPr/>
          <p:nvPr/>
        </p:nvSpPr>
        <p:spPr>
          <a:xfrm>
            <a:off x="8650224" y="4471416"/>
            <a:ext cx="731520" cy="73152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7" name="a4_i_4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1158" y="4632350"/>
            <a:ext cx="409651" cy="409651"/>
          </a:xfrm>
          <a:prstGeom prst="rect">
            <a:avLst/>
          </a:prstGeom>
        </p:spPr>
      </p:pic>
      <p:sp>
        <p:nvSpPr>
          <p:cNvPr id="38" name="a4_t_44"/>
          <p:cNvSpPr txBox="1"/>
          <p:nvPr/>
        </p:nvSpPr>
        <p:spPr>
          <a:xfrm>
            <a:off x="9518904" y="4443984"/>
            <a:ext cx="2029968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</a:t>
            </a:r>
            <a:endParaRPr lang="en-US" sz="1400" dirty="0"/>
          </a:p>
        </p:txBody>
      </p:sp>
      <p:sp>
        <p:nvSpPr>
          <p:cNvPr id="39" name="a4_t_45"/>
          <p:cNvSpPr txBox="1"/>
          <p:nvPr/>
        </p:nvSpPr>
        <p:spPr>
          <a:xfrm>
            <a:off x="9518904" y="4773168"/>
            <a:ext cx="2029968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Post-crash</a:t>
            </a:r>
            <a:endParaRPr lang="en-US" sz="2200" dirty="0"/>
          </a:p>
        </p:txBody>
      </p:sp>
      <p:sp>
        <p:nvSpPr>
          <p:cNvPr id="40" name="a4_t_46"/>
          <p:cNvSpPr txBox="1"/>
          <p:nvPr/>
        </p:nvSpPr>
        <p:spPr>
          <a:xfrm>
            <a:off x="8650224" y="5385816"/>
            <a:ext cx="2807208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 for help after</a:t>
            </a:r>
            <a:endParaRPr lang="en-US" sz="190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8" grpId="0" animBg="1"/>
      <p:bldP spid="39" grpId="0" animBg="1"/>
      <p:bldP spid="4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_47"/>
          <p:cNvSpPr/>
          <p:nvPr/>
        </p:nvSpPr>
        <p:spPr>
          <a:xfrm>
            <a:off x="548640" y="274320"/>
            <a:ext cx="1768450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_48"/>
          <p:cNvSpPr txBox="1"/>
          <p:nvPr/>
        </p:nvSpPr>
        <p:spPr>
          <a:xfrm>
            <a:off x="548640" y="274320"/>
            <a:ext cx="17684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SAFETY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621792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Safely and Stay in Control</a:t>
            </a:r>
            <a:endParaRPr lang="en-US" sz="3200" dirty="0"/>
          </a:p>
        </p:txBody>
      </p:sp>
      <p:sp>
        <p:nvSpPr>
          <p:cNvPr id="5" name="t_49"/>
          <p:cNvSpPr txBox="1"/>
          <p:nvPr/>
        </p:nvSpPr>
        <p:spPr>
          <a:xfrm>
            <a:off x="548640" y="1371600"/>
            <a:ext cx="73152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AN EMERGENCY STOP OR SKID</a:t>
            </a:r>
            <a:endParaRPr lang="en-US" sz="1500" dirty="0"/>
          </a:p>
        </p:txBody>
      </p:sp>
      <p:sp>
        <p:nvSpPr>
          <p:cNvPr id="6" name="a1w_b_50"/>
          <p:cNvSpPr/>
          <p:nvPr/>
        </p:nvSpPr>
        <p:spPr>
          <a:xfrm>
            <a:off x="548640" y="1737360"/>
            <a:ext cx="2123785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a1w_c_51"/>
          <p:cNvSpPr/>
          <p:nvPr/>
        </p:nvSpPr>
        <p:spPr>
          <a:xfrm>
            <a:off x="685800" y="1892808"/>
            <a:ext cx="566928" cy="56692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8" name="a1w_i_5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524" y="2017532"/>
            <a:ext cx="317480" cy="317480"/>
          </a:xfrm>
          <a:prstGeom prst="rect">
            <a:avLst/>
          </a:prstGeom>
        </p:spPr>
      </p:pic>
      <p:sp>
        <p:nvSpPr>
          <p:cNvPr id="9" name="a1w_t_53"/>
          <p:cNvSpPr txBox="1"/>
          <p:nvPr/>
        </p:nvSpPr>
        <p:spPr>
          <a:xfrm>
            <a:off x="1380744" y="1847088"/>
            <a:ext cx="1200241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</a:t>
            </a:r>
            <a:endParaRPr lang="en-US" sz="1900" dirty="0"/>
          </a:p>
        </p:txBody>
      </p:sp>
      <p:sp>
        <p:nvSpPr>
          <p:cNvPr id="10" name="a1w_t_54"/>
          <p:cNvSpPr txBox="1"/>
          <p:nvPr/>
        </p:nvSpPr>
        <p:spPr>
          <a:xfrm>
            <a:off x="685800" y="2578608"/>
            <a:ext cx="184946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Stops wheels locking, so you can still steer</a:t>
            </a:r>
            <a:endParaRPr lang="en-US" sz="1700" dirty="0"/>
          </a:p>
        </p:txBody>
      </p:sp>
      <p:sp>
        <p:nvSpPr>
          <p:cNvPr id="11" name="a1w_b_55"/>
          <p:cNvSpPr/>
          <p:nvPr/>
        </p:nvSpPr>
        <p:spPr>
          <a:xfrm>
            <a:off x="2791297" y="1737360"/>
            <a:ext cx="2123785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a1w_c_56"/>
          <p:cNvSpPr/>
          <p:nvPr/>
        </p:nvSpPr>
        <p:spPr>
          <a:xfrm>
            <a:off x="2928457" y="1892808"/>
            <a:ext cx="566928" cy="56692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3" name="a1w_i_5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3182" y="2017532"/>
            <a:ext cx="317480" cy="317480"/>
          </a:xfrm>
          <a:prstGeom prst="rect">
            <a:avLst/>
          </a:prstGeom>
        </p:spPr>
      </p:pic>
      <p:sp>
        <p:nvSpPr>
          <p:cNvPr id="14" name="a1w_t_58"/>
          <p:cNvSpPr txBox="1"/>
          <p:nvPr/>
        </p:nvSpPr>
        <p:spPr>
          <a:xfrm>
            <a:off x="3623401" y="1847088"/>
            <a:ext cx="1200241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EBD</a:t>
            </a:r>
            <a:endParaRPr lang="en-US" sz="1900" dirty="0"/>
          </a:p>
        </p:txBody>
      </p:sp>
      <p:sp>
        <p:nvSpPr>
          <p:cNvPr id="15" name="a1w_t_59"/>
          <p:cNvSpPr txBox="1"/>
          <p:nvPr/>
        </p:nvSpPr>
        <p:spPr>
          <a:xfrm>
            <a:off x="2928457" y="2578608"/>
            <a:ext cx="184946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Shares braking force to suit the load</a:t>
            </a:r>
            <a:endParaRPr lang="en-US" sz="1700" dirty="0"/>
          </a:p>
        </p:txBody>
      </p:sp>
      <p:sp>
        <p:nvSpPr>
          <p:cNvPr id="16" name="a1w_b_60"/>
          <p:cNvSpPr/>
          <p:nvPr/>
        </p:nvSpPr>
        <p:spPr>
          <a:xfrm>
            <a:off x="5033955" y="1737360"/>
            <a:ext cx="2123785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a1w_c_61"/>
          <p:cNvSpPr/>
          <p:nvPr/>
        </p:nvSpPr>
        <p:spPr>
          <a:xfrm>
            <a:off x="5171115" y="1892808"/>
            <a:ext cx="566928" cy="56692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8" name="a1w_i_6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5839" y="2017532"/>
            <a:ext cx="317480" cy="317480"/>
          </a:xfrm>
          <a:prstGeom prst="rect">
            <a:avLst/>
          </a:prstGeom>
        </p:spPr>
      </p:pic>
      <p:sp>
        <p:nvSpPr>
          <p:cNvPr id="19" name="a1w_t_63"/>
          <p:cNvSpPr txBox="1"/>
          <p:nvPr/>
        </p:nvSpPr>
        <p:spPr>
          <a:xfrm>
            <a:off x="5866059" y="1847088"/>
            <a:ext cx="1200241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Brake Assist</a:t>
            </a:r>
            <a:endParaRPr lang="en-US" sz="1900" dirty="0"/>
          </a:p>
        </p:txBody>
      </p:sp>
      <p:sp>
        <p:nvSpPr>
          <p:cNvPr id="20" name="a1w_t_64"/>
          <p:cNvSpPr txBox="1"/>
          <p:nvPr/>
        </p:nvSpPr>
        <p:spPr>
          <a:xfrm>
            <a:off x="5171115" y="2578608"/>
            <a:ext cx="184946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Adds full force in a panic stop</a:t>
            </a:r>
            <a:endParaRPr lang="en-US" sz="1700" dirty="0"/>
          </a:p>
        </p:txBody>
      </p:sp>
      <p:sp>
        <p:nvSpPr>
          <p:cNvPr id="21" name="a1w_b_65"/>
          <p:cNvSpPr/>
          <p:nvPr/>
        </p:nvSpPr>
        <p:spPr>
          <a:xfrm>
            <a:off x="7276612" y="1737360"/>
            <a:ext cx="2123785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a1w_c_66"/>
          <p:cNvSpPr/>
          <p:nvPr/>
        </p:nvSpPr>
        <p:spPr>
          <a:xfrm>
            <a:off x="7413772" y="1892808"/>
            <a:ext cx="566928" cy="56692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3" name="a1w_i_67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8496" y="2017532"/>
            <a:ext cx="317480" cy="317480"/>
          </a:xfrm>
          <a:prstGeom prst="rect">
            <a:avLst/>
          </a:prstGeom>
        </p:spPr>
      </p:pic>
      <p:sp>
        <p:nvSpPr>
          <p:cNvPr id="24" name="a1w_t_68"/>
          <p:cNvSpPr txBox="1"/>
          <p:nvPr/>
        </p:nvSpPr>
        <p:spPr>
          <a:xfrm>
            <a:off x="8108716" y="1847088"/>
            <a:ext cx="1200241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</a:t>
            </a:r>
            <a:endParaRPr lang="en-US" sz="1900" dirty="0"/>
          </a:p>
        </p:txBody>
      </p:sp>
      <p:sp>
        <p:nvSpPr>
          <p:cNvPr id="25" name="a1w_t_69"/>
          <p:cNvSpPr txBox="1"/>
          <p:nvPr/>
        </p:nvSpPr>
        <p:spPr>
          <a:xfrm>
            <a:off x="7413772" y="2578608"/>
            <a:ext cx="184946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Brakes single wheels to stop a skid</a:t>
            </a:r>
            <a:endParaRPr lang="en-US" sz="1700" dirty="0"/>
          </a:p>
        </p:txBody>
      </p:sp>
      <p:sp>
        <p:nvSpPr>
          <p:cNvPr id="26" name="a1w_b_70"/>
          <p:cNvSpPr/>
          <p:nvPr/>
        </p:nvSpPr>
        <p:spPr>
          <a:xfrm>
            <a:off x="9519270" y="1737360"/>
            <a:ext cx="2123785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a1w_c_71"/>
          <p:cNvSpPr/>
          <p:nvPr/>
        </p:nvSpPr>
        <p:spPr>
          <a:xfrm>
            <a:off x="9656430" y="1892808"/>
            <a:ext cx="566928" cy="56692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8" name="a1w_i_7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1154" y="2017532"/>
            <a:ext cx="317480" cy="317480"/>
          </a:xfrm>
          <a:prstGeom prst="rect">
            <a:avLst/>
          </a:prstGeom>
        </p:spPr>
      </p:pic>
      <p:sp>
        <p:nvSpPr>
          <p:cNvPr id="29" name="a1w_t_73"/>
          <p:cNvSpPr txBox="1"/>
          <p:nvPr/>
        </p:nvSpPr>
        <p:spPr>
          <a:xfrm>
            <a:off x="10351374" y="1847088"/>
            <a:ext cx="1200241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 control</a:t>
            </a:r>
            <a:endParaRPr lang="en-US" sz="1900" dirty="0"/>
          </a:p>
        </p:txBody>
      </p:sp>
      <p:sp>
        <p:nvSpPr>
          <p:cNvPr id="30" name="a1w_t_74"/>
          <p:cNvSpPr txBox="1"/>
          <p:nvPr/>
        </p:nvSpPr>
        <p:spPr>
          <a:xfrm>
            <a:off x="9656430" y="2578608"/>
            <a:ext cx="184946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Stops wheelspin when pulling away</a:t>
            </a:r>
            <a:endParaRPr lang="en-US" sz="1700" dirty="0"/>
          </a:p>
        </p:txBody>
      </p:sp>
      <p:sp>
        <p:nvSpPr>
          <p:cNvPr id="31" name="t_75"/>
          <p:cNvSpPr txBox="1"/>
          <p:nvPr/>
        </p:nvSpPr>
        <p:spPr>
          <a:xfrm>
            <a:off x="548640" y="3630168"/>
            <a:ext cx="73152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EVERYDAY HELPERS</a:t>
            </a:r>
            <a:endParaRPr lang="en-US" sz="1500" dirty="0"/>
          </a:p>
        </p:txBody>
      </p:sp>
      <p:sp>
        <p:nvSpPr>
          <p:cNvPr id="32" name="a2w_b_76"/>
          <p:cNvSpPr/>
          <p:nvPr/>
        </p:nvSpPr>
        <p:spPr>
          <a:xfrm>
            <a:off x="548640" y="3995928"/>
            <a:ext cx="268445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a2w_c_77"/>
          <p:cNvSpPr/>
          <p:nvPr/>
        </p:nvSpPr>
        <p:spPr>
          <a:xfrm>
            <a:off x="685800" y="4151376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34" name="a2w_i_78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" y="4251960"/>
            <a:ext cx="256032" cy="256032"/>
          </a:xfrm>
          <a:prstGeom prst="rect">
            <a:avLst/>
          </a:prstGeom>
        </p:spPr>
      </p:pic>
      <p:sp>
        <p:nvSpPr>
          <p:cNvPr id="35" name="a2w_t_79"/>
          <p:cNvSpPr txBox="1"/>
          <p:nvPr/>
        </p:nvSpPr>
        <p:spPr>
          <a:xfrm>
            <a:off x="1271016" y="4105656"/>
            <a:ext cx="1870634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TPMS</a:t>
            </a:r>
            <a:endParaRPr lang="en-US" sz="1800" dirty="0"/>
          </a:p>
        </p:txBody>
      </p:sp>
      <p:sp>
        <p:nvSpPr>
          <p:cNvPr id="36" name="a2w_t_80"/>
          <p:cNvSpPr txBox="1"/>
          <p:nvPr/>
        </p:nvSpPr>
        <p:spPr>
          <a:xfrm>
            <a:off x="685800" y="4727448"/>
            <a:ext cx="241013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Warns of a badly under-inflated tyre</a:t>
            </a:r>
            <a:endParaRPr lang="en-US" sz="1600" dirty="0"/>
          </a:p>
        </p:txBody>
      </p:sp>
      <p:sp>
        <p:nvSpPr>
          <p:cNvPr id="37" name="a2w_b_81"/>
          <p:cNvSpPr/>
          <p:nvPr/>
        </p:nvSpPr>
        <p:spPr>
          <a:xfrm>
            <a:off x="3351962" y="3995928"/>
            <a:ext cx="268445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38" name="a2w_c_82"/>
          <p:cNvSpPr/>
          <p:nvPr/>
        </p:nvSpPr>
        <p:spPr>
          <a:xfrm>
            <a:off x="3489122" y="4151376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39" name="a2w_i_8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9706" y="4251960"/>
            <a:ext cx="256032" cy="256032"/>
          </a:xfrm>
          <a:prstGeom prst="rect">
            <a:avLst/>
          </a:prstGeom>
        </p:spPr>
      </p:pic>
      <p:sp>
        <p:nvSpPr>
          <p:cNvPr id="40" name="a2w_t_84"/>
          <p:cNvSpPr txBox="1"/>
          <p:nvPr/>
        </p:nvSpPr>
        <p:spPr>
          <a:xfrm>
            <a:off x="4074338" y="4105656"/>
            <a:ext cx="1870634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Hill Start Assist</a:t>
            </a:r>
            <a:endParaRPr lang="en-US" sz="1800" dirty="0"/>
          </a:p>
        </p:txBody>
      </p:sp>
      <p:sp>
        <p:nvSpPr>
          <p:cNvPr id="41" name="a2w_t_85"/>
          <p:cNvSpPr txBox="1"/>
          <p:nvPr/>
        </p:nvSpPr>
        <p:spPr>
          <a:xfrm>
            <a:off x="3489122" y="4727448"/>
            <a:ext cx="241013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Holds the brakes so you don't roll back</a:t>
            </a:r>
            <a:endParaRPr lang="en-US" sz="1600" dirty="0"/>
          </a:p>
        </p:txBody>
      </p:sp>
      <p:sp>
        <p:nvSpPr>
          <p:cNvPr id="42" name="a2w_b_86"/>
          <p:cNvSpPr/>
          <p:nvPr/>
        </p:nvSpPr>
        <p:spPr>
          <a:xfrm>
            <a:off x="6155284" y="3995928"/>
            <a:ext cx="268445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43" name="a2w_c_87"/>
          <p:cNvSpPr/>
          <p:nvPr/>
        </p:nvSpPr>
        <p:spPr>
          <a:xfrm>
            <a:off x="6292444" y="4151376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44" name="a2w_i_88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3028" y="4251960"/>
            <a:ext cx="256032" cy="256032"/>
          </a:xfrm>
          <a:prstGeom prst="rect">
            <a:avLst/>
          </a:prstGeom>
        </p:spPr>
      </p:pic>
      <p:sp>
        <p:nvSpPr>
          <p:cNvPr id="45" name="a2w_t_89"/>
          <p:cNvSpPr txBox="1"/>
          <p:nvPr/>
        </p:nvSpPr>
        <p:spPr>
          <a:xfrm>
            <a:off x="6877660" y="4105656"/>
            <a:ext cx="1870634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Hill Descent Control</a:t>
            </a:r>
            <a:endParaRPr lang="en-US" sz="1800" dirty="0"/>
          </a:p>
        </p:txBody>
      </p:sp>
      <p:sp>
        <p:nvSpPr>
          <p:cNvPr id="46" name="a2w_t_90"/>
          <p:cNvSpPr txBox="1"/>
          <p:nvPr/>
        </p:nvSpPr>
        <p:spPr>
          <a:xfrm>
            <a:off x="6292444" y="4727448"/>
            <a:ext cx="241013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a slow, steady speed downhill</a:t>
            </a:r>
            <a:endParaRPr lang="en-US" sz="1600" dirty="0"/>
          </a:p>
        </p:txBody>
      </p:sp>
      <p:sp>
        <p:nvSpPr>
          <p:cNvPr id="47" name="a2w_b_91"/>
          <p:cNvSpPr/>
          <p:nvPr/>
        </p:nvSpPr>
        <p:spPr>
          <a:xfrm>
            <a:off x="8958605" y="3995928"/>
            <a:ext cx="268445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48" name="a2w_c_92"/>
          <p:cNvSpPr/>
          <p:nvPr/>
        </p:nvSpPr>
        <p:spPr>
          <a:xfrm>
            <a:off x="9095765" y="4151376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49" name="a2w_i_93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96349" y="4251960"/>
            <a:ext cx="256032" cy="256032"/>
          </a:xfrm>
          <a:prstGeom prst="rect">
            <a:avLst/>
          </a:prstGeom>
        </p:spPr>
      </p:pic>
      <p:sp>
        <p:nvSpPr>
          <p:cNvPr id="50" name="a2w_t_94"/>
          <p:cNvSpPr txBox="1"/>
          <p:nvPr/>
        </p:nvSpPr>
        <p:spPr>
          <a:xfrm>
            <a:off x="9680981" y="4105656"/>
            <a:ext cx="1870634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EPB / Auto Hold</a:t>
            </a:r>
            <a:endParaRPr lang="en-US" sz="1800" dirty="0"/>
          </a:p>
        </p:txBody>
      </p:sp>
      <p:sp>
        <p:nvSpPr>
          <p:cNvPr id="51" name="a2w_t_95"/>
          <p:cNvSpPr txBox="1"/>
          <p:nvPr/>
        </p:nvSpPr>
        <p:spPr>
          <a:xfrm>
            <a:off x="9095765" y="4727448"/>
            <a:ext cx="241013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 parking brake; holds you at stops</a:t>
            </a:r>
            <a:endParaRPr lang="en-US" sz="1600" dirty="0"/>
          </a:p>
        </p:txBody>
      </p:sp>
      <p:sp>
        <p:nvSpPr>
          <p:cNvPr id="52" name="b_96"/>
          <p:cNvSpPr/>
          <p:nvPr/>
        </p:nvSpPr>
        <p:spPr>
          <a:xfrm>
            <a:off x="548640" y="548640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3" name="t_97"/>
          <p:cNvSpPr txBox="1"/>
          <p:nvPr/>
        </p:nvSpPr>
        <p:spPr>
          <a:xfrm>
            <a:off x="777240" y="5486400"/>
            <a:ext cx="10637215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STOP: </a:t>
            </a:r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 firmly and HOLD – don't pump. Steer around the hazard. </a:t>
            </a:r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 cannot create grip that isn't there.</a:t>
            </a:r>
            <a:endParaRPr lang="en-US" sz="1800" dirty="0"/>
          </a:p>
        </p:txBody>
      </p:sp>
      <p:sp>
        <p:nvSpPr>
          <p:cNvPr id="5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6" grpId="0" animBg="1"/>
      <p:bldP spid="27" grpId="0" animBg="1"/>
      <p:bldP spid="29" grpId="0" animBg="1"/>
      <p:bldP spid="30" grpId="0" animBg="1"/>
      <p:bldP spid="32" grpId="0" animBg="1"/>
      <p:bldP spid="33" grpId="0" animBg="1"/>
      <p:bldP spid="35" grpId="0" animBg="1"/>
      <p:bldP spid="36" grpId="0" animBg="1"/>
      <p:bldP spid="37" grpId="0" animBg="1"/>
      <p:bldP spid="38" grpId="0" animBg="1"/>
      <p:bldP spid="40" grpId="0" animBg="1"/>
      <p:bldP spid="41" grpId="0" animBg="1"/>
      <p:bldP spid="42" grpId="0" animBg="1"/>
      <p:bldP spid="43" grpId="0" animBg="1"/>
      <p:bldP spid="45" grpId="0" animBg="1"/>
      <p:bldP spid="46" grpId="0" animBg="1"/>
      <p:bldP spid="47" grpId="0" animBg="1"/>
      <p:bldP spid="48" grpId="0" animBg="1"/>
      <p:bldP spid="50" grpId="0" animBg="1"/>
      <p:bldP spid="5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_98"/>
          <p:cNvSpPr/>
          <p:nvPr/>
        </p:nvSpPr>
        <p:spPr>
          <a:xfrm>
            <a:off x="548640" y="274320"/>
            <a:ext cx="797357" cy="292608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/>
        </p:spPr>
      </p:sp>
      <p:sp>
        <p:nvSpPr>
          <p:cNvPr id="3" name="t_99"/>
          <p:cNvSpPr txBox="1"/>
          <p:nvPr/>
        </p:nvSpPr>
        <p:spPr>
          <a:xfrm>
            <a:off x="548640" y="274320"/>
            <a:ext cx="79735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ADAS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621792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Your Car Watching the Road?</a:t>
            </a:r>
            <a:endParaRPr lang="en-US" sz="3200" dirty="0"/>
          </a:p>
        </p:txBody>
      </p:sp>
      <p:sp>
        <p:nvSpPr>
          <p:cNvPr id="5" name="a1w_b_100"/>
          <p:cNvSpPr/>
          <p:nvPr/>
        </p:nvSpPr>
        <p:spPr>
          <a:xfrm>
            <a:off x="548640" y="1417320"/>
            <a:ext cx="3423818" cy="960120"/>
          </a:xfrm>
          <a:prstGeom prst="roundRect">
            <a:avLst>
              <a:gd name="adj" fmla="val 9524"/>
            </a:avLst>
          </a:prstGeom>
          <a:solidFill>
            <a:srgbClr val="0E7490"/>
          </a:solidFill>
          <a:ln/>
        </p:spPr>
      </p:sp>
      <p:pic>
        <p:nvPicPr>
          <p:cNvPr id="6" name="a1w_i_10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00200"/>
            <a:ext cx="594360" cy="594360"/>
          </a:xfrm>
          <a:prstGeom prst="rect">
            <a:avLst/>
          </a:prstGeom>
        </p:spPr>
      </p:pic>
      <p:sp>
        <p:nvSpPr>
          <p:cNvPr id="7" name="a1w_t_102"/>
          <p:cNvSpPr txBox="1"/>
          <p:nvPr/>
        </p:nvSpPr>
        <p:spPr>
          <a:xfrm>
            <a:off x="1463040" y="1417320"/>
            <a:ext cx="2417978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+ radar scan the road</a:t>
            </a:r>
            <a:endParaRPr lang="en-US" sz="1600" dirty="0"/>
          </a:p>
        </p:txBody>
      </p:sp>
      <p:pic>
        <p:nvPicPr>
          <p:cNvPr id="8" name="a2w_i_10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6466" y="1664208"/>
            <a:ext cx="292608" cy="292608"/>
          </a:xfrm>
          <a:prstGeom prst="rect">
            <a:avLst/>
          </a:prstGeom>
        </p:spPr>
      </p:pic>
      <p:sp>
        <p:nvSpPr>
          <p:cNvPr id="9" name="a2w_b_104"/>
          <p:cNvSpPr/>
          <p:nvPr/>
        </p:nvSpPr>
        <p:spPr>
          <a:xfrm>
            <a:off x="4383938" y="1417320"/>
            <a:ext cx="3423818" cy="960120"/>
          </a:xfrm>
          <a:prstGeom prst="roundRect">
            <a:avLst>
              <a:gd name="adj" fmla="val 9524"/>
            </a:avLst>
          </a:prstGeom>
          <a:solidFill>
            <a:srgbClr val="0E7490"/>
          </a:solidFill>
          <a:ln/>
        </p:spPr>
      </p:sp>
      <p:pic>
        <p:nvPicPr>
          <p:cNvPr id="10" name="a2w_i_10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6818" y="1600200"/>
            <a:ext cx="594360" cy="594360"/>
          </a:xfrm>
          <a:prstGeom prst="rect">
            <a:avLst/>
          </a:prstGeom>
        </p:spPr>
      </p:pic>
      <p:sp>
        <p:nvSpPr>
          <p:cNvPr id="11" name="a2w_t_106"/>
          <p:cNvSpPr txBox="1"/>
          <p:nvPr/>
        </p:nvSpPr>
        <p:spPr>
          <a:xfrm>
            <a:off x="5298338" y="1417320"/>
            <a:ext cx="2417978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spots vehicles, people, lane lines</a:t>
            </a:r>
            <a:endParaRPr lang="en-US" sz="1600" dirty="0"/>
          </a:p>
        </p:txBody>
      </p:sp>
      <p:pic>
        <p:nvPicPr>
          <p:cNvPr id="12" name="a3w_i_107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1765" y="1664208"/>
            <a:ext cx="292608" cy="292608"/>
          </a:xfrm>
          <a:prstGeom prst="rect">
            <a:avLst/>
          </a:prstGeom>
        </p:spPr>
      </p:pic>
      <p:sp>
        <p:nvSpPr>
          <p:cNvPr id="13" name="a3w_b_108"/>
          <p:cNvSpPr/>
          <p:nvPr/>
        </p:nvSpPr>
        <p:spPr>
          <a:xfrm>
            <a:off x="8219237" y="1417320"/>
            <a:ext cx="3423818" cy="960120"/>
          </a:xfrm>
          <a:prstGeom prst="roundRect">
            <a:avLst>
              <a:gd name="adj" fmla="val 9524"/>
            </a:avLst>
          </a:prstGeom>
          <a:solidFill>
            <a:srgbClr val="0E7490"/>
          </a:solidFill>
          <a:ln/>
        </p:spPr>
      </p:sp>
      <p:pic>
        <p:nvPicPr>
          <p:cNvPr id="14" name="a3w_i_109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2117" y="1600200"/>
            <a:ext cx="594360" cy="594360"/>
          </a:xfrm>
          <a:prstGeom prst="rect">
            <a:avLst/>
          </a:prstGeom>
        </p:spPr>
      </p:pic>
      <p:sp>
        <p:nvSpPr>
          <p:cNvPr id="15" name="a3w_t_110"/>
          <p:cNvSpPr txBox="1"/>
          <p:nvPr/>
        </p:nvSpPr>
        <p:spPr>
          <a:xfrm>
            <a:off x="9133637" y="1417320"/>
            <a:ext cx="2417978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 or ACT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 you – may brake or steer</a:t>
            </a:r>
            <a:endParaRPr lang="en-US" sz="1600" dirty="0"/>
          </a:p>
        </p:txBody>
      </p:sp>
      <p:sp>
        <p:nvSpPr>
          <p:cNvPr id="16" name="a4_b_111"/>
          <p:cNvSpPr/>
          <p:nvPr/>
        </p:nvSpPr>
        <p:spPr>
          <a:xfrm>
            <a:off x="548640" y="2560320"/>
            <a:ext cx="268445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a4_c_112"/>
          <p:cNvSpPr/>
          <p:nvPr/>
        </p:nvSpPr>
        <p:spPr>
          <a:xfrm>
            <a:off x="667512" y="2697480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18" name="a4_i_11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96" y="2798064"/>
            <a:ext cx="256032" cy="256032"/>
          </a:xfrm>
          <a:prstGeom prst="rect">
            <a:avLst/>
          </a:prstGeom>
        </p:spPr>
      </p:pic>
      <p:sp>
        <p:nvSpPr>
          <p:cNvPr id="19" name="a4_t_114"/>
          <p:cNvSpPr txBox="1"/>
          <p:nvPr/>
        </p:nvSpPr>
        <p:spPr>
          <a:xfrm>
            <a:off x="1207008" y="2633472"/>
            <a:ext cx="195293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Collision Warning</a:t>
            </a:r>
            <a:endParaRPr lang="en-US" sz="1700" dirty="0"/>
          </a:p>
        </p:txBody>
      </p:sp>
      <p:sp>
        <p:nvSpPr>
          <p:cNvPr id="20" name="a4_t_115"/>
          <p:cNvSpPr txBox="1"/>
          <p:nvPr/>
        </p:nvSpPr>
        <p:spPr>
          <a:xfrm>
            <a:off x="685800" y="3255264"/>
            <a:ext cx="241013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Beeps when you close in too fast</a:t>
            </a:r>
            <a:endParaRPr lang="en-US" sz="1600" dirty="0"/>
          </a:p>
        </p:txBody>
      </p:sp>
      <p:sp>
        <p:nvSpPr>
          <p:cNvPr id="21" name="a4_b_116"/>
          <p:cNvSpPr/>
          <p:nvPr/>
        </p:nvSpPr>
        <p:spPr>
          <a:xfrm>
            <a:off x="3351962" y="2560320"/>
            <a:ext cx="268445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a4_c_117"/>
          <p:cNvSpPr/>
          <p:nvPr/>
        </p:nvSpPr>
        <p:spPr>
          <a:xfrm>
            <a:off x="3470834" y="2697480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23" name="a4_i_118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1418" y="2798064"/>
            <a:ext cx="256032" cy="256032"/>
          </a:xfrm>
          <a:prstGeom prst="rect">
            <a:avLst/>
          </a:prstGeom>
        </p:spPr>
      </p:pic>
      <p:sp>
        <p:nvSpPr>
          <p:cNvPr id="24" name="a4_t_119"/>
          <p:cNvSpPr txBox="1"/>
          <p:nvPr/>
        </p:nvSpPr>
        <p:spPr>
          <a:xfrm>
            <a:off x="4010330" y="2633472"/>
            <a:ext cx="195293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Emergency Braking</a:t>
            </a:r>
            <a:endParaRPr lang="en-US" sz="1700" dirty="0"/>
          </a:p>
        </p:txBody>
      </p:sp>
      <p:sp>
        <p:nvSpPr>
          <p:cNvPr id="25" name="a4_t_120"/>
          <p:cNvSpPr txBox="1"/>
          <p:nvPr/>
        </p:nvSpPr>
        <p:spPr>
          <a:xfrm>
            <a:off x="3489122" y="3255264"/>
            <a:ext cx="241013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Brakes itself if a crash is imminent</a:t>
            </a:r>
            <a:endParaRPr lang="en-US" sz="1600" dirty="0"/>
          </a:p>
        </p:txBody>
      </p:sp>
      <p:sp>
        <p:nvSpPr>
          <p:cNvPr id="26" name="a4_b_121"/>
          <p:cNvSpPr/>
          <p:nvPr/>
        </p:nvSpPr>
        <p:spPr>
          <a:xfrm>
            <a:off x="6155284" y="2560320"/>
            <a:ext cx="268445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a4_c_122"/>
          <p:cNvSpPr/>
          <p:nvPr/>
        </p:nvSpPr>
        <p:spPr>
          <a:xfrm>
            <a:off x="6274156" y="2697480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28" name="a4_i_123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4740" y="2798064"/>
            <a:ext cx="256032" cy="256032"/>
          </a:xfrm>
          <a:prstGeom prst="rect">
            <a:avLst/>
          </a:prstGeom>
        </p:spPr>
      </p:pic>
      <p:sp>
        <p:nvSpPr>
          <p:cNvPr id="29" name="a4_t_124"/>
          <p:cNvSpPr txBox="1"/>
          <p:nvPr/>
        </p:nvSpPr>
        <p:spPr>
          <a:xfrm>
            <a:off x="6813652" y="2633472"/>
            <a:ext cx="195293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Cruise Control</a:t>
            </a:r>
            <a:endParaRPr lang="en-US" sz="1700" dirty="0"/>
          </a:p>
        </p:txBody>
      </p:sp>
      <p:sp>
        <p:nvSpPr>
          <p:cNvPr id="30" name="a4_t_125"/>
          <p:cNvSpPr txBox="1"/>
          <p:nvPr/>
        </p:nvSpPr>
        <p:spPr>
          <a:xfrm>
            <a:off x="6292444" y="3255264"/>
            <a:ext cx="241013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Holds a set speed and gap</a:t>
            </a:r>
            <a:endParaRPr lang="en-US" sz="1600" dirty="0"/>
          </a:p>
        </p:txBody>
      </p:sp>
      <p:sp>
        <p:nvSpPr>
          <p:cNvPr id="31" name="a5_b_126"/>
          <p:cNvSpPr/>
          <p:nvPr/>
        </p:nvSpPr>
        <p:spPr>
          <a:xfrm>
            <a:off x="548640" y="3950208"/>
            <a:ext cx="268445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a5_c_127"/>
          <p:cNvSpPr/>
          <p:nvPr/>
        </p:nvSpPr>
        <p:spPr>
          <a:xfrm>
            <a:off x="667512" y="4087368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33" name="a5_i_12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8096" y="4187952"/>
            <a:ext cx="256032" cy="256032"/>
          </a:xfrm>
          <a:prstGeom prst="rect">
            <a:avLst/>
          </a:prstGeom>
        </p:spPr>
      </p:pic>
      <p:sp>
        <p:nvSpPr>
          <p:cNvPr id="34" name="a5_t_129"/>
          <p:cNvSpPr txBox="1"/>
          <p:nvPr/>
        </p:nvSpPr>
        <p:spPr>
          <a:xfrm>
            <a:off x="1207008" y="4023360"/>
            <a:ext cx="195293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 Departure Warning</a:t>
            </a:r>
            <a:endParaRPr lang="en-US" sz="1700" dirty="0"/>
          </a:p>
        </p:txBody>
      </p:sp>
      <p:sp>
        <p:nvSpPr>
          <p:cNvPr id="35" name="a5_t_130"/>
          <p:cNvSpPr txBox="1"/>
          <p:nvPr/>
        </p:nvSpPr>
        <p:spPr>
          <a:xfrm>
            <a:off x="685800" y="4645152"/>
            <a:ext cx="241013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 you if you drift over lines</a:t>
            </a:r>
            <a:endParaRPr lang="en-US" sz="1600" dirty="0"/>
          </a:p>
        </p:txBody>
      </p:sp>
      <p:sp>
        <p:nvSpPr>
          <p:cNvPr id="36" name="a5_b_131"/>
          <p:cNvSpPr/>
          <p:nvPr/>
        </p:nvSpPr>
        <p:spPr>
          <a:xfrm>
            <a:off x="3351962" y="3950208"/>
            <a:ext cx="268445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37" name="a5_c_132"/>
          <p:cNvSpPr/>
          <p:nvPr/>
        </p:nvSpPr>
        <p:spPr>
          <a:xfrm>
            <a:off x="3470834" y="4087368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38" name="a5_i_133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71418" y="4187952"/>
            <a:ext cx="256032" cy="256032"/>
          </a:xfrm>
          <a:prstGeom prst="rect">
            <a:avLst/>
          </a:prstGeom>
        </p:spPr>
      </p:pic>
      <p:sp>
        <p:nvSpPr>
          <p:cNvPr id="39" name="a5_t_134"/>
          <p:cNvSpPr txBox="1"/>
          <p:nvPr/>
        </p:nvSpPr>
        <p:spPr>
          <a:xfrm>
            <a:off x="4010330" y="4023360"/>
            <a:ext cx="195293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 Keeping Assist</a:t>
            </a:r>
            <a:endParaRPr lang="en-US" sz="1700" dirty="0"/>
          </a:p>
        </p:txBody>
      </p:sp>
      <p:sp>
        <p:nvSpPr>
          <p:cNvPr id="40" name="a5_t_135"/>
          <p:cNvSpPr txBox="1"/>
          <p:nvPr/>
        </p:nvSpPr>
        <p:spPr>
          <a:xfrm>
            <a:off x="3489122" y="4645152"/>
            <a:ext cx="241013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Gently steers you back</a:t>
            </a:r>
            <a:endParaRPr lang="en-US" sz="1600" dirty="0"/>
          </a:p>
        </p:txBody>
      </p:sp>
      <p:sp>
        <p:nvSpPr>
          <p:cNvPr id="41" name="a5_b_136"/>
          <p:cNvSpPr/>
          <p:nvPr/>
        </p:nvSpPr>
        <p:spPr>
          <a:xfrm>
            <a:off x="6155284" y="3950208"/>
            <a:ext cx="268445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42" name="a5_c_137"/>
          <p:cNvSpPr/>
          <p:nvPr/>
        </p:nvSpPr>
        <p:spPr>
          <a:xfrm>
            <a:off x="6274156" y="4087368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43" name="a5_i_138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74740" y="4187952"/>
            <a:ext cx="256032" cy="256032"/>
          </a:xfrm>
          <a:prstGeom prst="rect">
            <a:avLst/>
          </a:prstGeom>
        </p:spPr>
      </p:pic>
      <p:sp>
        <p:nvSpPr>
          <p:cNvPr id="44" name="a5_t_139"/>
          <p:cNvSpPr txBox="1"/>
          <p:nvPr/>
        </p:nvSpPr>
        <p:spPr>
          <a:xfrm>
            <a:off x="6813652" y="4023360"/>
            <a:ext cx="195293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 Spot Monitoring</a:t>
            </a:r>
            <a:endParaRPr lang="en-US" sz="1700" dirty="0"/>
          </a:p>
        </p:txBody>
      </p:sp>
      <p:sp>
        <p:nvSpPr>
          <p:cNvPr id="45" name="a5_t_140"/>
          <p:cNvSpPr txBox="1"/>
          <p:nvPr/>
        </p:nvSpPr>
        <p:spPr>
          <a:xfrm>
            <a:off x="6292444" y="4645152"/>
            <a:ext cx="241013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Lights up if a car is alongside</a:t>
            </a:r>
            <a:endParaRPr lang="en-US" sz="1600" dirty="0"/>
          </a:p>
        </p:txBody>
      </p:sp>
      <p:sp>
        <p:nvSpPr>
          <p:cNvPr id="46" name="a5_b_141"/>
          <p:cNvSpPr/>
          <p:nvPr/>
        </p:nvSpPr>
        <p:spPr>
          <a:xfrm>
            <a:off x="8958605" y="3950208"/>
            <a:ext cx="268445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47" name="a5_c_142"/>
          <p:cNvSpPr/>
          <p:nvPr/>
        </p:nvSpPr>
        <p:spPr>
          <a:xfrm>
            <a:off x="9077477" y="4087368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48" name="a5_i_143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78061" y="4187952"/>
            <a:ext cx="256032" cy="256032"/>
          </a:xfrm>
          <a:prstGeom prst="rect">
            <a:avLst/>
          </a:prstGeom>
        </p:spPr>
      </p:pic>
      <p:sp>
        <p:nvSpPr>
          <p:cNvPr id="49" name="a5_t_144"/>
          <p:cNvSpPr txBox="1"/>
          <p:nvPr/>
        </p:nvSpPr>
        <p:spPr>
          <a:xfrm>
            <a:off x="9616973" y="4023360"/>
            <a:ext cx="195293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Rear Cross Traffic Alert</a:t>
            </a:r>
            <a:endParaRPr lang="en-US" sz="1700" dirty="0"/>
          </a:p>
        </p:txBody>
      </p:sp>
      <p:sp>
        <p:nvSpPr>
          <p:cNvPr id="50" name="a5_t_145"/>
          <p:cNvSpPr txBox="1"/>
          <p:nvPr/>
        </p:nvSpPr>
        <p:spPr>
          <a:xfrm>
            <a:off x="9095765" y="4645152"/>
            <a:ext cx="241013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Warns of traffic as you reverse</a:t>
            </a:r>
            <a:endParaRPr lang="en-US" sz="1600" dirty="0"/>
          </a:p>
        </p:txBody>
      </p:sp>
      <p:sp>
        <p:nvSpPr>
          <p:cNvPr id="51" name="a4_b_146"/>
          <p:cNvSpPr/>
          <p:nvPr/>
        </p:nvSpPr>
        <p:spPr>
          <a:xfrm>
            <a:off x="8958605" y="2560320"/>
            <a:ext cx="2684450" cy="1280160"/>
          </a:xfrm>
          <a:prstGeom prst="roundRect">
            <a:avLst>
              <a:gd name="adj" fmla="val 5714"/>
            </a:avLst>
          </a:prstGeom>
          <a:solidFill>
            <a:srgbClr val="CFFAFE"/>
          </a:solidFill>
          <a:ln/>
        </p:spPr>
      </p:sp>
      <p:sp>
        <p:nvSpPr>
          <p:cNvPr id="52" name="a4_t_147"/>
          <p:cNvSpPr txBox="1"/>
          <p:nvPr/>
        </p:nvSpPr>
        <p:spPr>
          <a:xfrm>
            <a:off x="9095765" y="2560320"/>
            <a:ext cx="241013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row: AHEAD of you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row: BESIDE &amp; BEHIND you</a:t>
            </a:r>
            <a:endParaRPr lang="en-US" sz="1700" dirty="0"/>
          </a:p>
        </p:txBody>
      </p:sp>
      <p:sp>
        <p:nvSpPr>
          <p:cNvPr id="53" name="b_148"/>
          <p:cNvSpPr/>
          <p:nvPr/>
        </p:nvSpPr>
        <p:spPr>
          <a:xfrm>
            <a:off x="548640" y="5440680"/>
            <a:ext cx="11094415" cy="749808"/>
          </a:xfrm>
          <a:prstGeom prst="roundRect">
            <a:avLst>
              <a:gd name="adj" fmla="val 9756"/>
            </a:avLst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54" name="t_149"/>
          <p:cNvSpPr txBox="1"/>
          <p:nvPr/>
        </p:nvSpPr>
        <p:spPr>
          <a:xfrm>
            <a:off x="777240" y="5440680"/>
            <a:ext cx="10637215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ADAS ASSISTS – IT DOES NOT DRIVE. </a:t>
            </a:r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Blind-spot monitoring does NOT replace your shoulder check.</a:t>
            </a:r>
            <a:endParaRPr lang="en-US" sz="1800" dirty="0"/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 animBg="1"/>
      <p:bldP spid="13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6" grpId="0" animBg="1"/>
      <p:bldP spid="27" grpId="0" animBg="1"/>
      <p:bldP spid="29" grpId="0" animBg="1"/>
      <p:bldP spid="30" grpId="0" animBg="1"/>
      <p:bldP spid="51" grpId="0" animBg="1"/>
      <p:bldP spid="52" grpId="0" animBg="1"/>
      <p:bldP spid="31" grpId="0" animBg="1"/>
      <p:bldP spid="32" grpId="0" animBg="1"/>
      <p:bldP spid="34" grpId="0" animBg="1"/>
      <p:bldP spid="35" grpId="0" animBg="1"/>
      <p:bldP spid="36" grpId="0" animBg="1"/>
      <p:bldP spid="37" grpId="0" animBg="1"/>
      <p:bldP spid="39" grpId="0" animBg="1"/>
      <p:bldP spid="40" grpId="0" animBg="1"/>
      <p:bldP spid="41" grpId="0" animBg="1"/>
      <p:bldP spid="42" grpId="0" animBg="1"/>
      <p:bldP spid="44" grpId="0" animBg="1"/>
      <p:bldP spid="45" grpId="0" animBg="1"/>
      <p:bldP spid="46" grpId="0" animBg="1"/>
      <p:bldP spid="47" grpId="0" animBg="1"/>
      <p:bldP spid="49" grpId="0" animBg="1"/>
      <p:bldP spid="5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_150"/>
          <p:cNvSpPr/>
          <p:nvPr/>
        </p:nvSpPr>
        <p:spPr>
          <a:xfrm>
            <a:off x="548640" y="274320"/>
            <a:ext cx="1876349" cy="292608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/>
        </p:spPr>
      </p:sp>
      <p:sp>
        <p:nvSpPr>
          <p:cNvPr id="3" name="t_151"/>
          <p:cNvSpPr txBox="1"/>
          <p:nvPr/>
        </p:nvSpPr>
        <p:spPr>
          <a:xfrm>
            <a:off x="548640" y="274320"/>
            <a:ext cx="18763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PASSIVE SAFETY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621792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Protects You During a Crash?</a:t>
            </a:r>
            <a:endParaRPr lang="en-US" sz="3200" dirty="0"/>
          </a:p>
        </p:txBody>
      </p:sp>
      <p:sp>
        <p:nvSpPr>
          <p:cNvPr id="5" name="b_152"/>
          <p:cNvSpPr/>
          <p:nvPr/>
        </p:nvSpPr>
        <p:spPr>
          <a:xfrm>
            <a:off x="548640" y="1417320"/>
            <a:ext cx="571500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6" name="p_153" descr="Car body: front and rear crumple zones, central safety z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369" y="1481328"/>
            <a:ext cx="5327542" cy="2514600"/>
          </a:xfrm>
          <a:prstGeom prst="rect">
            <a:avLst/>
          </a:prstGeom>
        </p:spPr>
      </p:pic>
      <p:sp>
        <p:nvSpPr>
          <p:cNvPr id="7" name="t_154"/>
          <p:cNvSpPr txBox="1"/>
          <p:nvPr/>
        </p:nvSpPr>
        <p:spPr>
          <a:xfrm>
            <a:off x="685800" y="3977640"/>
            <a:ext cx="54406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ends absorb crash energy. A strong safety cell keeps space around you.</a:t>
            </a:r>
            <a:endParaRPr lang="en-US" sz="1600" dirty="0"/>
          </a:p>
        </p:txBody>
      </p:sp>
      <p:sp>
        <p:nvSpPr>
          <p:cNvPr id="8" name="a1_b_155"/>
          <p:cNvSpPr/>
          <p:nvPr/>
        </p:nvSpPr>
        <p:spPr>
          <a:xfrm>
            <a:off x="6446520" y="1417320"/>
            <a:ext cx="5193792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a1_c_156"/>
          <p:cNvSpPr/>
          <p:nvPr/>
        </p:nvSpPr>
        <p:spPr>
          <a:xfrm>
            <a:off x="6519672" y="1508760"/>
            <a:ext cx="512064" cy="512064"/>
          </a:xfrm>
          <a:prstGeom prst="ellipse">
            <a:avLst/>
          </a:prstGeom>
          <a:solidFill>
            <a:srgbClr val="15803D"/>
          </a:solidFill>
          <a:ln/>
        </p:spPr>
      </p:sp>
      <p:pic>
        <p:nvPicPr>
          <p:cNvPr id="10" name="a1_i_15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2326" y="1621414"/>
            <a:ext cx="286756" cy="286756"/>
          </a:xfrm>
          <a:prstGeom prst="rect">
            <a:avLst/>
          </a:prstGeom>
        </p:spPr>
      </p:pic>
      <p:sp>
        <p:nvSpPr>
          <p:cNvPr id="11" name="a1_t_158"/>
          <p:cNvSpPr txBox="1"/>
          <p:nvPr/>
        </p:nvSpPr>
        <p:spPr>
          <a:xfrm>
            <a:off x="7132320" y="1417320"/>
            <a:ext cx="4434840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Seatbelts  </a:t>
            </a:r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 you in place; spread the force</a:t>
            </a:r>
            <a:endParaRPr lang="en-US" sz="1700" dirty="0"/>
          </a:p>
        </p:txBody>
      </p:sp>
      <p:sp>
        <p:nvSpPr>
          <p:cNvPr id="12" name="a2_b_159"/>
          <p:cNvSpPr/>
          <p:nvPr/>
        </p:nvSpPr>
        <p:spPr>
          <a:xfrm>
            <a:off x="6446520" y="2203704"/>
            <a:ext cx="5193792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a2_c_160"/>
          <p:cNvSpPr/>
          <p:nvPr/>
        </p:nvSpPr>
        <p:spPr>
          <a:xfrm>
            <a:off x="6519672" y="2295144"/>
            <a:ext cx="512064" cy="512064"/>
          </a:xfrm>
          <a:prstGeom prst="ellipse">
            <a:avLst/>
          </a:prstGeom>
          <a:solidFill>
            <a:srgbClr val="15803D"/>
          </a:solidFill>
          <a:ln/>
        </p:spPr>
      </p:sp>
      <p:pic>
        <p:nvPicPr>
          <p:cNvPr id="14" name="a2_i_16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2326" y="2407798"/>
            <a:ext cx="286756" cy="286756"/>
          </a:xfrm>
          <a:prstGeom prst="rect">
            <a:avLst/>
          </a:prstGeom>
        </p:spPr>
      </p:pic>
      <p:sp>
        <p:nvSpPr>
          <p:cNvPr id="15" name="a2_t_162"/>
          <p:cNvSpPr txBox="1"/>
          <p:nvPr/>
        </p:nvSpPr>
        <p:spPr>
          <a:xfrm>
            <a:off x="7132320" y="2203704"/>
            <a:ext cx="4434840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Pretensioners  </a:t>
            </a:r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the belt tight as a crash begins</a:t>
            </a:r>
            <a:endParaRPr lang="en-US" sz="1700" dirty="0"/>
          </a:p>
        </p:txBody>
      </p:sp>
      <p:sp>
        <p:nvSpPr>
          <p:cNvPr id="16" name="a3_b_163"/>
          <p:cNvSpPr/>
          <p:nvPr/>
        </p:nvSpPr>
        <p:spPr>
          <a:xfrm>
            <a:off x="6446520" y="2990088"/>
            <a:ext cx="5193792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a3_c_164"/>
          <p:cNvSpPr/>
          <p:nvPr/>
        </p:nvSpPr>
        <p:spPr>
          <a:xfrm>
            <a:off x="6519672" y="3081528"/>
            <a:ext cx="512064" cy="512064"/>
          </a:xfrm>
          <a:prstGeom prst="ellipse">
            <a:avLst/>
          </a:prstGeom>
          <a:solidFill>
            <a:srgbClr val="15803D"/>
          </a:solidFill>
          <a:ln/>
        </p:spPr>
      </p:sp>
      <p:pic>
        <p:nvPicPr>
          <p:cNvPr id="18" name="a3_i_165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2326" y="3194182"/>
            <a:ext cx="286756" cy="286756"/>
          </a:xfrm>
          <a:prstGeom prst="rect">
            <a:avLst/>
          </a:prstGeom>
        </p:spPr>
      </p:pic>
      <p:sp>
        <p:nvSpPr>
          <p:cNvPr id="19" name="a3_t_166"/>
          <p:cNvSpPr txBox="1"/>
          <p:nvPr/>
        </p:nvSpPr>
        <p:spPr>
          <a:xfrm>
            <a:off x="7132320" y="2990088"/>
            <a:ext cx="4434840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limiters  </a:t>
            </a:r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the belt give a little – protects the chest</a:t>
            </a:r>
            <a:endParaRPr lang="en-US" sz="1700" dirty="0"/>
          </a:p>
        </p:txBody>
      </p:sp>
      <p:sp>
        <p:nvSpPr>
          <p:cNvPr id="20" name="a4_b_167"/>
          <p:cNvSpPr/>
          <p:nvPr/>
        </p:nvSpPr>
        <p:spPr>
          <a:xfrm>
            <a:off x="6446520" y="3776472"/>
            <a:ext cx="5193792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a4_c_168"/>
          <p:cNvSpPr/>
          <p:nvPr/>
        </p:nvSpPr>
        <p:spPr>
          <a:xfrm>
            <a:off x="6519672" y="3867912"/>
            <a:ext cx="512064" cy="512064"/>
          </a:xfrm>
          <a:prstGeom prst="ellipse">
            <a:avLst/>
          </a:prstGeom>
          <a:solidFill>
            <a:srgbClr val="15803D"/>
          </a:solidFill>
          <a:ln/>
        </p:spPr>
      </p:sp>
      <p:pic>
        <p:nvPicPr>
          <p:cNvPr id="22" name="a4_i_169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2326" y="3980566"/>
            <a:ext cx="286756" cy="286756"/>
          </a:xfrm>
          <a:prstGeom prst="rect">
            <a:avLst/>
          </a:prstGeom>
        </p:spPr>
      </p:pic>
      <p:sp>
        <p:nvSpPr>
          <p:cNvPr id="23" name="a4_t_170"/>
          <p:cNvSpPr txBox="1"/>
          <p:nvPr/>
        </p:nvSpPr>
        <p:spPr>
          <a:xfrm>
            <a:off x="7132320" y="3776472"/>
            <a:ext cx="4434840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Airbags  </a:t>
            </a:r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Cushion you in certain crashes</a:t>
            </a:r>
            <a:endParaRPr lang="en-US" sz="1700" dirty="0"/>
          </a:p>
        </p:txBody>
      </p:sp>
      <p:sp>
        <p:nvSpPr>
          <p:cNvPr id="24" name="a5_b_171"/>
          <p:cNvSpPr/>
          <p:nvPr/>
        </p:nvSpPr>
        <p:spPr>
          <a:xfrm>
            <a:off x="548640" y="4617720"/>
            <a:ext cx="3618890" cy="749808"/>
          </a:xfrm>
          <a:prstGeom prst="roundRect">
            <a:avLst>
              <a:gd name="adj" fmla="val 9756"/>
            </a:avLst>
          </a:prstGeom>
          <a:solidFill>
            <a:srgbClr val="DCFCE7"/>
          </a:solidFill>
          <a:ln/>
        </p:spPr>
      </p:sp>
      <p:pic>
        <p:nvPicPr>
          <p:cNvPr id="25" name="a5_i_172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4764024"/>
            <a:ext cx="457200" cy="457200"/>
          </a:xfrm>
          <a:prstGeom prst="rect">
            <a:avLst/>
          </a:prstGeom>
        </p:spPr>
      </p:pic>
      <p:sp>
        <p:nvSpPr>
          <p:cNvPr id="26" name="a5_t_173"/>
          <p:cNvSpPr txBox="1"/>
          <p:nvPr/>
        </p:nvSpPr>
        <p:spPr>
          <a:xfrm>
            <a:off x="1261872" y="4617720"/>
            <a:ext cx="2814218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ISOFIX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Click-in child-seat anchors</a:t>
            </a:r>
            <a:endParaRPr lang="en-US" sz="1700" dirty="0"/>
          </a:p>
        </p:txBody>
      </p:sp>
      <p:sp>
        <p:nvSpPr>
          <p:cNvPr id="27" name="a5_b_174"/>
          <p:cNvSpPr/>
          <p:nvPr/>
        </p:nvSpPr>
        <p:spPr>
          <a:xfrm>
            <a:off x="4286402" y="4617720"/>
            <a:ext cx="3618890" cy="749808"/>
          </a:xfrm>
          <a:prstGeom prst="roundRect">
            <a:avLst>
              <a:gd name="adj" fmla="val 9756"/>
            </a:avLst>
          </a:prstGeom>
          <a:solidFill>
            <a:srgbClr val="DCFCE7"/>
          </a:solidFill>
          <a:ln/>
        </p:spPr>
      </p:sp>
      <p:pic>
        <p:nvPicPr>
          <p:cNvPr id="28" name="a5_i_17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3562" y="4764024"/>
            <a:ext cx="457200" cy="457200"/>
          </a:xfrm>
          <a:prstGeom prst="rect">
            <a:avLst/>
          </a:prstGeom>
        </p:spPr>
      </p:pic>
      <p:sp>
        <p:nvSpPr>
          <p:cNvPr id="29" name="a5_t_176"/>
          <p:cNvSpPr txBox="1"/>
          <p:nvPr/>
        </p:nvSpPr>
        <p:spPr>
          <a:xfrm>
            <a:off x="4999634" y="4617720"/>
            <a:ext cx="2814218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restraints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close behind your head – cuts whiplash</a:t>
            </a:r>
            <a:endParaRPr lang="en-US" sz="1700" dirty="0"/>
          </a:p>
        </p:txBody>
      </p:sp>
      <p:sp>
        <p:nvSpPr>
          <p:cNvPr id="30" name="a5_b_177"/>
          <p:cNvSpPr/>
          <p:nvPr/>
        </p:nvSpPr>
        <p:spPr>
          <a:xfrm>
            <a:off x="8024165" y="4617720"/>
            <a:ext cx="3618890" cy="749808"/>
          </a:xfrm>
          <a:prstGeom prst="roundRect">
            <a:avLst>
              <a:gd name="adj" fmla="val 9756"/>
            </a:avLst>
          </a:prstGeom>
          <a:solidFill>
            <a:srgbClr val="DCFCE7"/>
          </a:solidFill>
          <a:ln/>
        </p:spPr>
      </p:sp>
      <p:pic>
        <p:nvPicPr>
          <p:cNvPr id="31" name="a5_i_178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61325" y="4764024"/>
            <a:ext cx="457200" cy="457200"/>
          </a:xfrm>
          <a:prstGeom prst="rect">
            <a:avLst/>
          </a:prstGeom>
        </p:spPr>
      </p:pic>
      <p:sp>
        <p:nvSpPr>
          <p:cNvPr id="32" name="a5_t_179"/>
          <p:cNvSpPr txBox="1"/>
          <p:nvPr/>
        </p:nvSpPr>
        <p:spPr>
          <a:xfrm>
            <a:off x="8737397" y="4617720"/>
            <a:ext cx="2814218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Pedestrian protection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Softer or pop-up bonnets on some cars</a:t>
            </a:r>
            <a:endParaRPr lang="en-US" sz="1700" dirty="0"/>
          </a:p>
        </p:txBody>
      </p:sp>
      <p:sp>
        <p:nvSpPr>
          <p:cNvPr id="33" name="b_180"/>
          <p:cNvSpPr/>
          <p:nvPr/>
        </p:nvSpPr>
        <p:spPr>
          <a:xfrm>
            <a:off x="548640" y="548640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DCFCE7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34" name="t_181"/>
          <p:cNvSpPr txBox="1"/>
          <p:nvPr/>
        </p:nvSpPr>
        <p:spPr>
          <a:xfrm>
            <a:off x="777240" y="5486400"/>
            <a:ext cx="10637215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Airbags work WITH seatbelts – not instead of them. </a:t>
            </a:r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Belt on: every seat, every trip.</a:t>
            </a:r>
            <a:endParaRPr lang="en-US" sz="19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26" grpId="0" animBg="1"/>
      <p:bldP spid="27" grpId="0" animBg="1"/>
      <p:bldP spid="29" grpId="0" animBg="1"/>
      <p:bldP spid="30" grpId="0" animBg="1"/>
      <p:bldP spid="3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_182"/>
          <p:cNvSpPr/>
          <p:nvPr/>
        </p:nvSpPr>
        <p:spPr>
          <a:xfrm>
            <a:off x="548640" y="274320"/>
            <a:ext cx="1984248" cy="29260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3" name="t_183"/>
          <p:cNvSpPr txBox="1"/>
          <p:nvPr/>
        </p:nvSpPr>
        <p:spPr>
          <a:xfrm>
            <a:off x="548640" y="274320"/>
            <a:ext cx="1984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THE HAZARD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621792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YOU IDENTIFY THE HAZARD?</a:t>
            </a:r>
            <a:endParaRPr lang="en-US" sz="3200" dirty="0"/>
          </a:p>
        </p:txBody>
      </p:sp>
      <p:sp>
        <p:nvSpPr>
          <p:cNvPr id="5" name="b_184"/>
          <p:cNvSpPr/>
          <p:nvPr/>
        </p:nvSpPr>
        <p:spPr>
          <a:xfrm>
            <a:off x="493776" y="1362456"/>
            <a:ext cx="6144768" cy="4287833"/>
          </a:xfrm>
          <a:prstGeom prst="roundRect">
            <a:avLst>
              <a:gd name="adj" fmla="val 8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p_185" descr="Driver's hands high on the steering wheel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17320"/>
            <a:ext cx="6035040" cy="4178105"/>
          </a:xfrm>
          <a:prstGeom prst="rect">
            <a:avLst/>
          </a:prstGeom>
        </p:spPr>
      </p:pic>
      <p:sp>
        <p:nvSpPr>
          <p:cNvPr id="7" name="a1_ring_186"/>
          <p:cNvSpPr/>
          <p:nvPr/>
        </p:nvSpPr>
        <p:spPr>
          <a:xfrm>
            <a:off x="1031443" y="1918693"/>
            <a:ext cx="1750162" cy="1754804"/>
          </a:xfrm>
          <a:prstGeom prst="ellipse">
            <a:avLst/>
          </a:prstGeom>
          <a:solidFill>
            <a:srgbClr val="FFFFFF">
              <a:alpha val="0"/>
            </a:srgbClr>
          </a:solidFill>
          <a:ln w="57150">
            <a:solidFill>
              <a:srgbClr val="DC2626"/>
            </a:solidFill>
            <a:prstDash val="solid"/>
          </a:ln>
        </p:spPr>
      </p:sp>
      <p:sp>
        <p:nvSpPr>
          <p:cNvPr id="8" name="a1_ring_187"/>
          <p:cNvSpPr/>
          <p:nvPr/>
        </p:nvSpPr>
        <p:spPr>
          <a:xfrm>
            <a:off x="5014570" y="2336503"/>
            <a:ext cx="1508760" cy="1921928"/>
          </a:xfrm>
          <a:prstGeom prst="ellipse">
            <a:avLst/>
          </a:prstGeom>
          <a:solidFill>
            <a:srgbClr val="FFFFFF">
              <a:alpha val="0"/>
            </a:srgbClr>
          </a:solidFill>
          <a:ln w="57150">
            <a:solidFill>
              <a:srgbClr val="DC2626"/>
            </a:solidFill>
            <a:prstDash val="solid"/>
          </a:ln>
        </p:spPr>
      </p:sp>
      <p:sp>
        <p:nvSpPr>
          <p:cNvPr id="9" name="b_188"/>
          <p:cNvSpPr/>
          <p:nvPr/>
        </p:nvSpPr>
        <p:spPr>
          <a:xfrm>
            <a:off x="6903720" y="1417320"/>
            <a:ext cx="4736592" cy="1097280"/>
          </a:xfrm>
          <a:prstGeom prst="roundRect">
            <a:avLst>
              <a:gd name="adj" fmla="val 8333"/>
            </a:avLst>
          </a:prstGeom>
          <a:solidFill>
            <a:srgbClr val="0B1F3A"/>
          </a:solidFill>
          <a:ln/>
        </p:spPr>
      </p:sp>
      <p:sp>
        <p:nvSpPr>
          <p:cNvPr id="10" name="t_189"/>
          <p:cNvSpPr txBox="1"/>
          <p:nvPr/>
        </p:nvSpPr>
        <p:spPr>
          <a:xfrm>
            <a:off x="7086600" y="1417320"/>
            <a:ext cx="443484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at the driver's hands. What could happen if the airbag fires?</a:t>
            </a:r>
            <a:endParaRPr lang="en-US" sz="1900" dirty="0"/>
          </a:p>
        </p:txBody>
      </p:sp>
      <p:sp>
        <p:nvSpPr>
          <p:cNvPr id="11" name="a2_b_190"/>
          <p:cNvSpPr/>
          <p:nvPr/>
        </p:nvSpPr>
        <p:spPr>
          <a:xfrm>
            <a:off x="6903720" y="2697480"/>
            <a:ext cx="4736592" cy="1600200"/>
          </a:xfrm>
          <a:prstGeom prst="roundRect">
            <a:avLst>
              <a:gd name="adj" fmla="val 4571"/>
            </a:avLst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</p:sp>
      <p:pic>
        <p:nvPicPr>
          <p:cNvPr id="12" name="a2_i_19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9168" y="2834640"/>
            <a:ext cx="502920" cy="502920"/>
          </a:xfrm>
          <a:prstGeom prst="rect">
            <a:avLst/>
          </a:prstGeom>
        </p:spPr>
      </p:pic>
      <p:sp>
        <p:nvSpPr>
          <p:cNvPr id="13" name="a2_t_192"/>
          <p:cNvSpPr txBox="1"/>
          <p:nvPr/>
        </p:nvSpPr>
        <p:spPr>
          <a:xfrm>
            <a:off x="7680960" y="2724912"/>
            <a:ext cx="3886200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HAZARD: hands high on the wheel.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airbag inflates fast from the wheel centre – high hands can be thrown into your face.</a:t>
            </a:r>
            <a:endParaRPr lang="en-US" sz="1700" dirty="0"/>
          </a:p>
        </p:txBody>
      </p:sp>
      <p:sp>
        <p:nvSpPr>
          <p:cNvPr id="14" name="a3_b_193"/>
          <p:cNvSpPr/>
          <p:nvPr/>
        </p:nvSpPr>
        <p:spPr>
          <a:xfrm>
            <a:off x="6903720" y="4434840"/>
            <a:ext cx="4736592" cy="1737360"/>
          </a:xfrm>
          <a:prstGeom prst="roundRect">
            <a:avLst>
              <a:gd name="adj" fmla="val 4211"/>
            </a:avLst>
          </a:prstGeom>
          <a:solidFill>
            <a:srgbClr val="DCFCE7"/>
          </a:solidFill>
          <a:ln w="19050">
            <a:solidFill>
              <a:srgbClr val="15803D"/>
            </a:solidFill>
            <a:prstDash val="solid"/>
          </a:ln>
        </p:spPr>
      </p:sp>
      <p:pic>
        <p:nvPicPr>
          <p:cNvPr id="15" name="a3_p_194" descr="Hands at 9 and 3 on the steering wheel">    </p:cNvPr>
          <p:cNvPicPr>
            <a:picLocks noChangeAspect="1"/>
          </p:cNvPicPr>
          <p:nvPr/>
        </p:nvPicPr>
        <p:blipFill>
          <a:blip r:embed="rId3"/>
          <a:srcRect l="3908" r="-3908" t="0" b="0"/>
          <a:stretch/>
        </p:blipFill>
        <p:spPr>
          <a:xfrm>
            <a:off x="7040880" y="4572000"/>
            <a:ext cx="1920240" cy="1463040"/>
          </a:xfrm>
          <a:prstGeom prst="rect">
            <a:avLst/>
          </a:prstGeom>
        </p:spPr>
      </p:pic>
      <p:sp>
        <p:nvSpPr>
          <p:cNvPr id="16" name="a3_t_195"/>
          <p:cNvSpPr txBox="1"/>
          <p:nvPr/>
        </p:nvSpPr>
        <p:spPr>
          <a:xfrm>
            <a:off x="9098280" y="4462272"/>
            <a:ext cx="2468880" cy="16824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SAFE: hold at 9 and 3, </a:t>
            </a:r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thumbs on the rim. Keep your chest about 25 cm from the wheel centre.</a:t>
            </a:r>
            <a:endParaRPr lang="en-US" sz="1600" dirty="0"/>
          </a:p>
        </p:txBody>
      </p:sp>
      <p:sp>
        <p:nvSpPr>
          <p:cNvPr id="17" name="t_196"/>
          <p:cNvSpPr txBox="1"/>
          <p:nvPr/>
        </p:nvSpPr>
        <p:spPr>
          <a:xfrm>
            <a:off x="548640" y="5686865"/>
            <a:ext cx="60350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Photo: original training deck (illustrative)</a:t>
            </a:r>
            <a:endParaRPr lang="en-US" sz="1300" dirty="0"/>
          </a:p>
        </p:txBody>
      </p:sp>
      <p:sp>
        <p:nvSpPr>
          <p:cNvPr id="1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1" grpId="0" animBg="1"/>
      <p:bldP spid="13" grpId="0" animBg="1"/>
      <p:bldP spid="14" grpId="0" animBg="1"/>
      <p:bldP spid="1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_197"/>
          <p:cNvSpPr/>
          <p:nvPr/>
        </p:nvSpPr>
        <p:spPr>
          <a:xfrm>
            <a:off x="548640" y="274320"/>
            <a:ext cx="2200046" cy="29260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3" name="t_198"/>
          <p:cNvSpPr txBox="1"/>
          <p:nvPr/>
        </p:nvSpPr>
        <p:spPr>
          <a:xfrm>
            <a:off x="548640" y="274320"/>
            <a:ext cx="22000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POST-CRASH SAFETY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621792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After a Crash?</a:t>
            </a:r>
            <a:endParaRPr lang="en-US" sz="3200" dirty="0"/>
          </a:p>
        </p:txBody>
      </p:sp>
      <p:sp>
        <p:nvSpPr>
          <p:cNvPr id="5" name="a1_b_199"/>
          <p:cNvSpPr/>
          <p:nvPr/>
        </p:nvSpPr>
        <p:spPr>
          <a:xfrm>
            <a:off x="548640" y="1417320"/>
            <a:ext cx="2123785" cy="2423160"/>
          </a:xfrm>
          <a:prstGeom prst="roundRect">
            <a:avLst>
              <a:gd name="adj" fmla="val 344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a1_c_200"/>
          <p:cNvSpPr/>
          <p:nvPr/>
        </p:nvSpPr>
        <p:spPr>
          <a:xfrm>
            <a:off x="1226485" y="1600200"/>
            <a:ext cx="768096" cy="768096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7" name="a1_i_20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5466" y="1769181"/>
            <a:ext cx="430134" cy="430134"/>
          </a:xfrm>
          <a:prstGeom prst="rect">
            <a:avLst/>
          </a:prstGeom>
        </p:spPr>
      </p:pic>
      <p:sp>
        <p:nvSpPr>
          <p:cNvPr id="8" name="a1_t_202"/>
          <p:cNvSpPr txBox="1"/>
          <p:nvPr/>
        </p:nvSpPr>
        <p:spPr>
          <a:xfrm>
            <a:off x="640080" y="2441448"/>
            <a:ext cx="1940905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eCall / SOS</a:t>
            </a:r>
            <a:endParaRPr lang="en-US" sz="1800" dirty="0"/>
          </a:p>
        </p:txBody>
      </p:sp>
      <p:sp>
        <p:nvSpPr>
          <p:cNvPr id="9" name="a1_t_203"/>
          <p:cNvSpPr txBox="1"/>
          <p:nvPr/>
        </p:nvSpPr>
        <p:spPr>
          <a:xfrm>
            <a:off x="658368" y="2953512"/>
            <a:ext cx="1904329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 emergency services; sends location</a:t>
            </a:r>
            <a:endParaRPr lang="en-US" sz="1600" dirty="0"/>
          </a:p>
        </p:txBody>
      </p:sp>
      <p:sp>
        <p:nvSpPr>
          <p:cNvPr id="10" name="a2_b_204"/>
          <p:cNvSpPr/>
          <p:nvPr/>
        </p:nvSpPr>
        <p:spPr>
          <a:xfrm>
            <a:off x="2791297" y="1417320"/>
            <a:ext cx="2123785" cy="2423160"/>
          </a:xfrm>
          <a:prstGeom prst="roundRect">
            <a:avLst>
              <a:gd name="adj" fmla="val 344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a2_c_205"/>
          <p:cNvSpPr/>
          <p:nvPr/>
        </p:nvSpPr>
        <p:spPr>
          <a:xfrm>
            <a:off x="3469142" y="1600200"/>
            <a:ext cx="768096" cy="768096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a2_i_20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8123" y="1769181"/>
            <a:ext cx="430134" cy="430134"/>
          </a:xfrm>
          <a:prstGeom prst="rect">
            <a:avLst/>
          </a:prstGeom>
        </p:spPr>
      </p:pic>
      <p:sp>
        <p:nvSpPr>
          <p:cNvPr id="13" name="a2_t_207"/>
          <p:cNvSpPr txBox="1"/>
          <p:nvPr/>
        </p:nvSpPr>
        <p:spPr>
          <a:xfrm>
            <a:off x="2882737" y="2441448"/>
            <a:ext cx="1940905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Hazards &amp; unlock</a:t>
            </a:r>
            <a:endParaRPr lang="en-US" sz="1800" dirty="0"/>
          </a:p>
        </p:txBody>
      </p:sp>
      <p:sp>
        <p:nvSpPr>
          <p:cNvPr id="14" name="a2_t_208"/>
          <p:cNvSpPr txBox="1"/>
          <p:nvPr/>
        </p:nvSpPr>
        <p:spPr>
          <a:xfrm>
            <a:off x="2901025" y="2953512"/>
            <a:ext cx="1904329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switch on hazards and unlock doors</a:t>
            </a:r>
            <a:endParaRPr lang="en-US" sz="1600" dirty="0"/>
          </a:p>
        </p:txBody>
      </p:sp>
      <p:sp>
        <p:nvSpPr>
          <p:cNvPr id="15" name="a3_b_209"/>
          <p:cNvSpPr/>
          <p:nvPr/>
        </p:nvSpPr>
        <p:spPr>
          <a:xfrm>
            <a:off x="5033955" y="1417320"/>
            <a:ext cx="2123785" cy="2423160"/>
          </a:xfrm>
          <a:prstGeom prst="roundRect">
            <a:avLst>
              <a:gd name="adj" fmla="val 344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a3_c_210"/>
          <p:cNvSpPr/>
          <p:nvPr/>
        </p:nvSpPr>
        <p:spPr>
          <a:xfrm>
            <a:off x="5711800" y="1600200"/>
            <a:ext cx="768096" cy="768096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7" name="a3_i_21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0781" y="1769181"/>
            <a:ext cx="430134" cy="430134"/>
          </a:xfrm>
          <a:prstGeom prst="rect">
            <a:avLst/>
          </a:prstGeom>
        </p:spPr>
      </p:pic>
      <p:sp>
        <p:nvSpPr>
          <p:cNvPr id="18" name="a3_t_212"/>
          <p:cNvSpPr txBox="1"/>
          <p:nvPr/>
        </p:nvSpPr>
        <p:spPr>
          <a:xfrm>
            <a:off x="5125395" y="2441448"/>
            <a:ext cx="1940905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 cut-off</a:t>
            </a:r>
            <a:endParaRPr lang="en-US" sz="1800" dirty="0"/>
          </a:p>
        </p:txBody>
      </p:sp>
      <p:sp>
        <p:nvSpPr>
          <p:cNvPr id="19" name="a3_t_213"/>
          <p:cNvSpPr txBox="1"/>
          <p:nvPr/>
        </p:nvSpPr>
        <p:spPr>
          <a:xfrm>
            <a:off x="5143683" y="2953512"/>
            <a:ext cx="1904329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stop fuel after certain crashes</a:t>
            </a:r>
            <a:endParaRPr lang="en-US" sz="1600" dirty="0"/>
          </a:p>
        </p:txBody>
      </p:sp>
      <p:sp>
        <p:nvSpPr>
          <p:cNvPr id="20" name="a4_b_214"/>
          <p:cNvSpPr/>
          <p:nvPr/>
        </p:nvSpPr>
        <p:spPr>
          <a:xfrm>
            <a:off x="7276612" y="1417320"/>
            <a:ext cx="2123785" cy="2423160"/>
          </a:xfrm>
          <a:prstGeom prst="roundRect">
            <a:avLst>
              <a:gd name="adj" fmla="val 344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a4_c_215"/>
          <p:cNvSpPr/>
          <p:nvPr/>
        </p:nvSpPr>
        <p:spPr>
          <a:xfrm>
            <a:off x="7954457" y="1600200"/>
            <a:ext cx="768096" cy="768096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2" name="a4_i_216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3438" y="1769181"/>
            <a:ext cx="430134" cy="430134"/>
          </a:xfrm>
          <a:prstGeom prst="rect">
            <a:avLst/>
          </a:prstGeom>
        </p:spPr>
      </p:pic>
      <p:sp>
        <p:nvSpPr>
          <p:cNvPr id="23" name="a4_t_217"/>
          <p:cNvSpPr txBox="1"/>
          <p:nvPr/>
        </p:nvSpPr>
        <p:spPr>
          <a:xfrm>
            <a:off x="7368052" y="2441448"/>
            <a:ext cx="1940905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HV isolation</a:t>
            </a:r>
            <a:endParaRPr lang="en-US" sz="1800" dirty="0"/>
          </a:p>
        </p:txBody>
      </p:sp>
      <p:sp>
        <p:nvSpPr>
          <p:cNvPr id="24" name="a4_t_218"/>
          <p:cNvSpPr txBox="1"/>
          <p:nvPr/>
        </p:nvSpPr>
        <p:spPr>
          <a:xfrm>
            <a:off x="7386340" y="2953512"/>
            <a:ext cx="1904329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Helps disconnect an EV's high voltage</a:t>
            </a:r>
            <a:endParaRPr lang="en-US" sz="1600" dirty="0"/>
          </a:p>
        </p:txBody>
      </p:sp>
      <p:sp>
        <p:nvSpPr>
          <p:cNvPr id="25" name="a5_b_219"/>
          <p:cNvSpPr/>
          <p:nvPr/>
        </p:nvSpPr>
        <p:spPr>
          <a:xfrm>
            <a:off x="9519270" y="1417320"/>
            <a:ext cx="2123785" cy="2423160"/>
          </a:xfrm>
          <a:prstGeom prst="roundRect">
            <a:avLst>
              <a:gd name="adj" fmla="val 344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a5_c_220"/>
          <p:cNvSpPr/>
          <p:nvPr/>
        </p:nvSpPr>
        <p:spPr>
          <a:xfrm>
            <a:off x="10197114" y="1600200"/>
            <a:ext cx="768096" cy="768096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7" name="a5_i_22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6096" y="1769181"/>
            <a:ext cx="430134" cy="430134"/>
          </a:xfrm>
          <a:prstGeom prst="rect">
            <a:avLst/>
          </a:prstGeom>
        </p:spPr>
      </p:pic>
      <p:sp>
        <p:nvSpPr>
          <p:cNvPr id="28" name="a5_t_222"/>
          <p:cNvSpPr txBox="1"/>
          <p:nvPr/>
        </p:nvSpPr>
        <p:spPr>
          <a:xfrm>
            <a:off x="9610710" y="2441448"/>
            <a:ext cx="1940905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Data Recorder</a:t>
            </a:r>
            <a:endParaRPr lang="en-US" sz="1800" dirty="0"/>
          </a:p>
        </p:txBody>
      </p:sp>
      <p:sp>
        <p:nvSpPr>
          <p:cNvPr id="29" name="a5_t_223"/>
          <p:cNvSpPr txBox="1"/>
          <p:nvPr/>
        </p:nvSpPr>
        <p:spPr>
          <a:xfrm>
            <a:off x="9628998" y="2953512"/>
            <a:ext cx="1904329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 a short crash snapshot</a:t>
            </a:r>
            <a:endParaRPr lang="en-US" sz="1600" dirty="0"/>
          </a:p>
        </p:txBody>
      </p:sp>
      <p:sp>
        <p:nvSpPr>
          <p:cNvPr id="30" name="b_224"/>
          <p:cNvSpPr/>
          <p:nvPr/>
        </p:nvSpPr>
        <p:spPr>
          <a:xfrm>
            <a:off x="548640" y="4023360"/>
            <a:ext cx="11094415" cy="1417320"/>
          </a:xfrm>
          <a:prstGeom prst="roundRect">
            <a:avLst>
              <a:gd name="adj" fmla="val 6452"/>
            </a:avLst>
          </a:prstGeom>
          <a:solidFill>
            <a:srgbClr val="DC2626"/>
          </a:solidFill>
          <a:ln/>
        </p:spPr>
      </p:sp>
      <p:pic>
        <p:nvPicPr>
          <p:cNvPr id="31" name="i_22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224528"/>
            <a:ext cx="960120" cy="960120"/>
          </a:xfrm>
          <a:prstGeom prst="rect">
            <a:avLst/>
          </a:prstGeom>
        </p:spPr>
      </p:pic>
      <p:sp>
        <p:nvSpPr>
          <p:cNvPr id="32" name="t_226"/>
          <p:cNvSpPr txBox="1"/>
          <p:nvPr/>
        </p:nvSpPr>
        <p:spPr>
          <a:xfrm>
            <a:off x="2011680" y="4023360"/>
            <a:ext cx="9448495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 CRASH RULE: treat every ORANGE cable and the battery as LIVE.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touch them. Call emergency services and keep clear.</a:t>
            </a:r>
            <a:endParaRPr lang="en-US" sz="2100" dirty="0"/>
          </a:p>
        </p:txBody>
      </p:sp>
      <p:sp>
        <p:nvSpPr>
          <p:cNvPr id="33" name="t_227"/>
          <p:cNvSpPr txBox="1"/>
          <p:nvPr/>
        </p:nvSpPr>
        <p:spPr>
          <a:xfrm>
            <a:off x="548640" y="5559552"/>
            <a:ext cx="11094415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vary by vehicle and market. The EDR records data such as speed, braking, belt use and airbag deployment – it is not a video or audio recorder.</a:t>
            </a:r>
            <a:endParaRPr lang="en-US" sz="15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25" grpId="0" animBg="1"/>
      <p:bldP spid="26" grpId="0" animBg="1"/>
      <p:bldP spid="28" grpId="0" animBg="1"/>
      <p:bldP spid="2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_228"/>
          <p:cNvSpPr/>
          <p:nvPr/>
        </p:nvSpPr>
        <p:spPr>
          <a:xfrm>
            <a:off x="548640" y="274320"/>
            <a:ext cx="1876349" cy="292608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_229"/>
          <p:cNvSpPr txBox="1"/>
          <p:nvPr/>
        </p:nvSpPr>
        <p:spPr>
          <a:xfrm>
            <a:off x="548640" y="274320"/>
            <a:ext cx="18763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PRACTICES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621792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Helps – Your Habits Decide</a:t>
            </a:r>
            <a:endParaRPr lang="en-US" sz="3200" dirty="0"/>
          </a:p>
        </p:txBody>
      </p:sp>
      <p:sp>
        <p:nvSpPr>
          <p:cNvPr id="5" name="t_230"/>
          <p:cNvSpPr txBox="1"/>
          <p:nvPr/>
        </p:nvSpPr>
        <p:spPr>
          <a:xfrm>
            <a:off x="548640" y="1353312"/>
            <a:ext cx="73152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Wet road, traffic stopped ahead:</a:t>
            </a:r>
            <a:endParaRPr lang="en-US" sz="1800" dirty="0"/>
          </a:p>
        </p:txBody>
      </p:sp>
      <p:sp>
        <p:nvSpPr>
          <p:cNvPr id="6" name="a1w_b_231"/>
          <p:cNvSpPr/>
          <p:nvPr/>
        </p:nvSpPr>
        <p:spPr>
          <a:xfrm>
            <a:off x="548640" y="1755648"/>
            <a:ext cx="1999427" cy="731520"/>
          </a:xfrm>
          <a:prstGeom prst="roundRect">
            <a:avLst>
              <a:gd name="adj" fmla="val 12500"/>
            </a:avLst>
          </a:prstGeom>
          <a:solidFill>
            <a:srgbClr val="0E7490"/>
          </a:solidFill>
          <a:ln/>
        </p:spPr>
      </p:sp>
      <p:sp>
        <p:nvSpPr>
          <p:cNvPr id="7" name="a1w_t_232"/>
          <p:cNvSpPr txBox="1"/>
          <p:nvPr/>
        </p:nvSpPr>
        <p:spPr>
          <a:xfrm>
            <a:off x="621792" y="1755648"/>
            <a:ext cx="1853123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FCW warns</a:t>
            </a:r>
            <a:endParaRPr lang="en-US" sz="1800" dirty="0"/>
          </a:p>
        </p:txBody>
      </p:sp>
      <p:pic>
        <p:nvPicPr>
          <p:cNvPr id="8" name="a2w_i_23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75499" y="1965960"/>
            <a:ext cx="219456" cy="219456"/>
          </a:xfrm>
          <a:prstGeom prst="rect">
            <a:avLst/>
          </a:prstGeom>
        </p:spPr>
      </p:pic>
      <p:sp>
        <p:nvSpPr>
          <p:cNvPr id="9" name="a2w_b_234"/>
          <p:cNvSpPr/>
          <p:nvPr/>
        </p:nvSpPr>
        <p:spPr>
          <a:xfrm>
            <a:off x="2822387" y="1755648"/>
            <a:ext cx="1999427" cy="731520"/>
          </a:xfrm>
          <a:prstGeom prst="roundRect">
            <a:avLst>
              <a:gd name="adj" fmla="val 12500"/>
            </a:avLst>
          </a:prstGeom>
          <a:solidFill>
            <a:srgbClr val="B45309"/>
          </a:solidFill>
          <a:ln/>
        </p:spPr>
      </p:sp>
      <p:sp>
        <p:nvSpPr>
          <p:cNvPr id="10" name="a2w_t_235"/>
          <p:cNvSpPr txBox="1"/>
          <p:nvPr/>
        </p:nvSpPr>
        <p:spPr>
          <a:xfrm>
            <a:off x="2895539" y="1755648"/>
            <a:ext cx="1853123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YOU BRAKE</a:t>
            </a:r>
            <a:endParaRPr lang="en-US" sz="1800" dirty="0"/>
          </a:p>
        </p:txBody>
      </p:sp>
      <p:pic>
        <p:nvPicPr>
          <p:cNvPr id="11" name="a3w_i_23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9246" y="1965960"/>
            <a:ext cx="219456" cy="219456"/>
          </a:xfrm>
          <a:prstGeom prst="rect">
            <a:avLst/>
          </a:prstGeom>
        </p:spPr>
      </p:pic>
      <p:sp>
        <p:nvSpPr>
          <p:cNvPr id="12" name="a3w_b_237"/>
          <p:cNvSpPr/>
          <p:nvPr/>
        </p:nvSpPr>
        <p:spPr>
          <a:xfrm>
            <a:off x="5096134" y="1755648"/>
            <a:ext cx="1999427" cy="731520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/>
        </p:spPr>
      </p:sp>
      <p:sp>
        <p:nvSpPr>
          <p:cNvPr id="13" name="a3w_t_238"/>
          <p:cNvSpPr txBox="1"/>
          <p:nvPr/>
        </p:nvSpPr>
        <p:spPr>
          <a:xfrm>
            <a:off x="5169286" y="1755648"/>
            <a:ext cx="1853123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ABS lets you steer</a:t>
            </a:r>
            <a:endParaRPr lang="en-US" sz="1800" dirty="0"/>
          </a:p>
        </p:txBody>
      </p:sp>
      <p:pic>
        <p:nvPicPr>
          <p:cNvPr id="14" name="a4w_i_239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2993" y="1965960"/>
            <a:ext cx="219456" cy="219456"/>
          </a:xfrm>
          <a:prstGeom prst="rect">
            <a:avLst/>
          </a:prstGeom>
        </p:spPr>
      </p:pic>
      <p:sp>
        <p:nvSpPr>
          <p:cNvPr id="15" name="a4w_b_240"/>
          <p:cNvSpPr/>
          <p:nvPr/>
        </p:nvSpPr>
        <p:spPr>
          <a:xfrm>
            <a:off x="7369881" y="1755648"/>
            <a:ext cx="1999427" cy="731520"/>
          </a:xfrm>
          <a:prstGeom prst="roundRect">
            <a:avLst>
              <a:gd name="adj" fmla="val 12500"/>
            </a:avLst>
          </a:prstGeom>
          <a:solidFill>
            <a:srgbClr val="0E7490"/>
          </a:solidFill>
          <a:ln/>
        </p:spPr>
      </p:sp>
      <p:sp>
        <p:nvSpPr>
          <p:cNvPr id="16" name="a4w_t_241"/>
          <p:cNvSpPr txBox="1"/>
          <p:nvPr/>
        </p:nvSpPr>
        <p:spPr>
          <a:xfrm>
            <a:off x="7443033" y="1755648"/>
            <a:ext cx="1853123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AEB may step in</a:t>
            </a:r>
            <a:endParaRPr lang="en-US" sz="1800" dirty="0"/>
          </a:p>
        </p:txBody>
      </p:sp>
      <p:pic>
        <p:nvPicPr>
          <p:cNvPr id="17" name="a5w_i_24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6740" y="1965960"/>
            <a:ext cx="219456" cy="219456"/>
          </a:xfrm>
          <a:prstGeom prst="rect">
            <a:avLst/>
          </a:prstGeom>
        </p:spPr>
      </p:pic>
      <p:sp>
        <p:nvSpPr>
          <p:cNvPr id="18" name="a5w_b_243"/>
          <p:cNvSpPr/>
          <p:nvPr/>
        </p:nvSpPr>
        <p:spPr>
          <a:xfrm>
            <a:off x="9643628" y="1755648"/>
            <a:ext cx="1999427" cy="731520"/>
          </a:xfrm>
          <a:prstGeom prst="roundRect">
            <a:avLst>
              <a:gd name="adj" fmla="val 12500"/>
            </a:avLst>
          </a:prstGeom>
          <a:solidFill>
            <a:srgbClr val="15803D"/>
          </a:solidFill>
          <a:ln/>
        </p:spPr>
      </p:sp>
      <p:sp>
        <p:nvSpPr>
          <p:cNvPr id="19" name="a5w_t_244"/>
          <p:cNvSpPr txBox="1"/>
          <p:nvPr/>
        </p:nvSpPr>
        <p:spPr>
          <a:xfrm>
            <a:off x="9716780" y="1755648"/>
            <a:ext cx="1853123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Belts &amp; airbags</a:t>
            </a:r>
            <a:endParaRPr lang="en-US" sz="1800" dirty="0"/>
          </a:p>
        </p:txBody>
      </p:sp>
      <p:sp>
        <p:nvSpPr>
          <p:cNvPr id="20" name="t_245"/>
          <p:cNvSpPr txBox="1"/>
          <p:nvPr/>
        </p:nvSpPr>
        <p:spPr>
          <a:xfrm>
            <a:off x="548640" y="2633472"/>
            <a:ext cx="493776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UNSAFE</a:t>
            </a:r>
            <a:endParaRPr lang="en-US" sz="1700" dirty="0"/>
          </a:p>
        </p:txBody>
      </p:sp>
      <p:sp>
        <p:nvSpPr>
          <p:cNvPr id="21" name="t_246"/>
          <p:cNvSpPr txBox="1"/>
          <p:nvPr/>
        </p:nvSpPr>
        <p:spPr>
          <a:xfrm>
            <a:off x="5669280" y="2633472"/>
            <a:ext cx="54864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SAFE</a:t>
            </a:r>
            <a:endParaRPr lang="en-US" sz="1700" dirty="0"/>
          </a:p>
        </p:txBody>
      </p:sp>
      <p:sp>
        <p:nvSpPr>
          <p:cNvPr id="22" name="a6_b_247"/>
          <p:cNvSpPr/>
          <p:nvPr/>
        </p:nvSpPr>
        <p:spPr>
          <a:xfrm>
            <a:off x="548640" y="3017520"/>
            <a:ext cx="4937760" cy="475488"/>
          </a:xfrm>
          <a:prstGeom prst="roundRect">
            <a:avLst>
              <a:gd name="adj" fmla="val 15385"/>
            </a:avLst>
          </a:prstGeom>
          <a:solidFill>
            <a:srgbClr val="FEE2E2"/>
          </a:solidFill>
          <a:ln/>
        </p:spPr>
      </p:sp>
      <p:sp>
        <p:nvSpPr>
          <p:cNvPr id="23" name="a6_t_248"/>
          <p:cNvSpPr txBox="1"/>
          <p:nvPr/>
        </p:nvSpPr>
        <p:spPr>
          <a:xfrm>
            <a:off x="685800" y="3017520"/>
            <a:ext cx="466344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 too fast for the conditions</a:t>
            </a:r>
            <a:endParaRPr lang="en-US" sz="1700" dirty="0"/>
          </a:p>
        </p:txBody>
      </p:sp>
      <p:pic>
        <p:nvPicPr>
          <p:cNvPr id="24" name="a6_i_249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3127248"/>
            <a:ext cx="256032" cy="256032"/>
          </a:xfrm>
          <a:prstGeom prst="rect">
            <a:avLst/>
          </a:prstGeom>
        </p:spPr>
      </p:pic>
      <p:sp>
        <p:nvSpPr>
          <p:cNvPr id="25" name="a6_b_250"/>
          <p:cNvSpPr/>
          <p:nvPr/>
        </p:nvSpPr>
        <p:spPr>
          <a:xfrm>
            <a:off x="5897880" y="3017520"/>
            <a:ext cx="5742432" cy="475488"/>
          </a:xfrm>
          <a:prstGeom prst="roundRect">
            <a:avLst>
              <a:gd name="adj" fmla="val 15385"/>
            </a:avLst>
          </a:prstGeom>
          <a:solidFill>
            <a:srgbClr val="DCFCE7"/>
          </a:solidFill>
          <a:ln/>
        </p:spPr>
      </p:sp>
      <p:sp>
        <p:nvSpPr>
          <p:cNvPr id="26" name="a6_t_251"/>
          <p:cNvSpPr txBox="1"/>
          <p:nvPr/>
        </p:nvSpPr>
        <p:spPr>
          <a:xfrm>
            <a:off x="6035040" y="3017520"/>
            <a:ext cx="54864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a safe speed – every system works better slower</a:t>
            </a:r>
            <a:endParaRPr lang="en-US" sz="1700" dirty="0"/>
          </a:p>
        </p:txBody>
      </p:sp>
      <p:sp>
        <p:nvSpPr>
          <p:cNvPr id="27" name="a7_b_252"/>
          <p:cNvSpPr/>
          <p:nvPr/>
        </p:nvSpPr>
        <p:spPr>
          <a:xfrm>
            <a:off x="548640" y="3566160"/>
            <a:ext cx="4937760" cy="475488"/>
          </a:xfrm>
          <a:prstGeom prst="roundRect">
            <a:avLst>
              <a:gd name="adj" fmla="val 15385"/>
            </a:avLst>
          </a:prstGeom>
          <a:solidFill>
            <a:srgbClr val="FEE2E2"/>
          </a:solidFill>
          <a:ln/>
        </p:spPr>
      </p:sp>
      <p:sp>
        <p:nvSpPr>
          <p:cNvPr id="28" name="a7_t_253"/>
          <p:cNvSpPr txBox="1"/>
          <p:nvPr/>
        </p:nvSpPr>
        <p:spPr>
          <a:xfrm>
            <a:off x="685800" y="3566160"/>
            <a:ext cx="466344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Tailgate</a:t>
            </a:r>
            <a:endParaRPr lang="en-US" sz="1700" dirty="0"/>
          </a:p>
        </p:txBody>
      </p:sp>
      <p:pic>
        <p:nvPicPr>
          <p:cNvPr id="29" name="a7_i_25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2120" y="3675888"/>
            <a:ext cx="256032" cy="256032"/>
          </a:xfrm>
          <a:prstGeom prst="rect">
            <a:avLst/>
          </a:prstGeom>
        </p:spPr>
      </p:pic>
      <p:sp>
        <p:nvSpPr>
          <p:cNvPr id="30" name="a7_b_255"/>
          <p:cNvSpPr/>
          <p:nvPr/>
        </p:nvSpPr>
        <p:spPr>
          <a:xfrm>
            <a:off x="5897880" y="3566160"/>
            <a:ext cx="5742432" cy="475488"/>
          </a:xfrm>
          <a:prstGeom prst="roundRect">
            <a:avLst>
              <a:gd name="adj" fmla="val 15385"/>
            </a:avLst>
          </a:prstGeom>
          <a:solidFill>
            <a:srgbClr val="DCFCE7"/>
          </a:solidFill>
          <a:ln/>
        </p:spPr>
      </p:sp>
      <p:sp>
        <p:nvSpPr>
          <p:cNvPr id="31" name="a7_t_256"/>
          <p:cNvSpPr txBox="1"/>
          <p:nvPr/>
        </p:nvSpPr>
        <p:spPr>
          <a:xfrm>
            <a:off x="6035040" y="3566160"/>
            <a:ext cx="54864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a safe following distance – more in rain</a:t>
            </a:r>
            <a:endParaRPr lang="en-US" sz="1700" dirty="0"/>
          </a:p>
        </p:txBody>
      </p:sp>
      <p:sp>
        <p:nvSpPr>
          <p:cNvPr id="32" name="a8_b_257"/>
          <p:cNvSpPr/>
          <p:nvPr/>
        </p:nvSpPr>
        <p:spPr>
          <a:xfrm>
            <a:off x="548640" y="4114800"/>
            <a:ext cx="4937760" cy="475488"/>
          </a:xfrm>
          <a:prstGeom prst="roundRect">
            <a:avLst>
              <a:gd name="adj" fmla="val 15385"/>
            </a:avLst>
          </a:prstGeom>
          <a:solidFill>
            <a:srgbClr val="FEE2E2"/>
          </a:solidFill>
          <a:ln/>
        </p:spPr>
      </p:sp>
      <p:sp>
        <p:nvSpPr>
          <p:cNvPr id="33" name="a8_t_258"/>
          <p:cNvSpPr txBox="1"/>
          <p:nvPr/>
        </p:nvSpPr>
        <p:spPr>
          <a:xfrm>
            <a:off x="685800" y="4114800"/>
            <a:ext cx="466344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 the belt on short trips</a:t>
            </a:r>
            <a:endParaRPr lang="en-US" sz="1700" dirty="0"/>
          </a:p>
        </p:txBody>
      </p:sp>
      <p:pic>
        <p:nvPicPr>
          <p:cNvPr id="34" name="a8_i_259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32120" y="4224528"/>
            <a:ext cx="256032" cy="256032"/>
          </a:xfrm>
          <a:prstGeom prst="rect">
            <a:avLst/>
          </a:prstGeom>
        </p:spPr>
      </p:pic>
      <p:sp>
        <p:nvSpPr>
          <p:cNvPr id="35" name="a8_b_260"/>
          <p:cNvSpPr/>
          <p:nvPr/>
        </p:nvSpPr>
        <p:spPr>
          <a:xfrm>
            <a:off x="5897880" y="4114800"/>
            <a:ext cx="5742432" cy="475488"/>
          </a:xfrm>
          <a:prstGeom prst="roundRect">
            <a:avLst>
              <a:gd name="adj" fmla="val 15385"/>
            </a:avLst>
          </a:prstGeom>
          <a:solidFill>
            <a:srgbClr val="DCFCE7"/>
          </a:solidFill>
          <a:ln/>
        </p:spPr>
      </p:sp>
      <p:sp>
        <p:nvSpPr>
          <p:cNvPr id="36" name="a8_t_261"/>
          <p:cNvSpPr txBox="1"/>
          <p:nvPr/>
        </p:nvSpPr>
        <p:spPr>
          <a:xfrm>
            <a:off x="6035040" y="4114800"/>
            <a:ext cx="54864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Seatbelt on, every seat, every journey</a:t>
            </a:r>
            <a:endParaRPr lang="en-US" sz="1700" dirty="0"/>
          </a:p>
        </p:txBody>
      </p:sp>
      <p:sp>
        <p:nvSpPr>
          <p:cNvPr id="37" name="a9_b_262"/>
          <p:cNvSpPr/>
          <p:nvPr/>
        </p:nvSpPr>
        <p:spPr>
          <a:xfrm>
            <a:off x="548640" y="4663440"/>
            <a:ext cx="4937760" cy="475488"/>
          </a:xfrm>
          <a:prstGeom prst="roundRect">
            <a:avLst>
              <a:gd name="adj" fmla="val 15385"/>
            </a:avLst>
          </a:prstGeom>
          <a:solidFill>
            <a:srgbClr val="FEE2E2"/>
          </a:solidFill>
          <a:ln/>
        </p:spPr>
      </p:sp>
      <p:sp>
        <p:nvSpPr>
          <p:cNvPr id="38" name="a9_t_263"/>
          <p:cNvSpPr txBox="1"/>
          <p:nvPr/>
        </p:nvSpPr>
        <p:spPr>
          <a:xfrm>
            <a:off x="685800" y="4663440"/>
            <a:ext cx="466344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Ignore the TPMS light or old tyres</a:t>
            </a:r>
            <a:endParaRPr lang="en-US" sz="1700" dirty="0"/>
          </a:p>
        </p:txBody>
      </p:sp>
      <p:pic>
        <p:nvPicPr>
          <p:cNvPr id="39" name="a9_i_26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32120" y="4773168"/>
            <a:ext cx="256032" cy="256032"/>
          </a:xfrm>
          <a:prstGeom prst="rect">
            <a:avLst/>
          </a:prstGeom>
        </p:spPr>
      </p:pic>
      <p:sp>
        <p:nvSpPr>
          <p:cNvPr id="40" name="a9_b_265"/>
          <p:cNvSpPr/>
          <p:nvPr/>
        </p:nvSpPr>
        <p:spPr>
          <a:xfrm>
            <a:off x="5897880" y="4663440"/>
            <a:ext cx="5742432" cy="475488"/>
          </a:xfrm>
          <a:prstGeom prst="roundRect">
            <a:avLst>
              <a:gd name="adj" fmla="val 15385"/>
            </a:avLst>
          </a:prstGeom>
          <a:solidFill>
            <a:srgbClr val="DCFCE7"/>
          </a:solidFill>
          <a:ln/>
        </p:spPr>
      </p:sp>
      <p:sp>
        <p:nvSpPr>
          <p:cNvPr id="41" name="a9_t_266"/>
          <p:cNvSpPr txBox="1"/>
          <p:nvPr/>
        </p:nvSpPr>
        <p:spPr>
          <a:xfrm>
            <a:off x="6035040" y="4663440"/>
            <a:ext cx="54864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pressure monthly; read the tyre DOT code</a:t>
            </a:r>
            <a:endParaRPr lang="en-US" sz="1700" dirty="0"/>
          </a:p>
        </p:txBody>
      </p:sp>
      <p:sp>
        <p:nvSpPr>
          <p:cNvPr id="42" name="a10_b_267"/>
          <p:cNvSpPr/>
          <p:nvPr/>
        </p:nvSpPr>
        <p:spPr>
          <a:xfrm>
            <a:off x="548640" y="5212080"/>
            <a:ext cx="4937760" cy="475488"/>
          </a:xfrm>
          <a:prstGeom prst="roundRect">
            <a:avLst>
              <a:gd name="adj" fmla="val 15385"/>
            </a:avLst>
          </a:prstGeom>
          <a:solidFill>
            <a:srgbClr val="FEE2E2"/>
          </a:solidFill>
          <a:ln/>
        </p:spPr>
      </p:sp>
      <p:sp>
        <p:nvSpPr>
          <p:cNvPr id="43" name="a10_t_268"/>
          <p:cNvSpPr txBox="1"/>
          <p:nvPr/>
        </p:nvSpPr>
        <p:spPr>
          <a:xfrm>
            <a:off x="685800" y="5212080"/>
            <a:ext cx="466344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Rely entirely on driver assistance</a:t>
            </a:r>
            <a:endParaRPr lang="en-US" sz="1700" dirty="0"/>
          </a:p>
        </p:txBody>
      </p:sp>
      <p:pic>
        <p:nvPicPr>
          <p:cNvPr id="44" name="a10_i_269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32120" y="5321808"/>
            <a:ext cx="256032" cy="256032"/>
          </a:xfrm>
          <a:prstGeom prst="rect">
            <a:avLst/>
          </a:prstGeom>
        </p:spPr>
      </p:pic>
      <p:sp>
        <p:nvSpPr>
          <p:cNvPr id="45" name="a10_b_270"/>
          <p:cNvSpPr/>
          <p:nvPr/>
        </p:nvSpPr>
        <p:spPr>
          <a:xfrm>
            <a:off x="5897880" y="5212080"/>
            <a:ext cx="5742432" cy="475488"/>
          </a:xfrm>
          <a:prstGeom prst="roundRect">
            <a:avLst>
              <a:gd name="adj" fmla="val 15385"/>
            </a:avLst>
          </a:prstGeom>
          <a:solidFill>
            <a:srgbClr val="DCFCE7"/>
          </a:solidFill>
          <a:ln/>
        </p:spPr>
      </p:sp>
      <p:sp>
        <p:nvSpPr>
          <p:cNvPr id="46" name="a10_t_271"/>
          <p:cNvSpPr txBox="1"/>
          <p:nvPr/>
        </p:nvSpPr>
        <p:spPr>
          <a:xfrm>
            <a:off x="6035040" y="5212080"/>
            <a:ext cx="54864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Eyes, mirrors and shoulder check come first</a:t>
            </a:r>
            <a:endParaRPr lang="en-US" sz="1700" dirty="0"/>
          </a:p>
        </p:txBody>
      </p:sp>
      <p:sp>
        <p:nvSpPr>
          <p:cNvPr id="47" name="t_272"/>
          <p:cNvSpPr txBox="1"/>
          <p:nvPr/>
        </p:nvSpPr>
        <p:spPr>
          <a:xfrm>
            <a:off x="548640" y="5806440"/>
            <a:ext cx="11094415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Tyre age: last 4 digits of the DOT code = week + year (2322 = week 23 of 2022). Only 3 digits = made before 2000: replace it.</a:t>
            </a:r>
            <a:endParaRPr lang="en-US" sz="150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0" grpId="0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  <p:bldP spid="22" grpId="0" animBg="1"/>
      <p:bldP spid="23" grpId="0" animBg="1"/>
      <p:bldP spid="25" grpId="0" animBg="1"/>
      <p:bldP spid="26" grpId="0" animBg="1"/>
      <p:bldP spid="27" grpId="0" animBg="1"/>
      <p:bldP spid="28" grpId="0" animBg="1"/>
      <p:bldP spid="30" grpId="0" animBg="1"/>
      <p:bldP spid="31" grpId="0" animBg="1"/>
      <p:bldP spid="32" grpId="0" animBg="1"/>
      <p:bldP spid="33" grpId="0" animBg="1"/>
      <p:bldP spid="35" grpId="0" animBg="1"/>
      <p:bldP spid="36" grpId="0" animBg="1"/>
      <p:bldP spid="37" grpId="0" animBg="1"/>
      <p:bldP spid="38" grpId="0" animBg="1"/>
      <p:bldP spid="40" grpId="0" animBg="1"/>
      <p:bldP spid="41" grpId="0" animBg="1"/>
      <p:bldP spid="42" grpId="0" animBg="1"/>
      <p:bldP spid="43" grpId="0" animBg="1"/>
      <p:bldP spid="45" grpId="0" animBg="1"/>
      <p:bldP spid="4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_273"/>
          <p:cNvSpPr/>
          <p:nvPr/>
        </p:nvSpPr>
        <p:spPr>
          <a:xfrm>
            <a:off x="548640" y="274320"/>
            <a:ext cx="1984248" cy="292608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/>
        </p:spPr>
      </p:sp>
      <p:sp>
        <p:nvSpPr>
          <p:cNvPr id="3" name="t_274"/>
          <p:cNvSpPr txBox="1"/>
          <p:nvPr/>
        </p:nvSpPr>
        <p:spPr>
          <a:xfrm>
            <a:off x="548640" y="274320"/>
            <a:ext cx="1984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621792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Quiz</a:t>
            </a:r>
            <a:endParaRPr lang="en-US" sz="3200" dirty="0"/>
          </a:p>
        </p:txBody>
      </p:sp>
      <p:sp>
        <p:nvSpPr>
          <p:cNvPr id="5" name="t_275"/>
          <p:cNvSpPr txBox="1"/>
          <p:nvPr/>
        </p:nvSpPr>
        <p:spPr>
          <a:xfrm>
            <a:off x="548640" y="1417320"/>
            <a:ext cx="11094415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Emergency stop in a car with ABS – what do you do?</a:t>
            </a:r>
            <a:endParaRPr lang="en-US" sz="2200" dirty="0"/>
          </a:p>
        </p:txBody>
      </p:sp>
      <p:sp>
        <p:nvSpPr>
          <p:cNvPr id="6" name="b_276"/>
          <p:cNvSpPr/>
          <p:nvPr/>
        </p:nvSpPr>
        <p:spPr>
          <a:xfrm>
            <a:off x="548640" y="1984248"/>
            <a:ext cx="360669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_277"/>
          <p:cNvSpPr txBox="1"/>
          <p:nvPr/>
        </p:nvSpPr>
        <p:spPr>
          <a:xfrm>
            <a:off x="685800" y="1984248"/>
            <a:ext cx="3332378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</a:t>
            </a:r>
            <a:pPr indent="0" marL="0">
              <a:buNone/>
            </a:pPr>
            <a:r>
              <a:rPr lang="en-US" sz="20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Pump the brake pedal</a:t>
            </a:r>
            <a:endParaRPr lang="en-US" sz="2000" dirty="0"/>
          </a:p>
        </p:txBody>
      </p:sp>
      <p:sp>
        <p:nvSpPr>
          <p:cNvPr id="8" name="b_278"/>
          <p:cNvSpPr/>
          <p:nvPr/>
        </p:nvSpPr>
        <p:spPr>
          <a:xfrm>
            <a:off x="4292498" y="1984248"/>
            <a:ext cx="360669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_279"/>
          <p:cNvSpPr txBox="1"/>
          <p:nvPr/>
        </p:nvSpPr>
        <p:spPr>
          <a:xfrm>
            <a:off x="4429658" y="1984248"/>
            <a:ext cx="3332378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 </a:t>
            </a:r>
            <a:pPr indent="0" marL="0">
              <a:buNone/>
            </a:pPr>
            <a:r>
              <a:rPr lang="en-US" sz="20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 firmly, hold and steer</a:t>
            </a:r>
            <a:endParaRPr lang="en-US" sz="2000" dirty="0"/>
          </a:p>
        </p:txBody>
      </p:sp>
      <p:sp>
        <p:nvSpPr>
          <p:cNvPr id="10" name="a1_b_280"/>
          <p:cNvSpPr/>
          <p:nvPr/>
        </p:nvSpPr>
        <p:spPr>
          <a:xfrm>
            <a:off x="4292498" y="1984248"/>
            <a:ext cx="3606698" cy="91440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31750">
            <a:solidFill>
              <a:srgbClr val="15803D"/>
            </a:solidFill>
            <a:prstDash val="solid"/>
          </a:ln>
        </p:spPr>
      </p:sp>
      <p:sp>
        <p:nvSpPr>
          <p:cNvPr id="11" name="a1_t_281"/>
          <p:cNvSpPr txBox="1"/>
          <p:nvPr/>
        </p:nvSpPr>
        <p:spPr>
          <a:xfrm>
            <a:off x="4429658" y="1984248"/>
            <a:ext cx="3332378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  </a:t>
            </a:r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 firmly, hold and steer</a:t>
            </a:r>
            <a:endParaRPr lang="en-US" sz="2000" dirty="0"/>
          </a:p>
        </p:txBody>
      </p:sp>
      <p:sp>
        <p:nvSpPr>
          <p:cNvPr id="12" name="b_282"/>
          <p:cNvSpPr/>
          <p:nvPr/>
        </p:nvSpPr>
        <p:spPr>
          <a:xfrm>
            <a:off x="8036357" y="1984248"/>
            <a:ext cx="360669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_283"/>
          <p:cNvSpPr txBox="1"/>
          <p:nvPr/>
        </p:nvSpPr>
        <p:spPr>
          <a:xfrm>
            <a:off x="8173517" y="1984248"/>
            <a:ext cx="3332378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 </a:t>
            </a:r>
            <a:pPr indent="0" marL="0">
              <a:buNone/>
            </a:pPr>
            <a:r>
              <a:rPr lang="en-US" sz="20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the brake</a:t>
            </a:r>
            <a:endParaRPr lang="en-US" sz="2000" dirty="0"/>
          </a:p>
        </p:txBody>
      </p:sp>
      <p:sp>
        <p:nvSpPr>
          <p:cNvPr id="14" name="t_284"/>
          <p:cNvSpPr txBox="1"/>
          <p:nvPr/>
        </p:nvSpPr>
        <p:spPr>
          <a:xfrm>
            <a:off x="548640" y="3044952"/>
            <a:ext cx="11094415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Blind-spot monitoring is fitted. What about the shoulder check?</a:t>
            </a:r>
            <a:endParaRPr lang="en-US" sz="2200" dirty="0"/>
          </a:p>
        </p:txBody>
      </p:sp>
      <p:sp>
        <p:nvSpPr>
          <p:cNvPr id="15" name="b_285"/>
          <p:cNvSpPr/>
          <p:nvPr/>
        </p:nvSpPr>
        <p:spPr>
          <a:xfrm>
            <a:off x="548640" y="3611880"/>
            <a:ext cx="360669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_286"/>
          <p:cNvSpPr txBox="1"/>
          <p:nvPr/>
        </p:nvSpPr>
        <p:spPr>
          <a:xfrm>
            <a:off x="685800" y="3611880"/>
            <a:ext cx="3332378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</a:t>
            </a:r>
            <a:pPr indent="0" marL="0">
              <a:buNone/>
            </a:pPr>
            <a:r>
              <a:rPr lang="en-US" sz="20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needed any more</a:t>
            </a:r>
            <a:endParaRPr lang="en-US" sz="2000" dirty="0"/>
          </a:p>
        </p:txBody>
      </p:sp>
      <p:sp>
        <p:nvSpPr>
          <p:cNvPr id="17" name="b_287"/>
          <p:cNvSpPr/>
          <p:nvPr/>
        </p:nvSpPr>
        <p:spPr>
          <a:xfrm>
            <a:off x="4292498" y="3611880"/>
            <a:ext cx="360669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_288"/>
          <p:cNvSpPr txBox="1"/>
          <p:nvPr/>
        </p:nvSpPr>
        <p:spPr>
          <a:xfrm>
            <a:off x="4429658" y="3611880"/>
            <a:ext cx="3332378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 </a:t>
            </a:r>
            <a:pPr indent="0" marL="0">
              <a:buNone/>
            </a:pPr>
            <a:r>
              <a:rPr lang="en-US" sz="20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do it – the system can miss things</a:t>
            </a:r>
            <a:endParaRPr lang="en-US" sz="2000" dirty="0"/>
          </a:p>
        </p:txBody>
      </p:sp>
      <p:sp>
        <p:nvSpPr>
          <p:cNvPr id="19" name="a2_b_289"/>
          <p:cNvSpPr/>
          <p:nvPr/>
        </p:nvSpPr>
        <p:spPr>
          <a:xfrm>
            <a:off x="4292498" y="3611880"/>
            <a:ext cx="3606698" cy="91440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31750">
            <a:solidFill>
              <a:srgbClr val="15803D"/>
            </a:solidFill>
            <a:prstDash val="solid"/>
          </a:ln>
        </p:spPr>
      </p:sp>
      <p:sp>
        <p:nvSpPr>
          <p:cNvPr id="20" name="a2_t_290"/>
          <p:cNvSpPr txBox="1"/>
          <p:nvPr/>
        </p:nvSpPr>
        <p:spPr>
          <a:xfrm>
            <a:off x="4429658" y="3611880"/>
            <a:ext cx="3332378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  </a:t>
            </a:r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do it – the system can miss things</a:t>
            </a:r>
            <a:endParaRPr lang="en-US" sz="2000" dirty="0"/>
          </a:p>
        </p:txBody>
      </p:sp>
      <p:sp>
        <p:nvSpPr>
          <p:cNvPr id="21" name="b_291"/>
          <p:cNvSpPr/>
          <p:nvPr/>
        </p:nvSpPr>
        <p:spPr>
          <a:xfrm>
            <a:off x="8036357" y="3611880"/>
            <a:ext cx="360669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_292"/>
          <p:cNvSpPr txBox="1"/>
          <p:nvPr/>
        </p:nvSpPr>
        <p:spPr>
          <a:xfrm>
            <a:off x="8173517" y="3611880"/>
            <a:ext cx="3332378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 </a:t>
            </a:r>
            <a:pPr indent="0" marL="0">
              <a:buNone/>
            </a:pPr>
            <a:r>
              <a:rPr lang="en-US" sz="20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at night</a:t>
            </a:r>
            <a:endParaRPr lang="en-US" sz="2000" dirty="0"/>
          </a:p>
        </p:txBody>
      </p:sp>
      <p:sp>
        <p:nvSpPr>
          <p:cNvPr id="23" name="t_293"/>
          <p:cNvSpPr txBox="1"/>
          <p:nvPr/>
        </p:nvSpPr>
        <p:spPr>
          <a:xfrm>
            <a:off x="548640" y="4672584"/>
            <a:ext cx="11094415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First at an EV crash. What must you NEVER touch?</a:t>
            </a:r>
            <a:endParaRPr lang="en-US" sz="2200" dirty="0"/>
          </a:p>
        </p:txBody>
      </p:sp>
      <p:sp>
        <p:nvSpPr>
          <p:cNvPr id="24" name="b_294"/>
          <p:cNvSpPr/>
          <p:nvPr/>
        </p:nvSpPr>
        <p:spPr>
          <a:xfrm>
            <a:off x="548640" y="5239512"/>
            <a:ext cx="360669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_295"/>
          <p:cNvSpPr txBox="1"/>
          <p:nvPr/>
        </p:nvSpPr>
        <p:spPr>
          <a:xfrm>
            <a:off x="685800" y="5239512"/>
            <a:ext cx="3332378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</a:t>
            </a:r>
            <a:pPr indent="0" marL="0">
              <a:buNone/>
            </a:pPr>
            <a:r>
              <a:rPr lang="en-US" sz="20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hazard-light switch</a:t>
            </a:r>
            <a:endParaRPr lang="en-US" sz="2000" dirty="0"/>
          </a:p>
        </p:txBody>
      </p:sp>
      <p:sp>
        <p:nvSpPr>
          <p:cNvPr id="26" name="b_296"/>
          <p:cNvSpPr/>
          <p:nvPr/>
        </p:nvSpPr>
        <p:spPr>
          <a:xfrm>
            <a:off x="4292498" y="5239512"/>
            <a:ext cx="360669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t_297"/>
          <p:cNvSpPr txBox="1"/>
          <p:nvPr/>
        </p:nvSpPr>
        <p:spPr>
          <a:xfrm>
            <a:off x="4429658" y="5239512"/>
            <a:ext cx="3332378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 </a:t>
            </a:r>
            <a:pPr indent="0" marL="0">
              <a:buNone/>
            </a:pPr>
            <a:r>
              <a:rPr lang="en-US" sz="20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 cables and the battery</a:t>
            </a:r>
            <a:endParaRPr lang="en-US" sz="2000" dirty="0"/>
          </a:p>
        </p:txBody>
      </p:sp>
      <p:sp>
        <p:nvSpPr>
          <p:cNvPr id="28" name="a3_b_298"/>
          <p:cNvSpPr/>
          <p:nvPr/>
        </p:nvSpPr>
        <p:spPr>
          <a:xfrm>
            <a:off x="4292498" y="5239512"/>
            <a:ext cx="3606698" cy="91440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31750">
            <a:solidFill>
              <a:srgbClr val="15803D"/>
            </a:solidFill>
            <a:prstDash val="solid"/>
          </a:ln>
        </p:spPr>
      </p:sp>
      <p:sp>
        <p:nvSpPr>
          <p:cNvPr id="29" name="a3_t_299"/>
          <p:cNvSpPr txBox="1"/>
          <p:nvPr/>
        </p:nvSpPr>
        <p:spPr>
          <a:xfrm>
            <a:off x="4429658" y="5239512"/>
            <a:ext cx="3332378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  </a:t>
            </a:r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 cables and the battery</a:t>
            </a:r>
            <a:endParaRPr lang="en-US" sz="2000" dirty="0"/>
          </a:p>
        </p:txBody>
      </p:sp>
      <p:sp>
        <p:nvSpPr>
          <p:cNvPr id="30" name="b_300"/>
          <p:cNvSpPr/>
          <p:nvPr/>
        </p:nvSpPr>
        <p:spPr>
          <a:xfrm>
            <a:off x="8036357" y="5239512"/>
            <a:ext cx="360669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t_301"/>
          <p:cNvSpPr txBox="1"/>
          <p:nvPr/>
        </p:nvSpPr>
        <p:spPr>
          <a:xfrm>
            <a:off x="8173517" y="5239512"/>
            <a:ext cx="3332378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 </a:t>
            </a:r>
            <a:pPr indent="0" marL="0">
              <a:buNone/>
            </a:pPr>
            <a:r>
              <a:rPr lang="en-US" sz="20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SOS button</a:t>
            </a:r>
            <a:endParaRPr lang="en-US" sz="20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9" grpId="0" animBg="1"/>
      <p:bldP spid="20" grpId="0" animBg="1"/>
      <p:bldP spid="28" grpId="0" animBg="1"/>
      <p:bldP spid="2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_302"/>
          <p:cNvSpPr/>
          <p:nvPr/>
        </p:nvSpPr>
        <p:spPr>
          <a:xfrm>
            <a:off x="411480" y="411480"/>
            <a:ext cx="6675120" cy="3429000"/>
          </a:xfrm>
          <a:prstGeom prst="roundRect">
            <a:avLst>
              <a:gd name="adj" fmla="val 2667"/>
            </a:avLst>
          </a:prstGeom>
          <a:solidFill>
            <a:srgbClr val="0B1F3A">
              <a:alpha val="92000"/>
            </a:srgbClr>
          </a:solidFill>
          <a:ln/>
        </p:spPr>
      </p:sp>
      <p:sp>
        <p:nvSpPr>
          <p:cNvPr id="3" name="t_303"/>
          <p:cNvSpPr txBox="1"/>
          <p:nvPr/>
        </p:nvSpPr>
        <p:spPr>
          <a:xfrm>
            <a:off x="731520" y="685800"/>
            <a:ext cx="59436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</a:t>
            </a:r>
            <a:endParaRPr lang="en-US" sz="1800" dirty="0"/>
          </a:p>
        </p:txBody>
      </p:sp>
      <p:sp>
        <p:nvSpPr>
          <p:cNvPr id="4" name="a1_t_304"/>
          <p:cNvSpPr txBox="1"/>
          <p:nvPr/>
        </p:nvSpPr>
        <p:spPr>
          <a:xfrm>
            <a:off x="731520" y="1097280"/>
            <a:ext cx="6217920" cy="1737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TECHNOLOGY HELPS.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DRIVING SAVES LIVES.</a:t>
            </a:r>
            <a:endParaRPr lang="en-US" sz="3400" dirty="0"/>
          </a:p>
        </p:txBody>
      </p:sp>
      <p:sp>
        <p:nvSpPr>
          <p:cNvPr id="5" name="a1_t_305"/>
          <p:cNvSpPr txBox="1"/>
          <p:nvPr/>
        </p:nvSpPr>
        <p:spPr>
          <a:xfrm>
            <a:off x="731520" y="2926080"/>
            <a:ext cx="603504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 Drive safely today. Questions?</a:t>
            </a:r>
            <a:endParaRPr lang="en-US" sz="2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Petrofac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Automotive Safety Systems – Beginner Training</dc:title>
  <dc:subject>PptxGenJS Presentation</dc:subject>
  <dc:creator>HSE Toolbox Talk</dc:creator>
  <cp:lastModifiedBy>HSE Toolbox Talk</cp:lastModifiedBy>
  <cp:revision>1</cp:revision>
  <dcterms:created xsi:type="dcterms:W3CDTF">2026-10-14T05:51:06Z</dcterms:created>
  <dcterms:modified xsi:type="dcterms:W3CDTF">2026-10-14T05:51:06Z</dcterms:modified>
</cp:coreProperties>
</file>