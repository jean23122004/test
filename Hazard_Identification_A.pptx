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toolbox talk is a quick hazard-spotting challenge.
Ask: Who has ever driven up to a site gate while checking a message or with a warning light on?
Explain: You will see one picture. There are 5 hazards in it. Work in pairs and write them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Can you spot all 5 hazards? Give the group 60 seconds. Do not point anything out yet.
Expected answers (keep hidden): 1 texting while driving, 2 closed barrier and STOP sign ahead, 3 airbag warning light on, 4 tyre-pressure warning light on, 5 seatbelt warning light on.
Tip: if the group is stuck, say 'look at the dashboard' or 'look at the driver's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three prompts one at a time (click to reveal each).
Ask: What is ahead of the car? What are the dashboard lights telling the driver? Where are the driver's hands and eyes?
Let people call out answers. Write them on a flip chart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once per hazard. Ask the group before each click: 'What is the next one?'
1 Texting while driving: eyes off the road and one hand off the wheel.
2 Closed barrier and STOP sign: the driver is distracted while approaching a mandatory stop.
3 Airbag (SRS) warning: the airbag may not work in a crash.
4 Tyre-pressure warning: a tyre is under-inflated, so grip and braking are reduced.
5 Seatbelt warning: the driver is not wearing a seatbelt.
Real-world example: at 50 km/h, a car covers about 14 metres every second. A 3-second glance at a phone is over 40 metres driven blind.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card per click. For each one ask: What could happen? What should the driver do instead?
Phone: switch it off or use Do Not Disturb. Pull over safely to use it.
Barrier: slow early, stop at the line and follow the site entry rules.
Seatbelt: everyone buckles up before the vehicle moves, even for short trips on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one card per click.
Airbag (SRS): the airbag system has a fault and may not deploy. Report it and get it repaired before the vehicle is used.
Tyre pressure: stop when safe, check the pressures and inflate, or change the tyre.
Ask: Who checks tyre pressures as part of their pre-start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each learning point, then use the discussion questions.
Ask the questions and let the group talk. There are no wrong answers. Finish by asking each person to commit to one thing they will do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F121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rtlCol="0"/>
          <a:lstStyle>
            <a:lvl1pPr indent="0" marL="0">
              <a:buNone/>
              <a:defRPr lang="en-US" sz="2600" b="1" dirty="0">
                <a:solidFill>
                  <a:schemeClr val="bg1"/>
                </a:solidFill>
              </a:defRPr>
            </a:lvl1pPr>
          </a:lstStyle>
          <a:p>
            <a:pPr indent="0" marL="0">
              <a:buNone/>
            </a:pPr>
            <a:endParaRPr lang="en-US" sz="2600" dirty="0"/>
          </a:p>
        </p:txBody>
      </p:sp>
      <p:sp>
        <p:nvSpPr>
          <p:cNvPr id="3" name="Text 0"/>
          <p:cNvSpPr/>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8A939E"/>
                </a:solidFill>
              </a:rPr>
              <a:t>Automotive Safety Toolbox Talk</a:t>
            </a:r>
            <a:endParaRPr lang="en-US" sz="9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LEED">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g_picture" descr="Training picture">    </p:cNvPr>
          <p:cNvPicPr>
            <a:picLocks noChangeAspect="1"/>
          </p:cNvPicPr>
          <p:nvPr/>
        </p:nvPicPr>
        <p:blipFill>
          <a:blip r:embed="rId1"/>
          <a:srcRect l="0" r="0" t="0" b="0"/>
          <a:stretch/>
        </p:blipFill>
        <p:spPr>
          <a:xfrm>
            <a:off x="0" y="0"/>
            <a:ext cx="9144000" cy="5143500"/>
          </a:xfrm>
          <a:prstGeom prst="rect">
            <a:avLst/>
          </a:prstGeom>
        </p:spPr>
      </p:pic>
      <p:sp>
        <p:nvSpPr>
          <p:cNvPr id="3" name="overlay"/>
          <p:cNvSpPr/>
          <p:nvPr/>
        </p:nvSpPr>
        <p:spPr>
          <a:xfrm>
            <a:off x="0" y="0"/>
            <a:ext cx="9144000" cy="5143500"/>
          </a:xfrm>
          <a:prstGeom prst="rect">
            <a:avLst/>
          </a:prstGeom>
          <a:solidFill>
            <a:srgbClr val="000000">
              <a:alpha val="78000"/>
            </a:srgbClr>
          </a:solidFill>
          <a:ln/>
        </p:spPr>
      </p:sp>
      <p:sp>
        <p:nvSpPr>
          <p:cNvPr id="4" name="tag_pill"/>
          <p:cNvSpPr/>
          <p:nvPr/>
        </p:nvSpPr>
        <p:spPr>
          <a:xfrm>
            <a:off x="548640" y="1143000"/>
            <a:ext cx="1737360" cy="347472"/>
          </a:xfrm>
          <a:prstGeom prst="roundRect">
            <a:avLst>
              <a:gd name="adj" fmla="val 50000"/>
            </a:avLst>
          </a:prstGeom>
          <a:solidFill>
            <a:srgbClr val="FFB000"/>
          </a:solidFill>
          <a:ln/>
        </p:spPr>
      </p:sp>
      <p:sp>
        <p:nvSpPr>
          <p:cNvPr id="5" name="tag_text"/>
          <p:cNvSpPr txBox="1"/>
          <p:nvPr/>
        </p:nvSpPr>
        <p:spPr>
          <a:xfrm>
            <a:off x="548640" y="1143000"/>
            <a:ext cx="1737360" cy="347472"/>
          </a:xfrm>
          <a:prstGeom prst="rect">
            <a:avLst/>
          </a:prstGeom>
          <a:noFill/>
          <a:ln/>
        </p:spPr>
        <p:txBody>
          <a:bodyPr wrap="square" lIns="0" tIns="0" rIns="0" bIns="0" rtlCol="0" anchor="ctr"/>
          <a:lstStyle/>
          <a:p>
            <a:pPr algn="ctr" indent="0" marL="0">
              <a:buNone/>
            </a:pPr>
            <a:r>
              <a:rPr lang="en-US" sz="1100" b="1" spc="200" kern="0" dirty="0">
                <a:solidFill>
                  <a:srgbClr val="0F1215"/>
                </a:solidFill>
              </a:rPr>
              <a:t>CHALLENGE A</a:t>
            </a:r>
            <a:endParaRPr lang="en-US" sz="1100" dirty="0"/>
          </a:p>
        </p:txBody>
      </p:sp>
      <p:sp>
        <p:nvSpPr>
          <p:cNvPr id="6" name="deck_title"/>
          <p:cNvSpPr txBox="1"/>
          <p:nvPr/>
        </p:nvSpPr>
        <p:spPr>
          <a:xfrm>
            <a:off x="548640" y="1645920"/>
            <a:ext cx="7863840" cy="1463040"/>
          </a:xfrm>
          <a:prstGeom prst="rect">
            <a:avLst/>
          </a:prstGeom>
          <a:noFill/>
          <a:ln/>
        </p:spPr>
        <p:txBody>
          <a:bodyPr wrap="square" lIns="0" tIns="0" rIns="0" bIns="0" rtlCol="0" anchor="t"/>
          <a:lstStyle/>
          <a:p>
            <a:pPr indent="0" marL="0">
              <a:buNone/>
            </a:pPr>
            <a:r>
              <a:rPr lang="en-US" sz="3800" b="1" dirty="0">
                <a:solidFill>
                  <a:srgbClr val="FFFFFF"/>
                </a:solidFill>
              </a:rPr>
              <a:t>Can You Spot All 5 Hazards?</a:t>
            </a:r>
            <a:endParaRPr lang="en-US" sz="3800" dirty="0"/>
          </a:p>
        </p:txBody>
      </p:sp>
      <p:sp>
        <p:nvSpPr>
          <p:cNvPr id="7" name="deck_subtitle"/>
          <p:cNvSpPr txBox="1"/>
          <p:nvPr/>
        </p:nvSpPr>
        <p:spPr>
          <a:xfrm>
            <a:off x="548640" y="3200400"/>
            <a:ext cx="7863840" cy="548640"/>
          </a:xfrm>
          <a:prstGeom prst="rect">
            <a:avLst/>
          </a:prstGeom>
          <a:noFill/>
          <a:ln/>
        </p:spPr>
        <p:txBody>
          <a:bodyPr wrap="square" lIns="0" tIns="0" rIns="0" bIns="0" rtlCol="0" anchor="ctr"/>
          <a:lstStyle/>
          <a:p>
            <a:pPr indent="0" marL="0">
              <a:buNone/>
            </a:pPr>
            <a:r>
              <a:rPr lang="en-US" sz="1600" dirty="0">
                <a:solidFill>
                  <a:srgbClr val="C9D1DA"/>
                </a:solidFill>
              </a:rPr>
              <a:t>Hazard Identification Challenge A  ·  Arriving at the site gate</a:t>
            </a:r>
            <a:endParaRPr lang="en-US" sz="16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challenge_picture" descr="Driver's view approaching a site gate">    </p:cNvPr>
          <p:cNvPicPr>
            <a:picLocks noChangeAspect="1"/>
          </p:cNvPicPr>
          <p:nvPr/>
        </p:nvPicPr>
        <p:blipFill>
          <a:blip r:embed="rId1"/>
          <a:stretch>
            <a:fillRect/>
          </a:stretch>
        </p:blipFill>
        <p:spPr>
          <a:xfrm>
            <a:off x="0" y="0"/>
            <a:ext cx="9144000" cy="5143500"/>
          </a:xfrm>
          <a:prstGeom prst="rect">
            <a:avLst/>
          </a:prstGeom>
        </p:spPr>
      </p:pic>
      <p:sp>
        <p:nvSpPr>
          <p:cNvPr id="3" name="question_box"/>
          <p:cNvSpPr/>
          <p:nvPr/>
        </p:nvSpPr>
        <p:spPr>
          <a:xfrm>
            <a:off x="320040" y="274320"/>
            <a:ext cx="4206240" cy="566928"/>
          </a:xfrm>
          <a:prstGeom prst="roundRect">
            <a:avLst>
              <a:gd name="adj" fmla="val 19355"/>
            </a:avLst>
          </a:prstGeom>
          <a:solidFill>
            <a:srgbClr val="FFB000"/>
          </a:solidFill>
          <a:ln/>
          <a:effectLst>
            <a:outerShdw sx="100000" sy="100000" kx="0" ky="0" algn="bl" rotWithShape="0" blurRad="76200" dist="25400" dir="5400000">
              <a:srgbClr val="000000">
                <a:alpha val="45000"/>
              </a:srgbClr>
            </a:outerShdw>
          </a:effectLst>
        </p:spPr>
      </p:sp>
      <p:sp>
        <p:nvSpPr>
          <p:cNvPr id="4" name="question_text"/>
          <p:cNvSpPr txBox="1"/>
          <p:nvPr/>
        </p:nvSpPr>
        <p:spPr>
          <a:xfrm>
            <a:off x="320040" y="274320"/>
            <a:ext cx="4206240" cy="566928"/>
          </a:xfrm>
          <a:prstGeom prst="rect">
            <a:avLst/>
          </a:prstGeom>
          <a:noFill/>
          <a:ln/>
        </p:spPr>
        <p:txBody>
          <a:bodyPr wrap="square" lIns="0" tIns="0" rIns="0" bIns="0" rtlCol="0" anchor="ctr"/>
          <a:lstStyle/>
          <a:p>
            <a:pPr algn="ctr" indent="0" marL="0">
              <a:buNone/>
            </a:pPr>
            <a:r>
              <a:rPr lang="en-US" sz="2200" b="1" dirty="0">
                <a:solidFill>
                  <a:srgbClr val="0F1215"/>
                </a:solidFill>
              </a:rPr>
              <a:t>Can You Spot All 5 Hazards?</a:t>
            </a:r>
            <a:endParaRPr lang="en-US" sz="2200" dirty="0"/>
          </a:p>
        </p:txBody>
      </p:sp>
      <p:sp>
        <p:nvSpPr>
          <p:cNvPr id="5" name="timer_box"/>
          <p:cNvSpPr/>
          <p:nvPr/>
        </p:nvSpPr>
        <p:spPr>
          <a:xfrm>
            <a:off x="5989320" y="347472"/>
            <a:ext cx="2834640" cy="420624"/>
          </a:xfrm>
          <a:prstGeom prst="roundRect">
            <a:avLst>
              <a:gd name="adj" fmla="val 21739"/>
            </a:avLst>
          </a:prstGeom>
          <a:solidFill>
            <a:srgbClr val="0F1215">
              <a:alpha val="85000"/>
            </a:srgbClr>
          </a:solidFill>
          <a:ln/>
        </p:spPr>
      </p:sp>
      <p:sp>
        <p:nvSpPr>
          <p:cNvPr id="6" name="timer_text"/>
          <p:cNvSpPr txBox="1"/>
          <p:nvPr/>
        </p:nvSpPr>
        <p:spPr>
          <a:xfrm>
            <a:off x="5989320" y="34747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rPr>
              <a:t>Look inside AND outside · 60 sec</a:t>
            </a:r>
            <a:endParaRPr lang="en-US" sz="12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Take a Closer Look</a:t>
            </a:r>
            <a:endParaRPr lang="en-US" sz="2600" dirty="0"/>
          </a:p>
        </p:txBody>
      </p:sp>
      <p:pic>
        <p:nvPicPr>
          <p:cNvPr id="4" name="think_picture" descr="Hazard scene">    </p:cNvPr>
          <p:cNvPicPr>
            <a:picLocks noChangeAspect="1"/>
          </p:cNvPicPr>
          <p:nvPr/>
        </p:nvPicPr>
        <p:blipFill>
          <a:blip r:embed="rId1"/>
          <a:stretch>
            <a:fillRect/>
          </a:stretch>
        </p:blipFill>
        <p:spPr>
          <a:xfrm>
            <a:off x="457200" y="960120"/>
            <a:ext cx="4937760" cy="2779776"/>
          </a:xfrm>
          <a:prstGeom prst="rect">
            <a:avLst/>
          </a:prstGeom>
        </p:spPr>
      </p:pic>
      <p:sp>
        <p:nvSpPr>
          <p:cNvPr id="5" name="think_frame"/>
          <p:cNvSpPr/>
          <p:nvPr/>
        </p:nvSpPr>
        <p:spPr>
          <a:xfrm>
            <a:off x="457200" y="960120"/>
            <a:ext cx="4937760" cy="2779776"/>
          </a:xfrm>
          <a:prstGeom prst="rect">
            <a:avLst/>
          </a:prstGeom>
          <a:ln w="12700">
            <a:solidFill>
              <a:srgbClr val="262C34"/>
            </a:solidFill>
            <a:prstDash val="solid"/>
          </a:ln>
        </p:spPr>
      </p:sp>
      <p:sp>
        <p:nvSpPr>
          <p:cNvPr id="6" name="clk01_card_1"/>
          <p:cNvSpPr/>
          <p:nvPr/>
        </p:nvSpPr>
        <p:spPr>
          <a:xfrm>
            <a:off x="5669280" y="960120"/>
            <a:ext cx="3017520" cy="822960"/>
          </a:xfrm>
          <a:prstGeom prst="roundRect">
            <a:avLst>
              <a:gd name="adj" fmla="val 11111"/>
            </a:avLst>
          </a:prstGeom>
          <a:solidFill>
            <a:srgbClr val="1C2128"/>
          </a:solidFill>
          <a:ln/>
        </p:spPr>
      </p:sp>
      <p:sp>
        <p:nvSpPr>
          <p:cNvPr id="7" name="clk01_dot_2"/>
          <p:cNvSpPr/>
          <p:nvPr/>
        </p:nvSpPr>
        <p:spPr>
          <a:xfrm>
            <a:off x="5806440" y="1161288"/>
            <a:ext cx="420624" cy="420624"/>
          </a:xfrm>
          <a:prstGeom prst="ellipse">
            <a:avLst/>
          </a:prstGeom>
          <a:solidFill>
            <a:srgbClr val="FFB000"/>
          </a:solidFill>
          <a:ln/>
        </p:spPr>
      </p:sp>
      <p:sp>
        <p:nvSpPr>
          <p:cNvPr id="8" name="clk01_n_3"/>
          <p:cNvSpPr txBox="1"/>
          <p:nvPr/>
        </p:nvSpPr>
        <p:spPr>
          <a:xfrm>
            <a:off x="5806440" y="1161288"/>
            <a:ext cx="420624" cy="420624"/>
          </a:xfrm>
          <a:prstGeom prst="rect">
            <a:avLst/>
          </a:prstGeom>
          <a:noFill/>
          <a:ln/>
        </p:spPr>
        <p:txBody>
          <a:bodyPr wrap="square" lIns="0" tIns="0" rIns="0" bIns="0" rtlCol="0" anchor="ctr"/>
          <a:lstStyle/>
          <a:p>
            <a:pPr algn="ctr" indent="0" marL="0">
              <a:buNone/>
            </a:pPr>
            <a:r>
              <a:rPr lang="en-US" sz="1500" b="1" dirty="0">
                <a:solidFill>
                  <a:srgbClr val="0F1215"/>
                </a:solidFill>
              </a:rPr>
              <a:t>1</a:t>
            </a:r>
            <a:endParaRPr lang="en-US" sz="1500" dirty="0"/>
          </a:p>
        </p:txBody>
      </p:sp>
      <p:sp>
        <p:nvSpPr>
          <p:cNvPr id="9" name="clk01_t_4"/>
          <p:cNvSpPr txBox="1"/>
          <p:nvPr/>
        </p:nvSpPr>
        <p:spPr>
          <a:xfrm>
            <a:off x="6355080" y="960120"/>
            <a:ext cx="2240280" cy="822960"/>
          </a:xfrm>
          <a:prstGeom prst="rect">
            <a:avLst/>
          </a:prstGeom>
          <a:noFill/>
          <a:ln/>
        </p:spPr>
        <p:txBody>
          <a:bodyPr wrap="square" lIns="0" tIns="0" rIns="0" bIns="0" rtlCol="0" anchor="ctr"/>
          <a:lstStyle/>
          <a:p>
            <a:pPr indent="0" marL="0">
              <a:buNone/>
            </a:pPr>
            <a:r>
              <a:rPr lang="en-US" sz="1400" b="1" dirty="0">
                <a:solidFill>
                  <a:srgbClr val="FFB000"/>
                </a:solidFill>
              </a:rPr>
              <a:t>Outside</a:t>
            </a:r>
            <a:endParaRPr lang="en-US" sz="1400" dirty="0"/>
          </a:p>
          <a:p>
            <a:pPr indent="0" marL="0">
              <a:buNone/>
            </a:pPr>
            <a:r>
              <a:rPr lang="en-US" sz="1300" dirty="0">
                <a:solidFill>
                  <a:srgbClr val="FFFFFF"/>
                </a:solidFill>
              </a:rPr>
              <a:t>What is ahead of the car?</a:t>
            </a:r>
            <a:endParaRPr lang="en-US" sz="1400" dirty="0"/>
          </a:p>
        </p:txBody>
      </p:sp>
      <p:sp>
        <p:nvSpPr>
          <p:cNvPr id="10" name="clk02_card_5"/>
          <p:cNvSpPr/>
          <p:nvPr/>
        </p:nvSpPr>
        <p:spPr>
          <a:xfrm>
            <a:off x="5669280" y="1938528"/>
            <a:ext cx="3017520" cy="822960"/>
          </a:xfrm>
          <a:prstGeom prst="roundRect">
            <a:avLst>
              <a:gd name="adj" fmla="val 11111"/>
            </a:avLst>
          </a:prstGeom>
          <a:solidFill>
            <a:srgbClr val="1C2128"/>
          </a:solidFill>
          <a:ln/>
        </p:spPr>
      </p:sp>
      <p:sp>
        <p:nvSpPr>
          <p:cNvPr id="11" name="clk02_dot_6"/>
          <p:cNvSpPr/>
          <p:nvPr/>
        </p:nvSpPr>
        <p:spPr>
          <a:xfrm>
            <a:off x="5806440" y="2139696"/>
            <a:ext cx="420624" cy="420624"/>
          </a:xfrm>
          <a:prstGeom prst="ellipse">
            <a:avLst/>
          </a:prstGeom>
          <a:solidFill>
            <a:srgbClr val="FFB000"/>
          </a:solidFill>
          <a:ln/>
        </p:spPr>
      </p:sp>
      <p:sp>
        <p:nvSpPr>
          <p:cNvPr id="12" name="clk02_n_7"/>
          <p:cNvSpPr txBox="1"/>
          <p:nvPr/>
        </p:nvSpPr>
        <p:spPr>
          <a:xfrm>
            <a:off x="5806440" y="2139696"/>
            <a:ext cx="420624" cy="420624"/>
          </a:xfrm>
          <a:prstGeom prst="rect">
            <a:avLst/>
          </a:prstGeom>
          <a:noFill/>
          <a:ln/>
        </p:spPr>
        <p:txBody>
          <a:bodyPr wrap="square" lIns="0" tIns="0" rIns="0" bIns="0" rtlCol="0" anchor="ctr"/>
          <a:lstStyle/>
          <a:p>
            <a:pPr algn="ctr" indent="0" marL="0">
              <a:buNone/>
            </a:pPr>
            <a:r>
              <a:rPr lang="en-US" sz="1500" b="1" dirty="0">
                <a:solidFill>
                  <a:srgbClr val="0F1215"/>
                </a:solidFill>
              </a:rPr>
              <a:t>2</a:t>
            </a:r>
            <a:endParaRPr lang="en-US" sz="1500" dirty="0"/>
          </a:p>
        </p:txBody>
      </p:sp>
      <p:sp>
        <p:nvSpPr>
          <p:cNvPr id="13" name="clk02_t_8"/>
          <p:cNvSpPr txBox="1"/>
          <p:nvPr/>
        </p:nvSpPr>
        <p:spPr>
          <a:xfrm>
            <a:off x="6355080" y="1938528"/>
            <a:ext cx="2240280" cy="822960"/>
          </a:xfrm>
          <a:prstGeom prst="rect">
            <a:avLst/>
          </a:prstGeom>
          <a:noFill/>
          <a:ln/>
        </p:spPr>
        <p:txBody>
          <a:bodyPr wrap="square" lIns="0" tIns="0" rIns="0" bIns="0" rtlCol="0" anchor="ctr"/>
          <a:lstStyle/>
          <a:p>
            <a:pPr indent="0" marL="0">
              <a:buNone/>
            </a:pPr>
            <a:r>
              <a:rPr lang="en-US" sz="1400" b="1" dirty="0">
                <a:solidFill>
                  <a:srgbClr val="FFB000"/>
                </a:solidFill>
              </a:rPr>
              <a:t>Dashboard</a:t>
            </a:r>
            <a:endParaRPr lang="en-US" sz="1400" dirty="0"/>
          </a:p>
          <a:p>
            <a:pPr indent="0" marL="0">
              <a:buNone/>
            </a:pPr>
            <a:r>
              <a:rPr lang="en-US" sz="1300" dirty="0">
                <a:solidFill>
                  <a:srgbClr val="FFFFFF"/>
                </a:solidFill>
              </a:rPr>
              <a:t>What are the warning lights saying?</a:t>
            </a:r>
            <a:endParaRPr lang="en-US" sz="1400" dirty="0"/>
          </a:p>
        </p:txBody>
      </p:sp>
      <p:sp>
        <p:nvSpPr>
          <p:cNvPr id="14" name="clk03_card_9"/>
          <p:cNvSpPr/>
          <p:nvPr/>
        </p:nvSpPr>
        <p:spPr>
          <a:xfrm>
            <a:off x="5669280" y="2916936"/>
            <a:ext cx="3017520" cy="822960"/>
          </a:xfrm>
          <a:prstGeom prst="roundRect">
            <a:avLst>
              <a:gd name="adj" fmla="val 11111"/>
            </a:avLst>
          </a:prstGeom>
          <a:solidFill>
            <a:srgbClr val="1C2128"/>
          </a:solidFill>
          <a:ln/>
        </p:spPr>
      </p:sp>
      <p:sp>
        <p:nvSpPr>
          <p:cNvPr id="15" name="clk03_dot_10"/>
          <p:cNvSpPr/>
          <p:nvPr/>
        </p:nvSpPr>
        <p:spPr>
          <a:xfrm>
            <a:off x="5806440" y="3118104"/>
            <a:ext cx="420624" cy="420624"/>
          </a:xfrm>
          <a:prstGeom prst="ellipse">
            <a:avLst/>
          </a:prstGeom>
          <a:solidFill>
            <a:srgbClr val="FFB000"/>
          </a:solidFill>
          <a:ln/>
        </p:spPr>
      </p:sp>
      <p:sp>
        <p:nvSpPr>
          <p:cNvPr id="16" name="clk03_n_11"/>
          <p:cNvSpPr txBox="1"/>
          <p:nvPr/>
        </p:nvSpPr>
        <p:spPr>
          <a:xfrm>
            <a:off x="5806440" y="3118104"/>
            <a:ext cx="420624" cy="420624"/>
          </a:xfrm>
          <a:prstGeom prst="rect">
            <a:avLst/>
          </a:prstGeom>
          <a:noFill/>
          <a:ln/>
        </p:spPr>
        <p:txBody>
          <a:bodyPr wrap="square" lIns="0" tIns="0" rIns="0" bIns="0" rtlCol="0" anchor="ctr"/>
          <a:lstStyle/>
          <a:p>
            <a:pPr algn="ctr" indent="0" marL="0">
              <a:buNone/>
            </a:pPr>
            <a:r>
              <a:rPr lang="en-US" sz="1500" b="1" dirty="0">
                <a:solidFill>
                  <a:srgbClr val="0F1215"/>
                </a:solidFill>
              </a:rPr>
              <a:t>3</a:t>
            </a:r>
            <a:endParaRPr lang="en-US" sz="1500" dirty="0"/>
          </a:p>
        </p:txBody>
      </p:sp>
      <p:sp>
        <p:nvSpPr>
          <p:cNvPr id="17" name="clk03_t_12"/>
          <p:cNvSpPr txBox="1"/>
          <p:nvPr/>
        </p:nvSpPr>
        <p:spPr>
          <a:xfrm>
            <a:off x="6355080" y="2916936"/>
            <a:ext cx="2240280" cy="822960"/>
          </a:xfrm>
          <a:prstGeom prst="rect">
            <a:avLst/>
          </a:prstGeom>
          <a:noFill/>
          <a:ln/>
        </p:spPr>
        <p:txBody>
          <a:bodyPr wrap="square" lIns="0" tIns="0" rIns="0" bIns="0" rtlCol="0" anchor="ctr"/>
          <a:lstStyle/>
          <a:p>
            <a:pPr indent="0" marL="0">
              <a:buNone/>
            </a:pPr>
            <a:r>
              <a:rPr lang="en-US" sz="1400" b="1" dirty="0">
                <a:solidFill>
                  <a:srgbClr val="FFB000"/>
                </a:solidFill>
              </a:rPr>
              <a:t>Driver</a:t>
            </a:r>
            <a:endParaRPr lang="en-US" sz="1400" dirty="0"/>
          </a:p>
          <a:p>
            <a:pPr indent="0" marL="0">
              <a:buNone/>
            </a:pPr>
            <a:r>
              <a:rPr lang="en-US" sz="1300" dirty="0">
                <a:solidFill>
                  <a:srgbClr val="FFFFFF"/>
                </a:solidFill>
              </a:rPr>
              <a:t>Where are the hands and eyes?</a:t>
            </a:r>
            <a:endParaRPr lang="en-US" sz="1400" dirty="0"/>
          </a:p>
        </p:txBody>
      </p:sp>
      <p:sp>
        <p:nvSpPr>
          <p:cNvPr id="18" name="think_footer"/>
          <p:cNvSpPr txBox="1"/>
          <p:nvPr/>
        </p:nvSpPr>
        <p:spPr>
          <a:xfrm>
            <a:off x="457200" y="3977640"/>
            <a:ext cx="8229600" cy="365760"/>
          </a:xfrm>
          <a:prstGeom prst="rect">
            <a:avLst/>
          </a:prstGeom>
          <a:noFill/>
          <a:ln/>
        </p:spPr>
        <p:txBody>
          <a:bodyPr wrap="square" lIns="0" tIns="0" rIns="0" bIns="0" rtlCol="0" anchor="ctr"/>
          <a:lstStyle/>
          <a:p>
            <a:pPr indent="0" marL="0">
              <a:buNone/>
            </a:pPr>
            <a:r>
              <a:rPr lang="en-US" sz="1400" i="1" dirty="0">
                <a:solidFill>
                  <a:srgbClr val="C9D1DA"/>
                </a:solidFill>
              </a:rPr>
              <a:t>Write down your 5 answers before we reveal them.</a:t>
            </a:r>
            <a:endParaRPr lang="en-US" sz="14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5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500"/>
                                        <p:tgtEl>
                                          <p:spTgt spid="1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answer_picture" descr="Hazard scene with answers">    </p:cNvPr>
          <p:cNvPicPr>
            <a:picLocks noChangeAspect="1"/>
          </p:cNvPicPr>
          <p:nvPr/>
        </p:nvPicPr>
        <p:blipFill>
          <a:blip r:embed="rId1"/>
          <a:stretch>
            <a:fillRect/>
          </a:stretch>
        </p:blipFill>
        <p:spPr>
          <a:xfrm>
            <a:off x="0" y="0"/>
            <a:ext cx="9144000" cy="5143500"/>
          </a:xfrm>
          <a:prstGeom prst="rect">
            <a:avLst/>
          </a:prstGeom>
        </p:spPr>
      </p:pic>
      <p:sp>
        <p:nvSpPr>
          <p:cNvPr id="3" name="answers_box"/>
          <p:cNvSpPr/>
          <p:nvPr/>
        </p:nvSpPr>
        <p:spPr>
          <a:xfrm>
            <a:off x="320040" y="274320"/>
            <a:ext cx="2194560" cy="457200"/>
          </a:xfrm>
          <a:prstGeom prst="roundRect">
            <a:avLst>
              <a:gd name="adj" fmla="val 20000"/>
            </a:avLst>
          </a:prstGeom>
          <a:solidFill>
            <a:srgbClr val="2ECC40"/>
          </a:solidFill>
          <a:ln/>
        </p:spPr>
      </p:sp>
      <p:sp>
        <p:nvSpPr>
          <p:cNvPr id="4" name="answers_text"/>
          <p:cNvSpPr txBox="1"/>
          <p:nvPr/>
        </p:nvSpPr>
        <p:spPr>
          <a:xfrm>
            <a:off x="320040" y="274320"/>
            <a:ext cx="2194560" cy="457200"/>
          </a:xfrm>
          <a:prstGeom prst="rect">
            <a:avLst/>
          </a:prstGeom>
          <a:noFill/>
          <a:ln/>
        </p:spPr>
        <p:txBody>
          <a:bodyPr wrap="square" lIns="0" tIns="0" rIns="0" bIns="0" rtlCol="0" anchor="ctr"/>
          <a:lstStyle/>
          <a:p>
            <a:pPr algn="ctr" indent="0" marL="0">
              <a:buNone/>
            </a:pPr>
            <a:r>
              <a:rPr lang="en-US" sz="1800" b="1" dirty="0">
                <a:solidFill>
                  <a:srgbClr val="0F1215"/>
                </a:solidFill>
              </a:rPr>
              <a:t>The 5 Hazards</a:t>
            </a:r>
            <a:endParaRPr lang="en-US" sz="1800" dirty="0"/>
          </a:p>
        </p:txBody>
      </p:sp>
      <p:sp>
        <p:nvSpPr>
          <p:cNvPr id="5" name="clk01_ring_13"/>
          <p:cNvSpPr/>
          <p:nvPr/>
        </p:nvSpPr>
        <p:spPr>
          <a:xfrm>
            <a:off x="4672208" y="2918564"/>
            <a:ext cx="1043836" cy="1377863"/>
          </a:xfrm>
          <a:prstGeom prst="ellipse">
            <a:avLst/>
          </a:prstGeom>
          <a:ln w="38100">
            <a:solidFill>
              <a:srgbClr val="E53935"/>
            </a:solidFill>
            <a:prstDash val="solid"/>
          </a:ln>
        </p:spPr>
      </p:sp>
      <p:sp>
        <p:nvSpPr>
          <p:cNvPr id="6" name="clk01_line_14"/>
          <p:cNvSpPr/>
          <p:nvPr/>
        </p:nvSpPr>
        <p:spPr>
          <a:xfrm flipH="1">
            <a:off x="5515699" y="2240280"/>
            <a:ext cx="747941" cy="824586"/>
          </a:xfrm>
          <a:prstGeom prst="line">
            <a:avLst/>
          </a:prstGeom>
          <a:noFill/>
          <a:ln w="25400">
            <a:solidFill>
              <a:srgbClr val="E53935"/>
            </a:solidFill>
            <a:prstDash val="solid"/>
          </a:ln>
        </p:spPr>
      </p:sp>
      <p:sp>
        <p:nvSpPr>
          <p:cNvPr id="7" name="clk01_labelbox_15"/>
          <p:cNvSpPr/>
          <p:nvPr/>
        </p:nvSpPr>
        <p:spPr>
          <a:xfrm>
            <a:off x="6263640" y="2011680"/>
            <a:ext cx="2606040" cy="457200"/>
          </a:xfrm>
          <a:prstGeom prst="roundRect">
            <a:avLst>
              <a:gd name="adj" fmla="val 16000"/>
            </a:avLst>
          </a:prstGeom>
          <a:solidFill>
            <a:srgbClr val="0F1215">
              <a:alpha val="92000"/>
            </a:srgbClr>
          </a:solidFill>
          <a:ln w="19050">
            <a:solidFill>
              <a:srgbClr val="E53935"/>
            </a:solidFill>
            <a:prstDash val="solid"/>
          </a:ln>
        </p:spPr>
      </p:sp>
      <p:sp>
        <p:nvSpPr>
          <p:cNvPr id="8" name="clk01_badge_16"/>
          <p:cNvSpPr/>
          <p:nvPr/>
        </p:nvSpPr>
        <p:spPr>
          <a:xfrm>
            <a:off x="6336792" y="2084832"/>
            <a:ext cx="310896" cy="310896"/>
          </a:xfrm>
          <a:prstGeom prst="ellipse">
            <a:avLst/>
          </a:prstGeom>
          <a:solidFill>
            <a:srgbClr val="E53935"/>
          </a:solidFill>
          <a:ln/>
        </p:spPr>
      </p:sp>
      <p:sp>
        <p:nvSpPr>
          <p:cNvPr id="9" name="clk01_num_17"/>
          <p:cNvSpPr txBox="1"/>
          <p:nvPr/>
        </p:nvSpPr>
        <p:spPr>
          <a:xfrm>
            <a:off x="6336792" y="2084832"/>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1</a:t>
            </a:r>
            <a:endParaRPr lang="en-US" sz="1300" dirty="0"/>
          </a:p>
        </p:txBody>
      </p:sp>
      <p:sp>
        <p:nvSpPr>
          <p:cNvPr id="10" name="clk01_label_18"/>
          <p:cNvSpPr txBox="1"/>
          <p:nvPr/>
        </p:nvSpPr>
        <p:spPr>
          <a:xfrm>
            <a:off x="6720840" y="2011680"/>
            <a:ext cx="2075688" cy="457200"/>
          </a:xfrm>
          <a:prstGeom prst="rect">
            <a:avLst/>
          </a:prstGeom>
          <a:noFill/>
          <a:ln/>
        </p:spPr>
        <p:txBody>
          <a:bodyPr wrap="square" lIns="0" tIns="0" rIns="0" bIns="0" rtlCol="0" anchor="ctr"/>
          <a:lstStyle/>
          <a:p>
            <a:pPr indent="0" marL="0">
              <a:buNone/>
            </a:pPr>
            <a:r>
              <a:rPr lang="en-US" sz="1200" b="1" dirty="0">
                <a:solidFill>
                  <a:srgbClr val="FFFFFF"/>
                </a:solidFill>
              </a:rPr>
              <a:t>Texting while driving</a:t>
            </a:r>
            <a:endParaRPr lang="en-US" sz="1200" dirty="0"/>
          </a:p>
        </p:txBody>
      </p:sp>
      <p:sp>
        <p:nvSpPr>
          <p:cNvPr id="11" name="clk02_ring_19"/>
          <p:cNvSpPr/>
          <p:nvPr/>
        </p:nvSpPr>
        <p:spPr>
          <a:xfrm>
            <a:off x="3486411" y="1457195"/>
            <a:ext cx="1795397" cy="626301"/>
          </a:xfrm>
          <a:prstGeom prst="ellipse">
            <a:avLst/>
          </a:prstGeom>
          <a:ln w="38100">
            <a:solidFill>
              <a:srgbClr val="E53935"/>
            </a:solidFill>
            <a:prstDash val="solid"/>
          </a:ln>
        </p:spPr>
      </p:sp>
      <p:sp>
        <p:nvSpPr>
          <p:cNvPr id="12" name="clk02_line_20"/>
          <p:cNvSpPr/>
          <p:nvPr/>
        </p:nvSpPr>
        <p:spPr>
          <a:xfrm flipH="1">
            <a:off x="5131325" y="1097280"/>
            <a:ext cx="263635" cy="499510"/>
          </a:xfrm>
          <a:prstGeom prst="line">
            <a:avLst/>
          </a:prstGeom>
          <a:noFill/>
          <a:ln w="25400">
            <a:solidFill>
              <a:srgbClr val="E53935"/>
            </a:solidFill>
            <a:prstDash val="solid"/>
          </a:ln>
        </p:spPr>
      </p:sp>
      <p:sp>
        <p:nvSpPr>
          <p:cNvPr id="13" name="clk02_labelbox_21"/>
          <p:cNvSpPr/>
          <p:nvPr/>
        </p:nvSpPr>
        <p:spPr>
          <a:xfrm>
            <a:off x="5394960" y="868680"/>
            <a:ext cx="3474720" cy="457200"/>
          </a:xfrm>
          <a:prstGeom prst="roundRect">
            <a:avLst>
              <a:gd name="adj" fmla="val 16000"/>
            </a:avLst>
          </a:prstGeom>
          <a:solidFill>
            <a:srgbClr val="0F1215">
              <a:alpha val="92000"/>
            </a:srgbClr>
          </a:solidFill>
          <a:ln w="19050">
            <a:solidFill>
              <a:srgbClr val="E53935"/>
            </a:solidFill>
            <a:prstDash val="solid"/>
          </a:ln>
        </p:spPr>
      </p:sp>
      <p:sp>
        <p:nvSpPr>
          <p:cNvPr id="14" name="clk02_badge_22"/>
          <p:cNvSpPr/>
          <p:nvPr/>
        </p:nvSpPr>
        <p:spPr>
          <a:xfrm>
            <a:off x="5468112" y="941832"/>
            <a:ext cx="310896" cy="310896"/>
          </a:xfrm>
          <a:prstGeom prst="ellipse">
            <a:avLst/>
          </a:prstGeom>
          <a:solidFill>
            <a:srgbClr val="E53935"/>
          </a:solidFill>
          <a:ln/>
        </p:spPr>
      </p:sp>
      <p:sp>
        <p:nvSpPr>
          <p:cNvPr id="15" name="clk02_num_23"/>
          <p:cNvSpPr txBox="1"/>
          <p:nvPr/>
        </p:nvSpPr>
        <p:spPr>
          <a:xfrm>
            <a:off x="5468112" y="941832"/>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2</a:t>
            </a:r>
            <a:endParaRPr lang="en-US" sz="1300" dirty="0"/>
          </a:p>
        </p:txBody>
      </p:sp>
      <p:sp>
        <p:nvSpPr>
          <p:cNvPr id="16" name="clk02_label_24"/>
          <p:cNvSpPr txBox="1"/>
          <p:nvPr/>
        </p:nvSpPr>
        <p:spPr>
          <a:xfrm>
            <a:off x="5852160" y="868680"/>
            <a:ext cx="2944368" cy="457200"/>
          </a:xfrm>
          <a:prstGeom prst="rect">
            <a:avLst/>
          </a:prstGeom>
          <a:noFill/>
          <a:ln/>
        </p:spPr>
        <p:txBody>
          <a:bodyPr wrap="square" lIns="0" tIns="0" rIns="0" bIns="0" rtlCol="0" anchor="ctr"/>
          <a:lstStyle/>
          <a:p>
            <a:pPr indent="0" marL="0">
              <a:buNone/>
            </a:pPr>
            <a:r>
              <a:rPr lang="en-US" sz="1200" b="1" dirty="0">
                <a:solidFill>
                  <a:srgbClr val="FFFFFF"/>
                </a:solidFill>
              </a:rPr>
              <a:t>Closed barrier &amp; STOP sign ahead</a:t>
            </a:r>
            <a:endParaRPr lang="en-US" sz="1200" dirty="0"/>
          </a:p>
        </p:txBody>
      </p:sp>
      <p:sp>
        <p:nvSpPr>
          <p:cNvPr id="17" name="clk03_ring_25"/>
          <p:cNvSpPr/>
          <p:nvPr/>
        </p:nvSpPr>
        <p:spPr>
          <a:xfrm>
            <a:off x="2371595" y="3407079"/>
            <a:ext cx="484340" cy="484340"/>
          </a:xfrm>
          <a:prstGeom prst="ellipse">
            <a:avLst/>
          </a:prstGeom>
          <a:ln w="38100">
            <a:solidFill>
              <a:srgbClr val="FFB000"/>
            </a:solidFill>
            <a:prstDash val="solid"/>
          </a:ln>
        </p:spPr>
      </p:sp>
      <p:sp>
        <p:nvSpPr>
          <p:cNvPr id="18" name="clk03_line_26"/>
          <p:cNvSpPr/>
          <p:nvPr/>
        </p:nvSpPr>
        <p:spPr>
          <a:xfrm>
            <a:off x="2148840" y="2971800"/>
            <a:ext cx="327893" cy="477778"/>
          </a:xfrm>
          <a:prstGeom prst="line">
            <a:avLst/>
          </a:prstGeom>
          <a:noFill/>
          <a:ln w="25400">
            <a:solidFill>
              <a:srgbClr val="FFB000"/>
            </a:solidFill>
            <a:prstDash val="solid"/>
          </a:ln>
        </p:spPr>
      </p:sp>
      <p:sp>
        <p:nvSpPr>
          <p:cNvPr id="19" name="clk03_labelbox_27"/>
          <p:cNvSpPr/>
          <p:nvPr/>
        </p:nvSpPr>
        <p:spPr>
          <a:xfrm>
            <a:off x="320040" y="2514600"/>
            <a:ext cx="2697480" cy="457200"/>
          </a:xfrm>
          <a:prstGeom prst="roundRect">
            <a:avLst>
              <a:gd name="adj" fmla="val 16000"/>
            </a:avLst>
          </a:prstGeom>
          <a:solidFill>
            <a:srgbClr val="0F1215">
              <a:alpha val="92000"/>
            </a:srgbClr>
          </a:solidFill>
          <a:ln w="19050">
            <a:solidFill>
              <a:srgbClr val="FFB000"/>
            </a:solidFill>
            <a:prstDash val="solid"/>
          </a:ln>
        </p:spPr>
      </p:sp>
      <p:sp>
        <p:nvSpPr>
          <p:cNvPr id="20" name="clk03_badge_28"/>
          <p:cNvSpPr/>
          <p:nvPr/>
        </p:nvSpPr>
        <p:spPr>
          <a:xfrm>
            <a:off x="393192" y="2587752"/>
            <a:ext cx="310896" cy="310896"/>
          </a:xfrm>
          <a:prstGeom prst="ellipse">
            <a:avLst/>
          </a:prstGeom>
          <a:solidFill>
            <a:srgbClr val="FFB000"/>
          </a:solidFill>
          <a:ln/>
        </p:spPr>
      </p:sp>
      <p:sp>
        <p:nvSpPr>
          <p:cNvPr id="21" name="clk03_num_29"/>
          <p:cNvSpPr txBox="1"/>
          <p:nvPr/>
        </p:nvSpPr>
        <p:spPr>
          <a:xfrm>
            <a:off x="393192" y="2587752"/>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3</a:t>
            </a:r>
            <a:endParaRPr lang="en-US" sz="1300" dirty="0"/>
          </a:p>
        </p:txBody>
      </p:sp>
      <p:sp>
        <p:nvSpPr>
          <p:cNvPr id="22" name="clk03_label_30"/>
          <p:cNvSpPr txBox="1"/>
          <p:nvPr/>
        </p:nvSpPr>
        <p:spPr>
          <a:xfrm>
            <a:off x="777240" y="2514600"/>
            <a:ext cx="2167128" cy="457200"/>
          </a:xfrm>
          <a:prstGeom prst="rect">
            <a:avLst/>
          </a:prstGeom>
          <a:noFill/>
          <a:ln/>
        </p:spPr>
        <p:txBody>
          <a:bodyPr wrap="square" lIns="0" tIns="0" rIns="0" bIns="0" rtlCol="0" anchor="ctr"/>
          <a:lstStyle/>
          <a:p>
            <a:pPr indent="0" marL="0">
              <a:buNone/>
            </a:pPr>
            <a:r>
              <a:rPr lang="en-US" sz="1200" b="1" dirty="0">
                <a:solidFill>
                  <a:srgbClr val="FFFFFF"/>
                </a:solidFill>
              </a:rPr>
              <a:t>Airbag (SRS) warning ON</a:t>
            </a:r>
            <a:endParaRPr lang="en-US" sz="1200" dirty="0"/>
          </a:p>
        </p:txBody>
      </p:sp>
      <p:sp>
        <p:nvSpPr>
          <p:cNvPr id="23" name="clk04_ring_31"/>
          <p:cNvSpPr/>
          <p:nvPr/>
        </p:nvSpPr>
        <p:spPr>
          <a:xfrm>
            <a:off x="2847584" y="3407079"/>
            <a:ext cx="484340" cy="484340"/>
          </a:xfrm>
          <a:prstGeom prst="ellipse">
            <a:avLst/>
          </a:prstGeom>
          <a:ln w="38100">
            <a:solidFill>
              <a:srgbClr val="FFB000"/>
            </a:solidFill>
            <a:prstDash val="solid"/>
          </a:ln>
        </p:spPr>
      </p:sp>
      <p:sp>
        <p:nvSpPr>
          <p:cNvPr id="24" name="clk04_line_32"/>
          <p:cNvSpPr/>
          <p:nvPr/>
        </p:nvSpPr>
        <p:spPr>
          <a:xfrm flipH="1">
            <a:off x="2926080" y="3888326"/>
            <a:ext cx="125090" cy="775114"/>
          </a:xfrm>
          <a:prstGeom prst="line">
            <a:avLst/>
          </a:prstGeom>
          <a:noFill/>
          <a:ln w="25400">
            <a:solidFill>
              <a:srgbClr val="FFB000"/>
            </a:solidFill>
            <a:prstDash val="solid"/>
          </a:ln>
        </p:spPr>
      </p:sp>
      <p:sp>
        <p:nvSpPr>
          <p:cNvPr id="25" name="clk04_labelbox_33"/>
          <p:cNvSpPr/>
          <p:nvPr/>
        </p:nvSpPr>
        <p:spPr>
          <a:xfrm>
            <a:off x="320040" y="4434840"/>
            <a:ext cx="2606040" cy="457200"/>
          </a:xfrm>
          <a:prstGeom prst="roundRect">
            <a:avLst>
              <a:gd name="adj" fmla="val 16000"/>
            </a:avLst>
          </a:prstGeom>
          <a:solidFill>
            <a:srgbClr val="0F1215">
              <a:alpha val="92000"/>
            </a:srgbClr>
          </a:solidFill>
          <a:ln w="19050">
            <a:solidFill>
              <a:srgbClr val="FFB000"/>
            </a:solidFill>
            <a:prstDash val="solid"/>
          </a:ln>
        </p:spPr>
      </p:sp>
      <p:sp>
        <p:nvSpPr>
          <p:cNvPr id="26" name="clk04_badge_34"/>
          <p:cNvSpPr/>
          <p:nvPr/>
        </p:nvSpPr>
        <p:spPr>
          <a:xfrm>
            <a:off x="393192" y="4507992"/>
            <a:ext cx="310896" cy="310896"/>
          </a:xfrm>
          <a:prstGeom prst="ellipse">
            <a:avLst/>
          </a:prstGeom>
          <a:solidFill>
            <a:srgbClr val="FFB000"/>
          </a:solidFill>
          <a:ln/>
        </p:spPr>
      </p:sp>
      <p:sp>
        <p:nvSpPr>
          <p:cNvPr id="27" name="clk04_num_35"/>
          <p:cNvSpPr txBox="1"/>
          <p:nvPr/>
        </p:nvSpPr>
        <p:spPr>
          <a:xfrm>
            <a:off x="393192" y="4507992"/>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4</a:t>
            </a:r>
            <a:endParaRPr lang="en-US" sz="1300" dirty="0"/>
          </a:p>
        </p:txBody>
      </p:sp>
      <p:sp>
        <p:nvSpPr>
          <p:cNvPr id="28" name="clk04_label_36"/>
          <p:cNvSpPr txBox="1"/>
          <p:nvPr/>
        </p:nvSpPr>
        <p:spPr>
          <a:xfrm>
            <a:off x="777240" y="4434840"/>
            <a:ext cx="2075688" cy="457200"/>
          </a:xfrm>
          <a:prstGeom prst="rect">
            <a:avLst/>
          </a:prstGeom>
          <a:noFill/>
          <a:ln/>
        </p:spPr>
        <p:txBody>
          <a:bodyPr wrap="square" lIns="0" tIns="0" rIns="0" bIns="0" rtlCol="0" anchor="ctr"/>
          <a:lstStyle/>
          <a:p>
            <a:pPr indent="0" marL="0">
              <a:buNone/>
            </a:pPr>
            <a:r>
              <a:rPr lang="en-US" sz="1200" b="1" dirty="0">
                <a:solidFill>
                  <a:srgbClr val="FFFFFF"/>
                </a:solidFill>
              </a:rPr>
              <a:t>Low tyre pressure (TPMS)</a:t>
            </a:r>
            <a:endParaRPr lang="en-US" sz="1200" dirty="0"/>
          </a:p>
        </p:txBody>
      </p:sp>
      <p:sp>
        <p:nvSpPr>
          <p:cNvPr id="29" name="clk05_ring_37"/>
          <p:cNvSpPr/>
          <p:nvPr/>
        </p:nvSpPr>
        <p:spPr>
          <a:xfrm>
            <a:off x="3348625" y="3407079"/>
            <a:ext cx="484340" cy="484340"/>
          </a:xfrm>
          <a:prstGeom prst="ellipse">
            <a:avLst/>
          </a:prstGeom>
          <a:ln w="38100">
            <a:solidFill>
              <a:srgbClr val="FFB000"/>
            </a:solidFill>
            <a:prstDash val="solid"/>
          </a:ln>
        </p:spPr>
      </p:sp>
      <p:sp>
        <p:nvSpPr>
          <p:cNvPr id="30" name="clk05_line_38"/>
          <p:cNvSpPr/>
          <p:nvPr/>
        </p:nvSpPr>
        <p:spPr>
          <a:xfrm>
            <a:off x="3687250" y="3871381"/>
            <a:ext cx="244670" cy="563459"/>
          </a:xfrm>
          <a:prstGeom prst="line">
            <a:avLst/>
          </a:prstGeom>
          <a:noFill/>
          <a:ln w="25400">
            <a:solidFill>
              <a:srgbClr val="FFB000"/>
            </a:solidFill>
            <a:prstDash val="solid"/>
          </a:ln>
        </p:spPr>
      </p:sp>
      <p:sp>
        <p:nvSpPr>
          <p:cNvPr id="31" name="clk05_labelbox_39"/>
          <p:cNvSpPr/>
          <p:nvPr/>
        </p:nvSpPr>
        <p:spPr>
          <a:xfrm>
            <a:off x="3657600" y="4434840"/>
            <a:ext cx="2514600" cy="457200"/>
          </a:xfrm>
          <a:prstGeom prst="roundRect">
            <a:avLst>
              <a:gd name="adj" fmla="val 16000"/>
            </a:avLst>
          </a:prstGeom>
          <a:solidFill>
            <a:srgbClr val="0F1215">
              <a:alpha val="92000"/>
            </a:srgbClr>
          </a:solidFill>
          <a:ln w="19050">
            <a:solidFill>
              <a:srgbClr val="FFB000"/>
            </a:solidFill>
            <a:prstDash val="solid"/>
          </a:ln>
        </p:spPr>
      </p:sp>
      <p:sp>
        <p:nvSpPr>
          <p:cNvPr id="32" name="clk05_badge_40"/>
          <p:cNvSpPr/>
          <p:nvPr/>
        </p:nvSpPr>
        <p:spPr>
          <a:xfrm>
            <a:off x="3730752" y="4507992"/>
            <a:ext cx="310896" cy="310896"/>
          </a:xfrm>
          <a:prstGeom prst="ellipse">
            <a:avLst/>
          </a:prstGeom>
          <a:solidFill>
            <a:srgbClr val="FFB000"/>
          </a:solidFill>
          <a:ln/>
        </p:spPr>
      </p:sp>
      <p:sp>
        <p:nvSpPr>
          <p:cNvPr id="33" name="clk05_num_41"/>
          <p:cNvSpPr txBox="1"/>
          <p:nvPr/>
        </p:nvSpPr>
        <p:spPr>
          <a:xfrm>
            <a:off x="3730752" y="4507992"/>
            <a:ext cx="310896" cy="310896"/>
          </a:xfrm>
          <a:prstGeom prst="rect">
            <a:avLst/>
          </a:prstGeom>
          <a:noFill/>
          <a:ln/>
        </p:spPr>
        <p:txBody>
          <a:bodyPr wrap="square" lIns="0" tIns="0" rIns="0" bIns="0" rtlCol="0" anchor="ctr"/>
          <a:lstStyle/>
          <a:p>
            <a:pPr algn="ctr" indent="0" marL="0">
              <a:buNone/>
            </a:pPr>
            <a:r>
              <a:rPr lang="en-US" sz="1300" b="1" dirty="0">
                <a:solidFill>
                  <a:srgbClr val="0F1215"/>
                </a:solidFill>
              </a:rPr>
              <a:t>5</a:t>
            </a:r>
            <a:endParaRPr lang="en-US" sz="1300" dirty="0"/>
          </a:p>
        </p:txBody>
      </p:sp>
      <p:sp>
        <p:nvSpPr>
          <p:cNvPr id="34" name="clk05_label_42"/>
          <p:cNvSpPr txBox="1"/>
          <p:nvPr/>
        </p:nvSpPr>
        <p:spPr>
          <a:xfrm>
            <a:off x="4114800" y="4434840"/>
            <a:ext cx="1984248" cy="457200"/>
          </a:xfrm>
          <a:prstGeom prst="rect">
            <a:avLst/>
          </a:prstGeom>
          <a:noFill/>
          <a:ln/>
        </p:spPr>
        <p:txBody>
          <a:bodyPr wrap="square" lIns="0" tIns="0" rIns="0" bIns="0" rtlCol="0" anchor="ctr"/>
          <a:lstStyle/>
          <a:p>
            <a:pPr indent="0" marL="0">
              <a:buNone/>
            </a:pPr>
            <a:r>
              <a:rPr lang="en-US" sz="1200" b="1" dirty="0">
                <a:solidFill>
                  <a:srgbClr val="FFFFFF"/>
                </a:solidFill>
              </a:rPr>
              <a:t>Seatbelt not fastened</a:t>
            </a:r>
            <a:endParaRPr lang="en-US" sz="12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childTnLst>
                          </p:cTn>
                        </p:par>
                      </p:childTnLst>
                    </p:cTn>
                  </p:par>
                  <p:par>
                    <p:cTn id="81" fill="hold">
                      <p:stCondLst>
                        <p:cond delay="indefinite"/>
                      </p:stCondLst>
                      <p:childTnLst>
                        <p:par>
                          <p:cTn id="8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500"/>
                                        <p:tgtEl>
                                          <p:spTgt spid="2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50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8"/>
                                        </p:tgtEl>
                                        <p:attrNameLst>
                                          <p:attrName>style.visibility</p:attrName>
                                        </p:attrNameLst>
                                      </p:cBhvr>
                                      <p:to>
                                        <p:strVal val="visible"/>
                                      </p:to>
                                    </p:set>
                                    <p:animEffect transition="in" filter="fade">
                                      <p:cBhvr>
                                        <p:cTn id="80" dur="500"/>
                                        <p:tgtEl>
                                          <p:spTgt spid="28"/>
                                        </p:tgtEl>
                                      </p:cBhvr>
                                    </p:animEffect>
                                  </p:childTnLst>
                                </p:cTn>
                              </p:par>
                            </p:childTnLst>
                          </p:cTn>
                        </p:par>
                      </p:childTnLst>
                    </p:cTn>
                  </p:par>
                  <p:par>
                    <p:cTn id="101" fill="hold">
                      <p:stCondLst>
                        <p:cond delay="indefinite"/>
                      </p:stCondLst>
                      <p:childTnLst>
                        <p:par>
                          <p:cTn id="10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29"/>
                                        </p:tgtEl>
                                        <p:attrNameLst>
                                          <p:attrName>style.visibility</p:attrName>
                                        </p:attrNameLst>
                                      </p:cBhvr>
                                      <p:to>
                                        <p:strVal val="visible"/>
                                      </p:to>
                                    </p:set>
                                    <p:animEffect transition="in" filter="fade">
                                      <p:cBhvr>
                                        <p:cTn id="85" dur="500"/>
                                        <p:tgtEl>
                                          <p:spTgt spid="29"/>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500"/>
                                        <p:tgtEl>
                                          <p:spTgt spid="3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500"/>
                                        <p:tgtEl>
                                          <p:spTgt spid="32"/>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500"/>
                                        <p:tgtEl>
                                          <p:spTgt spid="33"/>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Why It Matters: Driver Behaviour</a:t>
            </a:r>
            <a:endParaRPr lang="en-US" sz="2600" dirty="0"/>
          </a:p>
        </p:txBody>
      </p:sp>
      <p:sp>
        <p:nvSpPr>
          <p:cNvPr id="4" name="clk01_card_43"/>
          <p:cNvSpPr/>
          <p:nvPr/>
        </p:nvSpPr>
        <p:spPr>
          <a:xfrm>
            <a:off x="457200" y="960120"/>
            <a:ext cx="2615184" cy="3611880"/>
          </a:xfrm>
          <a:prstGeom prst="roundRect">
            <a:avLst>
              <a:gd name="adj" fmla="val 3497"/>
            </a:avLst>
          </a:prstGeom>
          <a:solidFill>
            <a:srgbClr val="1C2128"/>
          </a:solidFill>
          <a:ln/>
          <a:effectLst>
            <a:outerShdw sx="100000" sy="100000" kx="0" ky="0" algn="bl" rotWithShape="0" blurRad="76200" dist="25400" dir="5400000">
              <a:srgbClr val="000000">
                <a:alpha val="40000"/>
              </a:srgbClr>
            </a:outerShdw>
          </a:effectLst>
        </p:spPr>
      </p:sp>
      <p:pic>
        <p:nvPicPr>
          <p:cNvPr id="5" name="clk01_pic_44" descr="Texting while driving">    </p:cNvPr>
          <p:cNvPicPr>
            <a:picLocks noChangeAspect="1"/>
          </p:cNvPicPr>
          <p:nvPr/>
        </p:nvPicPr>
        <p:blipFill>
          <a:blip r:embed="rId1"/>
          <a:srcRect l="0" r="0" t="0" b="0"/>
          <a:stretch/>
        </p:blipFill>
        <p:spPr>
          <a:xfrm>
            <a:off x="566928" y="1069848"/>
            <a:ext cx="2395728" cy="1589227"/>
          </a:xfrm>
          <a:prstGeom prst="rect">
            <a:avLst/>
          </a:prstGeom>
        </p:spPr>
      </p:pic>
      <p:sp>
        <p:nvSpPr>
          <p:cNvPr id="6" name="clk01_badge_45"/>
          <p:cNvSpPr/>
          <p:nvPr/>
        </p:nvSpPr>
        <p:spPr>
          <a:xfrm>
            <a:off x="640080" y="1143000"/>
            <a:ext cx="347472" cy="347472"/>
          </a:xfrm>
          <a:prstGeom prst="ellipse">
            <a:avLst/>
          </a:prstGeom>
          <a:solidFill>
            <a:srgbClr val="E53935"/>
          </a:solidFill>
          <a:ln w="19050">
            <a:solidFill>
              <a:srgbClr val="0F1215"/>
            </a:solidFill>
            <a:prstDash val="solid"/>
          </a:ln>
        </p:spPr>
      </p:sp>
      <p:sp>
        <p:nvSpPr>
          <p:cNvPr id="7" name="clk01_num_46"/>
          <p:cNvSpPr txBox="1"/>
          <p:nvPr/>
        </p:nvSpPr>
        <p:spPr>
          <a:xfrm>
            <a:off x="640080" y="1143000"/>
            <a:ext cx="347472" cy="347472"/>
          </a:xfrm>
          <a:prstGeom prst="rect">
            <a:avLst/>
          </a:prstGeom>
          <a:noFill/>
          <a:ln/>
        </p:spPr>
        <p:txBody>
          <a:bodyPr wrap="square" lIns="0" tIns="0" rIns="0" bIns="0" rtlCol="0" anchor="ctr"/>
          <a:lstStyle/>
          <a:p>
            <a:pPr algn="ctr" indent="0" marL="0">
              <a:buNone/>
            </a:pPr>
            <a:r>
              <a:rPr lang="en-US" sz="1300" b="1" dirty="0">
                <a:solidFill>
                  <a:srgbClr val="0F1215"/>
                </a:solidFill>
              </a:rPr>
              <a:t>1</a:t>
            </a:r>
            <a:endParaRPr lang="en-US" sz="1300" dirty="0"/>
          </a:p>
        </p:txBody>
      </p:sp>
      <p:sp>
        <p:nvSpPr>
          <p:cNvPr id="8" name="clk01_title_47"/>
          <p:cNvSpPr txBox="1"/>
          <p:nvPr/>
        </p:nvSpPr>
        <p:spPr>
          <a:xfrm>
            <a:off x="621792" y="2732227"/>
            <a:ext cx="2286000" cy="384048"/>
          </a:xfrm>
          <a:prstGeom prst="rect">
            <a:avLst/>
          </a:prstGeom>
          <a:noFill/>
          <a:ln/>
        </p:spPr>
        <p:txBody>
          <a:bodyPr wrap="square" lIns="0" tIns="0" rIns="0" bIns="0" rtlCol="0" anchor="ctr"/>
          <a:lstStyle/>
          <a:p>
            <a:pPr indent="0" marL="0">
              <a:buNone/>
            </a:pPr>
            <a:r>
              <a:rPr lang="en-US" sz="1500" b="1" dirty="0">
                <a:solidFill>
                  <a:srgbClr val="FFFFFF"/>
                </a:solidFill>
              </a:rPr>
              <a:t>Texting while driving</a:t>
            </a:r>
            <a:endParaRPr lang="en-US" sz="1500" dirty="0"/>
          </a:p>
        </p:txBody>
      </p:sp>
      <p:sp>
        <p:nvSpPr>
          <p:cNvPr id="9" name="clk01_text_48"/>
          <p:cNvSpPr txBox="1"/>
          <p:nvPr/>
        </p:nvSpPr>
        <p:spPr>
          <a:xfrm>
            <a:off x="621792" y="3116275"/>
            <a:ext cx="2286000" cy="1364285"/>
          </a:xfrm>
          <a:prstGeom prst="rect">
            <a:avLst/>
          </a:prstGeom>
          <a:noFill/>
          <a:ln/>
        </p:spPr>
        <p:txBody>
          <a:bodyPr wrap="square" lIns="0" tIns="0" rIns="0" bIns="0" rtlCol="0" anchor="t"/>
          <a:lstStyle/>
          <a:p>
            <a:pPr indent="0" marL="0">
              <a:buNone/>
            </a:pPr>
            <a:r>
              <a:rPr lang="en-US" sz="1200" b="1" dirty="0">
                <a:solidFill>
                  <a:srgbClr val="E53935"/>
                </a:solidFill>
              </a:rPr>
              <a:t>Why it's dangerous</a:t>
            </a:r>
            <a:endParaRPr lang="en-US" sz="1200" dirty="0"/>
          </a:p>
          <a:p>
            <a:pPr indent="0" marL="0">
              <a:buNone/>
            </a:pPr>
            <a:r>
              <a:rPr lang="en-US" sz="1200" dirty="0">
                <a:solidFill>
                  <a:srgbClr val="C9D1DA"/>
                </a:solidFill>
              </a:rPr>
              <a:t>Eyes off the road for seconds; one hand off the wheel.</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2ECC40"/>
                </a:solidFill>
              </a:rPr>
              <a:t>What to do</a:t>
            </a:r>
            <a:endParaRPr lang="en-US" sz="1200" dirty="0"/>
          </a:p>
          <a:p>
            <a:pPr indent="0" marL="0">
              <a:buNone/>
            </a:pPr>
            <a:r>
              <a:rPr lang="en-US" sz="1200" dirty="0">
                <a:solidFill>
                  <a:srgbClr val="C9D1DA"/>
                </a:solidFill>
              </a:rPr>
              <a:t>Phone away or on Do Not Disturb. Pull over safely to use it.</a:t>
            </a:r>
            <a:endParaRPr lang="en-US" sz="1200" dirty="0"/>
          </a:p>
        </p:txBody>
      </p:sp>
      <p:sp>
        <p:nvSpPr>
          <p:cNvPr id="10" name="clk02_card_49"/>
          <p:cNvSpPr/>
          <p:nvPr/>
        </p:nvSpPr>
        <p:spPr>
          <a:xfrm>
            <a:off x="3264408" y="960120"/>
            <a:ext cx="2615184" cy="3611880"/>
          </a:xfrm>
          <a:prstGeom prst="roundRect">
            <a:avLst>
              <a:gd name="adj" fmla="val 3497"/>
            </a:avLst>
          </a:prstGeom>
          <a:solidFill>
            <a:srgbClr val="1C2128"/>
          </a:solidFill>
          <a:ln/>
          <a:effectLst>
            <a:outerShdw sx="100000" sy="100000" kx="0" ky="0" algn="bl" rotWithShape="0" blurRad="76200" dist="25400" dir="5400000">
              <a:srgbClr val="000000">
                <a:alpha val="40000"/>
              </a:srgbClr>
            </a:outerShdw>
          </a:effectLst>
        </p:spPr>
      </p:sp>
      <p:pic>
        <p:nvPicPr>
          <p:cNvPr id="11" name="clk02_pic_50" descr="Closed barrier ahead">    </p:cNvPr>
          <p:cNvPicPr>
            <a:picLocks noChangeAspect="1"/>
          </p:cNvPicPr>
          <p:nvPr/>
        </p:nvPicPr>
        <p:blipFill>
          <a:blip r:embed="rId2"/>
          <a:srcRect l="0" r="0" t="0" b="0"/>
          <a:stretch/>
        </p:blipFill>
        <p:spPr>
          <a:xfrm>
            <a:off x="3374136" y="1069848"/>
            <a:ext cx="2395728" cy="1589227"/>
          </a:xfrm>
          <a:prstGeom prst="rect">
            <a:avLst/>
          </a:prstGeom>
        </p:spPr>
      </p:pic>
      <p:sp>
        <p:nvSpPr>
          <p:cNvPr id="12" name="clk02_badge_51"/>
          <p:cNvSpPr/>
          <p:nvPr/>
        </p:nvSpPr>
        <p:spPr>
          <a:xfrm>
            <a:off x="3447288" y="1143000"/>
            <a:ext cx="347472" cy="347472"/>
          </a:xfrm>
          <a:prstGeom prst="ellipse">
            <a:avLst/>
          </a:prstGeom>
          <a:solidFill>
            <a:srgbClr val="E53935"/>
          </a:solidFill>
          <a:ln w="19050">
            <a:solidFill>
              <a:srgbClr val="0F1215"/>
            </a:solidFill>
            <a:prstDash val="solid"/>
          </a:ln>
        </p:spPr>
      </p:sp>
      <p:sp>
        <p:nvSpPr>
          <p:cNvPr id="13" name="clk02_num_52"/>
          <p:cNvSpPr txBox="1"/>
          <p:nvPr/>
        </p:nvSpPr>
        <p:spPr>
          <a:xfrm>
            <a:off x="3447288" y="1143000"/>
            <a:ext cx="347472" cy="347472"/>
          </a:xfrm>
          <a:prstGeom prst="rect">
            <a:avLst/>
          </a:prstGeom>
          <a:noFill/>
          <a:ln/>
        </p:spPr>
        <p:txBody>
          <a:bodyPr wrap="square" lIns="0" tIns="0" rIns="0" bIns="0" rtlCol="0" anchor="ctr"/>
          <a:lstStyle/>
          <a:p>
            <a:pPr algn="ctr" indent="0" marL="0">
              <a:buNone/>
            </a:pPr>
            <a:r>
              <a:rPr lang="en-US" sz="1300" b="1" dirty="0">
                <a:solidFill>
                  <a:srgbClr val="0F1215"/>
                </a:solidFill>
              </a:rPr>
              <a:t>2</a:t>
            </a:r>
            <a:endParaRPr lang="en-US" sz="1300" dirty="0"/>
          </a:p>
        </p:txBody>
      </p:sp>
      <p:sp>
        <p:nvSpPr>
          <p:cNvPr id="14" name="clk02_title_53"/>
          <p:cNvSpPr txBox="1"/>
          <p:nvPr/>
        </p:nvSpPr>
        <p:spPr>
          <a:xfrm>
            <a:off x="3429000" y="2732227"/>
            <a:ext cx="2286000" cy="384048"/>
          </a:xfrm>
          <a:prstGeom prst="rect">
            <a:avLst/>
          </a:prstGeom>
          <a:noFill/>
          <a:ln/>
        </p:spPr>
        <p:txBody>
          <a:bodyPr wrap="square" lIns="0" tIns="0" rIns="0" bIns="0" rtlCol="0" anchor="ctr"/>
          <a:lstStyle/>
          <a:p>
            <a:pPr indent="0" marL="0">
              <a:buNone/>
            </a:pPr>
            <a:r>
              <a:rPr lang="en-US" sz="1500" b="1" dirty="0">
                <a:solidFill>
                  <a:srgbClr val="FFFFFF"/>
                </a:solidFill>
              </a:rPr>
              <a:t>Closed barrier ahead</a:t>
            </a:r>
            <a:endParaRPr lang="en-US" sz="1500" dirty="0"/>
          </a:p>
        </p:txBody>
      </p:sp>
      <p:sp>
        <p:nvSpPr>
          <p:cNvPr id="15" name="clk02_text_54"/>
          <p:cNvSpPr txBox="1"/>
          <p:nvPr/>
        </p:nvSpPr>
        <p:spPr>
          <a:xfrm>
            <a:off x="3429000" y="3116275"/>
            <a:ext cx="2286000" cy="1364285"/>
          </a:xfrm>
          <a:prstGeom prst="rect">
            <a:avLst/>
          </a:prstGeom>
          <a:noFill/>
          <a:ln/>
        </p:spPr>
        <p:txBody>
          <a:bodyPr wrap="square" lIns="0" tIns="0" rIns="0" bIns="0" rtlCol="0" anchor="t"/>
          <a:lstStyle/>
          <a:p>
            <a:pPr indent="0" marL="0">
              <a:buNone/>
            </a:pPr>
            <a:r>
              <a:rPr lang="en-US" sz="1200" b="1" dirty="0">
                <a:solidFill>
                  <a:srgbClr val="E53935"/>
                </a:solidFill>
              </a:rPr>
              <a:t>Why it's dangerous</a:t>
            </a:r>
            <a:endParaRPr lang="en-US" sz="1200" dirty="0"/>
          </a:p>
          <a:p>
            <a:pPr indent="0" marL="0">
              <a:buNone/>
            </a:pPr>
            <a:r>
              <a:rPr lang="en-US" sz="1200" dirty="0">
                <a:solidFill>
                  <a:srgbClr val="C9D1DA"/>
                </a:solidFill>
              </a:rPr>
              <a:t>Late braking can hit the barrier, gate staff or the car ahead.</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2ECC40"/>
                </a:solidFill>
              </a:rPr>
              <a:t>What to do</a:t>
            </a:r>
            <a:endParaRPr lang="en-US" sz="1200" dirty="0"/>
          </a:p>
          <a:p>
            <a:pPr indent="0" marL="0">
              <a:buNone/>
            </a:pPr>
            <a:r>
              <a:rPr lang="en-US" sz="1200" dirty="0">
                <a:solidFill>
                  <a:srgbClr val="C9D1DA"/>
                </a:solidFill>
              </a:rPr>
              <a:t>Slow down early, stop at the line, follow site rules.</a:t>
            </a:r>
            <a:endParaRPr lang="en-US" sz="1200" dirty="0"/>
          </a:p>
        </p:txBody>
      </p:sp>
      <p:sp>
        <p:nvSpPr>
          <p:cNvPr id="16" name="clk03_card_55"/>
          <p:cNvSpPr/>
          <p:nvPr/>
        </p:nvSpPr>
        <p:spPr>
          <a:xfrm>
            <a:off x="6071616" y="960120"/>
            <a:ext cx="2615184" cy="3611880"/>
          </a:xfrm>
          <a:prstGeom prst="roundRect">
            <a:avLst>
              <a:gd name="adj" fmla="val 3497"/>
            </a:avLst>
          </a:prstGeom>
          <a:solidFill>
            <a:srgbClr val="1C2128"/>
          </a:solidFill>
          <a:ln/>
          <a:effectLst>
            <a:outerShdw sx="100000" sy="100000" kx="0" ky="0" algn="bl" rotWithShape="0" blurRad="76200" dist="25400" dir="5400000">
              <a:srgbClr val="000000">
                <a:alpha val="40000"/>
              </a:srgbClr>
            </a:outerShdw>
          </a:effectLst>
        </p:spPr>
      </p:sp>
      <p:pic>
        <p:nvPicPr>
          <p:cNvPr id="17" name="clk03_pic_56" descr="Seatbelt not fastened">    </p:cNvPr>
          <p:cNvPicPr>
            <a:picLocks noChangeAspect="1"/>
          </p:cNvPicPr>
          <p:nvPr/>
        </p:nvPicPr>
        <p:blipFill>
          <a:blip r:embed="rId3"/>
          <a:srcRect l="0" r="0" t="0" b="0"/>
          <a:stretch/>
        </p:blipFill>
        <p:spPr>
          <a:xfrm>
            <a:off x="6181344" y="1069848"/>
            <a:ext cx="2395728" cy="1589227"/>
          </a:xfrm>
          <a:prstGeom prst="rect">
            <a:avLst/>
          </a:prstGeom>
        </p:spPr>
      </p:pic>
      <p:sp>
        <p:nvSpPr>
          <p:cNvPr id="18" name="clk03_badge_57"/>
          <p:cNvSpPr/>
          <p:nvPr/>
        </p:nvSpPr>
        <p:spPr>
          <a:xfrm>
            <a:off x="6254496" y="1143000"/>
            <a:ext cx="347472" cy="347472"/>
          </a:xfrm>
          <a:prstGeom prst="ellipse">
            <a:avLst/>
          </a:prstGeom>
          <a:solidFill>
            <a:srgbClr val="FFB000"/>
          </a:solidFill>
          <a:ln w="19050">
            <a:solidFill>
              <a:srgbClr val="0F1215"/>
            </a:solidFill>
            <a:prstDash val="solid"/>
          </a:ln>
        </p:spPr>
      </p:sp>
      <p:sp>
        <p:nvSpPr>
          <p:cNvPr id="19" name="clk03_num_58"/>
          <p:cNvSpPr txBox="1"/>
          <p:nvPr/>
        </p:nvSpPr>
        <p:spPr>
          <a:xfrm>
            <a:off x="6254496" y="1143000"/>
            <a:ext cx="347472" cy="347472"/>
          </a:xfrm>
          <a:prstGeom prst="rect">
            <a:avLst/>
          </a:prstGeom>
          <a:noFill/>
          <a:ln/>
        </p:spPr>
        <p:txBody>
          <a:bodyPr wrap="square" lIns="0" tIns="0" rIns="0" bIns="0" rtlCol="0" anchor="ctr"/>
          <a:lstStyle/>
          <a:p>
            <a:pPr algn="ctr" indent="0" marL="0">
              <a:buNone/>
            </a:pPr>
            <a:r>
              <a:rPr lang="en-US" sz="1300" b="1" dirty="0">
                <a:solidFill>
                  <a:srgbClr val="0F1215"/>
                </a:solidFill>
              </a:rPr>
              <a:t>5</a:t>
            </a:r>
            <a:endParaRPr lang="en-US" sz="1300" dirty="0"/>
          </a:p>
        </p:txBody>
      </p:sp>
      <p:sp>
        <p:nvSpPr>
          <p:cNvPr id="20" name="clk03_title_59"/>
          <p:cNvSpPr txBox="1"/>
          <p:nvPr/>
        </p:nvSpPr>
        <p:spPr>
          <a:xfrm>
            <a:off x="6236208" y="2732227"/>
            <a:ext cx="2286000" cy="384048"/>
          </a:xfrm>
          <a:prstGeom prst="rect">
            <a:avLst/>
          </a:prstGeom>
          <a:noFill/>
          <a:ln/>
        </p:spPr>
        <p:txBody>
          <a:bodyPr wrap="square" lIns="0" tIns="0" rIns="0" bIns="0" rtlCol="0" anchor="ctr"/>
          <a:lstStyle/>
          <a:p>
            <a:pPr indent="0" marL="0">
              <a:buNone/>
            </a:pPr>
            <a:r>
              <a:rPr lang="en-US" sz="1500" b="1" dirty="0">
                <a:solidFill>
                  <a:srgbClr val="FFFFFF"/>
                </a:solidFill>
              </a:rPr>
              <a:t>Seatbelt not fastened</a:t>
            </a:r>
            <a:endParaRPr lang="en-US" sz="1500" dirty="0"/>
          </a:p>
        </p:txBody>
      </p:sp>
      <p:sp>
        <p:nvSpPr>
          <p:cNvPr id="21" name="clk03_text_60"/>
          <p:cNvSpPr txBox="1"/>
          <p:nvPr/>
        </p:nvSpPr>
        <p:spPr>
          <a:xfrm>
            <a:off x="6236208" y="3116275"/>
            <a:ext cx="2286000" cy="1364285"/>
          </a:xfrm>
          <a:prstGeom prst="rect">
            <a:avLst/>
          </a:prstGeom>
          <a:noFill/>
          <a:ln/>
        </p:spPr>
        <p:txBody>
          <a:bodyPr wrap="square" lIns="0" tIns="0" rIns="0" bIns="0" rtlCol="0" anchor="t"/>
          <a:lstStyle/>
          <a:p>
            <a:pPr indent="0" marL="0">
              <a:buNone/>
            </a:pPr>
            <a:r>
              <a:rPr lang="en-US" sz="1200" b="1" dirty="0">
                <a:solidFill>
                  <a:srgbClr val="E53935"/>
                </a:solidFill>
              </a:rPr>
              <a:t>Why it's dangerous</a:t>
            </a:r>
            <a:endParaRPr lang="en-US" sz="1200" dirty="0"/>
          </a:p>
          <a:p>
            <a:pPr indent="0" marL="0">
              <a:buNone/>
            </a:pPr>
            <a:r>
              <a:rPr lang="en-US" sz="1200" dirty="0">
                <a:solidFill>
                  <a:srgbClr val="C9D1DA"/>
                </a:solidFill>
              </a:rPr>
              <a:t>Serious injury even in a low-speed crash.</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2ECC40"/>
                </a:solidFill>
              </a:rPr>
              <a:t>What to do</a:t>
            </a:r>
            <a:endParaRPr lang="en-US" sz="1200" dirty="0"/>
          </a:p>
          <a:p>
            <a:pPr indent="0" marL="0">
              <a:buNone/>
            </a:pPr>
            <a:r>
              <a:rPr lang="en-US" sz="1200" dirty="0">
                <a:solidFill>
                  <a:srgbClr val="C9D1DA"/>
                </a:solidFill>
              </a:rPr>
              <a:t>Buckle up before the vehicle moves.</a:t>
            </a:r>
            <a:endParaRPr lang="en-US" sz="12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8" grpId="0" animBg="1"/>
      <p:bldP spid="19" grpId="0" animBg="1"/>
      <p:bldP spid="20"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Why It Matters: Vehicle Warnings</a:t>
            </a:r>
            <a:endParaRPr lang="en-US" sz="2600" dirty="0"/>
          </a:p>
        </p:txBody>
      </p:sp>
      <p:sp>
        <p:nvSpPr>
          <p:cNvPr id="4" name="clk01_card_61"/>
          <p:cNvSpPr/>
          <p:nvPr/>
        </p:nvSpPr>
        <p:spPr>
          <a:xfrm>
            <a:off x="457200" y="960120"/>
            <a:ext cx="2615184" cy="3611880"/>
          </a:xfrm>
          <a:prstGeom prst="roundRect">
            <a:avLst>
              <a:gd name="adj" fmla="val 3497"/>
            </a:avLst>
          </a:prstGeom>
          <a:solidFill>
            <a:srgbClr val="1C2128"/>
          </a:solidFill>
          <a:ln/>
          <a:effectLst>
            <a:outerShdw sx="100000" sy="100000" kx="0" ky="0" algn="bl" rotWithShape="0" blurRad="76200" dist="25400" dir="5400000">
              <a:srgbClr val="000000">
                <a:alpha val="40000"/>
              </a:srgbClr>
            </a:outerShdw>
          </a:effectLst>
        </p:spPr>
      </p:sp>
      <p:pic>
        <p:nvPicPr>
          <p:cNvPr id="5" name="clk01_pic_62" descr="Airbag (SRS) warning">    </p:cNvPr>
          <p:cNvPicPr>
            <a:picLocks noChangeAspect="1"/>
          </p:cNvPicPr>
          <p:nvPr/>
        </p:nvPicPr>
        <p:blipFill>
          <a:blip r:embed="rId1"/>
          <a:srcRect l="0" r="0" t="0" b="0"/>
          <a:stretch/>
        </p:blipFill>
        <p:spPr>
          <a:xfrm>
            <a:off x="566928" y="1069848"/>
            <a:ext cx="2395728" cy="1589227"/>
          </a:xfrm>
          <a:prstGeom prst="rect">
            <a:avLst/>
          </a:prstGeom>
        </p:spPr>
      </p:pic>
      <p:sp>
        <p:nvSpPr>
          <p:cNvPr id="6" name="clk01_badge_63"/>
          <p:cNvSpPr/>
          <p:nvPr/>
        </p:nvSpPr>
        <p:spPr>
          <a:xfrm>
            <a:off x="640080" y="1143000"/>
            <a:ext cx="347472" cy="347472"/>
          </a:xfrm>
          <a:prstGeom prst="ellipse">
            <a:avLst/>
          </a:prstGeom>
          <a:solidFill>
            <a:srgbClr val="FFB000"/>
          </a:solidFill>
          <a:ln w="19050">
            <a:solidFill>
              <a:srgbClr val="0F1215"/>
            </a:solidFill>
            <a:prstDash val="solid"/>
          </a:ln>
        </p:spPr>
      </p:sp>
      <p:sp>
        <p:nvSpPr>
          <p:cNvPr id="7" name="clk01_num_64"/>
          <p:cNvSpPr txBox="1"/>
          <p:nvPr/>
        </p:nvSpPr>
        <p:spPr>
          <a:xfrm>
            <a:off x="640080" y="1143000"/>
            <a:ext cx="347472" cy="347472"/>
          </a:xfrm>
          <a:prstGeom prst="rect">
            <a:avLst/>
          </a:prstGeom>
          <a:noFill/>
          <a:ln/>
        </p:spPr>
        <p:txBody>
          <a:bodyPr wrap="square" lIns="0" tIns="0" rIns="0" bIns="0" rtlCol="0" anchor="ctr"/>
          <a:lstStyle/>
          <a:p>
            <a:pPr algn="ctr" indent="0" marL="0">
              <a:buNone/>
            </a:pPr>
            <a:r>
              <a:rPr lang="en-US" sz="1300" b="1" dirty="0">
                <a:solidFill>
                  <a:srgbClr val="0F1215"/>
                </a:solidFill>
              </a:rPr>
              <a:t>3</a:t>
            </a:r>
            <a:endParaRPr lang="en-US" sz="1300" dirty="0"/>
          </a:p>
        </p:txBody>
      </p:sp>
      <p:sp>
        <p:nvSpPr>
          <p:cNvPr id="8" name="clk01_title_65"/>
          <p:cNvSpPr txBox="1"/>
          <p:nvPr/>
        </p:nvSpPr>
        <p:spPr>
          <a:xfrm>
            <a:off x="621792" y="2732227"/>
            <a:ext cx="2286000" cy="384048"/>
          </a:xfrm>
          <a:prstGeom prst="rect">
            <a:avLst/>
          </a:prstGeom>
          <a:noFill/>
          <a:ln/>
        </p:spPr>
        <p:txBody>
          <a:bodyPr wrap="square" lIns="0" tIns="0" rIns="0" bIns="0" rtlCol="0" anchor="ctr"/>
          <a:lstStyle/>
          <a:p>
            <a:pPr indent="0" marL="0">
              <a:buNone/>
            </a:pPr>
            <a:r>
              <a:rPr lang="en-US" sz="1500" b="1" dirty="0">
                <a:solidFill>
                  <a:srgbClr val="FFFFFF"/>
                </a:solidFill>
              </a:rPr>
              <a:t>Airbag (SRS) warning</a:t>
            </a:r>
            <a:endParaRPr lang="en-US" sz="1500" dirty="0"/>
          </a:p>
        </p:txBody>
      </p:sp>
      <p:sp>
        <p:nvSpPr>
          <p:cNvPr id="9" name="clk01_text_66"/>
          <p:cNvSpPr txBox="1"/>
          <p:nvPr/>
        </p:nvSpPr>
        <p:spPr>
          <a:xfrm>
            <a:off x="621792" y="3116275"/>
            <a:ext cx="2286000" cy="1364285"/>
          </a:xfrm>
          <a:prstGeom prst="rect">
            <a:avLst/>
          </a:prstGeom>
          <a:noFill/>
          <a:ln/>
        </p:spPr>
        <p:txBody>
          <a:bodyPr wrap="square" lIns="0" tIns="0" rIns="0" bIns="0" rtlCol="0" anchor="t"/>
          <a:lstStyle/>
          <a:p>
            <a:pPr indent="0" marL="0">
              <a:buNone/>
            </a:pPr>
            <a:r>
              <a:rPr lang="en-US" sz="1200" b="1" dirty="0">
                <a:solidFill>
                  <a:srgbClr val="E53935"/>
                </a:solidFill>
              </a:rPr>
              <a:t>Why it's dangerous</a:t>
            </a:r>
            <a:endParaRPr lang="en-US" sz="1200" dirty="0"/>
          </a:p>
          <a:p>
            <a:pPr indent="0" marL="0">
              <a:buNone/>
            </a:pPr>
            <a:r>
              <a:rPr lang="en-US" sz="1200" dirty="0">
                <a:solidFill>
                  <a:srgbClr val="C9D1DA"/>
                </a:solidFill>
              </a:rPr>
              <a:t>Airbags may not work in a crash.</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2ECC40"/>
                </a:solidFill>
              </a:rPr>
              <a:t>What to do</a:t>
            </a:r>
            <a:endParaRPr lang="en-US" sz="1200" dirty="0"/>
          </a:p>
          <a:p>
            <a:pPr indent="0" marL="0">
              <a:buNone/>
            </a:pPr>
            <a:r>
              <a:rPr lang="en-US" sz="1200" dirty="0">
                <a:solidFill>
                  <a:srgbClr val="C9D1DA"/>
                </a:solidFill>
              </a:rPr>
              <a:t>Report it; get it repaired before use.</a:t>
            </a:r>
            <a:endParaRPr lang="en-US" sz="1200" dirty="0"/>
          </a:p>
        </p:txBody>
      </p:sp>
      <p:sp>
        <p:nvSpPr>
          <p:cNvPr id="10" name="clk02_card_67"/>
          <p:cNvSpPr/>
          <p:nvPr/>
        </p:nvSpPr>
        <p:spPr>
          <a:xfrm>
            <a:off x="3264408" y="960120"/>
            <a:ext cx="2615184" cy="3611880"/>
          </a:xfrm>
          <a:prstGeom prst="roundRect">
            <a:avLst>
              <a:gd name="adj" fmla="val 3497"/>
            </a:avLst>
          </a:prstGeom>
          <a:solidFill>
            <a:srgbClr val="1C2128"/>
          </a:solidFill>
          <a:ln/>
          <a:effectLst>
            <a:outerShdw sx="100000" sy="100000" kx="0" ky="0" algn="bl" rotWithShape="0" blurRad="76200" dist="25400" dir="5400000">
              <a:srgbClr val="000000">
                <a:alpha val="40000"/>
              </a:srgbClr>
            </a:outerShdw>
          </a:effectLst>
        </p:spPr>
      </p:sp>
      <p:pic>
        <p:nvPicPr>
          <p:cNvPr id="11" name="clk02_pic_68" descr="Low tyre pressure">    </p:cNvPr>
          <p:cNvPicPr>
            <a:picLocks noChangeAspect="1"/>
          </p:cNvPicPr>
          <p:nvPr/>
        </p:nvPicPr>
        <p:blipFill>
          <a:blip r:embed="rId2"/>
          <a:srcRect l="0" r="0" t="0" b="0"/>
          <a:stretch/>
        </p:blipFill>
        <p:spPr>
          <a:xfrm>
            <a:off x="3374136" y="1069848"/>
            <a:ext cx="2395728" cy="1589227"/>
          </a:xfrm>
          <a:prstGeom prst="rect">
            <a:avLst/>
          </a:prstGeom>
        </p:spPr>
      </p:pic>
      <p:sp>
        <p:nvSpPr>
          <p:cNvPr id="12" name="clk02_badge_69"/>
          <p:cNvSpPr/>
          <p:nvPr/>
        </p:nvSpPr>
        <p:spPr>
          <a:xfrm>
            <a:off x="3447288" y="1143000"/>
            <a:ext cx="347472" cy="347472"/>
          </a:xfrm>
          <a:prstGeom prst="ellipse">
            <a:avLst/>
          </a:prstGeom>
          <a:solidFill>
            <a:srgbClr val="FFB000"/>
          </a:solidFill>
          <a:ln w="19050">
            <a:solidFill>
              <a:srgbClr val="0F1215"/>
            </a:solidFill>
            <a:prstDash val="solid"/>
          </a:ln>
        </p:spPr>
      </p:sp>
      <p:sp>
        <p:nvSpPr>
          <p:cNvPr id="13" name="clk02_num_70"/>
          <p:cNvSpPr txBox="1"/>
          <p:nvPr/>
        </p:nvSpPr>
        <p:spPr>
          <a:xfrm>
            <a:off x="3447288" y="1143000"/>
            <a:ext cx="347472" cy="347472"/>
          </a:xfrm>
          <a:prstGeom prst="rect">
            <a:avLst/>
          </a:prstGeom>
          <a:noFill/>
          <a:ln/>
        </p:spPr>
        <p:txBody>
          <a:bodyPr wrap="square" lIns="0" tIns="0" rIns="0" bIns="0" rtlCol="0" anchor="ctr"/>
          <a:lstStyle/>
          <a:p>
            <a:pPr algn="ctr" indent="0" marL="0">
              <a:buNone/>
            </a:pPr>
            <a:r>
              <a:rPr lang="en-US" sz="1300" b="1" dirty="0">
                <a:solidFill>
                  <a:srgbClr val="0F1215"/>
                </a:solidFill>
              </a:rPr>
              <a:t>4</a:t>
            </a:r>
            <a:endParaRPr lang="en-US" sz="1300" dirty="0"/>
          </a:p>
        </p:txBody>
      </p:sp>
      <p:sp>
        <p:nvSpPr>
          <p:cNvPr id="14" name="clk02_title_71"/>
          <p:cNvSpPr txBox="1"/>
          <p:nvPr/>
        </p:nvSpPr>
        <p:spPr>
          <a:xfrm>
            <a:off x="3429000" y="2732227"/>
            <a:ext cx="2286000" cy="384048"/>
          </a:xfrm>
          <a:prstGeom prst="rect">
            <a:avLst/>
          </a:prstGeom>
          <a:noFill/>
          <a:ln/>
        </p:spPr>
        <p:txBody>
          <a:bodyPr wrap="square" lIns="0" tIns="0" rIns="0" bIns="0" rtlCol="0" anchor="ctr"/>
          <a:lstStyle/>
          <a:p>
            <a:pPr indent="0" marL="0">
              <a:buNone/>
            </a:pPr>
            <a:r>
              <a:rPr lang="en-US" sz="1500" b="1" dirty="0">
                <a:solidFill>
                  <a:srgbClr val="FFFFFF"/>
                </a:solidFill>
              </a:rPr>
              <a:t>Low tyre pressure</a:t>
            </a:r>
            <a:endParaRPr lang="en-US" sz="1500" dirty="0"/>
          </a:p>
        </p:txBody>
      </p:sp>
      <p:sp>
        <p:nvSpPr>
          <p:cNvPr id="15" name="clk02_text_72"/>
          <p:cNvSpPr txBox="1"/>
          <p:nvPr/>
        </p:nvSpPr>
        <p:spPr>
          <a:xfrm>
            <a:off x="3429000" y="3116275"/>
            <a:ext cx="2286000" cy="1364285"/>
          </a:xfrm>
          <a:prstGeom prst="rect">
            <a:avLst/>
          </a:prstGeom>
          <a:noFill/>
          <a:ln/>
        </p:spPr>
        <p:txBody>
          <a:bodyPr wrap="square" lIns="0" tIns="0" rIns="0" bIns="0" rtlCol="0" anchor="t"/>
          <a:lstStyle/>
          <a:p>
            <a:pPr indent="0" marL="0">
              <a:buNone/>
            </a:pPr>
            <a:r>
              <a:rPr lang="en-US" sz="1200" b="1" dirty="0">
                <a:solidFill>
                  <a:srgbClr val="E53935"/>
                </a:solidFill>
              </a:rPr>
              <a:t>Why it's dangerous</a:t>
            </a:r>
            <a:endParaRPr lang="en-US" sz="1200" dirty="0"/>
          </a:p>
          <a:p>
            <a:pPr indent="0" marL="0">
              <a:buNone/>
            </a:pPr>
            <a:r>
              <a:rPr lang="en-US" sz="1200" dirty="0">
                <a:solidFill>
                  <a:srgbClr val="C9D1DA"/>
                </a:solidFill>
              </a:rPr>
              <a:t>Less grip, longer stopping, risk of blow-out.</a:t>
            </a:r>
            <a:endParaRPr lang="en-US" sz="1200" dirty="0"/>
          </a:p>
          <a:p>
            <a:pPr indent="0" marL="0">
              <a:buNone/>
            </a:pPr>
            <a:r>
              <a:rPr lang="en-US" sz="500" dirty="0">
                <a:solidFill>
                  <a:srgbClr val="000000"/>
                </a:solidFill>
              </a:rPr>
              <a:t> </a:t>
            </a:r>
            <a:endParaRPr lang="en-US" sz="1200" dirty="0"/>
          </a:p>
          <a:p>
            <a:pPr indent="0" marL="0">
              <a:buNone/>
            </a:pPr>
            <a:r>
              <a:rPr lang="en-US" sz="1200" b="1" dirty="0">
                <a:solidFill>
                  <a:srgbClr val="2ECC40"/>
                </a:solidFill>
              </a:rPr>
              <a:t>What to do</a:t>
            </a:r>
            <a:endParaRPr lang="en-US" sz="1200" dirty="0"/>
          </a:p>
          <a:p>
            <a:pPr indent="0" marL="0">
              <a:buNone/>
            </a:pPr>
            <a:r>
              <a:rPr lang="en-US" sz="1200" dirty="0">
                <a:solidFill>
                  <a:srgbClr val="C9D1DA"/>
                </a:solidFill>
              </a:rPr>
              <a:t>Slow down, stop safely and check tyres.</a:t>
            </a:r>
            <a:endParaRPr lang="en-US" sz="1200" dirty="0"/>
          </a:p>
        </p:txBody>
      </p:sp>
      <p:sp>
        <p:nvSpPr>
          <p:cNvPr id="16" name="clk03_rulebox"/>
          <p:cNvSpPr/>
          <p:nvPr/>
        </p:nvSpPr>
        <p:spPr>
          <a:xfrm>
            <a:off x="6071616" y="960120"/>
            <a:ext cx="2615184" cy="3611880"/>
          </a:xfrm>
          <a:prstGeom prst="roundRect">
            <a:avLst>
              <a:gd name="adj" fmla="val 3497"/>
            </a:avLst>
          </a:prstGeom>
          <a:solidFill>
            <a:srgbClr val="FFB000"/>
          </a:solidFill>
          <a:ln/>
        </p:spPr>
      </p:sp>
      <p:sp>
        <p:nvSpPr>
          <p:cNvPr id="17" name="clk03_ruletext"/>
          <p:cNvSpPr txBox="1"/>
          <p:nvPr/>
        </p:nvSpPr>
        <p:spPr>
          <a:xfrm>
            <a:off x="6254496" y="1143000"/>
            <a:ext cx="2249424" cy="3246120"/>
          </a:xfrm>
          <a:prstGeom prst="rect">
            <a:avLst/>
          </a:prstGeom>
          <a:noFill/>
          <a:ln/>
        </p:spPr>
        <p:txBody>
          <a:bodyPr wrap="square" lIns="0" tIns="0" rIns="0" bIns="0" rtlCol="0" anchor="t"/>
          <a:lstStyle/>
          <a:p>
            <a:pPr indent="0" marL="0">
              <a:buNone/>
            </a:pPr>
            <a:r>
              <a:rPr lang="en-US" sz="1800" b="1" dirty="0">
                <a:solidFill>
                  <a:srgbClr val="0F1215"/>
                </a:solidFill>
              </a:rPr>
              <a:t>Golden rule</a:t>
            </a:r>
            <a:endParaRPr lang="en-US" sz="1800" dirty="0"/>
          </a:p>
          <a:p>
            <a:pPr indent="0" marL="0">
              <a:buNone/>
            </a:pPr>
            <a:r>
              <a:rPr lang="en-US" sz="800" dirty="0">
                <a:solidFill>
                  <a:srgbClr val="0F1215"/>
                </a:solidFill>
              </a:rPr>
              <a:t> </a:t>
            </a:r>
            <a:endParaRPr lang="en-US" sz="1800" dirty="0"/>
          </a:p>
          <a:p>
            <a:pPr indent="0" marL="0">
              <a:buNone/>
            </a:pPr>
            <a:r>
              <a:rPr lang="en-US" sz="1500" b="1" dirty="0">
                <a:solidFill>
                  <a:srgbClr val="0F1215"/>
                </a:solidFill>
              </a:rPr>
              <a:t>Never ignore a warning light.</a:t>
            </a:r>
            <a:endParaRPr lang="en-US" sz="1800" dirty="0"/>
          </a:p>
          <a:p>
            <a:pPr indent="0" marL="0">
              <a:buNone/>
            </a:pPr>
            <a:r>
              <a:rPr lang="en-US" sz="800" dirty="0">
                <a:solidFill>
                  <a:srgbClr val="0F1215"/>
                </a:solidFill>
              </a:rPr>
              <a:t> </a:t>
            </a:r>
            <a:endParaRPr lang="en-US" sz="1800" dirty="0"/>
          </a:p>
          <a:p>
            <a:pPr indent="0" marL="0">
              <a:buNone/>
            </a:pPr>
            <a:r>
              <a:rPr lang="en-US" sz="1400" dirty="0">
                <a:solidFill>
                  <a:srgbClr val="0F1215"/>
                </a:solidFill>
              </a:rPr>
              <a:t>Check it, report it, and only drive when it is safe.</a:t>
            </a:r>
            <a:endParaRPr lang="en-US" sz="18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9" grpId="0" animBg="1"/>
      <p:bldP spid="10" grpId="0" animBg="1"/>
      <p:bldP spid="12" grpId="0" animBg="1"/>
      <p:bldP spid="13" grpId="0" animBg="1"/>
      <p:bldP spid="14" grpId="0" animBg="1"/>
      <p:bldP spid="15" grpId="0" animBg="1"/>
      <p:bldP spid="16" grpId="0" animBg="1"/>
      <p:bldP spid="1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66928"/>
          </a:xfrm>
          <a:prstGeom prst="rect">
            <a:avLst/>
          </a:prstGeom>
          <a:noFill/>
          <a:ln/>
        </p:spPr>
        <p:txBody>
          <a:bodyPr wrap="square" lIns="0" tIns="0" rIns="0" bIns="0" rtlCol="0" anchor="ctr"/>
          <a:lstStyle/>
          <a:p>
            <a:pPr indent="0" marL="0">
              <a:buNone/>
            </a:pPr>
            <a:r>
              <a:rPr lang="en-US" sz="2600" b="1" dirty="0">
                <a:solidFill>
                  <a:schemeClr val="bg1"/>
                </a:solidFill>
              </a:rPr>
              <a:t>Key Learning Points</a:t>
            </a:r>
            <a:endParaRPr lang="en-US" sz="2600" dirty="0"/>
          </a:p>
        </p:txBody>
      </p:sp>
      <p:sp>
        <p:nvSpPr>
          <p:cNvPr id="4" name="clk01_dot_73"/>
          <p:cNvSpPr/>
          <p:nvPr/>
        </p:nvSpPr>
        <p:spPr>
          <a:xfrm>
            <a:off x="457200" y="1069848"/>
            <a:ext cx="512064" cy="512064"/>
          </a:xfrm>
          <a:prstGeom prst="ellipse">
            <a:avLst/>
          </a:prstGeom>
          <a:solidFill>
            <a:srgbClr val="2ECC40"/>
          </a:solidFill>
          <a:ln/>
        </p:spPr>
      </p:sp>
      <p:sp>
        <p:nvSpPr>
          <p:cNvPr id="5" name="clk01_tick_74"/>
          <p:cNvSpPr txBox="1"/>
          <p:nvPr/>
        </p:nvSpPr>
        <p:spPr>
          <a:xfrm>
            <a:off x="457200" y="1069848"/>
            <a:ext cx="512064" cy="512064"/>
          </a:xfrm>
          <a:prstGeom prst="rect">
            <a:avLst/>
          </a:prstGeom>
          <a:noFill/>
          <a:ln/>
        </p:spPr>
        <p:txBody>
          <a:bodyPr wrap="square" lIns="0" tIns="0" rIns="0" bIns="0" rtlCol="0" anchor="ctr"/>
          <a:lstStyle/>
          <a:p>
            <a:pPr algn="ctr" indent="0" marL="0">
              <a:buNone/>
            </a:pPr>
            <a:r>
              <a:rPr lang="en-US" sz="1800" b="1" dirty="0">
                <a:solidFill>
                  <a:srgbClr val="0F1215"/>
                </a:solidFill>
              </a:rPr>
              <a:t>✓</a:t>
            </a:r>
            <a:endParaRPr lang="en-US" sz="1800" dirty="0"/>
          </a:p>
        </p:txBody>
      </p:sp>
      <p:sp>
        <p:nvSpPr>
          <p:cNvPr id="6" name="clk01_t_75"/>
          <p:cNvSpPr txBox="1"/>
          <p:nvPr/>
        </p:nvSpPr>
        <p:spPr>
          <a:xfrm>
            <a:off x="1143000" y="960120"/>
            <a:ext cx="4023360" cy="731520"/>
          </a:xfrm>
          <a:prstGeom prst="rect">
            <a:avLst/>
          </a:prstGeom>
          <a:noFill/>
          <a:ln/>
        </p:spPr>
        <p:txBody>
          <a:bodyPr wrap="square" lIns="0" tIns="0" rIns="0" bIns="0" rtlCol="0" anchor="ctr"/>
          <a:lstStyle/>
          <a:p>
            <a:pPr indent="0" marL="0">
              <a:buNone/>
            </a:pPr>
            <a:r>
              <a:rPr lang="en-US" sz="1600" b="1" dirty="0">
                <a:solidFill>
                  <a:srgbClr val="FFFFFF"/>
                </a:solidFill>
              </a:rPr>
              <a:t>Phone away before you start the engine</a:t>
            </a:r>
            <a:endParaRPr lang="en-US" sz="1600" dirty="0"/>
          </a:p>
        </p:txBody>
      </p:sp>
      <p:sp>
        <p:nvSpPr>
          <p:cNvPr id="7" name="clk02_dot_76"/>
          <p:cNvSpPr/>
          <p:nvPr/>
        </p:nvSpPr>
        <p:spPr>
          <a:xfrm>
            <a:off x="457200" y="1938528"/>
            <a:ext cx="512064" cy="512064"/>
          </a:xfrm>
          <a:prstGeom prst="ellipse">
            <a:avLst/>
          </a:prstGeom>
          <a:solidFill>
            <a:srgbClr val="2ECC40"/>
          </a:solidFill>
          <a:ln/>
        </p:spPr>
      </p:sp>
      <p:sp>
        <p:nvSpPr>
          <p:cNvPr id="8" name="clk02_tick_77"/>
          <p:cNvSpPr txBox="1"/>
          <p:nvPr/>
        </p:nvSpPr>
        <p:spPr>
          <a:xfrm>
            <a:off x="457200" y="1938528"/>
            <a:ext cx="512064" cy="512064"/>
          </a:xfrm>
          <a:prstGeom prst="rect">
            <a:avLst/>
          </a:prstGeom>
          <a:noFill/>
          <a:ln/>
        </p:spPr>
        <p:txBody>
          <a:bodyPr wrap="square" lIns="0" tIns="0" rIns="0" bIns="0" rtlCol="0" anchor="ctr"/>
          <a:lstStyle/>
          <a:p>
            <a:pPr algn="ctr" indent="0" marL="0">
              <a:buNone/>
            </a:pPr>
            <a:r>
              <a:rPr lang="en-US" sz="1800" b="1" dirty="0">
                <a:solidFill>
                  <a:srgbClr val="0F1215"/>
                </a:solidFill>
              </a:rPr>
              <a:t>✓</a:t>
            </a:r>
            <a:endParaRPr lang="en-US" sz="1800" dirty="0"/>
          </a:p>
        </p:txBody>
      </p:sp>
      <p:sp>
        <p:nvSpPr>
          <p:cNvPr id="9" name="clk02_t_78"/>
          <p:cNvSpPr txBox="1"/>
          <p:nvPr/>
        </p:nvSpPr>
        <p:spPr>
          <a:xfrm>
            <a:off x="1143000" y="1828800"/>
            <a:ext cx="4023360" cy="731520"/>
          </a:xfrm>
          <a:prstGeom prst="rect">
            <a:avLst/>
          </a:prstGeom>
          <a:noFill/>
          <a:ln/>
        </p:spPr>
        <p:txBody>
          <a:bodyPr wrap="square" lIns="0" tIns="0" rIns="0" bIns="0" rtlCol="0" anchor="ctr"/>
          <a:lstStyle/>
          <a:p>
            <a:pPr indent="0" marL="0">
              <a:buNone/>
            </a:pPr>
            <a:r>
              <a:rPr lang="en-US" sz="1600" b="1" dirty="0">
                <a:solidFill>
                  <a:srgbClr val="FFFFFF"/>
                </a:solidFill>
              </a:rPr>
              <a:t>Seatbelt on before the vehicle moves</a:t>
            </a:r>
            <a:endParaRPr lang="en-US" sz="1600" dirty="0"/>
          </a:p>
        </p:txBody>
      </p:sp>
      <p:sp>
        <p:nvSpPr>
          <p:cNvPr id="10" name="clk03_dot_79"/>
          <p:cNvSpPr/>
          <p:nvPr/>
        </p:nvSpPr>
        <p:spPr>
          <a:xfrm>
            <a:off x="457200" y="2807208"/>
            <a:ext cx="512064" cy="512064"/>
          </a:xfrm>
          <a:prstGeom prst="ellipse">
            <a:avLst/>
          </a:prstGeom>
          <a:solidFill>
            <a:srgbClr val="2ECC40"/>
          </a:solidFill>
          <a:ln/>
        </p:spPr>
      </p:sp>
      <p:sp>
        <p:nvSpPr>
          <p:cNvPr id="11" name="clk03_tick_80"/>
          <p:cNvSpPr txBox="1"/>
          <p:nvPr/>
        </p:nvSpPr>
        <p:spPr>
          <a:xfrm>
            <a:off x="457200" y="2807208"/>
            <a:ext cx="512064" cy="512064"/>
          </a:xfrm>
          <a:prstGeom prst="rect">
            <a:avLst/>
          </a:prstGeom>
          <a:noFill/>
          <a:ln/>
        </p:spPr>
        <p:txBody>
          <a:bodyPr wrap="square" lIns="0" tIns="0" rIns="0" bIns="0" rtlCol="0" anchor="ctr"/>
          <a:lstStyle/>
          <a:p>
            <a:pPr algn="ctr" indent="0" marL="0">
              <a:buNone/>
            </a:pPr>
            <a:r>
              <a:rPr lang="en-US" sz="1800" b="1" dirty="0">
                <a:solidFill>
                  <a:srgbClr val="0F1215"/>
                </a:solidFill>
              </a:rPr>
              <a:t>✓</a:t>
            </a:r>
            <a:endParaRPr lang="en-US" sz="1800" dirty="0"/>
          </a:p>
        </p:txBody>
      </p:sp>
      <p:sp>
        <p:nvSpPr>
          <p:cNvPr id="12" name="clk03_t_81"/>
          <p:cNvSpPr txBox="1"/>
          <p:nvPr/>
        </p:nvSpPr>
        <p:spPr>
          <a:xfrm>
            <a:off x="1143000" y="2697480"/>
            <a:ext cx="4023360" cy="731520"/>
          </a:xfrm>
          <a:prstGeom prst="rect">
            <a:avLst/>
          </a:prstGeom>
          <a:noFill/>
          <a:ln/>
        </p:spPr>
        <p:txBody>
          <a:bodyPr wrap="square" lIns="0" tIns="0" rIns="0" bIns="0" rtlCol="0" anchor="ctr"/>
          <a:lstStyle/>
          <a:p>
            <a:pPr indent="0" marL="0">
              <a:buNone/>
            </a:pPr>
            <a:r>
              <a:rPr lang="en-US" sz="1600" b="1" dirty="0">
                <a:solidFill>
                  <a:srgbClr val="FFFFFF"/>
                </a:solidFill>
              </a:rPr>
              <a:t>Slow down early for gates, barriers and STOP signs</a:t>
            </a:r>
            <a:endParaRPr lang="en-US" sz="1600" dirty="0"/>
          </a:p>
        </p:txBody>
      </p:sp>
      <p:sp>
        <p:nvSpPr>
          <p:cNvPr id="13" name="clk04_dot_82"/>
          <p:cNvSpPr/>
          <p:nvPr/>
        </p:nvSpPr>
        <p:spPr>
          <a:xfrm>
            <a:off x="457200" y="3675888"/>
            <a:ext cx="512064" cy="512064"/>
          </a:xfrm>
          <a:prstGeom prst="ellipse">
            <a:avLst/>
          </a:prstGeom>
          <a:solidFill>
            <a:srgbClr val="2ECC40"/>
          </a:solidFill>
          <a:ln/>
        </p:spPr>
      </p:sp>
      <p:sp>
        <p:nvSpPr>
          <p:cNvPr id="14" name="clk04_tick_83"/>
          <p:cNvSpPr txBox="1"/>
          <p:nvPr/>
        </p:nvSpPr>
        <p:spPr>
          <a:xfrm>
            <a:off x="457200" y="3675888"/>
            <a:ext cx="512064" cy="512064"/>
          </a:xfrm>
          <a:prstGeom prst="rect">
            <a:avLst/>
          </a:prstGeom>
          <a:noFill/>
          <a:ln/>
        </p:spPr>
        <p:txBody>
          <a:bodyPr wrap="square" lIns="0" tIns="0" rIns="0" bIns="0" rtlCol="0" anchor="ctr"/>
          <a:lstStyle/>
          <a:p>
            <a:pPr algn="ctr" indent="0" marL="0">
              <a:buNone/>
            </a:pPr>
            <a:r>
              <a:rPr lang="en-US" sz="1800" b="1" dirty="0">
                <a:solidFill>
                  <a:srgbClr val="0F1215"/>
                </a:solidFill>
              </a:rPr>
              <a:t>✓</a:t>
            </a:r>
            <a:endParaRPr lang="en-US" sz="1800" dirty="0"/>
          </a:p>
        </p:txBody>
      </p:sp>
      <p:sp>
        <p:nvSpPr>
          <p:cNvPr id="15" name="clk04_t_84"/>
          <p:cNvSpPr txBox="1"/>
          <p:nvPr/>
        </p:nvSpPr>
        <p:spPr>
          <a:xfrm>
            <a:off x="1143000" y="3566160"/>
            <a:ext cx="4023360" cy="731520"/>
          </a:xfrm>
          <a:prstGeom prst="rect">
            <a:avLst/>
          </a:prstGeom>
          <a:noFill/>
          <a:ln/>
        </p:spPr>
        <p:txBody>
          <a:bodyPr wrap="square" lIns="0" tIns="0" rIns="0" bIns="0" rtlCol="0" anchor="ctr"/>
          <a:lstStyle/>
          <a:p>
            <a:pPr indent="0" marL="0">
              <a:buNone/>
            </a:pPr>
            <a:r>
              <a:rPr lang="en-US" sz="1600" b="1" dirty="0">
                <a:solidFill>
                  <a:srgbClr val="FFFFFF"/>
                </a:solidFill>
              </a:rPr>
              <a:t>Warning light on? Check, report, then decide</a:t>
            </a:r>
            <a:endParaRPr lang="en-US" sz="1600" dirty="0"/>
          </a:p>
        </p:txBody>
      </p:sp>
      <p:sp>
        <p:nvSpPr>
          <p:cNvPr id="16" name="clk05_discussbox"/>
          <p:cNvSpPr/>
          <p:nvPr/>
        </p:nvSpPr>
        <p:spPr>
          <a:xfrm>
            <a:off x="5486400" y="960120"/>
            <a:ext cx="3200400" cy="3429000"/>
          </a:xfrm>
          <a:prstGeom prst="roundRect">
            <a:avLst>
              <a:gd name="adj" fmla="val 2857"/>
            </a:avLst>
          </a:prstGeom>
          <a:solidFill>
            <a:srgbClr val="1C2128"/>
          </a:solidFill>
          <a:ln/>
        </p:spPr>
      </p:sp>
      <p:sp>
        <p:nvSpPr>
          <p:cNvPr id="17" name="clk05_discusstext"/>
          <p:cNvSpPr txBox="1"/>
          <p:nvPr/>
        </p:nvSpPr>
        <p:spPr>
          <a:xfrm>
            <a:off x="5669280" y="1097280"/>
            <a:ext cx="2834640" cy="3154680"/>
          </a:xfrm>
          <a:prstGeom prst="rect">
            <a:avLst/>
          </a:prstGeom>
          <a:noFill/>
          <a:ln/>
        </p:spPr>
        <p:txBody>
          <a:bodyPr wrap="square" lIns="0" tIns="0" rIns="0" bIns="0" rtlCol="0" anchor="t"/>
          <a:lstStyle/>
          <a:p>
            <a:pPr indent="0" marL="0">
              <a:spcAft>
                <a:spcPts val="800"/>
              </a:spcAft>
              <a:buNone/>
            </a:pPr>
            <a:r>
              <a:rPr lang="en-US" sz="1800" b="1" dirty="0">
                <a:solidFill>
                  <a:srgbClr val="FFB000"/>
                </a:solidFill>
              </a:rPr>
              <a:t>Discuss</a:t>
            </a:r>
            <a:endParaRPr lang="en-US" sz="1400" dirty="0"/>
          </a:p>
          <a:p>
            <a:pPr indent="0" marL="0">
              <a:spcAft>
                <a:spcPts val="800"/>
              </a:spcAft>
              <a:buNone/>
            </a:pPr>
            <a:r>
              <a:rPr lang="en-US" sz="600" dirty="0">
                <a:solidFill>
                  <a:srgbClr val="FFFFFF"/>
                </a:solidFill>
              </a:rPr>
              <a:t> </a:t>
            </a:r>
            <a:endParaRPr lang="en-US" sz="1400" dirty="0"/>
          </a:p>
          <a:p>
            <a:pPr marL="342900" indent="-342900">
              <a:spcAft>
                <a:spcPts val="800"/>
              </a:spcAft>
              <a:buSzPct val="100000"/>
              <a:buChar char="•"/>
            </a:pPr>
            <a:r>
              <a:rPr lang="en-US" sz="1400" dirty="0">
                <a:solidFill>
                  <a:srgbClr val="FFFFFF"/>
                </a:solidFill>
              </a:rPr>
              <a:t>Which of the 5 hazards do you see most often?</a:t>
            </a:r>
            <a:endParaRPr lang="en-US" sz="1400" dirty="0"/>
          </a:p>
          <a:p>
            <a:pPr marL="342900" indent="-342900">
              <a:spcAft>
                <a:spcPts val="800"/>
              </a:spcAft>
              <a:buSzPct val="100000"/>
              <a:buChar char="•"/>
            </a:pPr>
            <a:r>
              <a:rPr lang="en-US" sz="1400" dirty="0">
                <a:solidFill>
                  <a:srgbClr val="FFFFFF"/>
                </a:solidFill>
              </a:rPr>
              <a:t>What makes people check their phone while driving?</a:t>
            </a:r>
            <a:endParaRPr lang="en-US" sz="1400" dirty="0"/>
          </a:p>
          <a:p>
            <a:pPr marL="342900" indent="-342900">
              <a:spcAft>
                <a:spcPts val="800"/>
              </a:spcAft>
              <a:buSzPct val="100000"/>
              <a:buChar char="•"/>
            </a:pPr>
            <a:r>
              <a:rPr lang="en-US" sz="1400" dirty="0">
                <a:solidFill>
                  <a:srgbClr val="FFFFFF"/>
                </a:solidFill>
              </a:rPr>
              <a:t>Who do you report a warning light to?</a:t>
            </a:r>
            <a:endParaRPr lang="en-US" sz="1400" dirty="0"/>
          </a:p>
        </p:txBody>
      </p:sp>
      <p:sp>
        <p:nvSpPr>
          <p:cNvPr id="25" name="Slide Number Placeholder 0"/>
          <p:cNvSpPr>
            <a:spLocks noGrp="1"/>
          </p:cNvSpPr>
          <p:nvPr>
            <p:ph type="sldNum" sz="quarter" idx="4294967295"/>
          </p:nvPr>
        </p:nvSpPr>
        <p:spPr>
          <a:xfrm>
            <a:off x="8275320" y="4818888"/>
            <a:ext cx="41148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8A939E"/>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5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5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par>
                    <p:cTn id="45" fill="hold">
                      <p:stCondLst>
                        <p:cond delay="indefinite"/>
                      </p:stCondLst>
                      <p:childTnLst>
                        <p:par>
                          <p:cTn id="46"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theme/theme1.xml><?xml version="1.0" encoding="utf-8"?>
<a:theme xmlns:a="http://schemas.openxmlformats.org/drawingml/2006/main" name="Automotive Safety">
  <a:themeElements>
    <a:clrScheme name="Automotive Safety">
      <a:dk1>
        <a:srgbClr val="0F1215"/>
      </a:dk1>
      <a:lt1>
        <a:srgbClr val="FFFFFF"/>
      </a:lt1>
      <a:dk2>
        <a:srgbClr val="1C2128"/>
      </a:dk2>
      <a:lt2>
        <a:srgbClr val="C9D1DA"/>
      </a:lt2>
      <a:accent1>
        <a:srgbClr val="FFB000"/>
      </a:accent1>
      <a:accent2>
        <a:srgbClr val="E53935"/>
      </a:accent2>
      <a:accent3>
        <a:srgbClr val="2ECC40"/>
      </a:accent3>
      <a:accent4>
        <a:srgbClr val="2F80FF"/>
      </a:accent4>
      <a:accent5>
        <a:srgbClr val="8A939E"/>
      </a:accent5>
      <a:accent6>
        <a:srgbClr val="00B3A4"/>
      </a:accent6>
      <a:hlink>
        <a:srgbClr val="FFB000"/>
      </a:hlink>
      <a:folHlink>
        <a:srgbClr val="C9D1DA"/>
      </a:folHlink>
    </a:clrScheme>
    <a:fontScheme name="Automotive Safet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Hazard Identification – Version A</dc:title>
  <dc:subject>PptxGenJS Presentation</dc:subject>
  <dc:creator>Automotive Safety Toolbox Talk</dc:creator>
  <cp:lastModifiedBy>Automotive Safety Toolbox Talk</cp:lastModifiedBy>
  <cp:revision>1</cp:revision>
  <dcterms:created xsi:type="dcterms:W3CDTF">2026-10-15T04:43:50Z</dcterms:created>
  <dcterms:modified xsi:type="dcterms:W3CDTF">2026-10-15T04:43:50Z</dcterms:modified>
</cp:coreProperties>
</file>