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Colour rule: RED = stop safely as soon as possible; AMBER = get it checked soon; GREEN/BLUE = information only (a system is switched on).
- Click 1 rings the five RED lights in the picture (oil pressure, engine temperature, brake system, airbag, battery). Click 2 rings the three AMBER lights (tyre pressure, ABS, check engine).
- A FLASHING check-engine light usually means a serious misfire – reduce speed and stop safely. With the ABS light on, normal braking still works but without anti-lock.
- Symbols and colours vary by manufacturer – always confirm in the vehicle handbook. Numbers 1–64 match the picture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20040" y="228600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Dashboard Warning Lights: Complete Reference</a:t>
            </a:r>
            <a:endParaRPr lang="en-US" sz="3000" dirty="0"/>
          </a:p>
        </p:txBody>
      </p:sp>
      <p:sp>
        <p:nvSpPr>
          <p:cNvPr id="3" name="chip0"/>
          <p:cNvSpPr/>
          <p:nvPr/>
        </p:nvSpPr>
        <p:spPr>
          <a:xfrm>
            <a:off x="320040" y="914400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1C2129"/>
          </a:solidFill>
          <a:ln w="15875">
            <a:solidFill>
              <a:srgbClr val="E53935"/>
            </a:solidFill>
            <a:prstDash val="solid"/>
          </a:ln>
        </p:spPr>
      </p:sp>
      <p:sp>
        <p:nvSpPr>
          <p:cNvPr id="4" name="chip0_t"/>
          <p:cNvSpPr txBox="1"/>
          <p:nvPr/>
        </p:nvSpPr>
        <p:spPr>
          <a:xfrm>
            <a:off x="457200" y="9144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</a:rPr>
              <a:t>RED  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</a:rPr>
              <a:t>Stop safely as soon as possible</a:t>
            </a:r>
            <a:endParaRPr lang="en-US" sz="1200" dirty="0"/>
          </a:p>
        </p:txBody>
      </p:sp>
      <p:sp>
        <p:nvSpPr>
          <p:cNvPr id="5" name="chip1"/>
          <p:cNvSpPr/>
          <p:nvPr/>
        </p:nvSpPr>
        <p:spPr>
          <a:xfrm>
            <a:off x="3383280" y="914400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1C2129"/>
          </a:solidFill>
          <a:ln w="15875">
            <a:solidFill>
              <a:srgbClr val="FFB300"/>
            </a:solidFill>
            <a:prstDash val="solid"/>
          </a:ln>
        </p:spPr>
      </p:sp>
      <p:sp>
        <p:nvSpPr>
          <p:cNvPr id="6" name="chip1_t"/>
          <p:cNvSpPr txBox="1"/>
          <p:nvPr/>
        </p:nvSpPr>
        <p:spPr>
          <a:xfrm>
            <a:off x="3520440" y="9144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</a:rPr>
              <a:t>AMBER  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</a:rPr>
              <a:t>Get it checked soon</a:t>
            </a:r>
            <a:endParaRPr lang="en-US" sz="1200" dirty="0"/>
          </a:p>
        </p:txBody>
      </p:sp>
      <p:sp>
        <p:nvSpPr>
          <p:cNvPr id="7" name="chip2"/>
          <p:cNvSpPr/>
          <p:nvPr/>
        </p:nvSpPr>
        <p:spPr>
          <a:xfrm>
            <a:off x="6446520" y="914400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1C2129"/>
          </a:solidFill>
          <a:ln w="15875">
            <a:solidFill>
              <a:srgbClr val="2E9E4F"/>
            </a:solidFill>
            <a:prstDash val="solid"/>
          </a:ln>
        </p:spPr>
      </p:sp>
      <p:sp>
        <p:nvSpPr>
          <p:cNvPr id="8" name="chip2_t"/>
          <p:cNvSpPr txBox="1"/>
          <p:nvPr/>
        </p:nvSpPr>
        <p:spPr>
          <a:xfrm>
            <a:off x="6583680" y="9144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4F"/>
                </a:solidFill>
              </a:rPr>
              <a:t>GREEN / BLUE  </a:t>
            </a:r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</a:rPr>
              <a:t>Information only</a:t>
            </a:r>
            <a:endParaRPr lang="en-US" sz="1200" dirty="0"/>
          </a:p>
        </p:txBody>
      </p:sp>
      <p:pic>
        <p:nvPicPr>
          <p:cNvPr id="9" name="dash_img" descr="/tmp/claude-0/-home-user-test/b147fb9c-d80f-57d3-b14e-d3056e2b7576/scratchpad/dash/dash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17320"/>
            <a:ext cx="6492240" cy="3353726"/>
          </a:xfrm>
          <a:prstGeom prst="rect">
            <a:avLst/>
          </a:prstGeom>
        </p:spPr>
      </p:pic>
      <p:sp>
        <p:nvSpPr>
          <p:cNvPr id="10" name="R0_ring"/>
          <p:cNvSpPr/>
          <p:nvPr/>
        </p:nvSpPr>
        <p:spPr>
          <a:xfrm>
            <a:off x="974644" y="3058314"/>
            <a:ext cx="520097" cy="520097"/>
          </a:xfrm>
          <a:prstGeom prst="ellipse">
            <a:avLst/>
          </a:prstGeom>
          <a:ln w="38100">
            <a:solidFill>
              <a:srgbClr val="E53935"/>
            </a:solidFill>
            <a:prstDash val="solid"/>
          </a:ln>
        </p:spPr>
      </p:sp>
      <p:sp>
        <p:nvSpPr>
          <p:cNvPr id="11" name="R0_tag"/>
          <p:cNvSpPr/>
          <p:nvPr/>
        </p:nvSpPr>
        <p:spPr>
          <a:xfrm>
            <a:off x="1079245" y="2866290"/>
            <a:ext cx="310896" cy="173736"/>
          </a:xfrm>
          <a:prstGeom prst="roundRect">
            <a:avLst>
              <a:gd name="adj" fmla="val 4736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2" name="R0_tag_t"/>
          <p:cNvSpPr txBox="1"/>
          <p:nvPr/>
        </p:nvSpPr>
        <p:spPr>
          <a:xfrm>
            <a:off x="1079245" y="2866290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57</a:t>
            </a:r>
            <a:endParaRPr lang="en-US" sz="900" dirty="0"/>
          </a:p>
        </p:txBody>
      </p:sp>
      <p:sp>
        <p:nvSpPr>
          <p:cNvPr id="13" name="R1_ring"/>
          <p:cNvSpPr/>
          <p:nvPr/>
        </p:nvSpPr>
        <p:spPr>
          <a:xfrm>
            <a:off x="3395784" y="3614280"/>
            <a:ext cx="448359" cy="448359"/>
          </a:xfrm>
          <a:prstGeom prst="ellipse">
            <a:avLst/>
          </a:prstGeom>
          <a:ln w="38100">
            <a:solidFill>
              <a:srgbClr val="E53935"/>
            </a:solidFill>
            <a:prstDash val="solid"/>
          </a:ln>
        </p:spPr>
      </p:sp>
      <p:sp>
        <p:nvSpPr>
          <p:cNvPr id="14" name="R1_tag"/>
          <p:cNvSpPr/>
          <p:nvPr/>
        </p:nvSpPr>
        <p:spPr>
          <a:xfrm>
            <a:off x="3464515" y="3422256"/>
            <a:ext cx="310896" cy="173736"/>
          </a:xfrm>
          <a:prstGeom prst="roundRect">
            <a:avLst>
              <a:gd name="adj" fmla="val 4736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R1_tag_t"/>
          <p:cNvSpPr txBox="1"/>
          <p:nvPr/>
        </p:nvSpPr>
        <p:spPr>
          <a:xfrm>
            <a:off x="3464515" y="3422256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48</a:t>
            </a:r>
            <a:endParaRPr lang="en-US" sz="900" dirty="0"/>
          </a:p>
        </p:txBody>
      </p:sp>
      <p:sp>
        <p:nvSpPr>
          <p:cNvPr id="16" name="R2_ring"/>
          <p:cNvSpPr/>
          <p:nvPr/>
        </p:nvSpPr>
        <p:spPr>
          <a:xfrm>
            <a:off x="4516681" y="2600988"/>
            <a:ext cx="466293" cy="466293"/>
          </a:xfrm>
          <a:prstGeom prst="ellipse">
            <a:avLst/>
          </a:prstGeom>
          <a:ln w="38100">
            <a:solidFill>
              <a:srgbClr val="E53935"/>
            </a:solidFill>
            <a:prstDash val="solid"/>
          </a:ln>
        </p:spPr>
      </p:sp>
      <p:sp>
        <p:nvSpPr>
          <p:cNvPr id="17" name="R2_tag"/>
          <p:cNvSpPr/>
          <p:nvPr/>
        </p:nvSpPr>
        <p:spPr>
          <a:xfrm>
            <a:off x="4594380" y="2408964"/>
            <a:ext cx="310896" cy="173736"/>
          </a:xfrm>
          <a:prstGeom prst="roundRect">
            <a:avLst>
              <a:gd name="adj" fmla="val 4736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R2_tag_t"/>
          <p:cNvSpPr txBox="1"/>
          <p:nvPr/>
        </p:nvSpPr>
        <p:spPr>
          <a:xfrm>
            <a:off x="4594380" y="2408964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40</a:t>
            </a:r>
            <a:endParaRPr lang="en-US" sz="900" dirty="0"/>
          </a:p>
        </p:txBody>
      </p:sp>
      <p:sp>
        <p:nvSpPr>
          <p:cNvPr id="19" name="R3_ring"/>
          <p:cNvSpPr/>
          <p:nvPr/>
        </p:nvSpPr>
        <p:spPr>
          <a:xfrm>
            <a:off x="4140060" y="2618922"/>
            <a:ext cx="430425" cy="430425"/>
          </a:xfrm>
          <a:prstGeom prst="ellipse">
            <a:avLst/>
          </a:prstGeom>
          <a:ln w="38100">
            <a:solidFill>
              <a:srgbClr val="E53935"/>
            </a:solidFill>
            <a:prstDash val="solid"/>
          </a:ln>
        </p:spPr>
      </p:sp>
      <p:sp>
        <p:nvSpPr>
          <p:cNvPr id="20" name="R3_tag"/>
          <p:cNvSpPr/>
          <p:nvPr/>
        </p:nvSpPr>
        <p:spPr>
          <a:xfrm>
            <a:off x="4199824" y="2426898"/>
            <a:ext cx="310896" cy="173736"/>
          </a:xfrm>
          <a:prstGeom prst="roundRect">
            <a:avLst>
              <a:gd name="adj" fmla="val 4736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R3_tag_t"/>
          <p:cNvSpPr txBox="1"/>
          <p:nvPr/>
        </p:nvSpPr>
        <p:spPr>
          <a:xfrm>
            <a:off x="4199824" y="242689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39</a:t>
            </a:r>
            <a:endParaRPr lang="en-US" sz="900" dirty="0"/>
          </a:p>
        </p:txBody>
      </p:sp>
      <p:sp>
        <p:nvSpPr>
          <p:cNvPr id="22" name="R4_ring"/>
          <p:cNvSpPr/>
          <p:nvPr/>
        </p:nvSpPr>
        <p:spPr>
          <a:xfrm>
            <a:off x="5969365" y="2080891"/>
            <a:ext cx="466293" cy="466293"/>
          </a:xfrm>
          <a:prstGeom prst="ellipse">
            <a:avLst/>
          </a:prstGeom>
          <a:ln w="38100">
            <a:solidFill>
              <a:srgbClr val="E53935"/>
            </a:solidFill>
            <a:prstDash val="solid"/>
          </a:ln>
        </p:spPr>
      </p:sp>
      <p:sp>
        <p:nvSpPr>
          <p:cNvPr id="23" name="R4_tag"/>
          <p:cNvSpPr/>
          <p:nvPr/>
        </p:nvSpPr>
        <p:spPr>
          <a:xfrm>
            <a:off x="6047064" y="1888867"/>
            <a:ext cx="310896" cy="173736"/>
          </a:xfrm>
          <a:prstGeom prst="roundRect">
            <a:avLst>
              <a:gd name="adj" fmla="val 4736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4" name="R4_tag_t"/>
          <p:cNvSpPr txBox="1"/>
          <p:nvPr/>
        </p:nvSpPr>
        <p:spPr>
          <a:xfrm>
            <a:off x="6047064" y="1888867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32</a:t>
            </a:r>
            <a:endParaRPr lang="en-US" sz="900" dirty="0"/>
          </a:p>
        </p:txBody>
      </p:sp>
      <p:sp>
        <p:nvSpPr>
          <p:cNvPr id="25" name="A5_ring"/>
          <p:cNvSpPr/>
          <p:nvPr/>
        </p:nvSpPr>
        <p:spPr>
          <a:xfrm>
            <a:off x="1826527" y="2045023"/>
            <a:ext cx="466293" cy="466293"/>
          </a:xfrm>
          <a:prstGeom prst="ellipse">
            <a:avLst/>
          </a:prstGeom>
          <a:ln w="38100">
            <a:solidFill>
              <a:srgbClr val="FFB300"/>
            </a:solidFill>
            <a:prstDash val="solid"/>
          </a:ln>
        </p:spPr>
      </p:sp>
      <p:sp>
        <p:nvSpPr>
          <p:cNvPr id="26" name="A5_tag"/>
          <p:cNvSpPr/>
          <p:nvPr/>
        </p:nvSpPr>
        <p:spPr>
          <a:xfrm>
            <a:off x="1904225" y="1852999"/>
            <a:ext cx="310896" cy="173736"/>
          </a:xfrm>
          <a:prstGeom prst="roundRect">
            <a:avLst>
              <a:gd name="adj" fmla="val 47368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7" name="A5_tag_t"/>
          <p:cNvSpPr txBox="1"/>
          <p:nvPr/>
        </p:nvSpPr>
        <p:spPr>
          <a:xfrm>
            <a:off x="1904225" y="1852999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21</a:t>
            </a:r>
            <a:endParaRPr lang="en-US" sz="900" dirty="0"/>
          </a:p>
        </p:txBody>
      </p:sp>
      <p:sp>
        <p:nvSpPr>
          <p:cNvPr id="28" name="A6_ring"/>
          <p:cNvSpPr/>
          <p:nvPr/>
        </p:nvSpPr>
        <p:spPr>
          <a:xfrm>
            <a:off x="3808274" y="3632214"/>
            <a:ext cx="412490" cy="412490"/>
          </a:xfrm>
          <a:prstGeom prst="ellipse">
            <a:avLst/>
          </a:prstGeom>
          <a:ln w="38100">
            <a:solidFill>
              <a:srgbClr val="FFB300"/>
            </a:solidFill>
            <a:prstDash val="solid"/>
          </a:ln>
        </p:spPr>
      </p:sp>
      <p:sp>
        <p:nvSpPr>
          <p:cNvPr id="29" name="A6_tag"/>
          <p:cNvSpPr/>
          <p:nvPr/>
        </p:nvSpPr>
        <p:spPr>
          <a:xfrm>
            <a:off x="3859071" y="3440190"/>
            <a:ext cx="310896" cy="173736"/>
          </a:xfrm>
          <a:prstGeom prst="roundRect">
            <a:avLst>
              <a:gd name="adj" fmla="val 47368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A6_tag_t"/>
          <p:cNvSpPr txBox="1"/>
          <p:nvPr/>
        </p:nvSpPr>
        <p:spPr>
          <a:xfrm>
            <a:off x="3859071" y="3440190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49</a:t>
            </a:r>
            <a:endParaRPr lang="en-US" sz="900" dirty="0"/>
          </a:p>
        </p:txBody>
      </p:sp>
      <p:sp>
        <p:nvSpPr>
          <p:cNvPr id="31" name="A7_ring"/>
          <p:cNvSpPr/>
          <p:nvPr/>
        </p:nvSpPr>
        <p:spPr>
          <a:xfrm>
            <a:off x="5673448" y="3183855"/>
            <a:ext cx="484228" cy="484228"/>
          </a:xfrm>
          <a:prstGeom prst="ellipse">
            <a:avLst/>
          </a:prstGeom>
          <a:ln w="38100">
            <a:solidFill>
              <a:srgbClr val="FFB300"/>
            </a:solidFill>
            <a:prstDash val="solid"/>
          </a:ln>
        </p:spPr>
      </p:sp>
      <p:sp>
        <p:nvSpPr>
          <p:cNvPr id="32" name="A7_tag"/>
          <p:cNvSpPr/>
          <p:nvPr/>
        </p:nvSpPr>
        <p:spPr>
          <a:xfrm>
            <a:off x="5760114" y="2991831"/>
            <a:ext cx="310896" cy="173736"/>
          </a:xfrm>
          <a:prstGeom prst="roundRect">
            <a:avLst>
              <a:gd name="adj" fmla="val 47368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3" name="A7_tag_t"/>
          <p:cNvSpPr txBox="1"/>
          <p:nvPr/>
        </p:nvSpPr>
        <p:spPr>
          <a:xfrm>
            <a:off x="5760114" y="2991831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62</a:t>
            </a:r>
            <a:endParaRPr lang="en-US" sz="900" dirty="0"/>
          </a:p>
        </p:txBody>
      </p:sp>
      <p:sp>
        <p:nvSpPr>
          <p:cNvPr id="34" name="R0_card"/>
          <p:cNvSpPr/>
          <p:nvPr/>
        </p:nvSpPr>
        <p:spPr>
          <a:xfrm>
            <a:off x="320040" y="4953926"/>
            <a:ext cx="1540764" cy="749808"/>
          </a:xfrm>
          <a:prstGeom prst="roundRect">
            <a:avLst>
              <a:gd name="adj" fmla="val 9756"/>
            </a:avLst>
          </a:prstGeom>
          <a:solidFill>
            <a:srgbClr val="1C2129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35" name="R0_cn"/>
          <p:cNvSpPr/>
          <p:nvPr/>
        </p:nvSpPr>
        <p:spPr>
          <a:xfrm>
            <a:off x="402336" y="5036222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6" name="R0_cn_t"/>
          <p:cNvSpPr txBox="1"/>
          <p:nvPr/>
        </p:nvSpPr>
        <p:spPr>
          <a:xfrm>
            <a:off x="402336" y="50362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57</a:t>
            </a:r>
            <a:endParaRPr lang="en-US" sz="1000" dirty="0"/>
          </a:p>
        </p:txBody>
      </p:sp>
      <p:sp>
        <p:nvSpPr>
          <p:cNvPr id="37" name="R0_h"/>
          <p:cNvSpPr txBox="1"/>
          <p:nvPr/>
        </p:nvSpPr>
        <p:spPr>
          <a:xfrm>
            <a:off x="740664" y="5008790"/>
            <a:ext cx="108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Oil pressure</a:t>
            </a:r>
            <a:endParaRPr lang="en-US" sz="1200" dirty="0"/>
          </a:p>
        </p:txBody>
      </p:sp>
      <p:sp>
        <p:nvSpPr>
          <p:cNvPr id="38" name="R0_a"/>
          <p:cNvSpPr txBox="1"/>
          <p:nvPr/>
        </p:nvSpPr>
        <p:spPr>
          <a:xfrm>
            <a:off x="411480" y="5347118"/>
            <a:ext cx="13944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C96"/>
                </a:solidFill>
              </a:rPr>
              <a:t>Stop – switch engine off</a:t>
            </a:r>
            <a:endParaRPr lang="en-US" sz="1000" dirty="0"/>
          </a:p>
        </p:txBody>
      </p:sp>
      <p:sp>
        <p:nvSpPr>
          <p:cNvPr id="39" name="R1_card"/>
          <p:cNvSpPr/>
          <p:nvPr/>
        </p:nvSpPr>
        <p:spPr>
          <a:xfrm>
            <a:off x="1970532" y="4953926"/>
            <a:ext cx="1540764" cy="749808"/>
          </a:xfrm>
          <a:prstGeom prst="roundRect">
            <a:avLst>
              <a:gd name="adj" fmla="val 9756"/>
            </a:avLst>
          </a:prstGeom>
          <a:solidFill>
            <a:srgbClr val="1C2129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40" name="R1_cn"/>
          <p:cNvSpPr/>
          <p:nvPr/>
        </p:nvSpPr>
        <p:spPr>
          <a:xfrm>
            <a:off x="2052828" y="5036222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1" name="R1_cn_t"/>
          <p:cNvSpPr txBox="1"/>
          <p:nvPr/>
        </p:nvSpPr>
        <p:spPr>
          <a:xfrm>
            <a:off x="2052828" y="50362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48</a:t>
            </a:r>
            <a:endParaRPr lang="en-US" sz="1000" dirty="0"/>
          </a:p>
        </p:txBody>
      </p:sp>
      <p:sp>
        <p:nvSpPr>
          <p:cNvPr id="42" name="R1_h"/>
          <p:cNvSpPr txBox="1"/>
          <p:nvPr/>
        </p:nvSpPr>
        <p:spPr>
          <a:xfrm>
            <a:off x="2391156" y="5008790"/>
            <a:ext cx="108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Engine temp.</a:t>
            </a:r>
            <a:endParaRPr lang="en-US" sz="1200" dirty="0"/>
          </a:p>
        </p:txBody>
      </p:sp>
      <p:sp>
        <p:nvSpPr>
          <p:cNvPr id="43" name="R1_a"/>
          <p:cNvSpPr txBox="1"/>
          <p:nvPr/>
        </p:nvSpPr>
        <p:spPr>
          <a:xfrm>
            <a:off x="2061972" y="5347118"/>
            <a:ext cx="13944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C96"/>
                </a:solidFill>
              </a:rPr>
              <a:t>Stop – overheating</a:t>
            </a:r>
            <a:endParaRPr lang="en-US" sz="1000" dirty="0"/>
          </a:p>
        </p:txBody>
      </p:sp>
      <p:sp>
        <p:nvSpPr>
          <p:cNvPr id="44" name="R2_card"/>
          <p:cNvSpPr/>
          <p:nvPr/>
        </p:nvSpPr>
        <p:spPr>
          <a:xfrm>
            <a:off x="3621024" y="4953926"/>
            <a:ext cx="1540764" cy="749808"/>
          </a:xfrm>
          <a:prstGeom prst="roundRect">
            <a:avLst>
              <a:gd name="adj" fmla="val 9756"/>
            </a:avLst>
          </a:prstGeom>
          <a:solidFill>
            <a:srgbClr val="1C2129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45" name="R2_cn"/>
          <p:cNvSpPr/>
          <p:nvPr/>
        </p:nvSpPr>
        <p:spPr>
          <a:xfrm>
            <a:off x="3703320" y="5036222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6" name="R2_cn_t"/>
          <p:cNvSpPr txBox="1"/>
          <p:nvPr/>
        </p:nvSpPr>
        <p:spPr>
          <a:xfrm>
            <a:off x="3703320" y="50362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40</a:t>
            </a:r>
            <a:endParaRPr lang="en-US" sz="1000" dirty="0"/>
          </a:p>
        </p:txBody>
      </p:sp>
      <p:sp>
        <p:nvSpPr>
          <p:cNvPr id="47" name="R2_h"/>
          <p:cNvSpPr txBox="1"/>
          <p:nvPr/>
        </p:nvSpPr>
        <p:spPr>
          <a:xfrm>
            <a:off x="4041648" y="5008790"/>
            <a:ext cx="108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Brake system</a:t>
            </a:r>
            <a:endParaRPr lang="en-US" sz="1200" dirty="0"/>
          </a:p>
        </p:txBody>
      </p:sp>
      <p:sp>
        <p:nvSpPr>
          <p:cNvPr id="48" name="R2_a"/>
          <p:cNvSpPr txBox="1"/>
          <p:nvPr/>
        </p:nvSpPr>
        <p:spPr>
          <a:xfrm>
            <a:off x="3712464" y="5347118"/>
            <a:ext cx="13944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C96"/>
                </a:solidFill>
              </a:rPr>
              <a:t>Stop – brake fault</a:t>
            </a:r>
            <a:endParaRPr lang="en-US" sz="1000" dirty="0"/>
          </a:p>
        </p:txBody>
      </p:sp>
      <p:sp>
        <p:nvSpPr>
          <p:cNvPr id="49" name="R3_card"/>
          <p:cNvSpPr/>
          <p:nvPr/>
        </p:nvSpPr>
        <p:spPr>
          <a:xfrm>
            <a:off x="5271516" y="4953926"/>
            <a:ext cx="1540764" cy="749808"/>
          </a:xfrm>
          <a:prstGeom prst="roundRect">
            <a:avLst>
              <a:gd name="adj" fmla="val 9756"/>
            </a:avLst>
          </a:prstGeom>
          <a:solidFill>
            <a:srgbClr val="1C2129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50" name="R3_cn"/>
          <p:cNvSpPr/>
          <p:nvPr/>
        </p:nvSpPr>
        <p:spPr>
          <a:xfrm>
            <a:off x="5353812" y="5036222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1" name="R3_cn_t"/>
          <p:cNvSpPr txBox="1"/>
          <p:nvPr/>
        </p:nvSpPr>
        <p:spPr>
          <a:xfrm>
            <a:off x="5353812" y="50362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39</a:t>
            </a:r>
            <a:endParaRPr lang="en-US" sz="1000" dirty="0"/>
          </a:p>
        </p:txBody>
      </p:sp>
      <p:sp>
        <p:nvSpPr>
          <p:cNvPr id="52" name="R3_h"/>
          <p:cNvSpPr txBox="1"/>
          <p:nvPr/>
        </p:nvSpPr>
        <p:spPr>
          <a:xfrm>
            <a:off x="5692140" y="5008790"/>
            <a:ext cx="108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Airbag (SRS)</a:t>
            </a:r>
            <a:endParaRPr lang="en-US" sz="1200" dirty="0"/>
          </a:p>
        </p:txBody>
      </p:sp>
      <p:sp>
        <p:nvSpPr>
          <p:cNvPr id="53" name="R3_a"/>
          <p:cNvSpPr txBox="1"/>
          <p:nvPr/>
        </p:nvSpPr>
        <p:spPr>
          <a:xfrm>
            <a:off x="5362956" y="5347118"/>
            <a:ext cx="13944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C96"/>
                </a:solidFill>
              </a:rPr>
              <a:t>Don't drive – report it</a:t>
            </a:r>
            <a:endParaRPr lang="en-US" sz="1000" dirty="0"/>
          </a:p>
        </p:txBody>
      </p:sp>
      <p:sp>
        <p:nvSpPr>
          <p:cNvPr id="54" name="R4_card"/>
          <p:cNvSpPr/>
          <p:nvPr/>
        </p:nvSpPr>
        <p:spPr>
          <a:xfrm>
            <a:off x="320040" y="5813462"/>
            <a:ext cx="1540764" cy="749808"/>
          </a:xfrm>
          <a:prstGeom prst="roundRect">
            <a:avLst>
              <a:gd name="adj" fmla="val 9756"/>
            </a:avLst>
          </a:prstGeom>
          <a:solidFill>
            <a:srgbClr val="1C2129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55" name="R4_cn"/>
          <p:cNvSpPr/>
          <p:nvPr/>
        </p:nvSpPr>
        <p:spPr>
          <a:xfrm>
            <a:off x="402336" y="5895758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6" name="R4_cn_t"/>
          <p:cNvSpPr txBox="1"/>
          <p:nvPr/>
        </p:nvSpPr>
        <p:spPr>
          <a:xfrm>
            <a:off x="402336" y="589575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32</a:t>
            </a:r>
            <a:endParaRPr lang="en-US" sz="1000" dirty="0"/>
          </a:p>
        </p:txBody>
      </p:sp>
      <p:sp>
        <p:nvSpPr>
          <p:cNvPr id="57" name="R4_h"/>
          <p:cNvSpPr txBox="1"/>
          <p:nvPr/>
        </p:nvSpPr>
        <p:spPr>
          <a:xfrm>
            <a:off x="740664" y="5868326"/>
            <a:ext cx="108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Battery</a:t>
            </a:r>
            <a:endParaRPr lang="en-US" sz="1200" dirty="0"/>
          </a:p>
        </p:txBody>
      </p:sp>
      <p:sp>
        <p:nvSpPr>
          <p:cNvPr id="58" name="R4_a"/>
          <p:cNvSpPr txBox="1"/>
          <p:nvPr/>
        </p:nvSpPr>
        <p:spPr>
          <a:xfrm>
            <a:off x="411480" y="6206654"/>
            <a:ext cx="13944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C96"/>
                </a:solidFill>
              </a:rPr>
              <a:t>Stop – charging fault</a:t>
            </a:r>
            <a:endParaRPr lang="en-US" sz="1000" dirty="0"/>
          </a:p>
        </p:txBody>
      </p:sp>
      <p:sp>
        <p:nvSpPr>
          <p:cNvPr id="59" name="A5_card"/>
          <p:cNvSpPr/>
          <p:nvPr/>
        </p:nvSpPr>
        <p:spPr>
          <a:xfrm>
            <a:off x="1970532" y="5813462"/>
            <a:ext cx="1540764" cy="749808"/>
          </a:xfrm>
          <a:prstGeom prst="roundRect">
            <a:avLst>
              <a:gd name="adj" fmla="val 9756"/>
            </a:avLst>
          </a:prstGeom>
          <a:solidFill>
            <a:srgbClr val="1C2129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60" name="A5_cn"/>
          <p:cNvSpPr/>
          <p:nvPr/>
        </p:nvSpPr>
        <p:spPr>
          <a:xfrm>
            <a:off x="2052828" y="5895758"/>
            <a:ext cx="274320" cy="2743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1" name="A5_cn_t"/>
          <p:cNvSpPr txBox="1"/>
          <p:nvPr/>
        </p:nvSpPr>
        <p:spPr>
          <a:xfrm>
            <a:off x="2052828" y="589575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21</a:t>
            </a:r>
            <a:endParaRPr lang="en-US" sz="1000" dirty="0"/>
          </a:p>
        </p:txBody>
      </p:sp>
      <p:sp>
        <p:nvSpPr>
          <p:cNvPr id="62" name="A5_h"/>
          <p:cNvSpPr txBox="1"/>
          <p:nvPr/>
        </p:nvSpPr>
        <p:spPr>
          <a:xfrm>
            <a:off x="2391156" y="5868326"/>
            <a:ext cx="108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Tyre pressure</a:t>
            </a:r>
            <a:endParaRPr lang="en-US" sz="1200" dirty="0"/>
          </a:p>
        </p:txBody>
      </p:sp>
      <p:sp>
        <p:nvSpPr>
          <p:cNvPr id="63" name="A5_a"/>
          <p:cNvSpPr txBox="1"/>
          <p:nvPr/>
        </p:nvSpPr>
        <p:spPr>
          <a:xfrm>
            <a:off x="2061972" y="6206654"/>
            <a:ext cx="13944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27A"/>
                </a:solidFill>
              </a:rPr>
              <a:t>Check tyre pressures</a:t>
            </a:r>
            <a:endParaRPr lang="en-US" sz="1000" dirty="0"/>
          </a:p>
        </p:txBody>
      </p:sp>
      <p:sp>
        <p:nvSpPr>
          <p:cNvPr id="64" name="A6_card"/>
          <p:cNvSpPr/>
          <p:nvPr/>
        </p:nvSpPr>
        <p:spPr>
          <a:xfrm>
            <a:off x="3621024" y="5813462"/>
            <a:ext cx="1540764" cy="749808"/>
          </a:xfrm>
          <a:prstGeom prst="roundRect">
            <a:avLst>
              <a:gd name="adj" fmla="val 9756"/>
            </a:avLst>
          </a:prstGeom>
          <a:solidFill>
            <a:srgbClr val="1C2129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65" name="A6_cn"/>
          <p:cNvSpPr/>
          <p:nvPr/>
        </p:nvSpPr>
        <p:spPr>
          <a:xfrm>
            <a:off x="3703320" y="5895758"/>
            <a:ext cx="274320" cy="2743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6" name="A6_cn_t"/>
          <p:cNvSpPr txBox="1"/>
          <p:nvPr/>
        </p:nvSpPr>
        <p:spPr>
          <a:xfrm>
            <a:off x="3703320" y="589575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49</a:t>
            </a:r>
            <a:endParaRPr lang="en-US" sz="1000" dirty="0"/>
          </a:p>
        </p:txBody>
      </p:sp>
      <p:sp>
        <p:nvSpPr>
          <p:cNvPr id="67" name="A6_h"/>
          <p:cNvSpPr txBox="1"/>
          <p:nvPr/>
        </p:nvSpPr>
        <p:spPr>
          <a:xfrm>
            <a:off x="4041648" y="5868326"/>
            <a:ext cx="108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ABS</a:t>
            </a:r>
            <a:endParaRPr lang="en-US" sz="1200" dirty="0"/>
          </a:p>
        </p:txBody>
      </p:sp>
      <p:sp>
        <p:nvSpPr>
          <p:cNvPr id="68" name="A6_a"/>
          <p:cNvSpPr txBox="1"/>
          <p:nvPr/>
        </p:nvSpPr>
        <p:spPr>
          <a:xfrm>
            <a:off x="3712464" y="6206654"/>
            <a:ext cx="13944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27A"/>
                </a:solidFill>
              </a:rPr>
              <a:t>No ABS – get checked</a:t>
            </a:r>
            <a:endParaRPr lang="en-US" sz="1000" dirty="0"/>
          </a:p>
        </p:txBody>
      </p:sp>
      <p:sp>
        <p:nvSpPr>
          <p:cNvPr id="69" name="A7_card"/>
          <p:cNvSpPr/>
          <p:nvPr/>
        </p:nvSpPr>
        <p:spPr>
          <a:xfrm>
            <a:off x="5271516" y="5813462"/>
            <a:ext cx="1540764" cy="749808"/>
          </a:xfrm>
          <a:prstGeom prst="roundRect">
            <a:avLst>
              <a:gd name="adj" fmla="val 9756"/>
            </a:avLst>
          </a:prstGeom>
          <a:solidFill>
            <a:srgbClr val="1C2129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70" name="A7_cn"/>
          <p:cNvSpPr/>
          <p:nvPr/>
        </p:nvSpPr>
        <p:spPr>
          <a:xfrm>
            <a:off x="5353812" y="5895758"/>
            <a:ext cx="274320" cy="2743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1" name="A7_cn_t"/>
          <p:cNvSpPr txBox="1"/>
          <p:nvPr/>
        </p:nvSpPr>
        <p:spPr>
          <a:xfrm>
            <a:off x="5353812" y="589575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62</a:t>
            </a:r>
            <a:endParaRPr lang="en-US" sz="1000" dirty="0"/>
          </a:p>
        </p:txBody>
      </p:sp>
      <p:sp>
        <p:nvSpPr>
          <p:cNvPr id="72" name="A7_h"/>
          <p:cNvSpPr txBox="1"/>
          <p:nvPr/>
        </p:nvSpPr>
        <p:spPr>
          <a:xfrm>
            <a:off x="5692140" y="5868326"/>
            <a:ext cx="108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 engine</a:t>
            </a:r>
            <a:endParaRPr lang="en-US" sz="1200" dirty="0"/>
          </a:p>
        </p:txBody>
      </p:sp>
      <p:sp>
        <p:nvSpPr>
          <p:cNvPr id="73" name="A7_a"/>
          <p:cNvSpPr txBox="1"/>
          <p:nvPr/>
        </p:nvSpPr>
        <p:spPr>
          <a:xfrm>
            <a:off x="5362956" y="6206654"/>
            <a:ext cx="13944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27A"/>
                </a:solidFill>
              </a:rPr>
              <a:t>Get checked; flashing = stop</a:t>
            </a:r>
            <a:endParaRPr lang="en-US" sz="1000" dirty="0"/>
          </a:p>
        </p:txBody>
      </p:sp>
      <p:sp>
        <p:nvSpPr>
          <p:cNvPr id="74" name="legend_bg"/>
          <p:cNvSpPr/>
          <p:nvPr/>
        </p:nvSpPr>
        <p:spPr>
          <a:xfrm>
            <a:off x="6931152" y="1344168"/>
            <a:ext cx="5029200" cy="5340096"/>
          </a:xfrm>
          <a:prstGeom prst="roundRect">
            <a:avLst>
              <a:gd name="adj" fmla="val 1455"/>
            </a:avLst>
          </a:prstGeom>
          <a:solidFill>
            <a:srgbClr val="171B22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75" name="lg1_c"/>
          <p:cNvSpPr/>
          <p:nvPr/>
        </p:nvSpPr>
        <p:spPr>
          <a:xfrm>
            <a:off x="7040880" y="1439764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76" name="lg1_n"/>
          <p:cNvSpPr txBox="1"/>
          <p:nvPr/>
        </p:nvSpPr>
        <p:spPr>
          <a:xfrm>
            <a:off x="6995160" y="1439764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77" name="lg1_t"/>
          <p:cNvSpPr txBox="1"/>
          <p:nvPr/>
        </p:nvSpPr>
        <p:spPr>
          <a:xfrm>
            <a:off x="7287768" y="1417320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Fog light (front)</a:t>
            </a:r>
            <a:endParaRPr lang="en-US" sz="1000" dirty="0"/>
          </a:p>
        </p:txBody>
      </p:sp>
      <p:sp>
        <p:nvSpPr>
          <p:cNvPr id="78" name="lg2_c"/>
          <p:cNvSpPr/>
          <p:nvPr/>
        </p:nvSpPr>
        <p:spPr>
          <a:xfrm>
            <a:off x="7040880" y="1676677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79" name="lg2_n"/>
          <p:cNvSpPr txBox="1"/>
          <p:nvPr/>
        </p:nvSpPr>
        <p:spPr>
          <a:xfrm>
            <a:off x="6995160" y="1676677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80" name="lg2_t"/>
          <p:cNvSpPr txBox="1"/>
          <p:nvPr/>
        </p:nvSpPr>
        <p:spPr>
          <a:xfrm>
            <a:off x="7287768" y="1654233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Power steering warning</a:t>
            </a:r>
            <a:endParaRPr lang="en-US" sz="1000" dirty="0"/>
          </a:p>
        </p:txBody>
      </p:sp>
      <p:sp>
        <p:nvSpPr>
          <p:cNvPr id="81" name="lg3_c"/>
          <p:cNvSpPr/>
          <p:nvPr/>
        </p:nvSpPr>
        <p:spPr>
          <a:xfrm>
            <a:off x="7040880" y="1913590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82" name="lg3_n"/>
          <p:cNvSpPr txBox="1"/>
          <p:nvPr/>
        </p:nvSpPr>
        <p:spPr>
          <a:xfrm>
            <a:off x="6995160" y="1913590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83" name="lg3_t"/>
          <p:cNvSpPr txBox="1"/>
          <p:nvPr/>
        </p:nvSpPr>
        <p:spPr>
          <a:xfrm>
            <a:off x="7287768" y="1891145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Fog light (rear)</a:t>
            </a:r>
            <a:endParaRPr lang="en-US" sz="1000" dirty="0"/>
          </a:p>
        </p:txBody>
      </p:sp>
      <p:sp>
        <p:nvSpPr>
          <p:cNvPr id="84" name="lg4_c"/>
          <p:cNvSpPr/>
          <p:nvPr/>
        </p:nvSpPr>
        <p:spPr>
          <a:xfrm>
            <a:off x="7040880" y="2150503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85" name="lg4_n"/>
          <p:cNvSpPr txBox="1"/>
          <p:nvPr/>
        </p:nvSpPr>
        <p:spPr>
          <a:xfrm>
            <a:off x="6995160" y="2150503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86" name="lg4_t"/>
          <p:cNvSpPr txBox="1"/>
          <p:nvPr/>
        </p:nvSpPr>
        <p:spPr>
          <a:xfrm>
            <a:off x="7287768" y="2128058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Washer fluid low</a:t>
            </a:r>
            <a:endParaRPr lang="en-US" sz="1000" dirty="0"/>
          </a:p>
        </p:txBody>
      </p:sp>
      <p:sp>
        <p:nvSpPr>
          <p:cNvPr id="87" name="lg5_c"/>
          <p:cNvSpPr/>
          <p:nvPr/>
        </p:nvSpPr>
        <p:spPr>
          <a:xfrm>
            <a:off x="7040880" y="2387415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88" name="lg5_n"/>
          <p:cNvSpPr txBox="1"/>
          <p:nvPr/>
        </p:nvSpPr>
        <p:spPr>
          <a:xfrm>
            <a:off x="6995160" y="2387415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89" name="lg5_t"/>
          <p:cNvSpPr txBox="1"/>
          <p:nvPr/>
        </p:nvSpPr>
        <p:spPr>
          <a:xfrm>
            <a:off x="7287768" y="2364971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Brake pad warning</a:t>
            </a:r>
            <a:endParaRPr lang="en-US" sz="1000" dirty="0"/>
          </a:p>
        </p:txBody>
      </p:sp>
      <p:sp>
        <p:nvSpPr>
          <p:cNvPr id="90" name="lg6_c"/>
          <p:cNvSpPr/>
          <p:nvPr/>
        </p:nvSpPr>
        <p:spPr>
          <a:xfrm>
            <a:off x="7040880" y="2624328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91" name="lg6_n"/>
          <p:cNvSpPr txBox="1"/>
          <p:nvPr/>
        </p:nvSpPr>
        <p:spPr>
          <a:xfrm>
            <a:off x="6995160" y="2624328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92" name="lg6_t"/>
          <p:cNvSpPr txBox="1"/>
          <p:nvPr/>
        </p:nvSpPr>
        <p:spPr>
          <a:xfrm>
            <a:off x="7287768" y="2601884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Cruise control on</a:t>
            </a:r>
            <a:endParaRPr lang="en-US" sz="1000" dirty="0"/>
          </a:p>
        </p:txBody>
      </p:sp>
      <p:sp>
        <p:nvSpPr>
          <p:cNvPr id="93" name="lg7_c"/>
          <p:cNvSpPr/>
          <p:nvPr/>
        </p:nvSpPr>
        <p:spPr>
          <a:xfrm>
            <a:off x="7040880" y="2861241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94" name="lg7_n"/>
          <p:cNvSpPr txBox="1"/>
          <p:nvPr/>
        </p:nvSpPr>
        <p:spPr>
          <a:xfrm>
            <a:off x="6995160" y="2861241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95" name="lg7_t"/>
          <p:cNvSpPr txBox="1"/>
          <p:nvPr/>
        </p:nvSpPr>
        <p:spPr>
          <a:xfrm>
            <a:off x="7287768" y="2838796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Direction indicators</a:t>
            </a:r>
            <a:endParaRPr lang="en-US" sz="1000" dirty="0"/>
          </a:p>
        </p:txBody>
      </p:sp>
      <p:sp>
        <p:nvSpPr>
          <p:cNvPr id="96" name="lg8_c"/>
          <p:cNvSpPr/>
          <p:nvPr/>
        </p:nvSpPr>
        <p:spPr>
          <a:xfrm>
            <a:off x="7040880" y="3098153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97" name="lg8_n"/>
          <p:cNvSpPr txBox="1"/>
          <p:nvPr/>
        </p:nvSpPr>
        <p:spPr>
          <a:xfrm>
            <a:off x="6995160" y="3098153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</a:t>
            </a:r>
            <a:endParaRPr lang="en-US" sz="750" dirty="0"/>
          </a:p>
        </p:txBody>
      </p:sp>
      <p:sp>
        <p:nvSpPr>
          <p:cNvPr id="98" name="lg8_t"/>
          <p:cNvSpPr txBox="1"/>
          <p:nvPr/>
        </p:nvSpPr>
        <p:spPr>
          <a:xfrm>
            <a:off x="7287768" y="3075709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Rain and light sensor</a:t>
            </a:r>
            <a:endParaRPr lang="en-US" sz="1000" dirty="0"/>
          </a:p>
        </p:txBody>
      </p:sp>
      <p:sp>
        <p:nvSpPr>
          <p:cNvPr id="99" name="lg9_c"/>
          <p:cNvSpPr/>
          <p:nvPr/>
        </p:nvSpPr>
        <p:spPr>
          <a:xfrm>
            <a:off x="7040880" y="3335066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00" name="lg9_n"/>
          <p:cNvSpPr txBox="1"/>
          <p:nvPr/>
        </p:nvSpPr>
        <p:spPr>
          <a:xfrm>
            <a:off x="6995160" y="3335066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</a:t>
            </a:r>
            <a:endParaRPr lang="en-US" sz="750" dirty="0"/>
          </a:p>
        </p:txBody>
      </p:sp>
      <p:sp>
        <p:nvSpPr>
          <p:cNvPr id="101" name="lg9_t"/>
          <p:cNvSpPr txBox="1"/>
          <p:nvPr/>
        </p:nvSpPr>
        <p:spPr>
          <a:xfrm>
            <a:off x="7287768" y="3312622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Winter mode</a:t>
            </a:r>
            <a:endParaRPr lang="en-US" sz="1000" dirty="0"/>
          </a:p>
        </p:txBody>
      </p:sp>
      <p:sp>
        <p:nvSpPr>
          <p:cNvPr id="102" name="lg10_c"/>
          <p:cNvSpPr/>
          <p:nvPr/>
        </p:nvSpPr>
        <p:spPr>
          <a:xfrm>
            <a:off x="7040880" y="3571979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03" name="lg10_n"/>
          <p:cNvSpPr txBox="1"/>
          <p:nvPr/>
        </p:nvSpPr>
        <p:spPr>
          <a:xfrm>
            <a:off x="6995160" y="3571979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</a:t>
            </a:r>
            <a:endParaRPr lang="en-US" sz="750" dirty="0"/>
          </a:p>
        </p:txBody>
      </p:sp>
      <p:sp>
        <p:nvSpPr>
          <p:cNvPr id="104" name="lg10_t"/>
          <p:cNvSpPr txBox="1"/>
          <p:nvPr/>
        </p:nvSpPr>
        <p:spPr>
          <a:xfrm>
            <a:off x="7287768" y="3549535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Information indicator</a:t>
            </a:r>
            <a:endParaRPr lang="en-US" sz="1000" dirty="0"/>
          </a:p>
        </p:txBody>
      </p:sp>
      <p:sp>
        <p:nvSpPr>
          <p:cNvPr id="105" name="lg11_c"/>
          <p:cNvSpPr/>
          <p:nvPr/>
        </p:nvSpPr>
        <p:spPr>
          <a:xfrm>
            <a:off x="7040880" y="3808892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06" name="lg11_n"/>
          <p:cNvSpPr txBox="1"/>
          <p:nvPr/>
        </p:nvSpPr>
        <p:spPr>
          <a:xfrm>
            <a:off x="6995160" y="3808892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11</a:t>
            </a:r>
            <a:endParaRPr lang="en-US" sz="750" dirty="0"/>
          </a:p>
        </p:txBody>
      </p:sp>
      <p:sp>
        <p:nvSpPr>
          <p:cNvPr id="107" name="lg11_t"/>
          <p:cNvSpPr txBox="1"/>
          <p:nvPr/>
        </p:nvSpPr>
        <p:spPr>
          <a:xfrm>
            <a:off x="7287768" y="3786447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Glow plug (diesel)</a:t>
            </a:r>
            <a:endParaRPr lang="en-US" sz="1000" dirty="0"/>
          </a:p>
        </p:txBody>
      </p:sp>
      <p:sp>
        <p:nvSpPr>
          <p:cNvPr id="108" name="lg12_c"/>
          <p:cNvSpPr/>
          <p:nvPr/>
        </p:nvSpPr>
        <p:spPr>
          <a:xfrm>
            <a:off x="7040880" y="4045804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09" name="lg12_n"/>
          <p:cNvSpPr txBox="1"/>
          <p:nvPr/>
        </p:nvSpPr>
        <p:spPr>
          <a:xfrm>
            <a:off x="6995160" y="4045804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12</a:t>
            </a:r>
            <a:endParaRPr lang="en-US" sz="750" dirty="0"/>
          </a:p>
        </p:txBody>
      </p:sp>
      <p:sp>
        <p:nvSpPr>
          <p:cNvPr id="110" name="lg12_t"/>
          <p:cNvSpPr txBox="1"/>
          <p:nvPr/>
        </p:nvSpPr>
        <p:spPr>
          <a:xfrm>
            <a:off x="7287768" y="4023360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Frost warning</a:t>
            </a:r>
            <a:endParaRPr lang="en-US" sz="1000" dirty="0"/>
          </a:p>
        </p:txBody>
      </p:sp>
      <p:sp>
        <p:nvSpPr>
          <p:cNvPr id="111" name="lg13_c"/>
          <p:cNvSpPr/>
          <p:nvPr/>
        </p:nvSpPr>
        <p:spPr>
          <a:xfrm>
            <a:off x="7040880" y="4282717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12" name="lg13_n"/>
          <p:cNvSpPr txBox="1"/>
          <p:nvPr/>
        </p:nvSpPr>
        <p:spPr>
          <a:xfrm>
            <a:off x="6995160" y="4282717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13</a:t>
            </a:r>
            <a:endParaRPr lang="en-US" sz="750" dirty="0"/>
          </a:p>
        </p:txBody>
      </p:sp>
      <p:sp>
        <p:nvSpPr>
          <p:cNvPr id="113" name="lg13_t"/>
          <p:cNvSpPr txBox="1"/>
          <p:nvPr/>
        </p:nvSpPr>
        <p:spPr>
          <a:xfrm>
            <a:off x="7287768" y="4260273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Ignition switch warning</a:t>
            </a:r>
            <a:endParaRPr lang="en-US" sz="1000" dirty="0"/>
          </a:p>
        </p:txBody>
      </p:sp>
      <p:sp>
        <p:nvSpPr>
          <p:cNvPr id="114" name="lg14_c"/>
          <p:cNvSpPr/>
          <p:nvPr/>
        </p:nvSpPr>
        <p:spPr>
          <a:xfrm>
            <a:off x="7040880" y="4519630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15" name="lg14_n"/>
          <p:cNvSpPr txBox="1"/>
          <p:nvPr/>
        </p:nvSpPr>
        <p:spPr>
          <a:xfrm>
            <a:off x="6995160" y="4519630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14</a:t>
            </a:r>
            <a:endParaRPr lang="en-US" sz="750" dirty="0"/>
          </a:p>
        </p:txBody>
      </p:sp>
      <p:sp>
        <p:nvSpPr>
          <p:cNvPr id="116" name="lg14_t"/>
          <p:cNvSpPr txBox="1"/>
          <p:nvPr/>
        </p:nvSpPr>
        <p:spPr>
          <a:xfrm>
            <a:off x="7287768" y="4497185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Key not in vehicle</a:t>
            </a:r>
            <a:endParaRPr lang="en-US" sz="1000" dirty="0"/>
          </a:p>
        </p:txBody>
      </p:sp>
      <p:sp>
        <p:nvSpPr>
          <p:cNvPr id="117" name="lg15_c"/>
          <p:cNvSpPr/>
          <p:nvPr/>
        </p:nvSpPr>
        <p:spPr>
          <a:xfrm>
            <a:off x="7040880" y="4756543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18" name="lg15_n"/>
          <p:cNvSpPr txBox="1"/>
          <p:nvPr/>
        </p:nvSpPr>
        <p:spPr>
          <a:xfrm>
            <a:off x="6995160" y="4756543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15</a:t>
            </a:r>
            <a:endParaRPr lang="en-US" sz="750" dirty="0"/>
          </a:p>
        </p:txBody>
      </p:sp>
      <p:sp>
        <p:nvSpPr>
          <p:cNvPr id="119" name="lg15_t"/>
          <p:cNvSpPr txBox="1"/>
          <p:nvPr/>
        </p:nvSpPr>
        <p:spPr>
          <a:xfrm>
            <a:off x="7287768" y="4734098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Key fob battery low</a:t>
            </a:r>
            <a:endParaRPr lang="en-US" sz="1000" dirty="0"/>
          </a:p>
        </p:txBody>
      </p:sp>
      <p:sp>
        <p:nvSpPr>
          <p:cNvPr id="120" name="lg16_c"/>
          <p:cNvSpPr/>
          <p:nvPr/>
        </p:nvSpPr>
        <p:spPr>
          <a:xfrm>
            <a:off x="7040880" y="4993455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21" name="lg16_n"/>
          <p:cNvSpPr txBox="1"/>
          <p:nvPr/>
        </p:nvSpPr>
        <p:spPr>
          <a:xfrm>
            <a:off x="6995160" y="4993455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16</a:t>
            </a:r>
            <a:endParaRPr lang="en-US" sz="750" dirty="0"/>
          </a:p>
        </p:txBody>
      </p:sp>
      <p:sp>
        <p:nvSpPr>
          <p:cNvPr id="122" name="lg16_t"/>
          <p:cNvSpPr txBox="1"/>
          <p:nvPr/>
        </p:nvSpPr>
        <p:spPr>
          <a:xfrm>
            <a:off x="7287768" y="4971011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Distance warning</a:t>
            </a:r>
            <a:endParaRPr lang="en-US" sz="1000" dirty="0"/>
          </a:p>
        </p:txBody>
      </p:sp>
      <p:sp>
        <p:nvSpPr>
          <p:cNvPr id="123" name="lg17_c"/>
          <p:cNvSpPr/>
          <p:nvPr/>
        </p:nvSpPr>
        <p:spPr>
          <a:xfrm>
            <a:off x="7040880" y="5230368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24" name="lg17_n"/>
          <p:cNvSpPr txBox="1"/>
          <p:nvPr/>
        </p:nvSpPr>
        <p:spPr>
          <a:xfrm>
            <a:off x="6995160" y="5230368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17</a:t>
            </a:r>
            <a:endParaRPr lang="en-US" sz="750" dirty="0"/>
          </a:p>
        </p:txBody>
      </p:sp>
      <p:sp>
        <p:nvSpPr>
          <p:cNvPr id="125" name="lg17_t"/>
          <p:cNvSpPr txBox="1"/>
          <p:nvPr/>
        </p:nvSpPr>
        <p:spPr>
          <a:xfrm>
            <a:off x="7287768" y="5207924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Press clutch pedal</a:t>
            </a:r>
            <a:endParaRPr lang="en-US" sz="1000" dirty="0"/>
          </a:p>
        </p:txBody>
      </p:sp>
      <p:sp>
        <p:nvSpPr>
          <p:cNvPr id="126" name="lg18_c"/>
          <p:cNvSpPr/>
          <p:nvPr/>
        </p:nvSpPr>
        <p:spPr>
          <a:xfrm>
            <a:off x="7040880" y="5467281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27" name="lg18_n"/>
          <p:cNvSpPr txBox="1"/>
          <p:nvPr/>
        </p:nvSpPr>
        <p:spPr>
          <a:xfrm>
            <a:off x="6995160" y="5467281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18</a:t>
            </a:r>
            <a:endParaRPr lang="en-US" sz="750" dirty="0"/>
          </a:p>
        </p:txBody>
      </p:sp>
      <p:sp>
        <p:nvSpPr>
          <p:cNvPr id="128" name="lg18_t"/>
          <p:cNvSpPr txBox="1"/>
          <p:nvPr/>
        </p:nvSpPr>
        <p:spPr>
          <a:xfrm>
            <a:off x="7287768" y="5444836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Press brake pedal</a:t>
            </a:r>
            <a:endParaRPr lang="en-US" sz="1000" dirty="0"/>
          </a:p>
        </p:txBody>
      </p:sp>
      <p:sp>
        <p:nvSpPr>
          <p:cNvPr id="129" name="lg19_c"/>
          <p:cNvSpPr/>
          <p:nvPr/>
        </p:nvSpPr>
        <p:spPr>
          <a:xfrm>
            <a:off x="7040880" y="5704193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30" name="lg19_n"/>
          <p:cNvSpPr txBox="1"/>
          <p:nvPr/>
        </p:nvSpPr>
        <p:spPr>
          <a:xfrm>
            <a:off x="6995160" y="5704193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19</a:t>
            </a:r>
            <a:endParaRPr lang="en-US" sz="750" dirty="0"/>
          </a:p>
        </p:txBody>
      </p:sp>
      <p:sp>
        <p:nvSpPr>
          <p:cNvPr id="131" name="lg19_t"/>
          <p:cNvSpPr txBox="1"/>
          <p:nvPr/>
        </p:nvSpPr>
        <p:spPr>
          <a:xfrm>
            <a:off x="7287768" y="5681749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Steering lock warning</a:t>
            </a:r>
            <a:endParaRPr lang="en-US" sz="1000" dirty="0"/>
          </a:p>
        </p:txBody>
      </p:sp>
      <p:sp>
        <p:nvSpPr>
          <p:cNvPr id="132" name="lg20_c"/>
          <p:cNvSpPr/>
          <p:nvPr/>
        </p:nvSpPr>
        <p:spPr>
          <a:xfrm>
            <a:off x="7040880" y="5941106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33" name="lg20_n"/>
          <p:cNvSpPr txBox="1"/>
          <p:nvPr/>
        </p:nvSpPr>
        <p:spPr>
          <a:xfrm>
            <a:off x="6995160" y="5941106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20</a:t>
            </a:r>
            <a:endParaRPr lang="en-US" sz="750" dirty="0"/>
          </a:p>
        </p:txBody>
      </p:sp>
      <p:sp>
        <p:nvSpPr>
          <p:cNvPr id="134" name="lg20_t"/>
          <p:cNvSpPr txBox="1"/>
          <p:nvPr/>
        </p:nvSpPr>
        <p:spPr>
          <a:xfrm>
            <a:off x="7287768" y="5918662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Main beam (high beam)</a:t>
            </a:r>
            <a:endParaRPr lang="en-US" sz="1000" dirty="0"/>
          </a:p>
        </p:txBody>
      </p:sp>
      <p:sp>
        <p:nvSpPr>
          <p:cNvPr id="135" name="lg21_c"/>
          <p:cNvSpPr/>
          <p:nvPr/>
        </p:nvSpPr>
        <p:spPr>
          <a:xfrm>
            <a:off x="7040880" y="6178019"/>
            <a:ext cx="192024" cy="19202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6" name="lg21_n"/>
          <p:cNvSpPr txBox="1"/>
          <p:nvPr/>
        </p:nvSpPr>
        <p:spPr>
          <a:xfrm>
            <a:off x="6995160" y="6178019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</a:rPr>
              <a:t>21</a:t>
            </a:r>
            <a:endParaRPr lang="en-US" sz="750" dirty="0"/>
          </a:p>
        </p:txBody>
      </p:sp>
      <p:sp>
        <p:nvSpPr>
          <p:cNvPr id="137" name="lg21_t"/>
          <p:cNvSpPr txBox="1"/>
          <p:nvPr/>
        </p:nvSpPr>
        <p:spPr>
          <a:xfrm>
            <a:off x="7287768" y="6155575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27A"/>
                </a:solidFill>
              </a:rPr>
              <a:t>Tyre pressure low</a:t>
            </a:r>
            <a:endParaRPr lang="en-US" sz="1000" dirty="0"/>
          </a:p>
        </p:txBody>
      </p:sp>
      <p:sp>
        <p:nvSpPr>
          <p:cNvPr id="138" name="lg22_c"/>
          <p:cNvSpPr/>
          <p:nvPr/>
        </p:nvSpPr>
        <p:spPr>
          <a:xfrm>
            <a:off x="7040880" y="6414932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39" name="lg22_n"/>
          <p:cNvSpPr txBox="1"/>
          <p:nvPr/>
        </p:nvSpPr>
        <p:spPr>
          <a:xfrm>
            <a:off x="6995160" y="6414932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22</a:t>
            </a:r>
            <a:endParaRPr lang="en-US" sz="750" dirty="0"/>
          </a:p>
        </p:txBody>
      </p:sp>
      <p:sp>
        <p:nvSpPr>
          <p:cNvPr id="140" name="lg22_t"/>
          <p:cNvSpPr txBox="1"/>
          <p:nvPr/>
        </p:nvSpPr>
        <p:spPr>
          <a:xfrm>
            <a:off x="7287768" y="6392487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Sidelight information</a:t>
            </a:r>
            <a:endParaRPr lang="en-US" sz="1000" dirty="0"/>
          </a:p>
        </p:txBody>
      </p:sp>
      <p:sp>
        <p:nvSpPr>
          <p:cNvPr id="141" name="lg23_c"/>
          <p:cNvSpPr/>
          <p:nvPr/>
        </p:nvSpPr>
        <p:spPr>
          <a:xfrm>
            <a:off x="8656320" y="1439764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42" name="lg23_n"/>
          <p:cNvSpPr txBox="1"/>
          <p:nvPr/>
        </p:nvSpPr>
        <p:spPr>
          <a:xfrm>
            <a:off x="8610600" y="1439764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23</a:t>
            </a:r>
            <a:endParaRPr lang="en-US" sz="750" dirty="0"/>
          </a:p>
        </p:txBody>
      </p:sp>
      <p:sp>
        <p:nvSpPr>
          <p:cNvPr id="143" name="lg23_t"/>
          <p:cNvSpPr txBox="1"/>
          <p:nvPr/>
        </p:nvSpPr>
        <p:spPr>
          <a:xfrm>
            <a:off x="8903208" y="1417320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Exterior light fault</a:t>
            </a:r>
            <a:endParaRPr lang="en-US" sz="1000" dirty="0"/>
          </a:p>
        </p:txBody>
      </p:sp>
      <p:sp>
        <p:nvSpPr>
          <p:cNvPr id="144" name="lg24_c"/>
          <p:cNvSpPr/>
          <p:nvPr/>
        </p:nvSpPr>
        <p:spPr>
          <a:xfrm>
            <a:off x="8656320" y="1676677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45" name="lg24_n"/>
          <p:cNvSpPr txBox="1"/>
          <p:nvPr/>
        </p:nvSpPr>
        <p:spPr>
          <a:xfrm>
            <a:off x="8610600" y="1676677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24</a:t>
            </a:r>
            <a:endParaRPr lang="en-US" sz="750" dirty="0"/>
          </a:p>
        </p:txBody>
      </p:sp>
      <p:sp>
        <p:nvSpPr>
          <p:cNvPr id="146" name="lg24_t"/>
          <p:cNvSpPr txBox="1"/>
          <p:nvPr/>
        </p:nvSpPr>
        <p:spPr>
          <a:xfrm>
            <a:off x="8903208" y="1654233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Brake lights warning</a:t>
            </a:r>
            <a:endParaRPr lang="en-US" sz="1000" dirty="0"/>
          </a:p>
        </p:txBody>
      </p:sp>
      <p:sp>
        <p:nvSpPr>
          <p:cNvPr id="147" name="lg25_c"/>
          <p:cNvSpPr/>
          <p:nvPr/>
        </p:nvSpPr>
        <p:spPr>
          <a:xfrm>
            <a:off x="8656320" y="1913590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48" name="lg25_n"/>
          <p:cNvSpPr txBox="1"/>
          <p:nvPr/>
        </p:nvSpPr>
        <p:spPr>
          <a:xfrm>
            <a:off x="8610600" y="1913590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25</a:t>
            </a:r>
            <a:endParaRPr lang="en-US" sz="750" dirty="0"/>
          </a:p>
        </p:txBody>
      </p:sp>
      <p:sp>
        <p:nvSpPr>
          <p:cNvPr id="149" name="lg25_t"/>
          <p:cNvSpPr txBox="1"/>
          <p:nvPr/>
        </p:nvSpPr>
        <p:spPr>
          <a:xfrm>
            <a:off x="8903208" y="1891145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DPF (diesel filter)</a:t>
            </a:r>
            <a:endParaRPr lang="en-US" sz="1000" dirty="0"/>
          </a:p>
        </p:txBody>
      </p:sp>
      <p:sp>
        <p:nvSpPr>
          <p:cNvPr id="150" name="lg26_c"/>
          <p:cNvSpPr/>
          <p:nvPr/>
        </p:nvSpPr>
        <p:spPr>
          <a:xfrm>
            <a:off x="8656320" y="2150503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51" name="lg26_n"/>
          <p:cNvSpPr txBox="1"/>
          <p:nvPr/>
        </p:nvSpPr>
        <p:spPr>
          <a:xfrm>
            <a:off x="8610600" y="2150503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26</a:t>
            </a:r>
            <a:endParaRPr lang="en-US" sz="750" dirty="0"/>
          </a:p>
        </p:txBody>
      </p:sp>
      <p:sp>
        <p:nvSpPr>
          <p:cNvPr id="152" name="lg26_t"/>
          <p:cNvSpPr txBox="1"/>
          <p:nvPr/>
        </p:nvSpPr>
        <p:spPr>
          <a:xfrm>
            <a:off x="8903208" y="2128058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Tow hitch warning</a:t>
            </a:r>
            <a:endParaRPr lang="en-US" sz="1000" dirty="0"/>
          </a:p>
        </p:txBody>
      </p:sp>
      <p:sp>
        <p:nvSpPr>
          <p:cNvPr id="153" name="lg27_c"/>
          <p:cNvSpPr/>
          <p:nvPr/>
        </p:nvSpPr>
        <p:spPr>
          <a:xfrm>
            <a:off x="8656320" y="2387415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54" name="lg27_n"/>
          <p:cNvSpPr txBox="1"/>
          <p:nvPr/>
        </p:nvSpPr>
        <p:spPr>
          <a:xfrm>
            <a:off x="8610600" y="2387415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27</a:t>
            </a:r>
            <a:endParaRPr lang="en-US" sz="750" dirty="0"/>
          </a:p>
        </p:txBody>
      </p:sp>
      <p:sp>
        <p:nvSpPr>
          <p:cNvPr id="155" name="lg27_t"/>
          <p:cNvSpPr txBox="1"/>
          <p:nvPr/>
        </p:nvSpPr>
        <p:spPr>
          <a:xfrm>
            <a:off x="8903208" y="2364971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Air suspension warning</a:t>
            </a:r>
            <a:endParaRPr lang="en-US" sz="1000" dirty="0"/>
          </a:p>
        </p:txBody>
      </p:sp>
      <p:sp>
        <p:nvSpPr>
          <p:cNvPr id="156" name="lg28_c"/>
          <p:cNvSpPr/>
          <p:nvPr/>
        </p:nvSpPr>
        <p:spPr>
          <a:xfrm>
            <a:off x="8656320" y="2624328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57" name="lg28_n"/>
          <p:cNvSpPr txBox="1"/>
          <p:nvPr/>
        </p:nvSpPr>
        <p:spPr>
          <a:xfrm>
            <a:off x="8610600" y="2624328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28</a:t>
            </a:r>
            <a:endParaRPr lang="en-US" sz="750" dirty="0"/>
          </a:p>
        </p:txBody>
      </p:sp>
      <p:sp>
        <p:nvSpPr>
          <p:cNvPr id="158" name="lg28_t"/>
          <p:cNvSpPr txBox="1"/>
          <p:nvPr/>
        </p:nvSpPr>
        <p:spPr>
          <a:xfrm>
            <a:off x="8903208" y="2601884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Lane departure warning</a:t>
            </a:r>
            <a:endParaRPr lang="en-US" sz="1000" dirty="0"/>
          </a:p>
        </p:txBody>
      </p:sp>
      <p:sp>
        <p:nvSpPr>
          <p:cNvPr id="159" name="lg29_c"/>
          <p:cNvSpPr/>
          <p:nvPr/>
        </p:nvSpPr>
        <p:spPr>
          <a:xfrm>
            <a:off x="8656320" y="2861241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60" name="lg29_n"/>
          <p:cNvSpPr txBox="1"/>
          <p:nvPr/>
        </p:nvSpPr>
        <p:spPr>
          <a:xfrm>
            <a:off x="8610600" y="2861241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29</a:t>
            </a:r>
            <a:endParaRPr lang="en-US" sz="750" dirty="0"/>
          </a:p>
        </p:txBody>
      </p:sp>
      <p:sp>
        <p:nvSpPr>
          <p:cNvPr id="161" name="lg29_t"/>
          <p:cNvSpPr txBox="1"/>
          <p:nvPr/>
        </p:nvSpPr>
        <p:spPr>
          <a:xfrm>
            <a:off x="8903208" y="2838796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Catalytic converter</a:t>
            </a:r>
            <a:endParaRPr lang="en-US" sz="1000" dirty="0"/>
          </a:p>
        </p:txBody>
      </p:sp>
      <p:sp>
        <p:nvSpPr>
          <p:cNvPr id="162" name="lg30_c"/>
          <p:cNvSpPr/>
          <p:nvPr/>
        </p:nvSpPr>
        <p:spPr>
          <a:xfrm>
            <a:off x="8656320" y="3098153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63" name="lg30_n"/>
          <p:cNvSpPr txBox="1"/>
          <p:nvPr/>
        </p:nvSpPr>
        <p:spPr>
          <a:xfrm>
            <a:off x="8610600" y="3098153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30</a:t>
            </a:r>
            <a:endParaRPr lang="en-US" sz="750" dirty="0"/>
          </a:p>
        </p:txBody>
      </p:sp>
      <p:sp>
        <p:nvSpPr>
          <p:cNvPr id="164" name="lg30_t"/>
          <p:cNvSpPr txBox="1"/>
          <p:nvPr/>
        </p:nvSpPr>
        <p:spPr>
          <a:xfrm>
            <a:off x="8903208" y="3075709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Seat belt not on</a:t>
            </a:r>
            <a:endParaRPr lang="en-US" sz="1000" dirty="0"/>
          </a:p>
        </p:txBody>
      </p:sp>
      <p:sp>
        <p:nvSpPr>
          <p:cNvPr id="165" name="lg31_c"/>
          <p:cNvSpPr/>
          <p:nvPr/>
        </p:nvSpPr>
        <p:spPr>
          <a:xfrm>
            <a:off x="8656320" y="3335066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66" name="lg31_n"/>
          <p:cNvSpPr txBox="1"/>
          <p:nvPr/>
        </p:nvSpPr>
        <p:spPr>
          <a:xfrm>
            <a:off x="8610600" y="3335066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31</a:t>
            </a:r>
            <a:endParaRPr lang="en-US" sz="750" dirty="0"/>
          </a:p>
        </p:txBody>
      </p:sp>
      <p:sp>
        <p:nvSpPr>
          <p:cNvPr id="167" name="lg31_t"/>
          <p:cNvSpPr txBox="1"/>
          <p:nvPr/>
        </p:nvSpPr>
        <p:spPr>
          <a:xfrm>
            <a:off x="8903208" y="3312622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Parking brake light</a:t>
            </a:r>
            <a:endParaRPr lang="en-US" sz="1000" dirty="0"/>
          </a:p>
        </p:txBody>
      </p:sp>
      <p:sp>
        <p:nvSpPr>
          <p:cNvPr id="168" name="lg32_c"/>
          <p:cNvSpPr/>
          <p:nvPr/>
        </p:nvSpPr>
        <p:spPr>
          <a:xfrm>
            <a:off x="8656320" y="3571979"/>
            <a:ext cx="192024" cy="19202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9" name="lg32_n"/>
          <p:cNvSpPr txBox="1"/>
          <p:nvPr/>
        </p:nvSpPr>
        <p:spPr>
          <a:xfrm>
            <a:off x="8610600" y="3571979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32</a:t>
            </a:r>
            <a:endParaRPr lang="en-US" sz="750" dirty="0"/>
          </a:p>
        </p:txBody>
      </p:sp>
      <p:sp>
        <p:nvSpPr>
          <p:cNvPr id="170" name="lg32_t"/>
          <p:cNvSpPr txBox="1"/>
          <p:nvPr/>
        </p:nvSpPr>
        <p:spPr>
          <a:xfrm>
            <a:off x="8903208" y="3549535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C96"/>
                </a:solidFill>
              </a:rPr>
              <a:t>Battery / alternator</a:t>
            </a:r>
            <a:endParaRPr lang="en-US" sz="1000" dirty="0"/>
          </a:p>
        </p:txBody>
      </p:sp>
      <p:sp>
        <p:nvSpPr>
          <p:cNvPr id="171" name="lg33_c"/>
          <p:cNvSpPr/>
          <p:nvPr/>
        </p:nvSpPr>
        <p:spPr>
          <a:xfrm>
            <a:off x="8656320" y="3808892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72" name="lg33_n"/>
          <p:cNvSpPr txBox="1"/>
          <p:nvPr/>
        </p:nvSpPr>
        <p:spPr>
          <a:xfrm>
            <a:off x="8610600" y="3808892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33</a:t>
            </a:r>
            <a:endParaRPr lang="en-US" sz="750" dirty="0"/>
          </a:p>
        </p:txBody>
      </p:sp>
      <p:sp>
        <p:nvSpPr>
          <p:cNvPr id="173" name="lg33_t"/>
          <p:cNvSpPr txBox="1"/>
          <p:nvPr/>
        </p:nvSpPr>
        <p:spPr>
          <a:xfrm>
            <a:off x="8903208" y="3786447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Parking assist</a:t>
            </a:r>
            <a:endParaRPr lang="en-US" sz="1000" dirty="0"/>
          </a:p>
        </p:txBody>
      </p:sp>
      <p:sp>
        <p:nvSpPr>
          <p:cNvPr id="174" name="lg34_c"/>
          <p:cNvSpPr/>
          <p:nvPr/>
        </p:nvSpPr>
        <p:spPr>
          <a:xfrm>
            <a:off x="8656320" y="4045804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75" name="lg34_n"/>
          <p:cNvSpPr txBox="1"/>
          <p:nvPr/>
        </p:nvSpPr>
        <p:spPr>
          <a:xfrm>
            <a:off x="8610600" y="4045804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34</a:t>
            </a:r>
            <a:endParaRPr lang="en-US" sz="750" dirty="0"/>
          </a:p>
        </p:txBody>
      </p:sp>
      <p:sp>
        <p:nvSpPr>
          <p:cNvPr id="176" name="lg34_t"/>
          <p:cNvSpPr txBox="1"/>
          <p:nvPr/>
        </p:nvSpPr>
        <p:spPr>
          <a:xfrm>
            <a:off x="8903208" y="4023360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Service required</a:t>
            </a:r>
            <a:endParaRPr lang="en-US" sz="1000" dirty="0"/>
          </a:p>
        </p:txBody>
      </p:sp>
      <p:sp>
        <p:nvSpPr>
          <p:cNvPr id="177" name="lg35_c"/>
          <p:cNvSpPr/>
          <p:nvPr/>
        </p:nvSpPr>
        <p:spPr>
          <a:xfrm>
            <a:off x="8656320" y="4282717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78" name="lg35_n"/>
          <p:cNvSpPr txBox="1"/>
          <p:nvPr/>
        </p:nvSpPr>
        <p:spPr>
          <a:xfrm>
            <a:off x="8610600" y="4282717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35</a:t>
            </a:r>
            <a:endParaRPr lang="en-US" sz="750" dirty="0"/>
          </a:p>
        </p:txBody>
      </p:sp>
      <p:sp>
        <p:nvSpPr>
          <p:cNvPr id="179" name="lg35_t"/>
          <p:cNvSpPr txBox="1"/>
          <p:nvPr/>
        </p:nvSpPr>
        <p:spPr>
          <a:xfrm>
            <a:off x="8903208" y="4260273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Adaptive lighting</a:t>
            </a:r>
            <a:endParaRPr lang="en-US" sz="1000" dirty="0"/>
          </a:p>
        </p:txBody>
      </p:sp>
      <p:sp>
        <p:nvSpPr>
          <p:cNvPr id="180" name="lg36_c"/>
          <p:cNvSpPr/>
          <p:nvPr/>
        </p:nvSpPr>
        <p:spPr>
          <a:xfrm>
            <a:off x="8656320" y="4519630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81" name="lg36_n"/>
          <p:cNvSpPr txBox="1"/>
          <p:nvPr/>
        </p:nvSpPr>
        <p:spPr>
          <a:xfrm>
            <a:off x="8610600" y="4519630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36</a:t>
            </a:r>
            <a:endParaRPr lang="en-US" sz="750" dirty="0"/>
          </a:p>
        </p:txBody>
      </p:sp>
      <p:sp>
        <p:nvSpPr>
          <p:cNvPr id="182" name="lg36_t"/>
          <p:cNvSpPr txBox="1"/>
          <p:nvPr/>
        </p:nvSpPr>
        <p:spPr>
          <a:xfrm>
            <a:off x="8903208" y="4497185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Headlight range control</a:t>
            </a:r>
            <a:endParaRPr lang="en-US" sz="1000" dirty="0"/>
          </a:p>
        </p:txBody>
      </p:sp>
      <p:sp>
        <p:nvSpPr>
          <p:cNvPr id="183" name="lg37_c"/>
          <p:cNvSpPr/>
          <p:nvPr/>
        </p:nvSpPr>
        <p:spPr>
          <a:xfrm>
            <a:off x="8656320" y="4756543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84" name="lg37_n"/>
          <p:cNvSpPr txBox="1"/>
          <p:nvPr/>
        </p:nvSpPr>
        <p:spPr>
          <a:xfrm>
            <a:off x="8610600" y="4756543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37</a:t>
            </a:r>
            <a:endParaRPr lang="en-US" sz="750" dirty="0"/>
          </a:p>
        </p:txBody>
      </p:sp>
      <p:sp>
        <p:nvSpPr>
          <p:cNvPr id="185" name="lg37_t"/>
          <p:cNvSpPr txBox="1"/>
          <p:nvPr/>
        </p:nvSpPr>
        <p:spPr>
          <a:xfrm>
            <a:off x="8903208" y="4734098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Rear spoiler warning</a:t>
            </a:r>
            <a:endParaRPr lang="en-US" sz="1000" dirty="0"/>
          </a:p>
        </p:txBody>
      </p:sp>
      <p:sp>
        <p:nvSpPr>
          <p:cNvPr id="186" name="lg38_c"/>
          <p:cNvSpPr/>
          <p:nvPr/>
        </p:nvSpPr>
        <p:spPr>
          <a:xfrm>
            <a:off x="8656320" y="4993455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87" name="lg38_n"/>
          <p:cNvSpPr txBox="1"/>
          <p:nvPr/>
        </p:nvSpPr>
        <p:spPr>
          <a:xfrm>
            <a:off x="8610600" y="4993455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38</a:t>
            </a:r>
            <a:endParaRPr lang="en-US" sz="750" dirty="0"/>
          </a:p>
        </p:txBody>
      </p:sp>
      <p:sp>
        <p:nvSpPr>
          <p:cNvPr id="188" name="lg38_t"/>
          <p:cNvSpPr txBox="1"/>
          <p:nvPr/>
        </p:nvSpPr>
        <p:spPr>
          <a:xfrm>
            <a:off x="8903208" y="4971011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Convertible roof</a:t>
            </a:r>
            <a:endParaRPr lang="en-US" sz="1000" dirty="0"/>
          </a:p>
        </p:txBody>
      </p:sp>
      <p:sp>
        <p:nvSpPr>
          <p:cNvPr id="189" name="lg39_c"/>
          <p:cNvSpPr/>
          <p:nvPr/>
        </p:nvSpPr>
        <p:spPr>
          <a:xfrm>
            <a:off x="8656320" y="5230368"/>
            <a:ext cx="192024" cy="19202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90" name="lg39_n"/>
          <p:cNvSpPr txBox="1"/>
          <p:nvPr/>
        </p:nvSpPr>
        <p:spPr>
          <a:xfrm>
            <a:off x="8610600" y="5230368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39</a:t>
            </a:r>
            <a:endParaRPr lang="en-US" sz="750" dirty="0"/>
          </a:p>
        </p:txBody>
      </p:sp>
      <p:sp>
        <p:nvSpPr>
          <p:cNvPr id="191" name="lg39_t"/>
          <p:cNvSpPr txBox="1"/>
          <p:nvPr/>
        </p:nvSpPr>
        <p:spPr>
          <a:xfrm>
            <a:off x="8903208" y="5207924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C96"/>
                </a:solidFill>
              </a:rPr>
              <a:t>Airbag warning</a:t>
            </a:r>
            <a:endParaRPr lang="en-US" sz="1000" dirty="0"/>
          </a:p>
        </p:txBody>
      </p:sp>
      <p:sp>
        <p:nvSpPr>
          <p:cNvPr id="192" name="lg40_c"/>
          <p:cNvSpPr/>
          <p:nvPr/>
        </p:nvSpPr>
        <p:spPr>
          <a:xfrm>
            <a:off x="8656320" y="5467281"/>
            <a:ext cx="192024" cy="19202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93" name="lg40_n"/>
          <p:cNvSpPr txBox="1"/>
          <p:nvPr/>
        </p:nvSpPr>
        <p:spPr>
          <a:xfrm>
            <a:off x="8610600" y="5467281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40</a:t>
            </a:r>
            <a:endParaRPr lang="en-US" sz="750" dirty="0"/>
          </a:p>
        </p:txBody>
      </p:sp>
      <p:sp>
        <p:nvSpPr>
          <p:cNvPr id="194" name="lg40_t"/>
          <p:cNvSpPr txBox="1"/>
          <p:nvPr/>
        </p:nvSpPr>
        <p:spPr>
          <a:xfrm>
            <a:off x="8903208" y="5444836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C96"/>
                </a:solidFill>
              </a:rPr>
              <a:t>Brake / handbrake</a:t>
            </a:r>
            <a:endParaRPr lang="en-US" sz="1000" dirty="0"/>
          </a:p>
        </p:txBody>
      </p:sp>
      <p:sp>
        <p:nvSpPr>
          <p:cNvPr id="195" name="lg41_c"/>
          <p:cNvSpPr/>
          <p:nvPr/>
        </p:nvSpPr>
        <p:spPr>
          <a:xfrm>
            <a:off x="8656320" y="5704193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96" name="lg41_n"/>
          <p:cNvSpPr txBox="1"/>
          <p:nvPr/>
        </p:nvSpPr>
        <p:spPr>
          <a:xfrm>
            <a:off x="8610600" y="5704193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41</a:t>
            </a:r>
            <a:endParaRPr lang="en-US" sz="750" dirty="0"/>
          </a:p>
        </p:txBody>
      </p:sp>
      <p:sp>
        <p:nvSpPr>
          <p:cNvPr id="197" name="lg41_t"/>
          <p:cNvSpPr txBox="1"/>
          <p:nvPr/>
        </p:nvSpPr>
        <p:spPr>
          <a:xfrm>
            <a:off x="8903208" y="5681749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Water in fuel filter</a:t>
            </a:r>
            <a:endParaRPr lang="en-US" sz="1000" dirty="0"/>
          </a:p>
        </p:txBody>
      </p:sp>
      <p:sp>
        <p:nvSpPr>
          <p:cNvPr id="198" name="lg42_c"/>
          <p:cNvSpPr/>
          <p:nvPr/>
        </p:nvSpPr>
        <p:spPr>
          <a:xfrm>
            <a:off x="8656320" y="5941106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199" name="lg42_n"/>
          <p:cNvSpPr txBox="1"/>
          <p:nvPr/>
        </p:nvSpPr>
        <p:spPr>
          <a:xfrm>
            <a:off x="8610600" y="5941106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42</a:t>
            </a:r>
            <a:endParaRPr lang="en-US" sz="750" dirty="0"/>
          </a:p>
        </p:txBody>
      </p:sp>
      <p:sp>
        <p:nvSpPr>
          <p:cNvPr id="200" name="lg42_t"/>
          <p:cNvSpPr txBox="1"/>
          <p:nvPr/>
        </p:nvSpPr>
        <p:spPr>
          <a:xfrm>
            <a:off x="8903208" y="5918662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Airbag deactivated</a:t>
            </a:r>
            <a:endParaRPr lang="en-US" sz="1000" dirty="0"/>
          </a:p>
        </p:txBody>
      </p:sp>
      <p:sp>
        <p:nvSpPr>
          <p:cNvPr id="201" name="lg43_c"/>
          <p:cNvSpPr/>
          <p:nvPr/>
        </p:nvSpPr>
        <p:spPr>
          <a:xfrm>
            <a:off x="8656320" y="6178019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02" name="lg43_n"/>
          <p:cNvSpPr txBox="1"/>
          <p:nvPr/>
        </p:nvSpPr>
        <p:spPr>
          <a:xfrm>
            <a:off x="8610600" y="6178019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43</a:t>
            </a:r>
            <a:endParaRPr lang="en-US" sz="750" dirty="0"/>
          </a:p>
        </p:txBody>
      </p:sp>
      <p:sp>
        <p:nvSpPr>
          <p:cNvPr id="203" name="lg43_t"/>
          <p:cNvSpPr txBox="1"/>
          <p:nvPr/>
        </p:nvSpPr>
        <p:spPr>
          <a:xfrm>
            <a:off x="8903208" y="6155575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Fault (general)</a:t>
            </a:r>
            <a:endParaRPr lang="en-US" sz="1000" dirty="0"/>
          </a:p>
        </p:txBody>
      </p:sp>
      <p:sp>
        <p:nvSpPr>
          <p:cNvPr id="204" name="lg44_c"/>
          <p:cNvSpPr/>
          <p:nvPr/>
        </p:nvSpPr>
        <p:spPr>
          <a:xfrm>
            <a:off x="8656320" y="6414932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05" name="lg44_n"/>
          <p:cNvSpPr txBox="1"/>
          <p:nvPr/>
        </p:nvSpPr>
        <p:spPr>
          <a:xfrm>
            <a:off x="8610600" y="6414932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44</a:t>
            </a:r>
            <a:endParaRPr lang="en-US" sz="750" dirty="0"/>
          </a:p>
        </p:txBody>
      </p:sp>
      <p:sp>
        <p:nvSpPr>
          <p:cNvPr id="206" name="lg44_t"/>
          <p:cNvSpPr txBox="1"/>
          <p:nvPr/>
        </p:nvSpPr>
        <p:spPr>
          <a:xfrm>
            <a:off x="8903208" y="6392487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Dipped beam</a:t>
            </a:r>
            <a:endParaRPr lang="en-US" sz="1000" dirty="0"/>
          </a:p>
        </p:txBody>
      </p:sp>
      <p:sp>
        <p:nvSpPr>
          <p:cNvPr id="207" name="lg45_c"/>
          <p:cNvSpPr/>
          <p:nvPr/>
        </p:nvSpPr>
        <p:spPr>
          <a:xfrm>
            <a:off x="10271760" y="1439764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08" name="lg45_n"/>
          <p:cNvSpPr txBox="1"/>
          <p:nvPr/>
        </p:nvSpPr>
        <p:spPr>
          <a:xfrm>
            <a:off x="10226040" y="1439764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45</a:t>
            </a:r>
            <a:endParaRPr lang="en-US" sz="750" dirty="0"/>
          </a:p>
        </p:txBody>
      </p:sp>
      <p:sp>
        <p:nvSpPr>
          <p:cNvPr id="209" name="lg45_t"/>
          <p:cNvSpPr txBox="1"/>
          <p:nvPr/>
        </p:nvSpPr>
        <p:spPr>
          <a:xfrm>
            <a:off x="10518648" y="1417320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Dirty air filter</a:t>
            </a:r>
            <a:endParaRPr lang="en-US" sz="1000" dirty="0"/>
          </a:p>
        </p:txBody>
      </p:sp>
      <p:sp>
        <p:nvSpPr>
          <p:cNvPr id="210" name="lg46_c"/>
          <p:cNvSpPr/>
          <p:nvPr/>
        </p:nvSpPr>
        <p:spPr>
          <a:xfrm>
            <a:off x="10271760" y="1676677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11" name="lg46_n"/>
          <p:cNvSpPr txBox="1"/>
          <p:nvPr/>
        </p:nvSpPr>
        <p:spPr>
          <a:xfrm>
            <a:off x="10226040" y="1676677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46</a:t>
            </a:r>
            <a:endParaRPr lang="en-US" sz="750" dirty="0"/>
          </a:p>
        </p:txBody>
      </p:sp>
      <p:sp>
        <p:nvSpPr>
          <p:cNvPr id="212" name="lg46_t"/>
          <p:cNvSpPr txBox="1"/>
          <p:nvPr/>
        </p:nvSpPr>
        <p:spPr>
          <a:xfrm>
            <a:off x="10518648" y="1654233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Eco driving indicator</a:t>
            </a:r>
            <a:endParaRPr lang="en-US" sz="1000" dirty="0"/>
          </a:p>
        </p:txBody>
      </p:sp>
      <p:sp>
        <p:nvSpPr>
          <p:cNvPr id="213" name="lg47_c"/>
          <p:cNvSpPr/>
          <p:nvPr/>
        </p:nvSpPr>
        <p:spPr>
          <a:xfrm>
            <a:off x="10271760" y="1913590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14" name="lg47_n"/>
          <p:cNvSpPr txBox="1"/>
          <p:nvPr/>
        </p:nvSpPr>
        <p:spPr>
          <a:xfrm>
            <a:off x="10226040" y="1913590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</a:t>
            </a:r>
            <a:endParaRPr lang="en-US" sz="750" dirty="0"/>
          </a:p>
        </p:txBody>
      </p:sp>
      <p:sp>
        <p:nvSpPr>
          <p:cNvPr id="215" name="lg47_t"/>
          <p:cNvSpPr txBox="1"/>
          <p:nvPr/>
        </p:nvSpPr>
        <p:spPr>
          <a:xfrm>
            <a:off x="10518648" y="1891145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Hill descent control</a:t>
            </a:r>
            <a:endParaRPr lang="en-US" sz="1000" dirty="0"/>
          </a:p>
        </p:txBody>
      </p:sp>
      <p:sp>
        <p:nvSpPr>
          <p:cNvPr id="216" name="lg48_c"/>
          <p:cNvSpPr/>
          <p:nvPr/>
        </p:nvSpPr>
        <p:spPr>
          <a:xfrm>
            <a:off x="10271760" y="2150503"/>
            <a:ext cx="192024" cy="19202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7" name="lg48_n"/>
          <p:cNvSpPr txBox="1"/>
          <p:nvPr/>
        </p:nvSpPr>
        <p:spPr>
          <a:xfrm>
            <a:off x="10226040" y="2150503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48</a:t>
            </a:r>
            <a:endParaRPr lang="en-US" sz="750" dirty="0"/>
          </a:p>
        </p:txBody>
      </p:sp>
      <p:sp>
        <p:nvSpPr>
          <p:cNvPr id="218" name="lg48_t"/>
          <p:cNvSpPr txBox="1"/>
          <p:nvPr/>
        </p:nvSpPr>
        <p:spPr>
          <a:xfrm>
            <a:off x="10518648" y="2128058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C96"/>
                </a:solidFill>
              </a:rPr>
              <a:t>Temperature warning</a:t>
            </a:r>
            <a:endParaRPr lang="en-US" sz="1000" dirty="0"/>
          </a:p>
        </p:txBody>
      </p:sp>
      <p:sp>
        <p:nvSpPr>
          <p:cNvPr id="219" name="lg49_c"/>
          <p:cNvSpPr/>
          <p:nvPr/>
        </p:nvSpPr>
        <p:spPr>
          <a:xfrm>
            <a:off x="10271760" y="2387415"/>
            <a:ext cx="192024" cy="19202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0" name="lg49_n"/>
          <p:cNvSpPr txBox="1"/>
          <p:nvPr/>
        </p:nvSpPr>
        <p:spPr>
          <a:xfrm>
            <a:off x="10226040" y="2387415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</a:rPr>
              <a:t>49</a:t>
            </a:r>
            <a:endParaRPr lang="en-US" sz="750" dirty="0"/>
          </a:p>
        </p:txBody>
      </p:sp>
      <p:sp>
        <p:nvSpPr>
          <p:cNvPr id="221" name="lg49_t"/>
          <p:cNvSpPr txBox="1"/>
          <p:nvPr/>
        </p:nvSpPr>
        <p:spPr>
          <a:xfrm>
            <a:off x="10518648" y="2364971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27A"/>
                </a:solidFill>
              </a:rPr>
              <a:t>ABS warning</a:t>
            </a:r>
            <a:endParaRPr lang="en-US" sz="1000" dirty="0"/>
          </a:p>
        </p:txBody>
      </p:sp>
      <p:sp>
        <p:nvSpPr>
          <p:cNvPr id="222" name="lg50_c"/>
          <p:cNvSpPr/>
          <p:nvPr/>
        </p:nvSpPr>
        <p:spPr>
          <a:xfrm>
            <a:off x="10271760" y="2624328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23" name="lg50_n"/>
          <p:cNvSpPr txBox="1"/>
          <p:nvPr/>
        </p:nvSpPr>
        <p:spPr>
          <a:xfrm>
            <a:off x="10226040" y="2624328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50</a:t>
            </a:r>
            <a:endParaRPr lang="en-US" sz="750" dirty="0"/>
          </a:p>
        </p:txBody>
      </p:sp>
      <p:sp>
        <p:nvSpPr>
          <p:cNvPr id="224" name="lg50_t"/>
          <p:cNvSpPr txBox="1"/>
          <p:nvPr/>
        </p:nvSpPr>
        <p:spPr>
          <a:xfrm>
            <a:off x="10518648" y="2601884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Fuel filter warning</a:t>
            </a:r>
            <a:endParaRPr lang="en-US" sz="1000" dirty="0"/>
          </a:p>
        </p:txBody>
      </p:sp>
      <p:sp>
        <p:nvSpPr>
          <p:cNvPr id="225" name="lg51_c"/>
          <p:cNvSpPr/>
          <p:nvPr/>
        </p:nvSpPr>
        <p:spPr>
          <a:xfrm>
            <a:off x="10271760" y="2861241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26" name="lg51_n"/>
          <p:cNvSpPr txBox="1"/>
          <p:nvPr/>
        </p:nvSpPr>
        <p:spPr>
          <a:xfrm>
            <a:off x="10226040" y="2861241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51</a:t>
            </a:r>
            <a:endParaRPr lang="en-US" sz="750" dirty="0"/>
          </a:p>
        </p:txBody>
      </p:sp>
      <p:sp>
        <p:nvSpPr>
          <p:cNvPr id="227" name="lg51_t"/>
          <p:cNvSpPr txBox="1"/>
          <p:nvPr/>
        </p:nvSpPr>
        <p:spPr>
          <a:xfrm>
            <a:off x="10518648" y="2838796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Door open</a:t>
            </a:r>
            <a:endParaRPr lang="en-US" sz="1000" dirty="0"/>
          </a:p>
        </p:txBody>
      </p:sp>
      <p:sp>
        <p:nvSpPr>
          <p:cNvPr id="228" name="lg52_c"/>
          <p:cNvSpPr/>
          <p:nvPr/>
        </p:nvSpPr>
        <p:spPr>
          <a:xfrm>
            <a:off x="10271760" y="3098153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29" name="lg52_n"/>
          <p:cNvSpPr txBox="1"/>
          <p:nvPr/>
        </p:nvSpPr>
        <p:spPr>
          <a:xfrm>
            <a:off x="10226040" y="3098153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52</a:t>
            </a:r>
            <a:endParaRPr lang="en-US" sz="750" dirty="0"/>
          </a:p>
        </p:txBody>
      </p:sp>
      <p:sp>
        <p:nvSpPr>
          <p:cNvPr id="230" name="lg52_t"/>
          <p:cNvSpPr txBox="1"/>
          <p:nvPr/>
        </p:nvSpPr>
        <p:spPr>
          <a:xfrm>
            <a:off x="10518648" y="3075709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Bonnet open</a:t>
            </a:r>
            <a:endParaRPr lang="en-US" sz="1000" dirty="0"/>
          </a:p>
        </p:txBody>
      </p:sp>
      <p:sp>
        <p:nvSpPr>
          <p:cNvPr id="231" name="lg53_c"/>
          <p:cNvSpPr/>
          <p:nvPr/>
        </p:nvSpPr>
        <p:spPr>
          <a:xfrm>
            <a:off x="10271760" y="3335066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32" name="lg53_n"/>
          <p:cNvSpPr txBox="1"/>
          <p:nvPr/>
        </p:nvSpPr>
        <p:spPr>
          <a:xfrm>
            <a:off x="10226040" y="3335066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53</a:t>
            </a:r>
            <a:endParaRPr lang="en-US" sz="750" dirty="0"/>
          </a:p>
        </p:txBody>
      </p:sp>
      <p:sp>
        <p:nvSpPr>
          <p:cNvPr id="233" name="lg53_t"/>
          <p:cNvSpPr txBox="1"/>
          <p:nvPr/>
        </p:nvSpPr>
        <p:spPr>
          <a:xfrm>
            <a:off x="10518648" y="3312622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Low fuel</a:t>
            </a:r>
            <a:endParaRPr lang="en-US" sz="1000" dirty="0"/>
          </a:p>
        </p:txBody>
      </p:sp>
      <p:sp>
        <p:nvSpPr>
          <p:cNvPr id="234" name="lg54_c"/>
          <p:cNvSpPr/>
          <p:nvPr/>
        </p:nvSpPr>
        <p:spPr>
          <a:xfrm>
            <a:off x="10271760" y="3571979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35" name="lg54_n"/>
          <p:cNvSpPr txBox="1"/>
          <p:nvPr/>
        </p:nvSpPr>
        <p:spPr>
          <a:xfrm>
            <a:off x="10226040" y="3571979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54</a:t>
            </a:r>
            <a:endParaRPr lang="en-US" sz="750" dirty="0"/>
          </a:p>
        </p:txBody>
      </p:sp>
      <p:sp>
        <p:nvSpPr>
          <p:cNvPr id="236" name="lg54_t"/>
          <p:cNvSpPr txBox="1"/>
          <p:nvPr/>
        </p:nvSpPr>
        <p:spPr>
          <a:xfrm>
            <a:off x="10518648" y="3549535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Auto gearbox warning</a:t>
            </a:r>
            <a:endParaRPr lang="en-US" sz="1000" dirty="0"/>
          </a:p>
        </p:txBody>
      </p:sp>
      <p:sp>
        <p:nvSpPr>
          <p:cNvPr id="237" name="lg55_c"/>
          <p:cNvSpPr/>
          <p:nvPr/>
        </p:nvSpPr>
        <p:spPr>
          <a:xfrm>
            <a:off x="10271760" y="3808892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38" name="lg55_n"/>
          <p:cNvSpPr txBox="1"/>
          <p:nvPr/>
        </p:nvSpPr>
        <p:spPr>
          <a:xfrm>
            <a:off x="10226040" y="3808892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55</a:t>
            </a:r>
            <a:endParaRPr lang="en-US" sz="750" dirty="0"/>
          </a:p>
        </p:txBody>
      </p:sp>
      <p:sp>
        <p:nvSpPr>
          <p:cNvPr id="239" name="lg55_t"/>
          <p:cNvSpPr txBox="1"/>
          <p:nvPr/>
        </p:nvSpPr>
        <p:spPr>
          <a:xfrm>
            <a:off x="10518648" y="3786447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Speed limiter</a:t>
            </a:r>
            <a:endParaRPr lang="en-US" sz="1000" dirty="0"/>
          </a:p>
        </p:txBody>
      </p:sp>
      <p:sp>
        <p:nvSpPr>
          <p:cNvPr id="240" name="lg56_c"/>
          <p:cNvSpPr/>
          <p:nvPr/>
        </p:nvSpPr>
        <p:spPr>
          <a:xfrm>
            <a:off x="10271760" y="4045804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41" name="lg56_n"/>
          <p:cNvSpPr txBox="1"/>
          <p:nvPr/>
        </p:nvSpPr>
        <p:spPr>
          <a:xfrm>
            <a:off x="10226040" y="4045804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56</a:t>
            </a:r>
            <a:endParaRPr lang="en-US" sz="750" dirty="0"/>
          </a:p>
        </p:txBody>
      </p:sp>
      <p:sp>
        <p:nvSpPr>
          <p:cNvPr id="242" name="lg56_t"/>
          <p:cNvSpPr txBox="1"/>
          <p:nvPr/>
        </p:nvSpPr>
        <p:spPr>
          <a:xfrm>
            <a:off x="10518648" y="4023360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Suspension dampers</a:t>
            </a:r>
            <a:endParaRPr lang="en-US" sz="1000" dirty="0"/>
          </a:p>
        </p:txBody>
      </p:sp>
      <p:sp>
        <p:nvSpPr>
          <p:cNvPr id="243" name="lg57_c"/>
          <p:cNvSpPr/>
          <p:nvPr/>
        </p:nvSpPr>
        <p:spPr>
          <a:xfrm>
            <a:off x="10271760" y="4282717"/>
            <a:ext cx="192024" cy="19202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44" name="lg57_n"/>
          <p:cNvSpPr txBox="1"/>
          <p:nvPr/>
        </p:nvSpPr>
        <p:spPr>
          <a:xfrm>
            <a:off x="10226040" y="4282717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57</a:t>
            </a:r>
            <a:endParaRPr lang="en-US" sz="750" dirty="0"/>
          </a:p>
        </p:txBody>
      </p:sp>
      <p:sp>
        <p:nvSpPr>
          <p:cNvPr id="245" name="lg57_t"/>
          <p:cNvSpPr txBox="1"/>
          <p:nvPr/>
        </p:nvSpPr>
        <p:spPr>
          <a:xfrm>
            <a:off x="10518648" y="4260273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C96"/>
                </a:solidFill>
              </a:rPr>
              <a:t>Oil pressure low</a:t>
            </a:r>
            <a:endParaRPr lang="en-US" sz="1000" dirty="0"/>
          </a:p>
        </p:txBody>
      </p:sp>
      <p:sp>
        <p:nvSpPr>
          <p:cNvPr id="246" name="lg58_c"/>
          <p:cNvSpPr/>
          <p:nvPr/>
        </p:nvSpPr>
        <p:spPr>
          <a:xfrm>
            <a:off x="10271760" y="4519630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47" name="lg58_n"/>
          <p:cNvSpPr txBox="1"/>
          <p:nvPr/>
        </p:nvSpPr>
        <p:spPr>
          <a:xfrm>
            <a:off x="10226040" y="4519630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58</a:t>
            </a:r>
            <a:endParaRPr lang="en-US" sz="750" dirty="0"/>
          </a:p>
        </p:txBody>
      </p:sp>
      <p:sp>
        <p:nvSpPr>
          <p:cNvPr id="248" name="lg58_t"/>
          <p:cNvSpPr txBox="1"/>
          <p:nvPr/>
        </p:nvSpPr>
        <p:spPr>
          <a:xfrm>
            <a:off x="10518648" y="4497185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Windscreen defrost</a:t>
            </a:r>
            <a:endParaRPr lang="en-US" sz="1000" dirty="0"/>
          </a:p>
        </p:txBody>
      </p:sp>
      <p:sp>
        <p:nvSpPr>
          <p:cNvPr id="249" name="lg59_c"/>
          <p:cNvSpPr/>
          <p:nvPr/>
        </p:nvSpPr>
        <p:spPr>
          <a:xfrm>
            <a:off x="10271760" y="4756543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50" name="lg59_n"/>
          <p:cNvSpPr txBox="1"/>
          <p:nvPr/>
        </p:nvSpPr>
        <p:spPr>
          <a:xfrm>
            <a:off x="10226040" y="4756543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59</a:t>
            </a:r>
            <a:endParaRPr lang="en-US" sz="750" dirty="0"/>
          </a:p>
        </p:txBody>
      </p:sp>
      <p:sp>
        <p:nvSpPr>
          <p:cNvPr id="251" name="lg59_t"/>
          <p:cNvSpPr txBox="1"/>
          <p:nvPr/>
        </p:nvSpPr>
        <p:spPr>
          <a:xfrm>
            <a:off x="10518648" y="4734098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Boot open</a:t>
            </a:r>
            <a:endParaRPr lang="en-US" sz="1000" dirty="0"/>
          </a:p>
        </p:txBody>
      </p:sp>
      <p:sp>
        <p:nvSpPr>
          <p:cNvPr id="252" name="lg60_c"/>
          <p:cNvSpPr/>
          <p:nvPr/>
        </p:nvSpPr>
        <p:spPr>
          <a:xfrm>
            <a:off x="10271760" y="4993455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53" name="lg60_n"/>
          <p:cNvSpPr txBox="1"/>
          <p:nvPr/>
        </p:nvSpPr>
        <p:spPr>
          <a:xfrm>
            <a:off x="10226040" y="4993455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60</a:t>
            </a:r>
            <a:endParaRPr lang="en-US" sz="750" dirty="0"/>
          </a:p>
        </p:txBody>
      </p:sp>
      <p:sp>
        <p:nvSpPr>
          <p:cNvPr id="254" name="lg60_t"/>
          <p:cNvSpPr txBox="1"/>
          <p:nvPr/>
        </p:nvSpPr>
        <p:spPr>
          <a:xfrm>
            <a:off x="10518648" y="4971011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Stability control (ESC)</a:t>
            </a:r>
            <a:endParaRPr lang="en-US" sz="1000" dirty="0"/>
          </a:p>
        </p:txBody>
      </p:sp>
      <p:sp>
        <p:nvSpPr>
          <p:cNvPr id="255" name="lg61_c"/>
          <p:cNvSpPr/>
          <p:nvPr/>
        </p:nvSpPr>
        <p:spPr>
          <a:xfrm>
            <a:off x="10271760" y="5230368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56" name="lg61_n"/>
          <p:cNvSpPr txBox="1"/>
          <p:nvPr/>
        </p:nvSpPr>
        <p:spPr>
          <a:xfrm>
            <a:off x="10226040" y="5230368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61</a:t>
            </a:r>
            <a:endParaRPr lang="en-US" sz="750" dirty="0"/>
          </a:p>
        </p:txBody>
      </p:sp>
      <p:sp>
        <p:nvSpPr>
          <p:cNvPr id="257" name="lg61_t"/>
          <p:cNvSpPr txBox="1"/>
          <p:nvPr/>
        </p:nvSpPr>
        <p:spPr>
          <a:xfrm>
            <a:off x="10518648" y="5207924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Rain sensor</a:t>
            </a:r>
            <a:endParaRPr lang="en-US" sz="1000" dirty="0"/>
          </a:p>
        </p:txBody>
      </p:sp>
      <p:sp>
        <p:nvSpPr>
          <p:cNvPr id="258" name="lg62_c"/>
          <p:cNvSpPr/>
          <p:nvPr/>
        </p:nvSpPr>
        <p:spPr>
          <a:xfrm>
            <a:off x="10271760" y="5467281"/>
            <a:ext cx="192024" cy="19202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9" name="lg62_n"/>
          <p:cNvSpPr txBox="1"/>
          <p:nvPr/>
        </p:nvSpPr>
        <p:spPr>
          <a:xfrm>
            <a:off x="10226040" y="5467281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</a:rPr>
              <a:t>62</a:t>
            </a:r>
            <a:endParaRPr lang="en-US" sz="750" dirty="0"/>
          </a:p>
        </p:txBody>
      </p:sp>
      <p:sp>
        <p:nvSpPr>
          <p:cNvPr id="260" name="lg62_t"/>
          <p:cNvSpPr txBox="1"/>
          <p:nvPr/>
        </p:nvSpPr>
        <p:spPr>
          <a:xfrm>
            <a:off x="10518648" y="5444836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27A"/>
                </a:solidFill>
              </a:rPr>
              <a:t>Engine / emissions</a:t>
            </a:r>
            <a:endParaRPr lang="en-US" sz="1000" dirty="0"/>
          </a:p>
        </p:txBody>
      </p:sp>
      <p:sp>
        <p:nvSpPr>
          <p:cNvPr id="261" name="lg63_c"/>
          <p:cNvSpPr/>
          <p:nvPr/>
        </p:nvSpPr>
        <p:spPr>
          <a:xfrm>
            <a:off x="10271760" y="5704193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62" name="lg63_n"/>
          <p:cNvSpPr txBox="1"/>
          <p:nvPr/>
        </p:nvSpPr>
        <p:spPr>
          <a:xfrm>
            <a:off x="10226040" y="5704193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63</a:t>
            </a:r>
            <a:endParaRPr lang="en-US" sz="750" dirty="0"/>
          </a:p>
        </p:txBody>
      </p:sp>
      <p:sp>
        <p:nvSpPr>
          <p:cNvPr id="263" name="lg63_t"/>
          <p:cNvSpPr txBox="1"/>
          <p:nvPr/>
        </p:nvSpPr>
        <p:spPr>
          <a:xfrm>
            <a:off x="10518648" y="5681749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Rear window defrost</a:t>
            </a:r>
            <a:endParaRPr lang="en-US" sz="1000" dirty="0"/>
          </a:p>
        </p:txBody>
      </p:sp>
      <p:sp>
        <p:nvSpPr>
          <p:cNvPr id="264" name="lg64_c"/>
          <p:cNvSpPr/>
          <p:nvPr/>
        </p:nvSpPr>
        <p:spPr>
          <a:xfrm>
            <a:off x="10271760" y="5941106"/>
            <a:ext cx="192024" cy="192024"/>
          </a:xfrm>
          <a:prstGeom prst="ellipse">
            <a:avLst/>
          </a:prstGeom>
          <a:solidFill>
            <a:srgbClr val="3A414C"/>
          </a:solidFill>
          <a:ln w="12700">
            <a:solidFill>
              <a:srgbClr val="3A414C"/>
            </a:solidFill>
            <a:prstDash val="solid"/>
          </a:ln>
        </p:spPr>
      </p:sp>
      <p:sp>
        <p:nvSpPr>
          <p:cNvPr id="265" name="lg64_n"/>
          <p:cNvSpPr txBox="1"/>
          <p:nvPr/>
        </p:nvSpPr>
        <p:spPr>
          <a:xfrm>
            <a:off x="10226040" y="5941106"/>
            <a:ext cx="2834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64</a:t>
            </a:r>
            <a:endParaRPr lang="en-US" sz="750" dirty="0"/>
          </a:p>
        </p:txBody>
      </p:sp>
      <p:sp>
        <p:nvSpPr>
          <p:cNvPr id="266" name="lg64_t"/>
          <p:cNvSpPr txBox="1"/>
          <p:nvPr/>
        </p:nvSpPr>
        <p:spPr>
          <a:xfrm>
            <a:off x="10518648" y="5918662"/>
            <a:ext cx="1341120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</a:rPr>
              <a:t>Auto windscreen wiping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</p:bldLst>
  </p:timing>
</p:sld>
</file>

<file path=ppt/theme/theme1.xml><?xml version="1.0" encoding="utf-8"?>
<a:theme xmlns:a="http://schemas.openxmlformats.org/drawingml/2006/main" name="Dashboard Reference">
  <a:themeElements>
    <a:clrScheme name="Dashboard Reference">
      <a:dk1>
        <a:srgbClr val="111418"/>
      </a:dk1>
      <a:lt1>
        <a:srgbClr val="FFFFFF"/>
      </a:lt1>
      <a:dk2>
        <a:srgbClr val="1B2A4A"/>
      </a:dk2>
      <a:lt2>
        <a:srgbClr val="F3F5F8"/>
      </a:lt2>
      <a:accent1>
        <a:srgbClr val="E53935"/>
      </a:accent1>
      <a:accent2>
        <a:srgbClr val="FFB300"/>
      </a:accent2>
      <a:accent3>
        <a:srgbClr val="2E9E4F"/>
      </a:accent3>
      <a:accent4>
        <a:srgbClr val="2F6BDF"/>
      </a:accent4>
      <a:accent5>
        <a:srgbClr val="8C7653"/>
      </a:accent5>
      <a:accent6>
        <a:srgbClr val="6B4FA0"/>
      </a:accent6>
      <a:hlink>
        <a:srgbClr val="2F6BDF"/>
      </a:hlink>
      <a:folHlink>
        <a:srgbClr val="6B4FA0"/>
      </a:folHlink>
    </a:clrScheme>
    <a:fontScheme name="Dashboard Referen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Warning Lights</dc:title>
  <dc:subject>PptxGenJS Presentation</dc:subject>
  <dc:creator>PptxGenJS</dc:creator>
  <cp:lastModifiedBy>PptxGenJS</cp:lastModifiedBy>
  <cp:revision>1</cp:revision>
  <dcterms:created xsi:type="dcterms:W3CDTF">2026-10-15T10:23:28Z</dcterms:created>
  <dcterms:modified xsi:type="dcterms:W3CDTF">2026-10-15T10:23:28Z</dcterms:modified>
</cp:coreProperties>
</file>