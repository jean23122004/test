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Opening hook: ask the room to guess which country reports the most road crashes – take a show of hands for each country.
- Clicks 1–5 reveal the counts from smallest to largest (China → USA). Click 6 reveals what each country counts. Click 7 reveals the twist.
- The twist: the counts are NOT comparable. The US and Germany include minor or damage-only crashes; India, Japan and China mainly count injury or fatal crashes. 1 lakh = 100,000, so 4.6–4.8 lakh = 460,000–480,000.
- Approximate figures from the original slide – confirm the latest year before presenting (US NHTSA, Germany Destatis, India MoRTH 'Road Accidents in India', Japan National Police Agency, China National Bureau of Statistics).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713232"/>
            <a:ext cx="94183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502920" y="27432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" name="pill_t"/>
          <p:cNvSpPr txBox="1"/>
          <p:nvPr/>
        </p:nvSpPr>
        <p:spPr>
          <a:xfrm>
            <a:off x="502920" y="2743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</a:rPr>
              <a:t>ROAD SAFETY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71323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Road Crashes: How Many Are Reported?</a:t>
            </a:r>
            <a:endParaRPr lang="en-US" sz="3800" dirty="0"/>
          </a:p>
        </p:txBody>
      </p:sp>
      <p:sp>
        <p:nvSpPr>
          <p:cNvPr id="5" name="hook_bg"/>
          <p:cNvSpPr/>
          <p:nvPr/>
        </p:nvSpPr>
        <p:spPr>
          <a:xfrm>
            <a:off x="502920" y="1783080"/>
            <a:ext cx="3429000" cy="4434840"/>
          </a:xfrm>
          <a:prstGeom prst="roundRect">
            <a:avLst>
              <a:gd name="adj" fmla="val 2667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6" name="hook_c"/>
          <p:cNvSpPr/>
          <p:nvPr/>
        </p:nvSpPr>
        <p:spPr>
          <a:xfrm>
            <a:off x="1645920" y="2103120"/>
            <a:ext cx="1143000" cy="11430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7" name="hook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377440"/>
            <a:ext cx="594360" cy="594360"/>
          </a:xfrm>
          <a:prstGeom prst="rect">
            <a:avLst/>
          </a:prstGeom>
        </p:spPr>
      </p:pic>
      <p:sp>
        <p:nvSpPr>
          <p:cNvPr id="8" name="hook_lbl"/>
          <p:cNvSpPr txBox="1"/>
          <p:nvPr/>
        </p:nvSpPr>
        <p:spPr>
          <a:xfrm>
            <a:off x="731520" y="3429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2A93B"/>
                </a:solidFill>
              </a:rPr>
              <a:t>GUESS FIRST</a:t>
            </a:r>
            <a:endParaRPr lang="en-US" sz="1600" dirty="0"/>
          </a:p>
        </p:txBody>
      </p:sp>
      <p:sp>
        <p:nvSpPr>
          <p:cNvPr id="9" name="hook_q"/>
          <p:cNvSpPr txBox="1"/>
          <p:nvPr/>
        </p:nvSpPr>
        <p:spPr>
          <a:xfrm>
            <a:off x="731520" y="3886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Which country reports the MOST road crashes each year?</a:t>
            </a:r>
            <a:endParaRPr lang="en-US" sz="2400" dirty="0"/>
          </a:p>
        </p:txBody>
      </p:sp>
      <p:sp>
        <p:nvSpPr>
          <p:cNvPr id="10" name="hook_sub"/>
          <p:cNvSpPr txBox="1"/>
          <p:nvPr/>
        </p:nvSpPr>
        <p:spPr>
          <a:xfrm>
            <a:off x="731520" y="5440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D3E3"/>
                </a:solidFill>
              </a:rPr>
              <a:t>And does a bigger number mean more dangerous roads?</a:t>
            </a:r>
            <a:endParaRPr lang="en-US" sz="1500" dirty="0"/>
          </a:p>
        </p:txBody>
      </p:sp>
      <p:sp>
        <p:nvSpPr>
          <p:cNvPr id="11" name="hd0"/>
          <p:cNvSpPr/>
          <p:nvPr/>
        </p:nvSpPr>
        <p:spPr>
          <a:xfrm>
            <a:off x="4206240" y="178308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2563B8"/>
          </a:solidFill>
          <a:ln w="12700">
            <a:solidFill>
              <a:srgbClr val="2563B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hd0_t"/>
          <p:cNvSpPr txBox="1"/>
          <p:nvPr/>
        </p:nvSpPr>
        <p:spPr>
          <a:xfrm>
            <a:off x="4389120" y="17830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</a:rPr>
              <a:t>COUNTRY</a:t>
            </a:r>
            <a:endParaRPr lang="en-US" sz="1500" dirty="0"/>
          </a:p>
        </p:txBody>
      </p:sp>
      <p:sp>
        <p:nvSpPr>
          <p:cNvPr id="13" name="hd1"/>
          <p:cNvSpPr/>
          <p:nvPr/>
        </p:nvSpPr>
        <p:spPr>
          <a:xfrm>
            <a:off x="6080760" y="178308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1797A6"/>
          </a:solidFill>
          <a:ln w="12700">
            <a:solidFill>
              <a:srgbClr val="1797A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hd1_t"/>
          <p:cNvSpPr txBox="1"/>
          <p:nvPr/>
        </p:nvSpPr>
        <p:spPr>
          <a:xfrm>
            <a:off x="626364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</a:rPr>
              <a:t>APPROX. COUNT</a:t>
            </a:r>
            <a:endParaRPr lang="en-US" sz="1500" dirty="0"/>
          </a:p>
        </p:txBody>
      </p:sp>
      <p:sp>
        <p:nvSpPr>
          <p:cNvPr id="15" name="hd2"/>
          <p:cNvSpPr/>
          <p:nvPr/>
        </p:nvSpPr>
        <p:spPr>
          <a:xfrm>
            <a:off x="8183880" y="178308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hd2_t"/>
          <p:cNvSpPr txBox="1"/>
          <p:nvPr/>
        </p:nvSpPr>
        <p:spPr>
          <a:xfrm>
            <a:off x="836676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</a:rPr>
              <a:t>WHAT IS COUNTED</a:t>
            </a:r>
            <a:endParaRPr lang="en-US" sz="1500" dirty="0"/>
          </a:p>
        </p:txBody>
      </p:sp>
      <p:sp>
        <p:nvSpPr>
          <p:cNvPr id="17" name="r0_c_bg"/>
          <p:cNvSpPr/>
          <p:nvPr/>
        </p:nvSpPr>
        <p:spPr>
          <a:xfrm>
            <a:off x="4206240" y="2441448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r0_dot"/>
          <p:cNvSpPr/>
          <p:nvPr/>
        </p:nvSpPr>
        <p:spPr>
          <a:xfrm>
            <a:off x="4370832" y="2688336"/>
            <a:ext cx="201168" cy="201168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19" name="r0_c_t"/>
          <p:cNvSpPr txBox="1"/>
          <p:nvPr/>
        </p:nvSpPr>
        <p:spPr>
          <a:xfrm>
            <a:off x="4681728" y="2441448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USA</a:t>
            </a:r>
            <a:endParaRPr lang="en-US" sz="2000" dirty="0"/>
          </a:p>
        </p:txBody>
      </p:sp>
      <p:sp>
        <p:nvSpPr>
          <p:cNvPr id="20" name="r0_q_bg"/>
          <p:cNvSpPr/>
          <p:nvPr/>
        </p:nvSpPr>
        <p:spPr>
          <a:xfrm>
            <a:off x="6080760" y="2441448"/>
            <a:ext cx="2011680" cy="694944"/>
          </a:xfrm>
          <a:prstGeom prst="roundRect">
            <a:avLst>
              <a:gd name="adj" fmla="val 10526"/>
            </a:avLst>
          </a:prstGeom>
          <a:solidFill>
            <a:srgbClr val="F1F3F7"/>
          </a:solidFill>
          <a:ln w="12700">
            <a:solidFill>
              <a:srgbClr val="AEB7C4"/>
            </a:solidFill>
            <a:prstDash val="dash"/>
          </a:ln>
        </p:spPr>
      </p:sp>
      <p:sp>
        <p:nvSpPr>
          <p:cNvPr id="21" name="r0_q_t"/>
          <p:cNvSpPr txBox="1"/>
          <p:nvPr/>
        </p:nvSpPr>
        <p:spPr>
          <a:xfrm>
            <a:off x="6080760" y="2441448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EB7C4"/>
                </a:solidFill>
              </a:rPr>
              <a:t>?</a:t>
            </a:r>
            <a:endParaRPr lang="en-US" sz="2600" dirty="0"/>
          </a:p>
        </p:txBody>
      </p:sp>
      <p:sp>
        <p:nvSpPr>
          <p:cNvPr id="22" name="n0_bg"/>
          <p:cNvSpPr/>
          <p:nvPr/>
        </p:nvSpPr>
        <p:spPr>
          <a:xfrm>
            <a:off x="6080760" y="2441448"/>
            <a:ext cx="2011680" cy="694944"/>
          </a:xfrm>
          <a:prstGeom prst="roundRect">
            <a:avLst>
              <a:gd name="adj" fmla="val 10526"/>
            </a:avLst>
          </a:prstGeom>
          <a:solidFill>
            <a:srgbClr val="FDE7E5"/>
          </a:solidFill>
          <a:ln w="19050">
            <a:solidFill>
              <a:srgbClr val="D9302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n0_t"/>
          <p:cNvSpPr txBox="1"/>
          <p:nvPr/>
        </p:nvSpPr>
        <p:spPr>
          <a:xfrm>
            <a:off x="6080760" y="2441448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3025"/>
                </a:solidFill>
              </a:rPr>
              <a:t>~6 million</a:t>
            </a:r>
            <a:endParaRPr lang="en-US" sz="2400" dirty="0"/>
          </a:p>
        </p:txBody>
      </p:sp>
      <p:sp>
        <p:nvSpPr>
          <p:cNvPr id="24" name="w0_bg"/>
          <p:cNvSpPr/>
          <p:nvPr/>
        </p:nvSpPr>
        <p:spPr>
          <a:xfrm>
            <a:off x="8183880" y="2441448"/>
            <a:ext cx="3474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w0_t"/>
          <p:cNvSpPr txBox="1"/>
          <p:nvPr/>
        </p:nvSpPr>
        <p:spPr>
          <a:xfrm>
            <a:off x="8366760" y="2441448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1"/>
                </a:solidFill>
              </a:rPr>
              <a:t>Police-reported crashes, including minor collisions</a:t>
            </a:r>
            <a:endParaRPr lang="en-US" sz="1600" dirty="0"/>
          </a:p>
        </p:txBody>
      </p:sp>
      <p:sp>
        <p:nvSpPr>
          <p:cNvPr id="26" name="r1_c_bg"/>
          <p:cNvSpPr/>
          <p:nvPr/>
        </p:nvSpPr>
        <p:spPr>
          <a:xfrm>
            <a:off x="4206240" y="3218688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7" name="r1_dot"/>
          <p:cNvSpPr/>
          <p:nvPr/>
        </p:nvSpPr>
        <p:spPr>
          <a:xfrm>
            <a:off x="4370832" y="3465576"/>
            <a:ext cx="201168" cy="20116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8" name="r1_c_t"/>
          <p:cNvSpPr txBox="1"/>
          <p:nvPr/>
        </p:nvSpPr>
        <p:spPr>
          <a:xfrm>
            <a:off x="4681728" y="3218688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Germany</a:t>
            </a:r>
            <a:endParaRPr lang="en-US" sz="2000" dirty="0"/>
          </a:p>
        </p:txBody>
      </p:sp>
      <p:sp>
        <p:nvSpPr>
          <p:cNvPr id="29" name="r1_q_bg"/>
          <p:cNvSpPr/>
          <p:nvPr/>
        </p:nvSpPr>
        <p:spPr>
          <a:xfrm>
            <a:off x="6080760" y="3218688"/>
            <a:ext cx="2011680" cy="694944"/>
          </a:xfrm>
          <a:prstGeom prst="roundRect">
            <a:avLst>
              <a:gd name="adj" fmla="val 10526"/>
            </a:avLst>
          </a:prstGeom>
          <a:solidFill>
            <a:srgbClr val="F1F3F7"/>
          </a:solidFill>
          <a:ln w="12700">
            <a:solidFill>
              <a:srgbClr val="AEB7C4"/>
            </a:solidFill>
            <a:prstDash val="dash"/>
          </a:ln>
        </p:spPr>
      </p:sp>
      <p:sp>
        <p:nvSpPr>
          <p:cNvPr id="30" name="r1_q_t"/>
          <p:cNvSpPr txBox="1"/>
          <p:nvPr/>
        </p:nvSpPr>
        <p:spPr>
          <a:xfrm>
            <a:off x="6080760" y="3218688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EB7C4"/>
                </a:solidFill>
              </a:rPr>
              <a:t>?</a:t>
            </a:r>
            <a:endParaRPr lang="en-US" sz="2600" dirty="0"/>
          </a:p>
        </p:txBody>
      </p:sp>
      <p:sp>
        <p:nvSpPr>
          <p:cNvPr id="31" name="n1_bg"/>
          <p:cNvSpPr/>
          <p:nvPr/>
        </p:nvSpPr>
        <p:spPr>
          <a:xfrm>
            <a:off x="6080760" y="3218688"/>
            <a:ext cx="2011680" cy="694944"/>
          </a:xfrm>
          <a:prstGeom prst="roundRect">
            <a:avLst>
              <a:gd name="adj" fmla="val 10526"/>
            </a:avLst>
          </a:prstGeom>
          <a:solidFill>
            <a:srgbClr val="FFF0DE"/>
          </a:solidFill>
          <a:ln w="19050">
            <a:solidFill>
              <a:srgbClr val="E07B0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2" name="n1_t"/>
          <p:cNvSpPr txBox="1"/>
          <p:nvPr/>
        </p:nvSpPr>
        <p:spPr>
          <a:xfrm>
            <a:off x="6080760" y="3218688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B00"/>
                </a:solidFill>
              </a:rPr>
              <a:t>~2.5 million</a:t>
            </a:r>
            <a:endParaRPr lang="en-US" sz="2400" dirty="0"/>
          </a:p>
        </p:txBody>
      </p:sp>
      <p:sp>
        <p:nvSpPr>
          <p:cNvPr id="33" name="w1_bg"/>
          <p:cNvSpPr/>
          <p:nvPr/>
        </p:nvSpPr>
        <p:spPr>
          <a:xfrm>
            <a:off x="8183880" y="3218688"/>
            <a:ext cx="3474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4" name="w1_t"/>
          <p:cNvSpPr txBox="1"/>
          <p:nvPr/>
        </p:nvSpPr>
        <p:spPr>
          <a:xfrm>
            <a:off x="8366760" y="3218688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1"/>
                </a:solidFill>
              </a:rPr>
              <a:t>Police-recorded; may include damage-only cases</a:t>
            </a:r>
            <a:endParaRPr lang="en-US" sz="1600" dirty="0"/>
          </a:p>
        </p:txBody>
      </p:sp>
      <p:sp>
        <p:nvSpPr>
          <p:cNvPr id="35" name="r2_c_bg"/>
          <p:cNvSpPr/>
          <p:nvPr/>
        </p:nvSpPr>
        <p:spPr>
          <a:xfrm>
            <a:off x="4206240" y="3995928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6" name="r2_dot"/>
          <p:cNvSpPr/>
          <p:nvPr/>
        </p:nvSpPr>
        <p:spPr>
          <a:xfrm>
            <a:off x="4370832" y="4242816"/>
            <a:ext cx="201168" cy="201168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37" name="r2_c_t"/>
          <p:cNvSpPr txBox="1"/>
          <p:nvPr/>
        </p:nvSpPr>
        <p:spPr>
          <a:xfrm>
            <a:off x="4681728" y="3995928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India</a:t>
            </a:r>
            <a:endParaRPr lang="en-US" sz="2000" dirty="0"/>
          </a:p>
        </p:txBody>
      </p:sp>
      <p:sp>
        <p:nvSpPr>
          <p:cNvPr id="38" name="r2_q_bg"/>
          <p:cNvSpPr/>
          <p:nvPr/>
        </p:nvSpPr>
        <p:spPr>
          <a:xfrm>
            <a:off x="6080760" y="3995928"/>
            <a:ext cx="2011680" cy="694944"/>
          </a:xfrm>
          <a:prstGeom prst="roundRect">
            <a:avLst>
              <a:gd name="adj" fmla="val 10526"/>
            </a:avLst>
          </a:prstGeom>
          <a:solidFill>
            <a:srgbClr val="F1F3F7"/>
          </a:solidFill>
          <a:ln w="12700">
            <a:solidFill>
              <a:srgbClr val="AEB7C4"/>
            </a:solidFill>
            <a:prstDash val="dash"/>
          </a:ln>
        </p:spPr>
      </p:sp>
      <p:sp>
        <p:nvSpPr>
          <p:cNvPr id="39" name="r2_q_t"/>
          <p:cNvSpPr txBox="1"/>
          <p:nvPr/>
        </p:nvSpPr>
        <p:spPr>
          <a:xfrm>
            <a:off x="6080760" y="3995928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EB7C4"/>
                </a:solidFill>
              </a:rPr>
              <a:t>?</a:t>
            </a:r>
            <a:endParaRPr lang="en-US" sz="2600" dirty="0"/>
          </a:p>
        </p:txBody>
      </p:sp>
      <p:sp>
        <p:nvSpPr>
          <p:cNvPr id="40" name="n2_bg"/>
          <p:cNvSpPr/>
          <p:nvPr/>
        </p:nvSpPr>
        <p:spPr>
          <a:xfrm>
            <a:off x="6080760" y="3995928"/>
            <a:ext cx="2011680" cy="694944"/>
          </a:xfrm>
          <a:prstGeom prst="roundRect">
            <a:avLst>
              <a:gd name="adj" fmla="val 10526"/>
            </a:avLst>
          </a:prstGeom>
          <a:solidFill>
            <a:srgbClr val="E3F4E7"/>
          </a:solidFill>
          <a:ln w="19050">
            <a:solidFill>
              <a:srgbClr val="1E8E3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41" name="n2_t"/>
          <p:cNvSpPr txBox="1"/>
          <p:nvPr/>
        </p:nvSpPr>
        <p:spPr>
          <a:xfrm>
            <a:off x="6080760" y="3995928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E3E"/>
                </a:solidFill>
              </a:rPr>
              <a:t>4.6–4.8 lakh</a:t>
            </a:r>
            <a:endParaRPr lang="en-US" sz="2400" dirty="0"/>
          </a:p>
        </p:txBody>
      </p:sp>
      <p:sp>
        <p:nvSpPr>
          <p:cNvPr id="42" name="w2_bg"/>
          <p:cNvSpPr/>
          <p:nvPr/>
        </p:nvSpPr>
        <p:spPr>
          <a:xfrm>
            <a:off x="8183880" y="3995928"/>
            <a:ext cx="3474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43" name="w2_t"/>
          <p:cNvSpPr txBox="1"/>
          <p:nvPr/>
        </p:nvSpPr>
        <p:spPr>
          <a:xfrm>
            <a:off x="8366760" y="3995928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1"/>
                </a:solidFill>
              </a:rPr>
              <a:t>Mostly crashes with injury or death</a:t>
            </a:r>
            <a:endParaRPr lang="en-US" sz="1600" dirty="0"/>
          </a:p>
        </p:txBody>
      </p:sp>
      <p:sp>
        <p:nvSpPr>
          <p:cNvPr id="44" name="r3_c_bg"/>
          <p:cNvSpPr/>
          <p:nvPr/>
        </p:nvSpPr>
        <p:spPr>
          <a:xfrm>
            <a:off x="4206240" y="4773168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45" name="r3_dot"/>
          <p:cNvSpPr/>
          <p:nvPr/>
        </p:nvSpPr>
        <p:spPr>
          <a:xfrm>
            <a:off x="4370832" y="5020056"/>
            <a:ext cx="201168" cy="201168"/>
          </a:xfrm>
          <a:prstGeom prst="ellipse">
            <a:avLst/>
          </a:prstGeom>
          <a:solidFill>
            <a:srgbClr val="2563B8"/>
          </a:solidFill>
          <a:ln w="12700">
            <a:solidFill>
              <a:srgbClr val="2563B8"/>
            </a:solidFill>
            <a:prstDash val="solid"/>
          </a:ln>
        </p:spPr>
      </p:sp>
      <p:sp>
        <p:nvSpPr>
          <p:cNvPr id="46" name="r3_c_t"/>
          <p:cNvSpPr txBox="1"/>
          <p:nvPr/>
        </p:nvSpPr>
        <p:spPr>
          <a:xfrm>
            <a:off x="4681728" y="4773168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Japan</a:t>
            </a:r>
            <a:endParaRPr lang="en-US" sz="2000" dirty="0"/>
          </a:p>
        </p:txBody>
      </p:sp>
      <p:sp>
        <p:nvSpPr>
          <p:cNvPr id="47" name="r3_q_bg"/>
          <p:cNvSpPr/>
          <p:nvPr/>
        </p:nvSpPr>
        <p:spPr>
          <a:xfrm>
            <a:off x="6080760" y="4773168"/>
            <a:ext cx="2011680" cy="694944"/>
          </a:xfrm>
          <a:prstGeom prst="roundRect">
            <a:avLst>
              <a:gd name="adj" fmla="val 10526"/>
            </a:avLst>
          </a:prstGeom>
          <a:solidFill>
            <a:srgbClr val="F1F3F7"/>
          </a:solidFill>
          <a:ln w="12700">
            <a:solidFill>
              <a:srgbClr val="AEB7C4"/>
            </a:solidFill>
            <a:prstDash val="dash"/>
          </a:ln>
        </p:spPr>
      </p:sp>
      <p:sp>
        <p:nvSpPr>
          <p:cNvPr id="48" name="r3_q_t"/>
          <p:cNvSpPr txBox="1"/>
          <p:nvPr/>
        </p:nvSpPr>
        <p:spPr>
          <a:xfrm>
            <a:off x="6080760" y="4773168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EB7C4"/>
                </a:solidFill>
              </a:rPr>
              <a:t>?</a:t>
            </a:r>
            <a:endParaRPr lang="en-US" sz="2600" dirty="0"/>
          </a:p>
        </p:txBody>
      </p:sp>
      <p:sp>
        <p:nvSpPr>
          <p:cNvPr id="49" name="n3_bg"/>
          <p:cNvSpPr/>
          <p:nvPr/>
        </p:nvSpPr>
        <p:spPr>
          <a:xfrm>
            <a:off x="6080760" y="4773168"/>
            <a:ext cx="2011680" cy="694944"/>
          </a:xfrm>
          <a:prstGeom prst="roundRect">
            <a:avLst>
              <a:gd name="adj" fmla="val 10526"/>
            </a:avLst>
          </a:prstGeom>
          <a:solidFill>
            <a:srgbClr val="E3ECFA"/>
          </a:solidFill>
          <a:ln w="19050">
            <a:solidFill>
              <a:srgbClr val="2563B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0" name="n3_t"/>
          <p:cNvSpPr txBox="1"/>
          <p:nvPr/>
        </p:nvSpPr>
        <p:spPr>
          <a:xfrm>
            <a:off x="6080760" y="4773168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B8"/>
                </a:solidFill>
              </a:rPr>
              <a:t>~300,000</a:t>
            </a:r>
            <a:endParaRPr lang="en-US" sz="2400" dirty="0"/>
          </a:p>
        </p:txBody>
      </p:sp>
      <p:sp>
        <p:nvSpPr>
          <p:cNvPr id="51" name="w3_bg"/>
          <p:cNvSpPr/>
          <p:nvPr/>
        </p:nvSpPr>
        <p:spPr>
          <a:xfrm>
            <a:off x="8183880" y="4773168"/>
            <a:ext cx="3474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2" name="w3_t"/>
          <p:cNvSpPr txBox="1"/>
          <p:nvPr/>
        </p:nvSpPr>
        <p:spPr>
          <a:xfrm>
            <a:off x="8366760" y="4773168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1"/>
                </a:solidFill>
              </a:rPr>
              <a:t>Injury accidents</a:t>
            </a:r>
            <a:endParaRPr lang="en-US" sz="1600" dirty="0"/>
          </a:p>
        </p:txBody>
      </p:sp>
      <p:sp>
        <p:nvSpPr>
          <p:cNvPr id="53" name="r4_c_bg"/>
          <p:cNvSpPr/>
          <p:nvPr/>
        </p:nvSpPr>
        <p:spPr>
          <a:xfrm>
            <a:off x="4206240" y="5550408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4" name="r4_dot"/>
          <p:cNvSpPr/>
          <p:nvPr/>
        </p:nvSpPr>
        <p:spPr>
          <a:xfrm>
            <a:off x="4370832" y="5797296"/>
            <a:ext cx="201168" cy="201168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5" name="r4_c_t"/>
          <p:cNvSpPr txBox="1"/>
          <p:nvPr/>
        </p:nvSpPr>
        <p:spPr>
          <a:xfrm>
            <a:off x="4681728" y="5550408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China</a:t>
            </a:r>
            <a:endParaRPr lang="en-US" sz="2000" dirty="0"/>
          </a:p>
        </p:txBody>
      </p:sp>
      <p:sp>
        <p:nvSpPr>
          <p:cNvPr id="56" name="r4_q_bg"/>
          <p:cNvSpPr/>
          <p:nvPr/>
        </p:nvSpPr>
        <p:spPr>
          <a:xfrm>
            <a:off x="6080760" y="5550408"/>
            <a:ext cx="2011680" cy="694944"/>
          </a:xfrm>
          <a:prstGeom prst="roundRect">
            <a:avLst>
              <a:gd name="adj" fmla="val 10526"/>
            </a:avLst>
          </a:prstGeom>
          <a:solidFill>
            <a:srgbClr val="F1F3F7"/>
          </a:solidFill>
          <a:ln w="12700">
            <a:solidFill>
              <a:srgbClr val="AEB7C4"/>
            </a:solidFill>
            <a:prstDash val="dash"/>
          </a:ln>
        </p:spPr>
      </p:sp>
      <p:sp>
        <p:nvSpPr>
          <p:cNvPr id="57" name="r4_q_t"/>
          <p:cNvSpPr txBox="1"/>
          <p:nvPr/>
        </p:nvSpPr>
        <p:spPr>
          <a:xfrm>
            <a:off x="6080760" y="5550408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EB7C4"/>
                </a:solidFill>
              </a:rPr>
              <a:t>?</a:t>
            </a:r>
            <a:endParaRPr lang="en-US" sz="2600" dirty="0"/>
          </a:p>
        </p:txBody>
      </p:sp>
      <p:sp>
        <p:nvSpPr>
          <p:cNvPr id="58" name="n4_bg"/>
          <p:cNvSpPr/>
          <p:nvPr/>
        </p:nvSpPr>
        <p:spPr>
          <a:xfrm>
            <a:off x="6080760" y="5550408"/>
            <a:ext cx="2011680" cy="694944"/>
          </a:xfrm>
          <a:prstGeom prst="roundRect">
            <a:avLst>
              <a:gd name="adj" fmla="val 10526"/>
            </a:avLst>
          </a:prstGeom>
          <a:solidFill>
            <a:srgbClr val="EEE8F7"/>
          </a:solidFill>
          <a:ln w="19050">
            <a:solidFill>
              <a:srgbClr val="6B4FA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9" name="n4_t"/>
          <p:cNvSpPr txBox="1"/>
          <p:nvPr/>
        </p:nvSpPr>
        <p:spPr>
          <a:xfrm>
            <a:off x="6080760" y="5550408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4FA0"/>
                </a:solidFill>
              </a:rPr>
              <a:t>~250,000</a:t>
            </a:r>
            <a:endParaRPr lang="en-US" sz="2400" dirty="0"/>
          </a:p>
        </p:txBody>
      </p:sp>
      <p:sp>
        <p:nvSpPr>
          <p:cNvPr id="60" name="w4_bg"/>
          <p:cNvSpPr/>
          <p:nvPr/>
        </p:nvSpPr>
        <p:spPr>
          <a:xfrm>
            <a:off x="8183880" y="5550408"/>
            <a:ext cx="3474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61" name="w4_t"/>
          <p:cNvSpPr txBox="1"/>
          <p:nvPr/>
        </p:nvSpPr>
        <p:spPr>
          <a:xfrm>
            <a:off x="8366760" y="5550408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1"/>
                </a:solidFill>
              </a:rPr>
              <a:t>Officially reported; definition/year to be checked</a:t>
            </a:r>
            <a:endParaRPr lang="en-US" sz="1600" dirty="0"/>
          </a:p>
        </p:txBody>
      </p:sp>
      <p:sp>
        <p:nvSpPr>
          <p:cNvPr id="62" name="ans_bg"/>
          <p:cNvSpPr/>
          <p:nvPr/>
        </p:nvSpPr>
        <p:spPr>
          <a:xfrm>
            <a:off x="502920" y="1783080"/>
            <a:ext cx="3429000" cy="4434840"/>
          </a:xfrm>
          <a:prstGeom prst="roundRect">
            <a:avLst>
              <a:gd name="adj" fmla="val 2667"/>
            </a:avLst>
          </a:prstGeom>
          <a:solidFill>
            <a:srgbClr val="FFF4D6"/>
          </a:solidFill>
          <a:ln w="25400">
            <a:solidFill>
              <a:srgbClr val="F2A93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63" name="ans_c"/>
          <p:cNvSpPr/>
          <p:nvPr/>
        </p:nvSpPr>
        <p:spPr>
          <a:xfrm>
            <a:off x="1714500" y="2057400"/>
            <a:ext cx="1005840" cy="10058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64" name="ans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244" y="2295144"/>
            <a:ext cx="530352" cy="530352"/>
          </a:xfrm>
          <a:prstGeom prst="rect">
            <a:avLst/>
          </a:prstGeom>
        </p:spPr>
      </p:pic>
      <p:sp>
        <p:nvSpPr>
          <p:cNvPr id="65" name="ans_lbl"/>
          <p:cNvSpPr txBox="1"/>
          <p:nvPr/>
        </p:nvSpPr>
        <p:spPr>
          <a:xfrm>
            <a:off x="731520" y="3246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9A6412"/>
                </a:solidFill>
              </a:rPr>
              <a:t>THE TWIST</a:t>
            </a:r>
            <a:endParaRPr lang="en-US" sz="1600" dirty="0"/>
          </a:p>
        </p:txBody>
      </p:sp>
      <p:sp>
        <p:nvSpPr>
          <p:cNvPr id="66" name="ans_h"/>
          <p:cNvSpPr txBox="1"/>
          <p:nvPr/>
        </p:nvSpPr>
        <p:spPr>
          <a:xfrm>
            <a:off x="731520" y="36576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A bigger number does not mean more dangerous roads.</a:t>
            </a:r>
            <a:endParaRPr lang="en-US" sz="2200" dirty="0"/>
          </a:p>
        </p:txBody>
      </p:sp>
      <p:sp>
        <p:nvSpPr>
          <p:cNvPr id="67" name="ans_t"/>
          <p:cNvSpPr txBox="1"/>
          <p:nvPr/>
        </p:nvSpPr>
        <p:spPr>
          <a:xfrm>
            <a:off x="731520" y="5029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3E0A"/>
                </a:solidFill>
              </a:rPr>
              <a:t>It depends on WHAT each country counts – minor bumps, injuries only, or deaths.</a:t>
            </a:r>
            <a:endParaRPr lang="en-US" sz="16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22" grpId="0" animBg="1"/>
      <p:bldP spid="23" grpId="0" animBg="1"/>
      <p:bldP spid="24" grpId="0" animBg="1"/>
      <p:bldP spid="25" grpId="0" animBg="1"/>
      <p:bldP spid="31" grpId="0" animBg="1"/>
      <p:bldP spid="32" grpId="0" animBg="1"/>
      <p:bldP spid="33" grpId="0" animBg="1"/>
      <p:bldP spid="34" grpId="0" animBg="1"/>
      <p:bldP spid="40" grpId="0" animBg="1"/>
      <p:bldP spid="41" grpId="0" animBg="1"/>
      <p:bldP spid="42" grpId="0" animBg="1"/>
      <p:bldP spid="43" grpId="0" animBg="1"/>
      <p:bldP spid="49" grpId="0" animBg="1"/>
      <p:bldP spid="50" grpId="0" animBg="1"/>
      <p:bldP spid="51" grpId="0" animBg="1"/>
      <p:bldP spid="52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5" grpId="0" animBg="1"/>
      <p:bldP spid="66" grpId="0" animBg="1"/>
      <p:bldP spid="67" grpId="0" animBg="1"/>
    </p:bldLst>
  </p:timing>
</p:sld>
</file>

<file path=ppt/theme/theme1.xml><?xml version="1.0" encoding="utf-8"?>
<a:theme xmlns:a="http://schemas.openxmlformats.org/drawingml/2006/main" name="Petrofac Toolbox Talk">
  <a:themeElements>
    <a:clrScheme name="Petrofac Toolbox Talk">
      <a:dk1>
        <a:srgbClr val="1A1A1A"/>
      </a:dk1>
      <a:lt1>
        <a:srgbClr val="FFFFFF"/>
      </a:lt1>
      <a:dk2>
        <a:srgbClr val="1B2A4A"/>
      </a:dk2>
      <a:lt2>
        <a:srgbClr val="F3F5F8"/>
      </a:lt2>
      <a:accent1>
        <a:srgbClr val="2F6BDF"/>
      </a:accent1>
      <a:accent2>
        <a:srgbClr val="1797A6"/>
      </a:accent2>
      <a:accent3>
        <a:srgbClr val="1E8E3E"/>
      </a:accent3>
      <a:accent4>
        <a:srgbClr val="D93025"/>
      </a:accent4>
      <a:accent5>
        <a:srgbClr val="E8A33D"/>
      </a:accent5>
      <a:accent6>
        <a:srgbClr val="8C7653"/>
      </a:accent6>
      <a:hlink>
        <a:srgbClr val="2F6BDF"/>
      </a:hlink>
      <a:folHlink>
        <a:srgbClr val="6B4FA0"/>
      </a:folHlink>
    </a:clrScheme>
    <a:fontScheme name="Petrofac Toolbox Tal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Crashes: How Many Are Reported?</dc:title>
  <dc:subject>PptxGenJS Presentation</dc:subject>
  <dc:creator>PptxGenJS</dc:creator>
  <cp:lastModifiedBy>PptxGenJS</cp:lastModifiedBy>
  <cp:revision>1</cp:revision>
  <dcterms:created xsi:type="dcterms:W3CDTF">2026-10-15T09:55:01Z</dcterms:created>
  <dcterms:modified xsi:type="dcterms:W3CDTF">2026-10-15T09:55:01Z</dcterms:modified>
</cp:coreProperties>
</file>