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6d96ec3-99ee-662d-6f81-482ac4978165}">
          <p14:sldIdLst>
            <p14:sldId id="256"/>
            <p14:sldId id="257"/>
          </p14:sldIdLst>
        </p14:section>
        <p14:section name="Safety Systems" id="{678a9aa8-69e9-8547-3100-e978b283eb44}">
          <p14:sldIdLst>
            <p14:sldId id="258"/>
            <p14:sldId id="259"/>
            <p14:sldId id="260"/>
            <p14:sldId id="261"/>
          </p14:sldIdLst>
        </p14:section>
        <p14:section name="After a Crash" id="{8cece009-74e6-29ed-d801-45a812a3956e}">
          <p14:sldIdLst>
            <p14:sldId id="262"/>
            <p14:sldId id="263"/>
          </p14:sldIdLst>
        </p14:section>
        <p14:section name="Check &amp; Close" id="{63fdba46-279b-b422-3cc7-f23ec4fab7b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Welcome. This talk covers the safety systems built into modern vehicles – before, during and after a crash.
- Key message for today: technology helps, but the driver is still the most important safety system.
- Ask: who drove to work or to site today? Keep that journey in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Ask the question on the card and take 2–3 guesses before clicking. Most people guess falls, fires or dropped objects.
- Reveal: highway vehicle crashes are the leading cause – about 4 in 10 deaths (US OSHA, citing BLS CFOI). NIOSH data for other years shows lower shares (about 18–29%), but vehicles still rank first.
- Link: that is why vehicle safety systems – and how we drive – matter so much in our industry.
- Source: osha.gov/oil-and-gas-extraction/hazards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layers: PREVENT (active safety), WARN &amp; ASSIST (ADAS), PROTECT (passive safety), RESPOND (post-crash).
- Each click reveals the next layer – walk left to right along the crash timeline.
- Stress: the layers back each other up, but none of them replaces an alert, belted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Active safety helps you STOP, STEER and keep GRIP – it works before a crash.
- ABS lets you keep steering while braking hard: press firmly and hold – don't pump the pedal on an ABS car.
- TPMS is only a warning: still check tyres visually and set the correct pressure before a journey.
- Ask: which of these warning lights have you seen on your own dashboard?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Numbers 1–7 in the list match the numbers in the picture; each click reveals the next system.
- Pattern: most systems WARN first (beep, light, vibration); some then ACT (brake or steer).
- Recommendation (added, not in the original deck): systems have limits – bad weather, dirty sensors and faded lane lines reduce performance. Check the vehicle handbook.
- Ask: what do you do when the car warns you? (Act on it – brake, check mirrors, correct your position.)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Car body: soft ends (crumple zones) absorb energy; the strong middle (safety cell) keeps space around you.
- Restraints work as a team: pretensioner tightens the belt, load limiter eases chest load, airbag cushions.
- An airbag without a belt can injure: sit upright, belt low over the hips, hands at 9 and 3 (from the original deck).
- Fact: NHTSA – lap/shoulder belts reduce fatal-injury risk by 45% for front-seat car occupants and 60% in light trucks (crashstats.nhtsa.dot.gov).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Ask the EV question and take answers first. Click through the five systems, then reveal the answer.
- Answer (original deck): HV isolation helps disconnect the battery from the high-voltage system.
- Added recommendation – confirm with your HSE team: isolation may not make the vehicle fully safe; a damaged battery can stay energised or reignite later. Never touch orange HV cables.
- EDR is not a video or audio recorder – it keeps a short snapshot (speed, braking, belt use, airbag deployment).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timeline for the whole talk: BEFORE (seconds), DURING (milliseconds), AFTER (minutes).
- 'Where fitted' – not every vehicle has every system. Know what YOUR vehicle has.
- Bottom line (added summary): the driver's actions before and during the journey matter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Show the scene, ask the question, allow 1 minute. Each click reveals one hazard: hazard, then risk, then control.
- 1 Airbag/SRS light ON: system fault – airbags may not deploy. Do not use the vehicle; report it under your vehicle defect procedure. 2 TPMS light: under-inflated tyre – less grip, longer stopping, risk of tyre failure. Check and inflate to the placard pressure.
- 3 Seatbelt warning light: driver unbelted – buckle up, all occupants. 4 Phone in hand: distraction – put it away or stop safely before using it.
- Mandatory where your company has adopted the IOGP Life-Saving Rules: always wear a seatbelt; do not use phones or operate devices while driving; follow journey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on one message: technology helps, but safe driving saves lives.
- Recap: check warning lights and tyres, belt up, phone away, stay alert.
- Invite questions; remind the team how to report vehicle defects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i="1" dirty="0">
                <a:solidFill>
                  <a:srgbClr val="5B647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panel"/>
          <p:cNvSpPr/>
          <p:nvPr/>
        </p:nvSpPr>
        <p:spPr>
          <a:xfrm>
            <a:off x="502920" y="502920"/>
            <a:ext cx="6766560" cy="2834640"/>
          </a:xfrm>
          <a:prstGeom prst="roundRect">
            <a:avLst>
              <a:gd name="adj" fmla="val 3871"/>
            </a:avLst>
          </a:prstGeom>
          <a:solidFill>
            <a:srgbClr val="1C2B4A">
              <a:alpha val="88000"/>
            </a:srgbClr>
          </a:solidFill>
          <a:ln w="12700">
            <a:solidFill>
              <a:srgbClr val="1C2B4A">
                <a:alpha val="88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" name="t_eyebrow"/>
          <p:cNvSpPr txBox="1"/>
          <p:nvPr/>
        </p:nvSpPr>
        <p:spPr>
          <a:xfrm>
            <a:off x="868680" y="777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2A93B"/>
                </a:solidFill>
              </a:rPr>
              <a:t>TOOLBOX TALK</a:t>
            </a:r>
            <a:endParaRPr lang="en-US" sz="1500" dirty="0"/>
          </a:p>
        </p:txBody>
      </p:sp>
      <p:sp>
        <p:nvSpPr>
          <p:cNvPr id="4" name="t_title"/>
          <p:cNvSpPr txBox="1"/>
          <p:nvPr/>
        </p:nvSpPr>
        <p:spPr>
          <a:xfrm>
            <a:off x="868680" y="11887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AUTOMOTIVE SAFETY SYSTEMS</a:t>
            </a:r>
            <a:endParaRPr lang="en-US" sz="4000" dirty="0"/>
          </a:p>
        </p:txBody>
      </p:sp>
      <p:sp>
        <p:nvSpPr>
          <p:cNvPr id="5" name="t_sub"/>
          <p:cNvSpPr txBox="1"/>
          <p:nvPr/>
        </p:nvSpPr>
        <p:spPr>
          <a:xfrm>
            <a:off x="868680" y="2560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6ECF5"/>
                </a:solidFill>
              </a:rPr>
              <a:t>Technology that prevents accidents and protects lives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Biggest Risk Is on the Road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A surprising fact for everyone who drives for work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1922069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1922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6" name="q_card"/>
          <p:cNvSpPr/>
          <p:nvPr/>
        </p:nvSpPr>
        <p:spPr>
          <a:xfrm>
            <a:off x="50292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DF1DC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q_icon_c"/>
          <p:cNvSpPr/>
          <p:nvPr/>
        </p:nvSpPr>
        <p:spPr>
          <a:xfrm>
            <a:off x="2697480" y="2240280"/>
            <a:ext cx="1005840" cy="10058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8" name="q_icon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940" y="2491740"/>
            <a:ext cx="502920" cy="502920"/>
          </a:xfrm>
          <a:prstGeom prst="rect">
            <a:avLst/>
          </a:prstGeom>
        </p:spPr>
      </p:pic>
      <p:sp>
        <p:nvSpPr>
          <p:cNvPr id="9" name="q_lbl"/>
          <p:cNvSpPr txBox="1"/>
          <p:nvPr/>
        </p:nvSpPr>
        <p:spPr>
          <a:xfrm>
            <a:off x="86868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A6412"/>
                </a:solidFill>
              </a:rPr>
              <a:t>GUESS FIRST</a:t>
            </a:r>
            <a:endParaRPr lang="en-US" sz="1400" dirty="0"/>
          </a:p>
        </p:txBody>
      </p:sp>
      <p:sp>
        <p:nvSpPr>
          <p:cNvPr id="10" name="q_txt"/>
          <p:cNvSpPr txBox="1"/>
          <p:nvPr/>
        </p:nvSpPr>
        <p:spPr>
          <a:xfrm>
            <a:off x="868680" y="3840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What is the No.1 cause of on-the-job deaths in oil &amp; gas extraction?</a:t>
            </a:r>
            <a:endParaRPr lang="en-US" sz="2200" dirty="0"/>
          </a:p>
        </p:txBody>
      </p:sp>
      <p:sp>
        <p:nvSpPr>
          <p:cNvPr id="11" name="fact_card"/>
          <p:cNvSpPr/>
          <p:nvPr/>
        </p:nvSpPr>
        <p:spPr>
          <a:xfrm>
            <a:off x="50292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fact_num"/>
          <p:cNvSpPr txBox="1"/>
          <p:nvPr/>
        </p:nvSpPr>
        <p:spPr>
          <a:xfrm>
            <a:off x="77724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2A93B"/>
                </a:solidFill>
              </a:rPr>
              <a:t>4 in 10</a:t>
            </a:r>
            <a:endParaRPr lang="en-US" sz="8800" dirty="0"/>
          </a:p>
        </p:txBody>
      </p:sp>
      <p:sp>
        <p:nvSpPr>
          <p:cNvPr id="13" name="fact_txt"/>
          <p:cNvSpPr txBox="1"/>
          <p:nvPr/>
        </p:nvSpPr>
        <p:spPr>
          <a:xfrm>
            <a:off x="777240" y="3520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on-the-job deaths in oil &amp; gas extraction come from highway vehicle crashes – the leading cause</a:t>
            </a:r>
            <a:endParaRPr lang="en-US" sz="2000" dirty="0"/>
          </a:p>
        </p:txBody>
      </p:sp>
      <p:sp>
        <p:nvSpPr>
          <p:cNvPr id="14" name="fact_src"/>
          <p:cNvSpPr txBox="1"/>
          <p:nvPr/>
        </p:nvSpPr>
        <p:spPr>
          <a:xfrm>
            <a:off x="77724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4D6"/>
                </a:solidFill>
              </a:rPr>
              <a:t>Source: US OSHA, Oil and Gas Extraction – Hazards (BLS Census of Fatal Occupational Injuries)</a:t>
            </a:r>
            <a:endParaRPr lang="en-US" sz="1100" dirty="0"/>
          </a:p>
        </p:txBody>
      </p:sp>
      <p:sp>
        <p:nvSpPr>
          <p:cNvPr id="15" name="m_head"/>
          <p:cNvSpPr txBox="1"/>
          <p:nvPr/>
        </p:nvSpPr>
        <p:spPr>
          <a:xfrm>
            <a:off x="6400800" y="18288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What this means for us</a:t>
            </a:r>
            <a:endParaRPr lang="en-US" sz="2200" dirty="0"/>
          </a:p>
        </p:txBody>
      </p:sp>
      <p:sp>
        <p:nvSpPr>
          <p:cNvPr id="16" name="m0_bg"/>
          <p:cNvSpPr/>
          <p:nvPr/>
        </p:nvSpPr>
        <p:spPr>
          <a:xfrm>
            <a:off x="6400800" y="25146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m0_c"/>
          <p:cNvSpPr/>
          <p:nvPr/>
        </p:nvSpPr>
        <p:spPr>
          <a:xfrm>
            <a:off x="6583680" y="2697480"/>
            <a:ext cx="640080" cy="640080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pic>
        <p:nvPicPr>
          <p:cNvPr id="18" name="m0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857500"/>
            <a:ext cx="320040" cy="320040"/>
          </a:xfrm>
          <a:prstGeom prst="rect">
            <a:avLst/>
          </a:prstGeom>
        </p:spPr>
      </p:pic>
      <p:sp>
        <p:nvSpPr>
          <p:cNvPr id="19" name="m0_h"/>
          <p:cNvSpPr txBox="1"/>
          <p:nvPr/>
        </p:nvSpPr>
        <p:spPr>
          <a:xfrm>
            <a:off x="7406640" y="26426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Driving is a high-risk task</a:t>
            </a:r>
            <a:endParaRPr lang="en-US" sz="1800" dirty="0"/>
          </a:p>
        </p:txBody>
      </p:sp>
      <p:sp>
        <p:nvSpPr>
          <p:cNvPr id="20" name="m0_t"/>
          <p:cNvSpPr txBox="1"/>
          <p:nvPr/>
        </p:nvSpPr>
        <p:spPr>
          <a:xfrm>
            <a:off x="7406640" y="3026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Plan every journey like any other critical job</a:t>
            </a:r>
            <a:endParaRPr lang="en-US" sz="1500" dirty="0"/>
          </a:p>
        </p:txBody>
      </p:sp>
      <p:sp>
        <p:nvSpPr>
          <p:cNvPr id="21" name="m1_bg"/>
          <p:cNvSpPr/>
          <p:nvPr/>
        </p:nvSpPr>
        <p:spPr>
          <a:xfrm>
            <a:off x="6400800" y="370332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m1_c"/>
          <p:cNvSpPr/>
          <p:nvPr/>
        </p:nvSpPr>
        <p:spPr>
          <a:xfrm>
            <a:off x="6583680" y="3886200"/>
            <a:ext cx="640080" cy="6400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3" name="m1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046220"/>
            <a:ext cx="320040" cy="320040"/>
          </a:xfrm>
          <a:prstGeom prst="rect">
            <a:avLst/>
          </a:prstGeom>
        </p:spPr>
      </p:pic>
      <p:sp>
        <p:nvSpPr>
          <p:cNvPr id="24" name="m1_h"/>
          <p:cNvSpPr txBox="1"/>
          <p:nvPr/>
        </p:nvSpPr>
        <p:spPr>
          <a:xfrm>
            <a:off x="7406640" y="38313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Car safety systems help</a:t>
            </a:r>
            <a:endParaRPr lang="en-US" sz="1800" dirty="0"/>
          </a:p>
        </p:txBody>
      </p:sp>
      <p:sp>
        <p:nvSpPr>
          <p:cNvPr id="25" name="m1_t"/>
          <p:cNvSpPr txBox="1"/>
          <p:nvPr/>
        </p:nvSpPr>
        <p:spPr>
          <a:xfrm>
            <a:off x="7406640" y="4215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Only if they work – and you use them</a:t>
            </a:r>
            <a:endParaRPr lang="en-US" sz="1500" dirty="0"/>
          </a:p>
        </p:txBody>
      </p:sp>
      <p:sp>
        <p:nvSpPr>
          <p:cNvPr id="26" name="m2_bg"/>
          <p:cNvSpPr/>
          <p:nvPr/>
        </p:nvSpPr>
        <p:spPr>
          <a:xfrm>
            <a:off x="6400800" y="489204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m2_c"/>
          <p:cNvSpPr/>
          <p:nvPr/>
        </p:nvSpPr>
        <p:spPr>
          <a:xfrm>
            <a:off x="6583680" y="5074920"/>
            <a:ext cx="640080" cy="64008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28" name="m2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5234940"/>
            <a:ext cx="320040" cy="320040"/>
          </a:xfrm>
          <a:prstGeom prst="rect">
            <a:avLst/>
          </a:prstGeom>
        </p:spPr>
      </p:pic>
      <p:sp>
        <p:nvSpPr>
          <p:cNvPr id="29" name="m2_h"/>
          <p:cNvSpPr txBox="1"/>
          <p:nvPr/>
        </p:nvSpPr>
        <p:spPr>
          <a:xfrm>
            <a:off x="7406640" y="50200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You are the key safety system</a:t>
            </a:r>
            <a:endParaRPr lang="en-US" sz="1800" dirty="0"/>
          </a:p>
        </p:txBody>
      </p:sp>
      <p:sp>
        <p:nvSpPr>
          <p:cNvPr id="30" name="m2_t"/>
          <p:cNvSpPr txBox="1"/>
          <p:nvPr/>
        </p:nvSpPr>
        <p:spPr>
          <a:xfrm>
            <a:off x="7406640" y="5404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Alert, belted, phone away, right speed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Layers That Protect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Before, during and after a crash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1922069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1922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THE BASIC IDEA</a:t>
            </a:r>
            <a:endParaRPr lang="en-US" sz="1100" dirty="0"/>
          </a:p>
        </p:txBody>
      </p:sp>
      <p:sp>
        <p:nvSpPr>
          <p:cNvPr id="6" name="ph0"/>
          <p:cNvSpPr/>
          <p:nvPr/>
        </p:nvSpPr>
        <p:spPr>
          <a:xfrm>
            <a:off x="502920" y="1810512"/>
            <a:ext cx="5463540" cy="329184"/>
          </a:xfrm>
          <a:prstGeom prst="rect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sp>
        <p:nvSpPr>
          <p:cNvPr id="7" name="ph0_t"/>
          <p:cNvSpPr txBox="1"/>
          <p:nvPr/>
        </p:nvSpPr>
        <p:spPr>
          <a:xfrm>
            <a:off x="502920" y="1810512"/>
            <a:ext cx="546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BEFORE A CRASH</a:t>
            </a:r>
            <a:endParaRPr lang="en-US" sz="1300" dirty="0"/>
          </a:p>
        </p:txBody>
      </p:sp>
      <p:sp>
        <p:nvSpPr>
          <p:cNvPr id="8" name="ph1"/>
          <p:cNvSpPr/>
          <p:nvPr/>
        </p:nvSpPr>
        <p:spPr>
          <a:xfrm>
            <a:off x="6195060" y="1810512"/>
            <a:ext cx="2617470" cy="32918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ph1_t"/>
          <p:cNvSpPr txBox="1"/>
          <p:nvPr/>
        </p:nvSpPr>
        <p:spPr>
          <a:xfrm>
            <a:off x="6195060" y="1810512"/>
            <a:ext cx="2617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DURING</a:t>
            </a:r>
            <a:endParaRPr lang="en-US" sz="1300" dirty="0"/>
          </a:p>
        </p:txBody>
      </p:sp>
      <p:sp>
        <p:nvSpPr>
          <p:cNvPr id="10" name="ph2"/>
          <p:cNvSpPr/>
          <p:nvPr/>
        </p:nvSpPr>
        <p:spPr>
          <a:xfrm>
            <a:off x="9041130" y="1810512"/>
            <a:ext cx="2617470" cy="32918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1" name="ph2_t"/>
          <p:cNvSpPr txBox="1"/>
          <p:nvPr/>
        </p:nvSpPr>
        <p:spPr>
          <a:xfrm>
            <a:off x="9041130" y="1810512"/>
            <a:ext cx="2617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AFTER</a:t>
            </a:r>
            <a:endParaRPr lang="en-US" sz="1300" dirty="0"/>
          </a:p>
        </p:txBody>
      </p:sp>
      <p:sp>
        <p:nvSpPr>
          <p:cNvPr id="12" name="L0_bg"/>
          <p:cNvSpPr/>
          <p:nvPr/>
        </p:nvSpPr>
        <p:spPr>
          <a:xfrm>
            <a:off x="502920" y="2240280"/>
            <a:ext cx="2617470" cy="301752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L0_c"/>
          <p:cNvSpPr/>
          <p:nvPr/>
        </p:nvSpPr>
        <p:spPr>
          <a:xfrm>
            <a:off x="731520" y="2468880"/>
            <a:ext cx="731520" cy="731520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pic>
        <p:nvPicPr>
          <p:cNvPr id="14" name="L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5" name="L0_eb"/>
          <p:cNvSpPr txBox="1"/>
          <p:nvPr/>
        </p:nvSpPr>
        <p:spPr>
          <a:xfrm>
            <a:off x="731520" y="3319272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DF"/>
                </a:solidFill>
              </a:rPr>
              <a:t>PREVENT</a:t>
            </a:r>
            <a:endParaRPr lang="en-US" sz="1200" dirty="0"/>
          </a:p>
        </p:txBody>
      </p:sp>
      <p:sp>
        <p:nvSpPr>
          <p:cNvPr id="16" name="L0_h"/>
          <p:cNvSpPr txBox="1"/>
          <p:nvPr/>
        </p:nvSpPr>
        <p:spPr>
          <a:xfrm>
            <a:off x="731520" y="3593592"/>
            <a:ext cx="2160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Active safety</a:t>
            </a:r>
            <a:endParaRPr lang="en-US" sz="2000" dirty="0"/>
          </a:p>
        </p:txBody>
      </p:sp>
      <p:sp>
        <p:nvSpPr>
          <p:cNvPr id="17" name="L0_d"/>
          <p:cNvSpPr txBox="1"/>
          <p:nvPr/>
        </p:nvSpPr>
        <p:spPr>
          <a:xfrm>
            <a:off x="731520" y="3995928"/>
            <a:ext cx="2160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Helps you keep control and avoid the crash</a:t>
            </a:r>
            <a:endParaRPr lang="en-US" sz="1400" dirty="0"/>
          </a:p>
        </p:txBody>
      </p:sp>
      <p:sp>
        <p:nvSpPr>
          <p:cNvPr id="18" name="L0_eg"/>
          <p:cNvSpPr/>
          <p:nvPr/>
        </p:nvSpPr>
        <p:spPr>
          <a:xfrm>
            <a:off x="667512" y="4727448"/>
            <a:ext cx="2288286" cy="411480"/>
          </a:xfrm>
          <a:prstGeom prst="roundRect">
            <a:avLst>
              <a:gd name="adj" fmla="val 13333"/>
            </a:avLst>
          </a:prstGeom>
          <a:solidFill>
            <a:srgbClr val="E3ECFC"/>
          </a:solidFill>
          <a:ln w="12700">
            <a:solidFill>
              <a:srgbClr val="E3ECFC"/>
            </a:solidFill>
            <a:prstDash val="solid"/>
          </a:ln>
        </p:spPr>
      </p:sp>
      <p:sp>
        <p:nvSpPr>
          <p:cNvPr id="19" name="L0_egt"/>
          <p:cNvSpPr txBox="1"/>
          <p:nvPr/>
        </p:nvSpPr>
        <p:spPr>
          <a:xfrm>
            <a:off x="758952" y="4727448"/>
            <a:ext cx="21054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</a:rPr>
              <a:t>e.g. Braking, stability, grip</a:t>
            </a:r>
            <a:endParaRPr lang="en-US" sz="1200" dirty="0"/>
          </a:p>
        </p:txBody>
      </p:sp>
      <p:sp>
        <p:nvSpPr>
          <p:cNvPr id="20" name="L1_bg"/>
          <p:cNvSpPr/>
          <p:nvPr/>
        </p:nvSpPr>
        <p:spPr>
          <a:xfrm>
            <a:off x="3348990" y="2240280"/>
            <a:ext cx="2617470" cy="301752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L1_c"/>
          <p:cNvSpPr/>
          <p:nvPr/>
        </p:nvSpPr>
        <p:spPr>
          <a:xfrm>
            <a:off x="3577590" y="2468880"/>
            <a:ext cx="731520" cy="731520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22" name="L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2651760"/>
            <a:ext cx="365760" cy="365760"/>
          </a:xfrm>
          <a:prstGeom prst="rect">
            <a:avLst/>
          </a:prstGeom>
        </p:spPr>
      </p:pic>
      <p:sp>
        <p:nvSpPr>
          <p:cNvPr id="23" name="L1_eb"/>
          <p:cNvSpPr txBox="1"/>
          <p:nvPr/>
        </p:nvSpPr>
        <p:spPr>
          <a:xfrm>
            <a:off x="3577590" y="3319272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7A6"/>
                </a:solidFill>
              </a:rPr>
              <a:t>WARN &amp; ASSIST</a:t>
            </a:r>
            <a:endParaRPr lang="en-US" sz="1200" dirty="0"/>
          </a:p>
        </p:txBody>
      </p:sp>
      <p:sp>
        <p:nvSpPr>
          <p:cNvPr id="24" name="L1_h"/>
          <p:cNvSpPr txBox="1"/>
          <p:nvPr/>
        </p:nvSpPr>
        <p:spPr>
          <a:xfrm>
            <a:off x="3577590" y="3593592"/>
            <a:ext cx="2160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ADAS</a:t>
            </a:r>
            <a:endParaRPr lang="en-US" sz="2000" dirty="0"/>
          </a:p>
        </p:txBody>
      </p:sp>
      <p:sp>
        <p:nvSpPr>
          <p:cNvPr id="25" name="L1_d"/>
          <p:cNvSpPr txBox="1"/>
          <p:nvPr/>
        </p:nvSpPr>
        <p:spPr>
          <a:xfrm>
            <a:off x="3577590" y="3995928"/>
            <a:ext cx="2160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Sensors watch the road, warn, and may brake or steer</a:t>
            </a:r>
            <a:endParaRPr lang="en-US" sz="1400" dirty="0"/>
          </a:p>
        </p:txBody>
      </p:sp>
      <p:sp>
        <p:nvSpPr>
          <p:cNvPr id="26" name="L1_eg"/>
          <p:cNvSpPr/>
          <p:nvPr/>
        </p:nvSpPr>
        <p:spPr>
          <a:xfrm>
            <a:off x="3513582" y="4727448"/>
            <a:ext cx="2288286" cy="411480"/>
          </a:xfrm>
          <a:prstGeom prst="roundRect">
            <a:avLst>
              <a:gd name="adj" fmla="val 13333"/>
            </a:avLst>
          </a:prstGeom>
          <a:solidFill>
            <a:srgbClr val="DDF3F6"/>
          </a:solidFill>
          <a:ln w="12700">
            <a:solidFill>
              <a:srgbClr val="DDF3F6"/>
            </a:solidFill>
            <a:prstDash val="solid"/>
          </a:ln>
        </p:spPr>
      </p:sp>
      <p:sp>
        <p:nvSpPr>
          <p:cNvPr id="27" name="L1_egt"/>
          <p:cNvSpPr txBox="1"/>
          <p:nvPr/>
        </p:nvSpPr>
        <p:spPr>
          <a:xfrm>
            <a:off x="3605022" y="4727448"/>
            <a:ext cx="21054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</a:rPr>
              <a:t>e.g. Cameras, radar</a:t>
            </a:r>
            <a:endParaRPr lang="en-US" sz="1200" dirty="0"/>
          </a:p>
        </p:txBody>
      </p:sp>
      <p:sp>
        <p:nvSpPr>
          <p:cNvPr id="28" name="L2_bg"/>
          <p:cNvSpPr/>
          <p:nvPr/>
        </p:nvSpPr>
        <p:spPr>
          <a:xfrm>
            <a:off x="6195060" y="2240280"/>
            <a:ext cx="2617470" cy="301752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L2_c"/>
          <p:cNvSpPr/>
          <p:nvPr/>
        </p:nvSpPr>
        <p:spPr>
          <a:xfrm>
            <a:off x="6423660" y="2468880"/>
            <a:ext cx="731520" cy="73152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30" name="L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651760"/>
            <a:ext cx="365760" cy="365760"/>
          </a:xfrm>
          <a:prstGeom prst="rect">
            <a:avLst/>
          </a:prstGeom>
        </p:spPr>
      </p:pic>
      <p:sp>
        <p:nvSpPr>
          <p:cNvPr id="31" name="L2_eb"/>
          <p:cNvSpPr txBox="1"/>
          <p:nvPr/>
        </p:nvSpPr>
        <p:spPr>
          <a:xfrm>
            <a:off x="6423660" y="3319272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3E"/>
                </a:solidFill>
              </a:rPr>
              <a:t>PROTECT</a:t>
            </a:r>
            <a:endParaRPr lang="en-US" sz="1200" dirty="0"/>
          </a:p>
        </p:txBody>
      </p:sp>
      <p:sp>
        <p:nvSpPr>
          <p:cNvPr id="32" name="L2_h"/>
          <p:cNvSpPr txBox="1"/>
          <p:nvPr/>
        </p:nvSpPr>
        <p:spPr>
          <a:xfrm>
            <a:off x="6423660" y="3593592"/>
            <a:ext cx="2160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Passive safety</a:t>
            </a:r>
            <a:endParaRPr lang="en-US" sz="2000" dirty="0"/>
          </a:p>
        </p:txBody>
      </p:sp>
      <p:sp>
        <p:nvSpPr>
          <p:cNvPr id="33" name="L2_d"/>
          <p:cNvSpPr txBox="1"/>
          <p:nvPr/>
        </p:nvSpPr>
        <p:spPr>
          <a:xfrm>
            <a:off x="6423660" y="3995928"/>
            <a:ext cx="2160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Protects the people inside when a crash happens</a:t>
            </a:r>
            <a:endParaRPr lang="en-US" sz="1400" dirty="0"/>
          </a:p>
        </p:txBody>
      </p:sp>
      <p:sp>
        <p:nvSpPr>
          <p:cNvPr id="34" name="L2_eg"/>
          <p:cNvSpPr/>
          <p:nvPr/>
        </p:nvSpPr>
        <p:spPr>
          <a:xfrm>
            <a:off x="6359652" y="4727448"/>
            <a:ext cx="2288286" cy="411480"/>
          </a:xfrm>
          <a:prstGeom prst="roundRect">
            <a:avLst>
              <a:gd name="adj" fmla="val 13333"/>
            </a:avLst>
          </a:prstGeom>
          <a:solidFill>
            <a:srgbClr val="E1F4E6"/>
          </a:solidFill>
          <a:ln w="12700">
            <a:solidFill>
              <a:srgbClr val="E1F4E6"/>
            </a:solidFill>
            <a:prstDash val="solid"/>
          </a:ln>
        </p:spPr>
      </p:sp>
      <p:sp>
        <p:nvSpPr>
          <p:cNvPr id="35" name="L2_egt"/>
          <p:cNvSpPr txBox="1"/>
          <p:nvPr/>
        </p:nvSpPr>
        <p:spPr>
          <a:xfrm>
            <a:off x="6451092" y="4727448"/>
            <a:ext cx="21054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</a:rPr>
              <a:t>e.g. Belts, airbags, body structure</a:t>
            </a:r>
            <a:endParaRPr lang="en-US" sz="1200" dirty="0"/>
          </a:p>
        </p:txBody>
      </p:sp>
      <p:sp>
        <p:nvSpPr>
          <p:cNvPr id="36" name="L3_bg"/>
          <p:cNvSpPr/>
          <p:nvPr/>
        </p:nvSpPr>
        <p:spPr>
          <a:xfrm>
            <a:off x="9041130" y="2240280"/>
            <a:ext cx="2617470" cy="301752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L3_c"/>
          <p:cNvSpPr/>
          <p:nvPr/>
        </p:nvSpPr>
        <p:spPr>
          <a:xfrm>
            <a:off x="9269730" y="2468880"/>
            <a:ext cx="731520" cy="73152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38" name="L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651760"/>
            <a:ext cx="365760" cy="365760"/>
          </a:xfrm>
          <a:prstGeom prst="rect">
            <a:avLst/>
          </a:prstGeom>
        </p:spPr>
      </p:pic>
      <p:sp>
        <p:nvSpPr>
          <p:cNvPr id="39" name="L3_eb"/>
          <p:cNvSpPr txBox="1"/>
          <p:nvPr/>
        </p:nvSpPr>
        <p:spPr>
          <a:xfrm>
            <a:off x="9269730" y="3319272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3025"/>
                </a:solidFill>
              </a:rPr>
              <a:t>RESPOND</a:t>
            </a:r>
            <a:endParaRPr lang="en-US" sz="1200" dirty="0"/>
          </a:p>
        </p:txBody>
      </p:sp>
      <p:sp>
        <p:nvSpPr>
          <p:cNvPr id="40" name="L3_h"/>
          <p:cNvSpPr txBox="1"/>
          <p:nvPr/>
        </p:nvSpPr>
        <p:spPr>
          <a:xfrm>
            <a:off x="9269730" y="3593592"/>
            <a:ext cx="2160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Post-crash</a:t>
            </a:r>
            <a:endParaRPr lang="en-US" sz="2000" dirty="0"/>
          </a:p>
        </p:txBody>
      </p:sp>
      <p:sp>
        <p:nvSpPr>
          <p:cNvPr id="41" name="L3_d"/>
          <p:cNvSpPr txBox="1"/>
          <p:nvPr/>
        </p:nvSpPr>
        <p:spPr>
          <a:xfrm>
            <a:off x="9269730" y="3995928"/>
            <a:ext cx="2160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Calls for help and reduces further hazards</a:t>
            </a:r>
            <a:endParaRPr lang="en-US" sz="1400" dirty="0"/>
          </a:p>
        </p:txBody>
      </p:sp>
      <p:sp>
        <p:nvSpPr>
          <p:cNvPr id="42" name="L3_eg"/>
          <p:cNvSpPr/>
          <p:nvPr/>
        </p:nvSpPr>
        <p:spPr>
          <a:xfrm>
            <a:off x="9205722" y="4727448"/>
            <a:ext cx="2288286" cy="411480"/>
          </a:xfrm>
          <a:prstGeom prst="roundRect">
            <a:avLst>
              <a:gd name="adj" fmla="val 13333"/>
            </a:avLst>
          </a:prstGeom>
          <a:solidFill>
            <a:srgbClr val="FCE4E2"/>
          </a:solidFill>
          <a:ln w="12700">
            <a:solidFill>
              <a:srgbClr val="FCE4E2"/>
            </a:solidFill>
            <a:prstDash val="solid"/>
          </a:ln>
        </p:spPr>
      </p:sp>
      <p:sp>
        <p:nvSpPr>
          <p:cNvPr id="43" name="L3_egt"/>
          <p:cNvSpPr txBox="1"/>
          <p:nvPr/>
        </p:nvSpPr>
        <p:spPr>
          <a:xfrm>
            <a:off x="9297162" y="4727448"/>
            <a:ext cx="21054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</a:rPr>
              <a:t>e.g. eCall, fuel or high-voltage cut-off</a:t>
            </a:r>
            <a:endParaRPr lang="en-US" sz="1200" dirty="0"/>
          </a:p>
        </p:txBody>
      </p:sp>
      <p:sp>
        <p:nvSpPr>
          <p:cNvPr id="44" name="L_call"/>
          <p:cNvSpPr/>
          <p:nvPr/>
        </p:nvSpPr>
        <p:spPr>
          <a:xfrm>
            <a:off x="502920" y="5468112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FFF6D8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5" name="L_call_t"/>
          <p:cNvSpPr txBox="1"/>
          <p:nvPr/>
        </p:nvSpPr>
        <p:spPr>
          <a:xfrm>
            <a:off x="731520" y="546811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5300"/>
                </a:solidFill>
              </a:rPr>
              <a:t>If one layer fails, the next one is there. </a:t>
            </a:r>
            <a:pPr indent="0" marL="0">
              <a:buNone/>
            </a:pPr>
            <a:r>
              <a:rPr lang="en-US" sz="1600" b="1" dirty="0">
                <a:solidFill>
                  <a:srgbClr val="8A5300"/>
                </a:solidFill>
              </a:rPr>
              <a:t>But the driver is still the most important safety 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Keeping Control: Brakes, Grip and Stability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Helps you stop, steer and keep grip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1814170" cy="292608"/>
          </a:xfrm>
          <a:prstGeom prst="roundRect">
            <a:avLst>
              <a:gd name="adj" fmla="val 50000"/>
            </a:avLst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1814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ACTIVE SAFETY</a:t>
            </a:r>
            <a:endParaRPr lang="en-US" sz="1100" dirty="0"/>
          </a:p>
        </p:txBody>
      </p:sp>
      <p:pic>
        <p:nvPicPr>
          <p:cNvPr id="6" name="act_img" descr="/tmp/claude-0/-home-user-test/b147fb9c-d80f-57d3-b14e-d3056e2b7576/scratchpad/work/assets/im-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6400800" cy="4161816"/>
          </a:xfrm>
          <a:prstGeom prst="rect">
            <a:avLst/>
          </a:prstGeom>
        </p:spPr>
      </p:pic>
      <p:sp>
        <p:nvSpPr>
          <p:cNvPr id="7" name="G0_bg"/>
          <p:cNvSpPr/>
          <p:nvPr/>
        </p:nvSpPr>
        <p:spPr>
          <a:xfrm>
            <a:off x="7178040" y="181051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G0_h"/>
          <p:cNvSpPr txBox="1"/>
          <p:nvPr/>
        </p:nvSpPr>
        <p:spPr>
          <a:xfrm>
            <a:off x="736092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DF"/>
                </a:solidFill>
              </a:rPr>
              <a:t>BRAKING</a:t>
            </a:r>
            <a:endParaRPr lang="en-US" sz="1200" dirty="0"/>
          </a:p>
        </p:txBody>
      </p:sp>
      <p:sp>
        <p:nvSpPr>
          <p:cNvPr id="9" name="G0_t"/>
          <p:cNvSpPr txBox="1"/>
          <p:nvPr/>
        </p:nvSpPr>
        <p:spPr>
          <a:xfrm>
            <a:off x="7360920" y="2194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ABS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Stops wheels locking under hard braking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EBD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Shares brake force to suit the load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Brake Assist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Adds full force in a panic stop</a:t>
            </a:r>
            <a:endParaRPr lang="en-US" sz="1300" dirty="0"/>
          </a:p>
        </p:txBody>
      </p:sp>
      <p:sp>
        <p:nvSpPr>
          <p:cNvPr id="10" name="G1_bg"/>
          <p:cNvSpPr/>
          <p:nvPr/>
        </p:nvSpPr>
        <p:spPr>
          <a:xfrm>
            <a:off x="7178040" y="322783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G1_h"/>
          <p:cNvSpPr txBox="1"/>
          <p:nvPr/>
        </p:nvSpPr>
        <p:spPr>
          <a:xfrm>
            <a:off x="7360920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DF"/>
                </a:solidFill>
              </a:rPr>
              <a:t>STABILITY &amp; GRIP</a:t>
            </a:r>
            <a:endParaRPr lang="en-US" sz="1200" dirty="0"/>
          </a:p>
        </p:txBody>
      </p:sp>
      <p:sp>
        <p:nvSpPr>
          <p:cNvPr id="12" name="G1_t"/>
          <p:cNvSpPr txBox="1"/>
          <p:nvPr/>
        </p:nvSpPr>
        <p:spPr>
          <a:xfrm>
            <a:off x="7360920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ESC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Brakes single wheels to stop a skid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Traction control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Stops wheelspin when pulling away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TPMS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Warns of an under-inflated tyre</a:t>
            </a:r>
            <a:endParaRPr lang="en-US" sz="1300" dirty="0"/>
          </a:p>
        </p:txBody>
      </p:sp>
      <p:sp>
        <p:nvSpPr>
          <p:cNvPr id="13" name="G2_bg"/>
          <p:cNvSpPr/>
          <p:nvPr/>
        </p:nvSpPr>
        <p:spPr>
          <a:xfrm>
            <a:off x="7178040" y="464515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G2_h"/>
          <p:cNvSpPr txBox="1"/>
          <p:nvPr/>
        </p:nvSpPr>
        <p:spPr>
          <a:xfrm>
            <a:off x="736092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DF"/>
                </a:solidFill>
              </a:rPr>
              <a:t>SLOPES &amp; STOPS</a:t>
            </a:r>
            <a:endParaRPr lang="en-US" sz="1200" dirty="0"/>
          </a:p>
        </p:txBody>
      </p:sp>
      <p:sp>
        <p:nvSpPr>
          <p:cNvPr id="15" name="G2_t"/>
          <p:cNvSpPr txBox="1"/>
          <p:nvPr/>
        </p:nvSpPr>
        <p:spPr>
          <a:xfrm>
            <a:off x="7360920" y="5029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Hill Start Assist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Stops roll-back on a slope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Hill Descent Control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Holds a slow speed downhill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</a:rPr>
              <a:t>EPB + Auto Hold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472"/>
                </a:solidFill>
              </a:rPr>
              <a:t>  Electric handbrake; holds you at stops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Is Your Car Watching the Road?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Driver assistance: warn first, then help brake or steer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843077" cy="292608"/>
          </a:xfrm>
          <a:prstGeom prst="roundRect">
            <a:avLst>
              <a:gd name="adj" fmla="val 50000"/>
            </a:avLst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8430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ADAS</a:t>
            </a:r>
            <a:endParaRPr lang="en-US" sz="1100" dirty="0"/>
          </a:p>
        </p:txBody>
      </p:sp>
      <p:pic>
        <p:nvPicPr>
          <p:cNvPr id="6" name="adas_img" descr="/tmp/claude-0/-home-user-test/b147fb9c-d80f-57d3-b14e-d3056e2b7576/scratchpad/work/assets/im-0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6720840" cy="3253836"/>
          </a:xfrm>
          <a:prstGeom prst="rect">
            <a:avLst/>
          </a:prstGeom>
        </p:spPr>
      </p:pic>
      <p:sp>
        <p:nvSpPr>
          <p:cNvPr id="7" name="adas_call"/>
          <p:cNvSpPr/>
          <p:nvPr/>
        </p:nvSpPr>
        <p:spPr>
          <a:xfrm>
            <a:off x="502920" y="5285232"/>
            <a:ext cx="6720840" cy="731520"/>
          </a:xfrm>
          <a:prstGeom prst="roundRect">
            <a:avLst>
              <a:gd name="adj" fmla="val 10000"/>
            </a:avLst>
          </a:prstGeom>
          <a:solidFill>
            <a:srgbClr val="DDF3F6"/>
          </a:solidFill>
          <a:ln w="15875">
            <a:solidFill>
              <a:srgbClr val="1797A6"/>
            </a:solidFill>
            <a:prstDash val="solid"/>
          </a:ln>
        </p:spPr>
      </p:sp>
      <p:sp>
        <p:nvSpPr>
          <p:cNvPr id="8" name="adas_call_t"/>
          <p:cNvSpPr txBox="1"/>
          <p:nvPr/>
        </p:nvSpPr>
        <p:spPr>
          <a:xfrm>
            <a:off x="685800" y="5285232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F69"/>
                </a:solidFill>
              </a:rPr>
              <a:t>ADAS assists – it does not drive for you. </a:t>
            </a:r>
            <a:pPr indent="0" marL="0">
              <a:buNone/>
            </a:pPr>
            <a:r>
              <a:rPr lang="en-US" sz="1400" dirty="0">
                <a:solidFill>
                  <a:srgbClr val="0E5F69"/>
                </a:solidFill>
              </a:rPr>
              <a:t>Keep cameras and sensors clean; dirt, rain or glare can stop them working.</a:t>
            </a:r>
            <a:endParaRPr lang="en-US" sz="1400" dirty="0"/>
          </a:p>
        </p:txBody>
      </p:sp>
      <p:sp>
        <p:nvSpPr>
          <p:cNvPr id="9" name="A0_bg"/>
          <p:cNvSpPr/>
          <p:nvPr/>
        </p:nvSpPr>
        <p:spPr>
          <a:xfrm>
            <a:off x="7498080" y="181051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0" name="A0_c"/>
          <p:cNvSpPr/>
          <p:nvPr/>
        </p:nvSpPr>
        <p:spPr>
          <a:xfrm>
            <a:off x="7589520" y="1883664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11" name="A0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1979676"/>
            <a:ext cx="192024" cy="192024"/>
          </a:xfrm>
          <a:prstGeom prst="rect">
            <a:avLst/>
          </a:prstGeom>
        </p:spPr>
      </p:pic>
      <p:sp>
        <p:nvSpPr>
          <p:cNvPr id="12" name="A0_n"/>
          <p:cNvSpPr txBox="1"/>
          <p:nvPr/>
        </p:nvSpPr>
        <p:spPr>
          <a:xfrm>
            <a:off x="1131112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A0_t"/>
          <p:cNvSpPr txBox="1"/>
          <p:nvPr/>
        </p:nvSpPr>
        <p:spPr>
          <a:xfrm>
            <a:off x="8065008" y="18379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Forward Collision Warning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Beeps when you close in too fast</a:t>
            </a:r>
            <a:endParaRPr lang="en-US" sz="1300" dirty="0"/>
          </a:p>
        </p:txBody>
      </p:sp>
      <p:sp>
        <p:nvSpPr>
          <p:cNvPr id="14" name="A1_bg"/>
          <p:cNvSpPr/>
          <p:nvPr/>
        </p:nvSpPr>
        <p:spPr>
          <a:xfrm>
            <a:off x="7498080" y="241401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5" name="A1_c"/>
          <p:cNvSpPr/>
          <p:nvPr/>
        </p:nvSpPr>
        <p:spPr>
          <a:xfrm>
            <a:off x="7589520" y="2487168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16" name="A1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2583180"/>
            <a:ext cx="192024" cy="192024"/>
          </a:xfrm>
          <a:prstGeom prst="rect">
            <a:avLst/>
          </a:prstGeom>
        </p:spPr>
      </p:pic>
      <p:sp>
        <p:nvSpPr>
          <p:cNvPr id="17" name="A1_n"/>
          <p:cNvSpPr txBox="1"/>
          <p:nvPr/>
        </p:nvSpPr>
        <p:spPr>
          <a:xfrm>
            <a:off x="11311128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A1_t"/>
          <p:cNvSpPr txBox="1"/>
          <p:nvPr/>
        </p:nvSpPr>
        <p:spPr>
          <a:xfrm>
            <a:off x="8065008" y="24414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Automatic Emergency Braking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Brakes by itself if a crash is imminent</a:t>
            </a:r>
            <a:endParaRPr lang="en-US" sz="1300" dirty="0"/>
          </a:p>
        </p:txBody>
      </p:sp>
      <p:sp>
        <p:nvSpPr>
          <p:cNvPr id="19" name="A2_bg"/>
          <p:cNvSpPr/>
          <p:nvPr/>
        </p:nvSpPr>
        <p:spPr>
          <a:xfrm>
            <a:off x="7498080" y="301752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0" name="A2_c"/>
          <p:cNvSpPr/>
          <p:nvPr/>
        </p:nvSpPr>
        <p:spPr>
          <a:xfrm>
            <a:off x="7589520" y="3090672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21" name="A2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3186684"/>
            <a:ext cx="192024" cy="192024"/>
          </a:xfrm>
          <a:prstGeom prst="rect">
            <a:avLst/>
          </a:prstGeom>
        </p:spPr>
      </p:pic>
      <p:sp>
        <p:nvSpPr>
          <p:cNvPr id="22" name="A2_n"/>
          <p:cNvSpPr txBox="1"/>
          <p:nvPr/>
        </p:nvSpPr>
        <p:spPr>
          <a:xfrm>
            <a:off x="1131112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A2_t"/>
          <p:cNvSpPr txBox="1"/>
          <p:nvPr/>
        </p:nvSpPr>
        <p:spPr>
          <a:xfrm>
            <a:off x="8065008" y="30449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Adaptive Cruise Control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Keeps a set speed and a set gap</a:t>
            </a:r>
            <a:endParaRPr lang="en-US" sz="1300" dirty="0"/>
          </a:p>
        </p:txBody>
      </p:sp>
      <p:sp>
        <p:nvSpPr>
          <p:cNvPr id="24" name="A3_bg"/>
          <p:cNvSpPr/>
          <p:nvPr/>
        </p:nvSpPr>
        <p:spPr>
          <a:xfrm>
            <a:off x="7498080" y="3621024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5" name="A3_c"/>
          <p:cNvSpPr/>
          <p:nvPr/>
        </p:nvSpPr>
        <p:spPr>
          <a:xfrm>
            <a:off x="7589520" y="3694176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26" name="A3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532" y="3790188"/>
            <a:ext cx="192024" cy="192024"/>
          </a:xfrm>
          <a:prstGeom prst="rect">
            <a:avLst/>
          </a:prstGeom>
        </p:spPr>
      </p:pic>
      <p:sp>
        <p:nvSpPr>
          <p:cNvPr id="27" name="A3_n"/>
          <p:cNvSpPr txBox="1"/>
          <p:nvPr/>
        </p:nvSpPr>
        <p:spPr>
          <a:xfrm>
            <a:off x="11311128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A3_t"/>
          <p:cNvSpPr txBox="1"/>
          <p:nvPr/>
        </p:nvSpPr>
        <p:spPr>
          <a:xfrm>
            <a:off x="8065008" y="36484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Lane Departure Warning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Alerts you if you drift over the lines</a:t>
            </a:r>
            <a:endParaRPr lang="en-US" sz="1300" dirty="0"/>
          </a:p>
        </p:txBody>
      </p:sp>
      <p:sp>
        <p:nvSpPr>
          <p:cNvPr id="29" name="A4_bg"/>
          <p:cNvSpPr/>
          <p:nvPr/>
        </p:nvSpPr>
        <p:spPr>
          <a:xfrm>
            <a:off x="7498080" y="422452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30" name="A4_c"/>
          <p:cNvSpPr/>
          <p:nvPr/>
        </p:nvSpPr>
        <p:spPr>
          <a:xfrm>
            <a:off x="7589520" y="4297680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31" name="A4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532" y="4393692"/>
            <a:ext cx="192024" cy="192024"/>
          </a:xfrm>
          <a:prstGeom prst="rect">
            <a:avLst/>
          </a:prstGeom>
        </p:spPr>
      </p:pic>
      <p:sp>
        <p:nvSpPr>
          <p:cNvPr id="32" name="A4_n"/>
          <p:cNvSpPr txBox="1"/>
          <p:nvPr/>
        </p:nvSpPr>
        <p:spPr>
          <a:xfrm>
            <a:off x="11311128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A4_t"/>
          <p:cNvSpPr txBox="1"/>
          <p:nvPr/>
        </p:nvSpPr>
        <p:spPr>
          <a:xfrm>
            <a:off x="8065008" y="42519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Lane Keeping Assist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Gently steers you back into the lane</a:t>
            </a:r>
            <a:endParaRPr lang="en-US" sz="1300" dirty="0"/>
          </a:p>
        </p:txBody>
      </p:sp>
      <p:sp>
        <p:nvSpPr>
          <p:cNvPr id="34" name="A5_bg"/>
          <p:cNvSpPr/>
          <p:nvPr/>
        </p:nvSpPr>
        <p:spPr>
          <a:xfrm>
            <a:off x="7498080" y="482803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35" name="A5_c"/>
          <p:cNvSpPr/>
          <p:nvPr/>
        </p:nvSpPr>
        <p:spPr>
          <a:xfrm>
            <a:off x="7589520" y="4901184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36" name="A5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532" y="4997196"/>
            <a:ext cx="192024" cy="192024"/>
          </a:xfrm>
          <a:prstGeom prst="rect">
            <a:avLst/>
          </a:prstGeom>
        </p:spPr>
      </p:pic>
      <p:sp>
        <p:nvSpPr>
          <p:cNvPr id="37" name="A5_n"/>
          <p:cNvSpPr txBox="1"/>
          <p:nvPr/>
        </p:nvSpPr>
        <p:spPr>
          <a:xfrm>
            <a:off x="11311128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A5_t"/>
          <p:cNvSpPr txBox="1"/>
          <p:nvPr/>
        </p:nvSpPr>
        <p:spPr>
          <a:xfrm>
            <a:off x="8065008" y="48554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Blind Spot Monitoring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Light in the mirror when a car is alongside</a:t>
            </a:r>
            <a:endParaRPr lang="en-US" sz="1300" dirty="0"/>
          </a:p>
        </p:txBody>
      </p:sp>
      <p:sp>
        <p:nvSpPr>
          <p:cNvPr id="39" name="A6_bg"/>
          <p:cNvSpPr/>
          <p:nvPr/>
        </p:nvSpPr>
        <p:spPr>
          <a:xfrm>
            <a:off x="7498080" y="543153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40" name="A6_c"/>
          <p:cNvSpPr/>
          <p:nvPr/>
        </p:nvSpPr>
        <p:spPr>
          <a:xfrm>
            <a:off x="7589520" y="5504688"/>
            <a:ext cx="384048" cy="384048"/>
          </a:xfrm>
          <a:prstGeom prst="ellipse">
            <a:avLst/>
          </a:prstGeom>
          <a:solidFill>
            <a:srgbClr val="1797A6"/>
          </a:solidFill>
          <a:ln w="12700">
            <a:solidFill>
              <a:srgbClr val="1797A6"/>
            </a:solidFill>
            <a:prstDash val="solid"/>
          </a:ln>
        </p:spPr>
      </p:sp>
      <p:pic>
        <p:nvPicPr>
          <p:cNvPr id="41" name="A6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5532" y="5600700"/>
            <a:ext cx="192024" cy="192024"/>
          </a:xfrm>
          <a:prstGeom prst="rect">
            <a:avLst/>
          </a:prstGeom>
        </p:spPr>
      </p:pic>
      <p:sp>
        <p:nvSpPr>
          <p:cNvPr id="42" name="A6_n"/>
          <p:cNvSpPr txBox="1"/>
          <p:nvPr/>
        </p:nvSpPr>
        <p:spPr>
          <a:xfrm>
            <a:off x="11311128" y="5559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97A6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A6_t"/>
          <p:cNvSpPr txBox="1"/>
          <p:nvPr/>
        </p:nvSpPr>
        <p:spPr>
          <a:xfrm>
            <a:off x="8065008" y="54589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Rear Cross Traffic Alert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Warns of traffic crossing as you reverse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Protects You in a Crash?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Soft ends, a strong middle, and restraints that work together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1922069" cy="29260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19220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PASSIVE SAFETY</a:t>
            </a:r>
            <a:endParaRPr lang="en-US" sz="1100" dirty="0"/>
          </a:p>
        </p:txBody>
      </p:sp>
      <p:sp>
        <p:nvSpPr>
          <p:cNvPr id="6" name="cz_bg"/>
          <p:cNvSpPr/>
          <p:nvPr/>
        </p:nvSpPr>
        <p:spPr>
          <a:xfrm>
            <a:off x="502920" y="1810512"/>
            <a:ext cx="5577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cz_img" descr="/tmp/claude-0/-home-user-test/b147fb9c-d80f-57d3-b14e-d3056e2b7576/scratchpad/work/assets/im-0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394960" cy="2548188"/>
          </a:xfrm>
          <a:prstGeom prst="rect">
            <a:avLst/>
          </a:prstGeom>
        </p:spPr>
      </p:pic>
      <p:sp>
        <p:nvSpPr>
          <p:cNvPr id="8" name="cz_cap"/>
          <p:cNvSpPr txBox="1"/>
          <p:nvPr/>
        </p:nvSpPr>
        <p:spPr>
          <a:xfrm>
            <a:off x="502920" y="45537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Crumple zones absorb crash energy; the safety cell keeps space around you</a:t>
            </a:r>
            <a:endParaRPr lang="en-US" sz="1200" dirty="0"/>
          </a:p>
        </p:txBody>
      </p:sp>
      <p:pic>
        <p:nvPicPr>
          <p:cNvPr id="9" name="ab_img" descr="/tmp/claude-0/-home-user-test/b147fb9c-d80f-57d3-b14e-d3056e2b7576/scratchpad/work/assets/im-03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956048"/>
            <a:ext cx="2606040" cy="1079188"/>
          </a:xfrm>
          <a:prstGeom prst="rect">
            <a:avLst/>
          </a:prstGeom>
        </p:spPr>
      </p:pic>
      <p:sp>
        <p:nvSpPr>
          <p:cNvPr id="10" name="ab_call"/>
          <p:cNvSpPr/>
          <p:nvPr/>
        </p:nvSpPr>
        <p:spPr>
          <a:xfrm>
            <a:off x="3246120" y="4956048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E1F4E6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1" name="ab_call_t"/>
          <p:cNvSpPr txBox="1"/>
          <p:nvPr/>
        </p:nvSpPr>
        <p:spPr>
          <a:xfrm>
            <a:off x="3383280" y="4956048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5E2A"/>
                </a:solidFill>
              </a:rPr>
              <a:t>Airbags work WITH seatbelts,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5E2A"/>
                </a:solidFill>
              </a:rPr>
              <a:t>not instead of them. Hold the wheel at 9 and 3.</a:t>
            </a:r>
            <a:endParaRPr lang="en-US" sz="1400" dirty="0"/>
          </a:p>
        </p:txBody>
      </p:sp>
      <p:sp>
        <p:nvSpPr>
          <p:cNvPr id="12" name="P0_bg"/>
          <p:cNvSpPr/>
          <p:nvPr/>
        </p:nvSpPr>
        <p:spPr>
          <a:xfrm>
            <a:off x="6400800" y="1810512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3" name="P0_c"/>
          <p:cNvSpPr/>
          <p:nvPr/>
        </p:nvSpPr>
        <p:spPr>
          <a:xfrm>
            <a:off x="6492240" y="1883664"/>
            <a:ext cx="402336" cy="40233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4" name="P0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984248"/>
            <a:ext cx="201168" cy="201168"/>
          </a:xfrm>
          <a:prstGeom prst="rect">
            <a:avLst/>
          </a:prstGeom>
        </p:spPr>
      </p:pic>
      <p:sp>
        <p:nvSpPr>
          <p:cNvPr id="15" name="P0_t"/>
          <p:cNvSpPr txBox="1"/>
          <p:nvPr/>
        </p:nvSpPr>
        <p:spPr>
          <a:xfrm>
            <a:off x="7022592" y="18379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Airbags (front, side, curtain)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Cushion you in certain crashes</a:t>
            </a:r>
            <a:endParaRPr lang="en-US" sz="1400" dirty="0"/>
          </a:p>
        </p:txBody>
      </p:sp>
      <p:sp>
        <p:nvSpPr>
          <p:cNvPr id="16" name="P1_bg"/>
          <p:cNvSpPr/>
          <p:nvPr/>
        </p:nvSpPr>
        <p:spPr>
          <a:xfrm>
            <a:off x="6400800" y="2450592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7" name="P1_c"/>
          <p:cNvSpPr/>
          <p:nvPr/>
        </p:nvSpPr>
        <p:spPr>
          <a:xfrm>
            <a:off x="6492240" y="2523744"/>
            <a:ext cx="402336" cy="40233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8" name="P1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624328"/>
            <a:ext cx="201168" cy="201168"/>
          </a:xfrm>
          <a:prstGeom prst="rect">
            <a:avLst/>
          </a:prstGeom>
        </p:spPr>
      </p:pic>
      <p:sp>
        <p:nvSpPr>
          <p:cNvPr id="19" name="P1_t"/>
          <p:cNvSpPr txBox="1"/>
          <p:nvPr/>
        </p:nvSpPr>
        <p:spPr>
          <a:xfrm>
            <a:off x="7022592" y="247802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Seatbelts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Hold you in place and spread the forces</a:t>
            </a:r>
            <a:endParaRPr lang="en-US" sz="1400" dirty="0"/>
          </a:p>
        </p:txBody>
      </p:sp>
      <p:sp>
        <p:nvSpPr>
          <p:cNvPr id="20" name="P2_bg"/>
          <p:cNvSpPr/>
          <p:nvPr/>
        </p:nvSpPr>
        <p:spPr>
          <a:xfrm>
            <a:off x="6400800" y="3090672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1" name="P2_c"/>
          <p:cNvSpPr/>
          <p:nvPr/>
        </p:nvSpPr>
        <p:spPr>
          <a:xfrm>
            <a:off x="6492240" y="3163824"/>
            <a:ext cx="402336" cy="40233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2" name="P2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264408"/>
            <a:ext cx="201168" cy="201168"/>
          </a:xfrm>
          <a:prstGeom prst="rect">
            <a:avLst/>
          </a:prstGeom>
        </p:spPr>
      </p:pic>
      <p:sp>
        <p:nvSpPr>
          <p:cNvPr id="23" name="P2_t"/>
          <p:cNvSpPr txBox="1"/>
          <p:nvPr/>
        </p:nvSpPr>
        <p:spPr>
          <a:xfrm>
            <a:off x="7022592" y="3118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Pretensioners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Pull the belt tight as the crash begins</a:t>
            </a:r>
            <a:endParaRPr lang="en-US" sz="1400" dirty="0"/>
          </a:p>
        </p:txBody>
      </p:sp>
      <p:sp>
        <p:nvSpPr>
          <p:cNvPr id="24" name="P3_bg"/>
          <p:cNvSpPr/>
          <p:nvPr/>
        </p:nvSpPr>
        <p:spPr>
          <a:xfrm>
            <a:off x="6400800" y="3730752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5" name="P3_c"/>
          <p:cNvSpPr/>
          <p:nvPr/>
        </p:nvSpPr>
        <p:spPr>
          <a:xfrm>
            <a:off x="6492240" y="3803904"/>
            <a:ext cx="402336" cy="40233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6" name="P3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904488"/>
            <a:ext cx="201168" cy="201168"/>
          </a:xfrm>
          <a:prstGeom prst="rect">
            <a:avLst/>
          </a:prstGeom>
        </p:spPr>
      </p:pic>
      <p:sp>
        <p:nvSpPr>
          <p:cNvPr id="27" name="P3_t"/>
          <p:cNvSpPr txBox="1"/>
          <p:nvPr/>
        </p:nvSpPr>
        <p:spPr>
          <a:xfrm>
            <a:off x="7022592" y="375818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Load limiters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Let the belt give a little to protect the chest</a:t>
            </a:r>
            <a:endParaRPr lang="en-US" sz="1400" dirty="0"/>
          </a:p>
        </p:txBody>
      </p:sp>
      <p:sp>
        <p:nvSpPr>
          <p:cNvPr id="28" name="P4_bg"/>
          <p:cNvSpPr/>
          <p:nvPr/>
        </p:nvSpPr>
        <p:spPr>
          <a:xfrm>
            <a:off x="6400800" y="4370832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9" name="P4_c"/>
          <p:cNvSpPr/>
          <p:nvPr/>
        </p:nvSpPr>
        <p:spPr>
          <a:xfrm>
            <a:off x="6492240" y="4443984"/>
            <a:ext cx="402336" cy="40233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30" name="P4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4544568"/>
            <a:ext cx="201168" cy="201168"/>
          </a:xfrm>
          <a:prstGeom prst="rect">
            <a:avLst/>
          </a:prstGeom>
        </p:spPr>
      </p:pic>
      <p:sp>
        <p:nvSpPr>
          <p:cNvPr id="31" name="P4_t"/>
          <p:cNvSpPr txBox="1"/>
          <p:nvPr/>
        </p:nvSpPr>
        <p:spPr>
          <a:xfrm>
            <a:off x="7022592" y="439826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Crumple zones + safety cell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Built into the body of every modern car</a:t>
            </a:r>
            <a:endParaRPr lang="en-US" sz="1400" dirty="0"/>
          </a:p>
        </p:txBody>
      </p:sp>
      <p:sp>
        <p:nvSpPr>
          <p:cNvPr id="32" name="sb_card"/>
          <p:cNvSpPr/>
          <p:nvPr/>
        </p:nvSpPr>
        <p:spPr>
          <a:xfrm>
            <a:off x="6400800" y="5102352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sb_num"/>
          <p:cNvSpPr txBox="1"/>
          <p:nvPr/>
        </p:nvSpPr>
        <p:spPr>
          <a:xfrm>
            <a:off x="6537960" y="5102352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</a:rPr>
              <a:t>45%</a:t>
            </a:r>
            <a:endParaRPr lang="en-US" sz="3400" dirty="0"/>
          </a:p>
        </p:txBody>
      </p:sp>
      <p:sp>
        <p:nvSpPr>
          <p:cNvPr id="34" name="sb_txt"/>
          <p:cNvSpPr txBox="1"/>
          <p:nvPr/>
        </p:nvSpPr>
        <p:spPr>
          <a:xfrm>
            <a:off x="7955280" y="5138928"/>
            <a:ext cx="3566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Seatbelts cut the risk of death for front-seat car occupants by 45% (60% in light trucks)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9C4D6"/>
                </a:solidFill>
              </a:rPr>
              <a:t>Source: US NHTSA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 After a Crash?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Calling for help and reducing further hazards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2245766" cy="292608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POST-CRASH SAFETY</a:t>
            </a:r>
            <a:endParaRPr lang="en-US" sz="1100" dirty="0"/>
          </a:p>
        </p:txBody>
      </p:sp>
      <p:sp>
        <p:nvSpPr>
          <p:cNvPr id="6" name="pc_q"/>
          <p:cNvSpPr/>
          <p:nvPr/>
        </p:nvSpPr>
        <p:spPr>
          <a:xfrm>
            <a:off x="502920" y="1810512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CE4E2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7" name="pc_qi_c"/>
          <p:cNvSpPr/>
          <p:nvPr/>
        </p:nvSpPr>
        <p:spPr>
          <a:xfrm>
            <a:off x="621792" y="1883664"/>
            <a:ext cx="420624" cy="420624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8" name="pc_qi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988820"/>
            <a:ext cx="210312" cy="210312"/>
          </a:xfrm>
          <a:prstGeom prst="rect">
            <a:avLst/>
          </a:prstGeom>
        </p:spPr>
      </p:pic>
      <p:sp>
        <p:nvSpPr>
          <p:cNvPr id="9" name="pc_q_t"/>
          <p:cNvSpPr txBox="1"/>
          <p:nvPr/>
        </p:nvSpPr>
        <p:spPr>
          <a:xfrm>
            <a:off x="1170432" y="181051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1B12"/>
                </a:solidFill>
              </a:rPr>
              <a:t>What happens to an EV's high-voltage system after a serious crash?</a:t>
            </a:r>
            <a:endParaRPr lang="en-US" sz="1600" dirty="0"/>
          </a:p>
        </p:txBody>
      </p:sp>
      <p:sp>
        <p:nvSpPr>
          <p:cNvPr id="10" name="C0_bg"/>
          <p:cNvSpPr/>
          <p:nvPr/>
        </p:nvSpPr>
        <p:spPr>
          <a:xfrm>
            <a:off x="502920" y="25603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C0_c"/>
          <p:cNvSpPr/>
          <p:nvPr/>
        </p:nvSpPr>
        <p:spPr>
          <a:xfrm>
            <a:off x="859536" y="2724912"/>
            <a:ext cx="566928" cy="56692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12" name="C0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866644"/>
            <a:ext cx="283464" cy="283464"/>
          </a:xfrm>
          <a:prstGeom prst="rect">
            <a:avLst/>
          </a:prstGeom>
        </p:spPr>
      </p:pic>
      <p:sp>
        <p:nvSpPr>
          <p:cNvPr id="13" name="C0_h"/>
          <p:cNvSpPr txBox="1"/>
          <p:nvPr/>
        </p:nvSpPr>
        <p:spPr>
          <a:xfrm>
            <a:off x="557784" y="33467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025"/>
                </a:solidFill>
              </a:rPr>
              <a:t>eCall / SOS</a:t>
            </a:r>
            <a:endParaRPr lang="en-US" sz="1300" dirty="0"/>
          </a:p>
        </p:txBody>
      </p:sp>
      <p:sp>
        <p:nvSpPr>
          <p:cNvPr id="14" name="C0_d"/>
          <p:cNvSpPr txBox="1"/>
          <p:nvPr/>
        </p:nvSpPr>
        <p:spPr>
          <a:xfrm>
            <a:off x="576072" y="3840480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Can call emergency services and send the location</a:t>
            </a:r>
            <a:endParaRPr lang="en-US" sz="1200" dirty="0"/>
          </a:p>
        </p:txBody>
      </p:sp>
      <p:sp>
        <p:nvSpPr>
          <p:cNvPr id="15" name="C1_bg"/>
          <p:cNvSpPr/>
          <p:nvPr/>
        </p:nvSpPr>
        <p:spPr>
          <a:xfrm>
            <a:off x="1920240" y="25603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C1_c"/>
          <p:cNvSpPr/>
          <p:nvPr/>
        </p:nvSpPr>
        <p:spPr>
          <a:xfrm>
            <a:off x="2276856" y="2724912"/>
            <a:ext cx="566928" cy="56692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17" name="C1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588" y="2866644"/>
            <a:ext cx="283464" cy="283464"/>
          </a:xfrm>
          <a:prstGeom prst="rect">
            <a:avLst/>
          </a:prstGeom>
        </p:spPr>
      </p:pic>
      <p:sp>
        <p:nvSpPr>
          <p:cNvPr id="18" name="C1_h"/>
          <p:cNvSpPr txBox="1"/>
          <p:nvPr/>
        </p:nvSpPr>
        <p:spPr>
          <a:xfrm>
            <a:off x="1975104" y="33467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025"/>
                </a:solidFill>
              </a:rPr>
              <a:t>Hazards &amp; unlock</a:t>
            </a:r>
            <a:endParaRPr lang="en-US" sz="1300" dirty="0"/>
          </a:p>
        </p:txBody>
      </p:sp>
      <p:sp>
        <p:nvSpPr>
          <p:cNvPr id="19" name="C1_d"/>
          <p:cNvSpPr txBox="1"/>
          <p:nvPr/>
        </p:nvSpPr>
        <p:spPr>
          <a:xfrm>
            <a:off x="1993392" y="3840480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May switch on hazards and unlock doors</a:t>
            </a:r>
            <a:endParaRPr lang="en-US" sz="1200" dirty="0"/>
          </a:p>
        </p:txBody>
      </p:sp>
      <p:sp>
        <p:nvSpPr>
          <p:cNvPr id="20" name="C2_bg"/>
          <p:cNvSpPr/>
          <p:nvPr/>
        </p:nvSpPr>
        <p:spPr>
          <a:xfrm>
            <a:off x="3337560" y="25603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C2_c"/>
          <p:cNvSpPr/>
          <p:nvPr/>
        </p:nvSpPr>
        <p:spPr>
          <a:xfrm>
            <a:off x="3694176" y="2724912"/>
            <a:ext cx="566928" cy="56692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22" name="C2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866644"/>
            <a:ext cx="283464" cy="283464"/>
          </a:xfrm>
          <a:prstGeom prst="rect">
            <a:avLst/>
          </a:prstGeom>
        </p:spPr>
      </p:pic>
      <p:sp>
        <p:nvSpPr>
          <p:cNvPr id="23" name="C2_h"/>
          <p:cNvSpPr txBox="1"/>
          <p:nvPr/>
        </p:nvSpPr>
        <p:spPr>
          <a:xfrm>
            <a:off x="3392424" y="33467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025"/>
                </a:solidFill>
              </a:rPr>
              <a:t>Fuel cut-off</a:t>
            </a:r>
            <a:endParaRPr lang="en-US" sz="1300" dirty="0"/>
          </a:p>
        </p:txBody>
      </p:sp>
      <p:sp>
        <p:nvSpPr>
          <p:cNvPr id="24" name="C2_d"/>
          <p:cNvSpPr txBox="1"/>
          <p:nvPr/>
        </p:nvSpPr>
        <p:spPr>
          <a:xfrm>
            <a:off x="3410712" y="3840480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Can stop fuel delivery after certain crashes</a:t>
            </a:r>
            <a:endParaRPr lang="en-US" sz="1200" dirty="0"/>
          </a:p>
        </p:txBody>
      </p:sp>
      <p:sp>
        <p:nvSpPr>
          <p:cNvPr id="25" name="C3_bg"/>
          <p:cNvSpPr/>
          <p:nvPr/>
        </p:nvSpPr>
        <p:spPr>
          <a:xfrm>
            <a:off x="4754880" y="25603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C3_c"/>
          <p:cNvSpPr/>
          <p:nvPr/>
        </p:nvSpPr>
        <p:spPr>
          <a:xfrm>
            <a:off x="5111496" y="2724912"/>
            <a:ext cx="566928" cy="56692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27" name="C3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228" y="2866644"/>
            <a:ext cx="283464" cy="283464"/>
          </a:xfrm>
          <a:prstGeom prst="rect">
            <a:avLst/>
          </a:prstGeom>
        </p:spPr>
      </p:pic>
      <p:sp>
        <p:nvSpPr>
          <p:cNvPr id="28" name="C3_h"/>
          <p:cNvSpPr txBox="1"/>
          <p:nvPr/>
        </p:nvSpPr>
        <p:spPr>
          <a:xfrm>
            <a:off x="4809744" y="33467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025"/>
                </a:solidFill>
              </a:rPr>
              <a:t>HV isolation</a:t>
            </a:r>
            <a:endParaRPr lang="en-US" sz="1300" dirty="0"/>
          </a:p>
        </p:txBody>
      </p:sp>
      <p:sp>
        <p:nvSpPr>
          <p:cNvPr id="29" name="C3_d"/>
          <p:cNvSpPr txBox="1"/>
          <p:nvPr/>
        </p:nvSpPr>
        <p:spPr>
          <a:xfrm>
            <a:off x="4828032" y="3840480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Helps disconnect an EV's high voltage</a:t>
            </a:r>
            <a:endParaRPr lang="en-US" sz="1200" dirty="0"/>
          </a:p>
        </p:txBody>
      </p:sp>
      <p:sp>
        <p:nvSpPr>
          <p:cNvPr id="30" name="C4_bg"/>
          <p:cNvSpPr/>
          <p:nvPr/>
        </p:nvSpPr>
        <p:spPr>
          <a:xfrm>
            <a:off x="6172200" y="25603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C4_c"/>
          <p:cNvSpPr/>
          <p:nvPr/>
        </p:nvSpPr>
        <p:spPr>
          <a:xfrm>
            <a:off x="6528816" y="2724912"/>
            <a:ext cx="566928" cy="56692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32" name="C4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548" y="2866644"/>
            <a:ext cx="283464" cy="283464"/>
          </a:xfrm>
          <a:prstGeom prst="rect">
            <a:avLst/>
          </a:prstGeom>
        </p:spPr>
      </p:pic>
      <p:sp>
        <p:nvSpPr>
          <p:cNvPr id="33" name="C4_h"/>
          <p:cNvSpPr txBox="1"/>
          <p:nvPr/>
        </p:nvSpPr>
        <p:spPr>
          <a:xfrm>
            <a:off x="6227064" y="33467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3025"/>
                </a:solidFill>
              </a:rPr>
              <a:t>EDR</a:t>
            </a:r>
            <a:endParaRPr lang="en-US" sz="1300" dirty="0"/>
          </a:p>
        </p:txBody>
      </p:sp>
      <p:sp>
        <p:nvSpPr>
          <p:cNvPr id="34" name="C4_d"/>
          <p:cNvSpPr txBox="1"/>
          <p:nvPr/>
        </p:nvSpPr>
        <p:spPr>
          <a:xfrm>
            <a:off x="6245352" y="3840480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Event Data Recorder: stores selected crash data</a:t>
            </a:r>
            <a:endParaRPr lang="en-US" sz="1200" dirty="0"/>
          </a:p>
        </p:txBody>
      </p:sp>
      <p:sp>
        <p:nvSpPr>
          <p:cNvPr id="35" name="pc_ans"/>
          <p:cNvSpPr/>
          <p:nvPr/>
        </p:nvSpPr>
        <p:spPr>
          <a:xfrm>
            <a:off x="502920" y="4956048"/>
            <a:ext cx="6949440" cy="1078992"/>
          </a:xfrm>
          <a:prstGeom prst="roundRect">
            <a:avLst>
              <a:gd name="adj" fmla="val 678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pc_ans_t"/>
          <p:cNvSpPr txBox="1"/>
          <p:nvPr/>
        </p:nvSpPr>
        <p:spPr>
          <a:xfrm>
            <a:off x="731520" y="4956048"/>
            <a:ext cx="6537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ANSWER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HV isolation helps disconnect the battery from the high-voltage system. </a:t>
            </a:r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</a:rPr>
              <a:t>Still treat a damaged EV or hybrid as live: keep clear of orange cables and tell the emergency services it is an EV.</a:t>
            </a:r>
            <a:endParaRPr lang="en-US" sz="1400" dirty="0"/>
          </a:p>
        </p:txBody>
      </p:sp>
      <p:pic>
        <p:nvPicPr>
          <p:cNvPr id="37" name="pc_img" descr="/tmp/claude-0/-home-user-test/b147fb9c-d80f-57d3-b14e-d3056e2b7576/scratchpad/work/assets/im-07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810512"/>
            <a:ext cx="3931920" cy="3161750"/>
          </a:xfrm>
          <a:prstGeom prst="rect">
            <a:avLst/>
          </a:prstGeom>
        </p:spPr>
      </p:pic>
      <p:sp>
        <p:nvSpPr>
          <p:cNvPr id="38" name="pc_img_cap"/>
          <p:cNvSpPr txBox="1"/>
          <p:nvPr/>
        </p:nvSpPr>
        <p:spPr>
          <a:xfrm>
            <a:off x="7726680" y="5029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</a:rPr>
              <a:t>Features vary by vehicle – check the handbook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Before, During and After a Crash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What the car does at each stage – where fitted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2353666" cy="292608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2353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THE CRASH SEQUENCE</a:t>
            </a:r>
            <a:endParaRPr lang="en-US" sz="1100" dirty="0"/>
          </a:p>
        </p:txBody>
      </p:sp>
      <p:sp>
        <p:nvSpPr>
          <p:cNvPr id="6" name="S0_arrow"/>
          <p:cNvSpPr/>
          <p:nvPr/>
        </p:nvSpPr>
        <p:spPr>
          <a:xfrm>
            <a:off x="502920" y="1810512"/>
            <a:ext cx="3761232" cy="777240"/>
          </a:xfrm>
          <a:prstGeom prst="homePlat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sp>
        <p:nvSpPr>
          <p:cNvPr id="7" name="S0_h"/>
          <p:cNvSpPr txBox="1"/>
          <p:nvPr/>
        </p:nvSpPr>
        <p:spPr>
          <a:xfrm>
            <a:off x="731520" y="1810512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   Seconds before</a:t>
            </a:r>
            <a:endParaRPr lang="en-US" sz="2000" dirty="0"/>
          </a:p>
        </p:txBody>
      </p:sp>
      <p:sp>
        <p:nvSpPr>
          <p:cNvPr id="8" name="S0_bg"/>
          <p:cNvSpPr/>
          <p:nvPr/>
        </p:nvSpPr>
        <p:spPr>
          <a:xfrm>
            <a:off x="502920" y="2743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0_0_c"/>
          <p:cNvSpPr/>
          <p:nvPr/>
        </p:nvSpPr>
        <p:spPr>
          <a:xfrm>
            <a:off x="704088" y="2907792"/>
            <a:ext cx="548640" cy="548640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pic>
        <p:nvPicPr>
          <p:cNvPr id="10" name="S0_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44952"/>
            <a:ext cx="274320" cy="274320"/>
          </a:xfrm>
          <a:prstGeom prst="rect">
            <a:avLst/>
          </a:prstGeom>
        </p:spPr>
      </p:pic>
      <p:sp>
        <p:nvSpPr>
          <p:cNvPr id="11" name="S0_0_t"/>
          <p:cNvSpPr txBox="1"/>
          <p:nvPr/>
        </p:nvSpPr>
        <p:spPr>
          <a:xfrm>
            <a:off x="1399032" y="290779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FCW warns the driver</a:t>
            </a:r>
            <a:endParaRPr lang="en-US" sz="1500" dirty="0"/>
          </a:p>
        </p:txBody>
      </p:sp>
      <p:sp>
        <p:nvSpPr>
          <p:cNvPr id="12" name="S0_1_c"/>
          <p:cNvSpPr/>
          <p:nvPr/>
        </p:nvSpPr>
        <p:spPr>
          <a:xfrm>
            <a:off x="704088" y="3685032"/>
            <a:ext cx="548640" cy="548640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pic>
        <p:nvPicPr>
          <p:cNvPr id="13" name="S0_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822192"/>
            <a:ext cx="274320" cy="274320"/>
          </a:xfrm>
          <a:prstGeom prst="rect">
            <a:avLst/>
          </a:prstGeom>
        </p:spPr>
      </p:pic>
      <p:sp>
        <p:nvSpPr>
          <p:cNvPr id="14" name="S0_1_t"/>
          <p:cNvSpPr txBox="1"/>
          <p:nvPr/>
        </p:nvSpPr>
        <p:spPr>
          <a:xfrm>
            <a:off x="1399032" y="368503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Brake Assist / AEB add braking</a:t>
            </a:r>
            <a:endParaRPr lang="en-US" sz="1500" dirty="0"/>
          </a:p>
        </p:txBody>
      </p:sp>
      <p:sp>
        <p:nvSpPr>
          <p:cNvPr id="15" name="S0_2_c"/>
          <p:cNvSpPr/>
          <p:nvPr/>
        </p:nvSpPr>
        <p:spPr>
          <a:xfrm>
            <a:off x="704088" y="4462272"/>
            <a:ext cx="548640" cy="548640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pic>
        <p:nvPicPr>
          <p:cNvPr id="16" name="S0_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99432"/>
            <a:ext cx="274320" cy="274320"/>
          </a:xfrm>
          <a:prstGeom prst="rect">
            <a:avLst/>
          </a:prstGeom>
        </p:spPr>
      </p:pic>
      <p:sp>
        <p:nvSpPr>
          <p:cNvPr id="17" name="S0_2_t"/>
          <p:cNvSpPr txBox="1"/>
          <p:nvPr/>
        </p:nvSpPr>
        <p:spPr>
          <a:xfrm>
            <a:off x="1399032" y="446227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ABS &amp; ESC keep you steering</a:t>
            </a:r>
            <a:endParaRPr lang="en-US" sz="1500" dirty="0"/>
          </a:p>
        </p:txBody>
      </p:sp>
      <p:sp>
        <p:nvSpPr>
          <p:cNvPr id="18" name="S1_arrow"/>
          <p:cNvSpPr/>
          <p:nvPr/>
        </p:nvSpPr>
        <p:spPr>
          <a:xfrm>
            <a:off x="4282440" y="1810512"/>
            <a:ext cx="3761232" cy="777240"/>
          </a:xfrm>
          <a:prstGeom prst="chevron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9" name="S1_h"/>
          <p:cNvSpPr txBox="1"/>
          <p:nvPr/>
        </p:nvSpPr>
        <p:spPr>
          <a:xfrm>
            <a:off x="4739640" y="1810512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DURING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   Milliseconds</a:t>
            </a:r>
            <a:endParaRPr lang="en-US" sz="2000" dirty="0"/>
          </a:p>
        </p:txBody>
      </p:sp>
      <p:sp>
        <p:nvSpPr>
          <p:cNvPr id="20" name="S1_bg"/>
          <p:cNvSpPr/>
          <p:nvPr/>
        </p:nvSpPr>
        <p:spPr>
          <a:xfrm>
            <a:off x="4282440" y="2743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1_0_c"/>
          <p:cNvSpPr/>
          <p:nvPr/>
        </p:nvSpPr>
        <p:spPr>
          <a:xfrm>
            <a:off x="4483608" y="2907792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2" name="S1_0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768" y="3044952"/>
            <a:ext cx="274320" cy="274320"/>
          </a:xfrm>
          <a:prstGeom prst="rect">
            <a:avLst/>
          </a:prstGeom>
        </p:spPr>
      </p:pic>
      <p:sp>
        <p:nvSpPr>
          <p:cNvPr id="23" name="S1_0_t"/>
          <p:cNvSpPr txBox="1"/>
          <p:nvPr/>
        </p:nvSpPr>
        <p:spPr>
          <a:xfrm>
            <a:off x="5178552" y="290779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Crumple zones absorb energy</a:t>
            </a:r>
            <a:endParaRPr lang="en-US" sz="1500" dirty="0"/>
          </a:p>
        </p:txBody>
      </p:sp>
      <p:sp>
        <p:nvSpPr>
          <p:cNvPr id="24" name="S1_1_c"/>
          <p:cNvSpPr/>
          <p:nvPr/>
        </p:nvSpPr>
        <p:spPr>
          <a:xfrm>
            <a:off x="4483608" y="3685032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5" name="S1_1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768" y="3822192"/>
            <a:ext cx="274320" cy="274320"/>
          </a:xfrm>
          <a:prstGeom prst="rect">
            <a:avLst/>
          </a:prstGeom>
        </p:spPr>
      </p:pic>
      <p:sp>
        <p:nvSpPr>
          <p:cNvPr id="26" name="S1_1_t"/>
          <p:cNvSpPr txBox="1"/>
          <p:nvPr/>
        </p:nvSpPr>
        <p:spPr>
          <a:xfrm>
            <a:off x="5178552" y="368503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Pretensioners tighten belts</a:t>
            </a:r>
            <a:endParaRPr lang="en-US" sz="1500" dirty="0"/>
          </a:p>
        </p:txBody>
      </p:sp>
      <p:sp>
        <p:nvSpPr>
          <p:cNvPr id="27" name="S1_2_c"/>
          <p:cNvSpPr/>
          <p:nvPr/>
        </p:nvSpPr>
        <p:spPr>
          <a:xfrm>
            <a:off x="4483608" y="4462272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8" name="S1_2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768" y="4599432"/>
            <a:ext cx="274320" cy="274320"/>
          </a:xfrm>
          <a:prstGeom prst="rect">
            <a:avLst/>
          </a:prstGeom>
        </p:spPr>
      </p:pic>
      <p:sp>
        <p:nvSpPr>
          <p:cNvPr id="29" name="S1_2_t"/>
          <p:cNvSpPr txBox="1"/>
          <p:nvPr/>
        </p:nvSpPr>
        <p:spPr>
          <a:xfrm>
            <a:off x="5178552" y="446227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Airbags inflate, then vent</a:t>
            </a:r>
            <a:endParaRPr lang="en-US" sz="1500" dirty="0"/>
          </a:p>
        </p:txBody>
      </p:sp>
      <p:sp>
        <p:nvSpPr>
          <p:cNvPr id="30" name="S2_arrow"/>
          <p:cNvSpPr/>
          <p:nvPr/>
        </p:nvSpPr>
        <p:spPr>
          <a:xfrm>
            <a:off x="8061960" y="1810512"/>
            <a:ext cx="3596640" cy="777240"/>
          </a:xfrm>
          <a:prstGeom prst="chevron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1" name="S2_h"/>
          <p:cNvSpPr txBox="1"/>
          <p:nvPr/>
        </p:nvSpPr>
        <p:spPr>
          <a:xfrm>
            <a:off x="8519160" y="1810512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AFTER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   Minutes after</a:t>
            </a:r>
            <a:endParaRPr lang="en-US" sz="2000" dirty="0"/>
          </a:p>
        </p:txBody>
      </p:sp>
      <p:sp>
        <p:nvSpPr>
          <p:cNvPr id="32" name="S2_bg"/>
          <p:cNvSpPr/>
          <p:nvPr/>
        </p:nvSpPr>
        <p:spPr>
          <a:xfrm>
            <a:off x="8061960" y="2743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S2_0_c"/>
          <p:cNvSpPr/>
          <p:nvPr/>
        </p:nvSpPr>
        <p:spPr>
          <a:xfrm>
            <a:off x="8263128" y="2907792"/>
            <a:ext cx="548640" cy="548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34" name="S2_0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0288" y="3044952"/>
            <a:ext cx="274320" cy="274320"/>
          </a:xfrm>
          <a:prstGeom prst="rect">
            <a:avLst/>
          </a:prstGeom>
        </p:spPr>
      </p:pic>
      <p:sp>
        <p:nvSpPr>
          <p:cNvPr id="35" name="S2_0_t"/>
          <p:cNvSpPr txBox="1"/>
          <p:nvPr/>
        </p:nvSpPr>
        <p:spPr>
          <a:xfrm>
            <a:off x="8958072" y="290779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eCall / SOS calls for help</a:t>
            </a:r>
            <a:endParaRPr lang="en-US" sz="1500" dirty="0"/>
          </a:p>
        </p:txBody>
      </p:sp>
      <p:sp>
        <p:nvSpPr>
          <p:cNvPr id="36" name="S2_1_c"/>
          <p:cNvSpPr/>
          <p:nvPr/>
        </p:nvSpPr>
        <p:spPr>
          <a:xfrm>
            <a:off x="8263128" y="3685032"/>
            <a:ext cx="548640" cy="548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37" name="S2_1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288" y="3822192"/>
            <a:ext cx="274320" cy="274320"/>
          </a:xfrm>
          <a:prstGeom prst="rect">
            <a:avLst/>
          </a:prstGeom>
        </p:spPr>
      </p:pic>
      <p:sp>
        <p:nvSpPr>
          <p:cNvPr id="38" name="S2_1_t"/>
          <p:cNvSpPr txBox="1"/>
          <p:nvPr/>
        </p:nvSpPr>
        <p:spPr>
          <a:xfrm>
            <a:off x="8958072" y="368503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Hazards on, doors unlock</a:t>
            </a:r>
            <a:endParaRPr lang="en-US" sz="1500" dirty="0"/>
          </a:p>
        </p:txBody>
      </p:sp>
      <p:sp>
        <p:nvSpPr>
          <p:cNvPr id="39" name="S2_2_c"/>
          <p:cNvSpPr/>
          <p:nvPr/>
        </p:nvSpPr>
        <p:spPr>
          <a:xfrm>
            <a:off x="8263128" y="4462272"/>
            <a:ext cx="548640" cy="54864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40" name="S2_2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0288" y="4599432"/>
            <a:ext cx="274320" cy="274320"/>
          </a:xfrm>
          <a:prstGeom prst="rect">
            <a:avLst/>
          </a:prstGeom>
        </p:spPr>
      </p:pic>
      <p:sp>
        <p:nvSpPr>
          <p:cNvPr id="41" name="S2_2_t"/>
          <p:cNvSpPr txBox="1"/>
          <p:nvPr/>
        </p:nvSpPr>
        <p:spPr>
          <a:xfrm>
            <a:off x="8958072" y="4462272"/>
            <a:ext cx="254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Fuel or high voltage cut off; data recorded</a:t>
            </a:r>
            <a:endParaRPr lang="en-US" sz="1500" dirty="0"/>
          </a:p>
        </p:txBody>
      </p:sp>
      <p:sp>
        <p:nvSpPr>
          <p:cNvPr id="42" name="S_call"/>
          <p:cNvSpPr/>
          <p:nvPr/>
        </p:nvSpPr>
        <p:spPr>
          <a:xfrm>
            <a:off x="502920" y="54406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3" name="S_call_t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5300"/>
                </a:solidFill>
              </a:rPr>
              <a:t>The car reacts in milliseconds. </a:t>
            </a:r>
            <a:pPr indent="0" marL="0">
              <a:buNone/>
            </a:pPr>
            <a:r>
              <a:rPr lang="en-US" sz="1600" b="1" dirty="0">
                <a:solidFill>
                  <a:srgbClr val="8A5300"/>
                </a:solidFill>
              </a:rPr>
              <a:t>Your part starts before: stay alert, keep your distance, buckle 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Can You Identify the Hazard?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61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B6472"/>
                </a:solidFill>
              </a:rPr>
              <a:t>You are about to drive off site. Spot 4 hazards before you move.</a:t>
            </a:r>
            <a:endParaRPr lang="en-US" sz="1600" dirty="0"/>
          </a:p>
        </p:txBody>
      </p:sp>
      <p:sp>
        <p:nvSpPr>
          <p:cNvPr id="4" name="pill"/>
          <p:cNvSpPr/>
          <p:nvPr/>
        </p:nvSpPr>
        <p:spPr>
          <a:xfrm>
            <a:off x="502920" y="292608"/>
            <a:ext cx="1598371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pill_txt"/>
          <p:cNvSpPr txBox="1"/>
          <p:nvPr/>
        </p:nvSpPr>
        <p:spPr>
          <a:xfrm>
            <a:off x="502920" y="292608"/>
            <a:ext cx="15983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INTERACTIVE</a:t>
            </a:r>
            <a:endParaRPr lang="en-US" sz="1100" dirty="0"/>
          </a:p>
        </p:txBody>
      </p:sp>
      <p:pic>
        <p:nvPicPr>
          <p:cNvPr id="6" name="hz_img" descr="/tmp/claude-0/-home-user-test/b147fb9c-d80f-57d3-b14e-d3056e2b7576/scratchpad/work/assets/hazard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6675120" cy="3754755"/>
          </a:xfrm>
          <a:prstGeom prst="rect">
            <a:avLst/>
          </a:prstGeom>
        </p:spPr>
      </p:pic>
      <p:sp>
        <p:nvSpPr>
          <p:cNvPr id="7" name="hz_cap"/>
          <p:cNvSpPr txBox="1"/>
          <p:nvPr/>
        </p:nvSpPr>
        <p:spPr>
          <a:xfrm>
            <a:off x="502920" y="5674995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Discuss in pairs for 1 minute – then reveal one hazard per click</a:t>
            </a:r>
            <a:endParaRPr lang="en-US" sz="1200" dirty="0"/>
          </a:p>
        </p:txBody>
      </p:sp>
      <p:sp>
        <p:nvSpPr>
          <p:cNvPr id="8" name="H0_ph"/>
          <p:cNvSpPr/>
          <p:nvPr/>
        </p:nvSpPr>
        <p:spPr>
          <a:xfrm>
            <a:off x="7452360" y="181051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9" name="H0_pht"/>
          <p:cNvSpPr txBox="1"/>
          <p:nvPr/>
        </p:nvSpPr>
        <p:spPr>
          <a:xfrm>
            <a:off x="7452360" y="181051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7C4"/>
                </a:solidFill>
              </a:rPr>
              <a:t>Hazard 1  ?</a:t>
            </a:r>
            <a:endParaRPr lang="en-US" sz="1800" dirty="0"/>
          </a:p>
        </p:txBody>
      </p:sp>
      <p:sp>
        <p:nvSpPr>
          <p:cNvPr id="10" name="H0_ring"/>
          <p:cNvSpPr/>
          <p:nvPr/>
        </p:nvSpPr>
        <p:spPr>
          <a:xfrm>
            <a:off x="2236565" y="4315968"/>
            <a:ext cx="329184" cy="329184"/>
          </a:xfrm>
          <a:prstGeom prst="ellipse">
            <a:avLst/>
          </a:prstGeom>
          <a:ln w="38100">
            <a:solidFill>
              <a:srgbClr val="FFE14D"/>
            </a:solidFill>
            <a:prstDash val="solid"/>
          </a:ln>
        </p:spPr>
      </p:sp>
      <p:sp>
        <p:nvSpPr>
          <p:cNvPr id="11" name="H0_badge"/>
          <p:cNvSpPr/>
          <p:nvPr/>
        </p:nvSpPr>
        <p:spPr>
          <a:xfrm>
            <a:off x="1815941" y="3758184"/>
            <a:ext cx="347472" cy="347472"/>
          </a:xfrm>
          <a:prstGeom prst="ellipse">
            <a:avLst/>
          </a:prstGeom>
          <a:solidFill>
            <a:srgbClr val="D930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H0_badge_t"/>
          <p:cNvSpPr txBox="1"/>
          <p:nvPr/>
        </p:nvSpPr>
        <p:spPr>
          <a:xfrm>
            <a:off x="1815941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H0_card"/>
          <p:cNvSpPr/>
          <p:nvPr/>
        </p:nvSpPr>
        <p:spPr>
          <a:xfrm>
            <a:off x="7452360" y="181051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H0_cn"/>
          <p:cNvSpPr/>
          <p:nvPr/>
        </p:nvSpPr>
        <p:spPr>
          <a:xfrm>
            <a:off x="7580376" y="1929384"/>
            <a:ext cx="329184" cy="329184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5" name="H0_cn_t"/>
          <p:cNvSpPr txBox="1"/>
          <p:nvPr/>
        </p:nvSpPr>
        <p:spPr>
          <a:xfrm>
            <a:off x="758037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H0_h"/>
          <p:cNvSpPr txBox="1"/>
          <p:nvPr/>
        </p:nvSpPr>
        <p:spPr>
          <a:xfrm>
            <a:off x="8019288" y="19019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Airbag warning light ON</a:t>
            </a:r>
            <a:endParaRPr lang="en-US" sz="1500" dirty="0"/>
          </a:p>
        </p:txBody>
      </p:sp>
      <p:sp>
        <p:nvSpPr>
          <p:cNvPr id="17" name="H0_r"/>
          <p:cNvSpPr txBox="1"/>
          <p:nvPr/>
        </p:nvSpPr>
        <p:spPr>
          <a:xfrm>
            <a:off x="8019288" y="228600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RISK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Airbags may not work in a crash</a:t>
            </a:r>
            <a:endParaRPr lang="en-US" sz="1200" dirty="0"/>
          </a:p>
        </p:txBody>
      </p:sp>
      <p:sp>
        <p:nvSpPr>
          <p:cNvPr id="18" name="H0_c"/>
          <p:cNvSpPr txBox="1"/>
          <p:nvPr/>
        </p:nvSpPr>
        <p:spPr>
          <a:xfrm>
            <a:off x="8019288" y="253288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</a:rPr>
              <a:t>DO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Don't drive – report the defect</a:t>
            </a:r>
            <a:endParaRPr lang="en-US" sz="1200" dirty="0"/>
          </a:p>
        </p:txBody>
      </p:sp>
      <p:sp>
        <p:nvSpPr>
          <p:cNvPr id="19" name="H1_ph"/>
          <p:cNvSpPr/>
          <p:nvPr/>
        </p:nvSpPr>
        <p:spPr>
          <a:xfrm>
            <a:off x="7452360" y="293522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20" name="H1_pht"/>
          <p:cNvSpPr txBox="1"/>
          <p:nvPr/>
        </p:nvSpPr>
        <p:spPr>
          <a:xfrm>
            <a:off x="7452360" y="293522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7C4"/>
                </a:solidFill>
              </a:rPr>
              <a:t>Hazard 2  ?</a:t>
            </a:r>
            <a:endParaRPr lang="en-US" sz="1800" dirty="0"/>
          </a:p>
        </p:txBody>
      </p:sp>
      <p:sp>
        <p:nvSpPr>
          <p:cNvPr id="21" name="H1_ring"/>
          <p:cNvSpPr/>
          <p:nvPr/>
        </p:nvSpPr>
        <p:spPr>
          <a:xfrm>
            <a:off x="2591181" y="4315968"/>
            <a:ext cx="329184" cy="329184"/>
          </a:xfrm>
          <a:prstGeom prst="ellipse">
            <a:avLst/>
          </a:prstGeom>
          <a:ln w="38100">
            <a:solidFill>
              <a:srgbClr val="FFE14D"/>
            </a:solidFill>
            <a:prstDash val="solid"/>
          </a:ln>
        </p:spPr>
      </p:sp>
      <p:sp>
        <p:nvSpPr>
          <p:cNvPr id="22" name="H1_badge"/>
          <p:cNvSpPr/>
          <p:nvPr/>
        </p:nvSpPr>
        <p:spPr>
          <a:xfrm>
            <a:off x="2582037" y="3685032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H1_badge_t"/>
          <p:cNvSpPr txBox="1"/>
          <p:nvPr/>
        </p:nvSpPr>
        <p:spPr>
          <a:xfrm>
            <a:off x="2582037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H1_card"/>
          <p:cNvSpPr/>
          <p:nvPr/>
        </p:nvSpPr>
        <p:spPr>
          <a:xfrm>
            <a:off x="7452360" y="293522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H1_cn"/>
          <p:cNvSpPr/>
          <p:nvPr/>
        </p:nvSpPr>
        <p:spPr>
          <a:xfrm>
            <a:off x="7580376" y="305409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H1_cn_t"/>
          <p:cNvSpPr txBox="1"/>
          <p:nvPr/>
        </p:nvSpPr>
        <p:spPr>
          <a:xfrm>
            <a:off x="7580376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H1_h"/>
          <p:cNvSpPr txBox="1"/>
          <p:nvPr/>
        </p:nvSpPr>
        <p:spPr>
          <a:xfrm>
            <a:off x="8019288" y="30266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Tyre pressure (TPMS) warning</a:t>
            </a:r>
            <a:endParaRPr lang="en-US" sz="1500" dirty="0"/>
          </a:p>
        </p:txBody>
      </p:sp>
      <p:sp>
        <p:nvSpPr>
          <p:cNvPr id="28" name="H1_r"/>
          <p:cNvSpPr txBox="1"/>
          <p:nvPr/>
        </p:nvSpPr>
        <p:spPr>
          <a:xfrm>
            <a:off x="8019288" y="341071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RISK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Less grip, longer stopping, blow-out</a:t>
            </a:r>
            <a:endParaRPr lang="en-US" sz="1200" dirty="0"/>
          </a:p>
        </p:txBody>
      </p:sp>
      <p:sp>
        <p:nvSpPr>
          <p:cNvPr id="29" name="H1_c"/>
          <p:cNvSpPr txBox="1"/>
          <p:nvPr/>
        </p:nvSpPr>
        <p:spPr>
          <a:xfrm>
            <a:off x="8019288" y="365760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</a:rPr>
              <a:t>DO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Check and inflate tyres before leaving</a:t>
            </a:r>
            <a:endParaRPr lang="en-US" sz="1200" dirty="0"/>
          </a:p>
        </p:txBody>
      </p:sp>
      <p:sp>
        <p:nvSpPr>
          <p:cNvPr id="30" name="H2_ph"/>
          <p:cNvSpPr/>
          <p:nvPr/>
        </p:nvSpPr>
        <p:spPr>
          <a:xfrm>
            <a:off x="7452360" y="4059936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31" name="H2_pht"/>
          <p:cNvSpPr txBox="1"/>
          <p:nvPr/>
        </p:nvSpPr>
        <p:spPr>
          <a:xfrm>
            <a:off x="7452360" y="405993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7C4"/>
                </a:solidFill>
              </a:rPr>
              <a:t>Hazard 3  ?</a:t>
            </a:r>
            <a:endParaRPr lang="en-US" sz="1800" dirty="0"/>
          </a:p>
        </p:txBody>
      </p:sp>
      <p:sp>
        <p:nvSpPr>
          <p:cNvPr id="32" name="H2_ring"/>
          <p:cNvSpPr/>
          <p:nvPr/>
        </p:nvSpPr>
        <p:spPr>
          <a:xfrm>
            <a:off x="2945797" y="4315968"/>
            <a:ext cx="329184" cy="329184"/>
          </a:xfrm>
          <a:prstGeom prst="ellipse">
            <a:avLst/>
          </a:prstGeom>
          <a:ln w="38100">
            <a:solidFill>
              <a:srgbClr val="FFE14D"/>
            </a:solidFill>
            <a:prstDash val="solid"/>
          </a:ln>
        </p:spPr>
      </p:sp>
      <p:sp>
        <p:nvSpPr>
          <p:cNvPr id="33" name="H2_badge"/>
          <p:cNvSpPr/>
          <p:nvPr/>
        </p:nvSpPr>
        <p:spPr>
          <a:xfrm>
            <a:off x="3348133" y="3758184"/>
            <a:ext cx="347472" cy="347472"/>
          </a:xfrm>
          <a:prstGeom prst="ellipse">
            <a:avLst/>
          </a:prstGeom>
          <a:solidFill>
            <a:srgbClr val="D930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H2_badge_t"/>
          <p:cNvSpPr txBox="1"/>
          <p:nvPr/>
        </p:nvSpPr>
        <p:spPr>
          <a:xfrm>
            <a:off x="3348133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H2_card"/>
          <p:cNvSpPr/>
          <p:nvPr/>
        </p:nvSpPr>
        <p:spPr>
          <a:xfrm>
            <a:off x="7452360" y="4059936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H2_cn"/>
          <p:cNvSpPr/>
          <p:nvPr/>
        </p:nvSpPr>
        <p:spPr>
          <a:xfrm>
            <a:off x="7580376" y="4178808"/>
            <a:ext cx="329184" cy="329184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7" name="H2_cn_t"/>
          <p:cNvSpPr txBox="1"/>
          <p:nvPr/>
        </p:nvSpPr>
        <p:spPr>
          <a:xfrm>
            <a:off x="7580376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H2_h"/>
          <p:cNvSpPr txBox="1"/>
          <p:nvPr/>
        </p:nvSpPr>
        <p:spPr>
          <a:xfrm>
            <a:off x="8019288" y="41513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Seatbelt not fastened</a:t>
            </a:r>
            <a:endParaRPr lang="en-US" sz="1500" dirty="0"/>
          </a:p>
        </p:txBody>
      </p:sp>
      <p:sp>
        <p:nvSpPr>
          <p:cNvPr id="39" name="H2_r"/>
          <p:cNvSpPr txBox="1"/>
          <p:nvPr/>
        </p:nvSpPr>
        <p:spPr>
          <a:xfrm>
            <a:off x="8019288" y="453542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RISK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Airbags can't protect an unbelted driver</a:t>
            </a:r>
            <a:endParaRPr lang="en-US" sz="1200" dirty="0"/>
          </a:p>
        </p:txBody>
      </p:sp>
      <p:sp>
        <p:nvSpPr>
          <p:cNvPr id="40" name="H2_c"/>
          <p:cNvSpPr txBox="1"/>
          <p:nvPr/>
        </p:nvSpPr>
        <p:spPr>
          <a:xfrm>
            <a:off x="8019288" y="478231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</a:rPr>
              <a:t>DO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Buckle up – every seat, every trip</a:t>
            </a:r>
            <a:endParaRPr lang="en-US" sz="1200" dirty="0"/>
          </a:p>
        </p:txBody>
      </p:sp>
      <p:sp>
        <p:nvSpPr>
          <p:cNvPr id="41" name="H3_ph"/>
          <p:cNvSpPr/>
          <p:nvPr/>
        </p:nvSpPr>
        <p:spPr>
          <a:xfrm>
            <a:off x="7452360" y="518464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B7C4"/>
            </a:solidFill>
            <a:prstDash val="dash"/>
          </a:ln>
        </p:spPr>
      </p:sp>
      <p:sp>
        <p:nvSpPr>
          <p:cNvPr id="42" name="H3_pht"/>
          <p:cNvSpPr txBox="1"/>
          <p:nvPr/>
        </p:nvSpPr>
        <p:spPr>
          <a:xfrm>
            <a:off x="7452360" y="51846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7C4"/>
                </a:solidFill>
              </a:rPr>
              <a:t>Hazard 4  ?</a:t>
            </a:r>
            <a:endParaRPr lang="en-US" sz="1800" dirty="0"/>
          </a:p>
        </p:txBody>
      </p:sp>
      <p:sp>
        <p:nvSpPr>
          <p:cNvPr id="43" name="H3_ring"/>
          <p:cNvSpPr/>
          <p:nvPr/>
        </p:nvSpPr>
        <p:spPr>
          <a:xfrm>
            <a:off x="3844195" y="4087940"/>
            <a:ext cx="868680" cy="868680"/>
          </a:xfrm>
          <a:prstGeom prst="ellipse">
            <a:avLst/>
          </a:prstGeom>
          <a:ln w="38100">
            <a:solidFill>
              <a:srgbClr val="FFE14D"/>
            </a:solidFill>
            <a:prstDash val="solid"/>
          </a:ln>
        </p:spPr>
      </p:sp>
      <p:sp>
        <p:nvSpPr>
          <p:cNvPr id="44" name="H3_badge"/>
          <p:cNvSpPr/>
          <p:nvPr/>
        </p:nvSpPr>
        <p:spPr>
          <a:xfrm>
            <a:off x="4607719" y="3799903"/>
            <a:ext cx="347472" cy="347472"/>
          </a:xfrm>
          <a:prstGeom prst="ellipse">
            <a:avLst/>
          </a:prstGeom>
          <a:solidFill>
            <a:srgbClr val="2F6BD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H3_badge_t"/>
          <p:cNvSpPr txBox="1"/>
          <p:nvPr/>
        </p:nvSpPr>
        <p:spPr>
          <a:xfrm>
            <a:off x="4607719" y="37999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H3_card"/>
          <p:cNvSpPr/>
          <p:nvPr/>
        </p:nvSpPr>
        <p:spPr>
          <a:xfrm>
            <a:off x="7452360" y="518464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F6B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7" name="H3_cn"/>
          <p:cNvSpPr/>
          <p:nvPr/>
        </p:nvSpPr>
        <p:spPr>
          <a:xfrm>
            <a:off x="7580376" y="5303520"/>
            <a:ext cx="329184" cy="329184"/>
          </a:xfrm>
          <a:prstGeom prst="ellipse">
            <a:avLst/>
          </a:prstGeom>
          <a:solidFill>
            <a:srgbClr val="2F6BDF"/>
          </a:solidFill>
          <a:ln w="12700">
            <a:solidFill>
              <a:srgbClr val="2F6BDF"/>
            </a:solidFill>
            <a:prstDash val="solid"/>
          </a:ln>
        </p:spPr>
      </p:sp>
      <p:sp>
        <p:nvSpPr>
          <p:cNvPr id="48" name="H3_cn_t"/>
          <p:cNvSpPr txBox="1"/>
          <p:nvPr/>
        </p:nvSpPr>
        <p:spPr>
          <a:xfrm>
            <a:off x="7580376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9" name="H3_h"/>
          <p:cNvSpPr txBox="1"/>
          <p:nvPr/>
        </p:nvSpPr>
        <p:spPr>
          <a:xfrm>
            <a:off x="8019288" y="5276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Phone in hand</a:t>
            </a:r>
            <a:endParaRPr lang="en-US" sz="1500" dirty="0"/>
          </a:p>
        </p:txBody>
      </p:sp>
      <p:sp>
        <p:nvSpPr>
          <p:cNvPr id="50" name="H3_r"/>
          <p:cNvSpPr txBox="1"/>
          <p:nvPr/>
        </p:nvSpPr>
        <p:spPr>
          <a:xfrm>
            <a:off x="8019288" y="566013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RISK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Eyes and mind off the road</a:t>
            </a:r>
            <a:endParaRPr lang="en-US" sz="1200" dirty="0"/>
          </a:p>
        </p:txBody>
      </p:sp>
      <p:sp>
        <p:nvSpPr>
          <p:cNvPr id="51" name="H3_c"/>
          <p:cNvSpPr txBox="1"/>
          <p:nvPr/>
        </p:nvSpPr>
        <p:spPr>
          <a:xfrm>
            <a:off x="8019288" y="590702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</a:rPr>
              <a:t>DO  </a:t>
            </a:r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Phone away before moving off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panel"/>
          <p:cNvSpPr/>
          <p:nvPr/>
        </p:nvSpPr>
        <p:spPr>
          <a:xfrm>
            <a:off x="502920" y="502920"/>
            <a:ext cx="6949440" cy="2926080"/>
          </a:xfrm>
          <a:prstGeom prst="roundRect">
            <a:avLst>
              <a:gd name="adj" fmla="val 3750"/>
            </a:avLst>
          </a:prstGeom>
          <a:solidFill>
            <a:srgbClr val="1C2B4A">
              <a:alpha val="88000"/>
            </a:srgbClr>
          </a:solidFill>
          <a:ln w="12700">
            <a:solidFill>
              <a:srgbClr val="1C2B4A">
                <a:alpha val="88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" name="c_eyebrow"/>
          <p:cNvSpPr txBox="1"/>
          <p:nvPr/>
        </p:nvSpPr>
        <p:spPr>
          <a:xfrm>
            <a:off x="868680" y="777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2A93B"/>
                </a:solidFill>
              </a:rPr>
              <a:t>KEY TAKEAWAY</a:t>
            </a:r>
            <a:endParaRPr lang="en-US" sz="1500" dirty="0"/>
          </a:p>
        </p:txBody>
      </p:sp>
      <p:sp>
        <p:nvSpPr>
          <p:cNvPr id="4" name="c_l1"/>
          <p:cNvSpPr txBox="1"/>
          <p:nvPr/>
        </p:nvSpPr>
        <p:spPr>
          <a:xfrm>
            <a:off x="868680" y="12344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Safety Technology Helps.</a:t>
            </a:r>
            <a:endParaRPr lang="en-US" sz="3800" dirty="0"/>
          </a:p>
        </p:txBody>
      </p:sp>
      <p:sp>
        <p:nvSpPr>
          <p:cNvPr id="5" name="c_l2"/>
          <p:cNvSpPr txBox="1"/>
          <p:nvPr/>
        </p:nvSpPr>
        <p:spPr>
          <a:xfrm>
            <a:off x="868680" y="19202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</a:rPr>
              <a:t>Safe Driving Saves Lives.</a:t>
            </a:r>
            <a:endParaRPr lang="en-US" sz="3800" dirty="0"/>
          </a:p>
        </p:txBody>
      </p:sp>
      <p:sp>
        <p:nvSpPr>
          <p:cNvPr id="6" name="c_sub"/>
          <p:cNvSpPr txBox="1"/>
          <p:nvPr/>
        </p:nvSpPr>
        <p:spPr>
          <a:xfrm>
            <a:off x="868680" y="2743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CF5"/>
                </a:solidFill>
              </a:rPr>
              <a:t>Thank you. Drive safely today. Questions?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Petrofac Toolbox Talk">
  <a:themeElements>
    <a:clrScheme name="Petrofac Toolbox Talk">
      <a:dk1>
        <a:srgbClr val="1A1A1A"/>
      </a:dk1>
      <a:lt1>
        <a:srgbClr val="FFFFFF"/>
      </a:lt1>
      <a:dk2>
        <a:srgbClr val="1B2A4A"/>
      </a:dk2>
      <a:lt2>
        <a:srgbClr val="F3F5F8"/>
      </a:lt2>
      <a:accent1>
        <a:srgbClr val="2F6BDF"/>
      </a:accent1>
      <a:accent2>
        <a:srgbClr val="1797A6"/>
      </a:accent2>
      <a:accent3>
        <a:srgbClr val="1E8E3E"/>
      </a:accent3>
      <a:accent4>
        <a:srgbClr val="D93025"/>
      </a:accent4>
      <a:accent5>
        <a:srgbClr val="E8A33D"/>
      </a:accent5>
      <a:accent6>
        <a:srgbClr val="8C7653"/>
      </a:accent6>
      <a:hlink>
        <a:srgbClr val="2F6BDF"/>
      </a:hlink>
      <a:folHlink>
        <a:srgbClr val="6B4FA0"/>
      </a:folHlink>
    </a:clrScheme>
    <a:fontScheme name="Petrofac Toolbox Tal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Safety Systems - Toolbox Talk</dc:title>
  <dc:subject>PptxGenJS Presentation</dc:subject>
  <dc:creator>Toolbox Talk</dc:creator>
  <cp:lastModifiedBy>Toolbox Talk</cp:lastModifiedBy>
  <cp:revision>1</cp:revision>
  <dcterms:created xsi:type="dcterms:W3CDTF">2026-10-14T06:12:34Z</dcterms:created>
  <dcterms:modified xsi:type="dcterms:W3CDTF">2026-10-14T06:12:34Z</dcterms:modified>
</cp:coreProperties>
</file>