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notesMasterIdLst>
    <p:notesMasterId r:id="rId9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fe9c695-020c-0bb2-dd9d-c972cb17e734}">
          <p14:sldIdLst>
            <p14:sldId id="256"/>
            <p14:sldId id="257"/>
            <p14:sldId id="258"/>
          </p14:sldIdLst>
        </p14:section>
        <p14:section name="1 · What is PTW and why?" id="{bde233da-cc60-3b0e-301e-302e1e5de6b8}">
          <p14:sldIdLst>
            <p14:sldId id="259"/>
            <p14:sldId id="260"/>
            <p14:sldId id="261"/>
            <p14:sldId id="262"/>
            <p14:sldId id="263"/>
            <p14:sldId id="264"/>
            <p14:sldId id="265"/>
          </p14:sldIdLst>
        </p14:section>
        <p14:section name="2 · Principles and the Life Saving Rule" id="{99756dcb-96af-3520-4356-b7df8bf80d7d}">
          <p14:sldIdLst>
            <p14:sldId id="266"/>
            <p14:sldId id="267"/>
            <p14:sldId id="268"/>
            <p14:sldId id="269"/>
            <p14:sldId id="270"/>
            <p14:sldId id="271"/>
            <p14:sldId id="272"/>
            <p14:sldId id="273"/>
          </p14:sldIdLst>
        </p14:section>
        <p14:section name="3 · Types of permits" id="{d5c62759-274e-e7f4-9d85-de8fadb0b06a}">
          <p14:sldIdLst>
            <p14:sldId id="274"/>
            <p14:sldId id="275"/>
            <p14:sldId id="276"/>
            <p14:sldId id="277"/>
            <p14:sldId id="278"/>
            <p14:sldId id="279"/>
            <p14:sldId id="280"/>
            <p14:sldId id="281"/>
            <p14:sldId id="282"/>
            <p14:sldId id="283"/>
            <p14:sldId id="284"/>
            <p14:sldId id="285"/>
            <p14:sldId id="286"/>
            <p14:sldId id="287"/>
          </p14:sldIdLst>
        </p14:section>
        <p14:section name="4 · Roles and responsibilities" id="{a36d0f02-f7e3-55a7-dbff-d918d7e7be0b}">
          <p14:sldIdLst>
            <p14:sldId id="288"/>
            <p14:sldId id="289"/>
            <p14:sldId id="290"/>
            <p14:sldId id="291"/>
            <p14:sldId id="292"/>
            <p14:sldId id="293"/>
          </p14:sldIdLst>
        </p14:section>
        <p14:section name="5 · The PTW process" id="{817d01f9-a77c-3bf3-44e1-14c74a38e04c}">
          <p14:sldIdLst>
            <p14:sldId id="294"/>
            <p14:sldId id="295"/>
            <p14:sldId id="296"/>
            <p14:sldId id="297"/>
            <p14:sldId id="298"/>
            <p14:sldId id="299"/>
            <p14:sldId id="300"/>
            <p14:sldId id="301"/>
          </p14:sldIdLst>
        </p14:section>
        <p14:section name="6 · Risk assessment" id="{d589c170-78cf-2a02-5608-8e548a8eb8a8}">
          <p14:sldIdLst>
            <p14:sldId id="302"/>
            <p14:sldId id="303"/>
            <p14:sldId id="304"/>
            <p14:sldId id="305"/>
            <p14:sldId id="306"/>
            <p14:sldId id="307"/>
          </p14:sldIdLst>
        </p14:section>
        <p14:section name="7 · Permit conditions and isolation" id="{2e2cdfa8-070e-db60-ad1c-0ed09b11379d}">
          <p14:sldIdLst>
            <p14:sldId id="308"/>
            <p14:sldId id="309"/>
            <p14:sldId id="310"/>
            <p14:sldId id="311"/>
            <p14:sldId id="312"/>
          </p14:sldIdLst>
        </p14:section>
        <p14:section name="8 · Gas testing" id="{4f5922eb-7c6b-7283-3e11-9296fa74657b}">
          <p14:sldIdLst>
            <p14:sldId id="313"/>
            <p14:sldId id="314"/>
            <p14:sldId id="315"/>
            <p14:sldId id="316"/>
          </p14:sldIdLst>
        </p14:section>
        <p14:section name="9 · PPE and emergencies" id="{55a37243-b0f7-3a2b-8e34-3a05ff6913ad}">
          <p14:sldIdLst>
            <p14:sldId id="317"/>
            <p14:sldId id="318"/>
            <p14:sldId id="319"/>
            <p14:sldId id="320"/>
            <p14:sldId id="321"/>
          </p14:sldIdLst>
        </p14:section>
        <p14:section name="10 · During the work" id="{f3a12f2d-747c-f1f8-1a34-cfd3c94e8e61}">
          <p14:sldIdLst>
            <p14:sldId id="322"/>
            <p14:sldId id="323"/>
            <p14:sldId id="324"/>
            <p14:sldId id="325"/>
            <p14:sldId id="326"/>
            <p14:sldId id="327"/>
          </p14:sldIdLst>
        </p14:section>
        <p14:section name="11 · Extension, cancellation and closure" id="{d47ba43d-ba2d-427d-bd90-d3e1e7b3d0a6}">
          <p14:sldIdLst>
            <p14:sldId id="328"/>
            <p14:sldId id="329"/>
            <p14:sldId id="330"/>
            <p14:sldId id="331"/>
          </p14:sldIdLst>
        </p14:section>
        <p14:section name="12 · Records, audits and competence" id="{d461de3a-ebb5-f2bf-0597-61129f7fb17a}">
          <p14:sldIdLst>
            <p14:sldId id="332"/>
            <p14:sldId id="333"/>
            <p14:sldId id="334"/>
            <p14:sldId id="335"/>
          </p14:sldIdLst>
        </p14:section>
        <p14:section name="13 · Scenarios and key takeaways" id="{5922d0b3-4283-0c9f-f04f-79815e196e18}">
          <p14:sldIdLst>
            <p14:sldId id="336"/>
            <p14:sldId id="337"/>
            <p14:sldId id="338"/>
            <p14:sldId id="339"/>
            <p14:sldId id="340"/>
            <p14:sldId id="341"/>
            <p14:sldId id="342"/>
            <p14:sldId id="3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Welcome everyone. Today we learn the Permit to Work system – PTW for short. It is the system we use to control non-routine, high-risk work in our gas plant. You do not need any previous PTW experience. We will build up step by step: what PTW is, why we need it, the types of permits, who does what, how a permit moves from request to closure, and what to do when things change.
SIMPLE EXAMPLE:
Think about the jobs we do in a gas treatment plant: opening a flange, replacing a pump seal, entering a vessel, welding a pipe support. Each of these can release gas, fire, energy or toxic H2S if it is not controlled. PTW is how we control them.
ASK THE TRAINEES:
Who here has already worked under a permit? What do you remember about it?
EXPECTED ANSWER:
Accept any answers – this tells you the experience level of the group.
TRAINER REMINDER:
Everything in this course comes from the approved Module 7 Course Notes. Tell trainees that site-specific procedures always apply on site.
SOURCE: Module 7 Course Notes – Section 1.0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is the map for today. We start with the basics – what PTW is and why it exists – and finish with real plant scenarios. Each section builds on the one before, so do not worry if a word is new: we explain every technical term when it first appears.
TRAINER REMINDER:
Point out that Section 13 (scenarios) is where trainees will apply everything. Encourage questions at any time – asking questions is exactly what PTW wants people to do.
SOURCE: Module 7 Course Notes – Table of Contents, Sections 1.0–14.0 (reorganised for beginners)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These are the seven things you should be able to do at the end of today. Notice the last one: knowing when to stop work. Every person on site has that right and that duty – including the newest trainee.
ASK THE TRAINEES:
Which of these objectives do you think is the most important for your own safety?
EXPECTED ANSWER:
Any answer is fine. Most trainees choose 'know when to STOP work' or 'understand isolation' – use this to connect to their daily work.
TRAINER REMINDER:
These objectives match the General Awareness and PTW User training outcomes in the Course Notes: people must know what the system is, why it exists, and how to work safely within a permit.
SOURCE: Module 7 Course Notes – Sections 1.1.3 and 12.1.2 (Tier 1 &amp; Tier 2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In this first section we answer two simple questions: what is a permit, and why do we bother with one?
SOURCE: Module 7 Course Notes – Sections 1.1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Permit to Work is a formal, written safety process. It is used for non-routine work that carries significant risk. Think of it as a written conversation between two people: the Permit Issuer, who owns the workplace and knows the plant, and the Permit Receiver, who will do the work. The permit makes everyone pause – a 'Time Out for Safety' – before any tool is lifted or valve is turned.
SIMPLE EXAMPLE:
Maintenance wants to replace a mechanical seal on a process pump. Operations owns that pump and knows what gas is in it and what is connected to it. The permit is how Operations and Maintenance agree, in writing, how the job will be made safe.
ASK THE TRAINEES:
Why do you think the permit needs two people – an Issuer and a Receiver – and not just one?
EXPECTED ANSWER:
Because the Issuer knows the plant and its hazards, and the Receiver knows the job. Together they cover what one person alone could miss.
TRAINER REMINDER:
The permit protects people, assets, the environment and operational integrity. It is a safety process, not just a form.
ANIMATION:
Click to show Issuer, then the permit link, then Receiver, then the purpose bar.
SOURCE: Module 7 Course Notes – Section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Every permit must answer seven simple questions. What and where. When and how long. Who – and are they competent. What are the hazards for this task, in this place, at this time. What controls are needed – and have they been checked. What is the emergency plan. And how will we put the area back to a safe state when we finish. If a permit cannot answer all seven, it is not ready.
SIMPLE EXAMPLE:
For a flange break on a gas line: WHAT – remove a spool piece; WHERE – a specific tagged line; WHO – the named mechanical crew; HAZARDS – trapped pressure, flammable gas, H2S; CONTROLS – isolation, blinds, gas test; EMERGENCY – escape route and alarm; RESTORE – re-bolt, remove blinds, hand back.
ASK THE TRAINEES:
Which question do you think is most often answered badly?
EXPECTED ANSWER:
Often 'hazards' and 'controls verified' – people assume instead of checking. The Course Notes say the PTW moves safety from 'passive assumption' to an 'active, verified state'.
TRAINER REMINDER:
Documented answers make safety ACTIVE and VERIFIED, not assumed.
ANIMATION:
Each question appears on click.
SOURCE: Module 7 Course Notes – Section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Here is a dangerous misconception: that the PTW is a tick-box exercise – a piece of paper you sign to get started. The Course Notes reject that view completely. The paper is only the output. The real value is in the activities behind it: walking the site, brainstorming the hazards, debating the controls, physically verifying the isolations and briefing the crew face to face.
SIMPLE EXAMPLE:
Two permits can look identical on paper. One was signed in the office; the other was signed after the Issuer and Receiver walked to the pump together and checked every lock. Only the second one is a real permit.
ASK THE TRAINEES:
What could happen if a permit is signed in the office without visiting the site?
EXPECTED ANSWER:
A wrong valve could be locked, a blind could be missing, or gas could still be present – and nobody would know until the line is opened.
TRAINER REMINDER:
The PTW is a quality-assurance process for safety: planned controls must be concretely in place and understood by all before the 'go' decision.
ANIMATION:
Click to reveal the five activities one by one.
SOURCE: Module 7 Course Notes – Section 1.2.1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Let us look at the same job done two ways. Without an effective PTW, the hazards are not identified, nobody verifies the isolation, the flange is opened and gas comes out. With PTW, we plan, identify the hazards, isolate, prove the line is at zero energy, test the atmosphere, authorise, brief the crew, and then work and monitor until closure.
SIMPLE EXAMPLE:
The Course Notes describe 'System Integrity Breach' – breaking a flange or opening a vessel – as one of the conditions that brings work into PTW scope. They also use 'Release of Flammable Gas' as the example top event in the bow-tie model. That is exactly the risk on this slide.
ASK THE TRAINEES:
Looking at the green chain – which single step, if skipped, would most likely lead straight to the red outcome?
EXPECTED ANSWER:
Verifying the isolation (VOI). The Course Notes call this 'the final critical step before the permit is signed'.
TRAINER REMINDER:
Do not exaggerate – the point is simply that each PTW step closes a gap that could otherwise lead to release, fire or exposure.
ANIMATION:
Click 1 shows the 'without' chain; click 2 the 'with' panel; then each green step wipes in.
SOURCE: Module 7 Course Notes – Sections 1.1.2, 5.3.3, 6.3.3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Course Notes list eight objectives that together form a safety net. The first two are the heart of it: identify the hazards, and make sure the controls are not just planned but physically verified. Then: clear written authorisation, good communication between teams and shifts, coordination so two jobs do not clash, legal compliance, a permanent record, and a culture where planning beats rushing.
SIMPLE EXAMPLE:
Coordination: the PTW log in the control room shows all active permits. If one crew plans hot work next to another crew breaking a flange on a gas line, the log helps spot the conflict before either job starts.
ASK THE TRAINEES:
Why would a permanent record of permits be useful?
EXPECTED ANSWER:
For incident investigation, audits, management review and learning – the record shows what was done, where, when, by whom and under what controls.
TRAINER REMINDER:
Toolbox talks based on the permit are part of the communication objective – they are mandatory, not optional.
ANIMATION:
Top row on click 1, bottom row on click 2.
SOURCE: Module 7 Course Notes – Section 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PTW is not just company policy. It is part of an organisation's legal 'duty of care' – the obligation to take all reasonable steps to keep people safe. International standards, national laws and industry guidance all expect a formal work-control system for high-risk work. After an incident, inspectors and courts look at the permit documents. Missing or poor permits can be used as evidence of negligence.
SIMPLE EXAMPLE:
If an incident happens during a vessel entry, the first thing investigators ask for is the permit, the gas test certificate and the isolation certificate.
ASK THE TRAINEES:
After an incident, what is the first document an investigator will ask for?
EXPECTED ANSWER:
The permit and its attached certificates.
TRAINER REMINDER:
Trainees do not need to memorise the list of standards – the key point is that PTW is a legal expectation and poor permits have serious consequences. Your site procedure is the document you follow.
SOURCE: Module 7 Course Notes – Section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Now we look at WHEN a permit is needed, the principles that make PTW work, and the Life Saving Rule.
SOURCE: Module 7 Course Notes – Sections 1.1.2, 1.3,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permit is required for NON-ROUTINE work that carries SIGNIFICANT RISK. Non-routine means it is not part of normal operating procedures – usually maintenance, construction, inspection or repair. Significant risk is decided by risk assessment, and typically means one or more of these six conditions: fire or explosion, toxic or low-oxygen atmosphere, stored energy, entrapment or engulfment, height or depth, or breaking into a process system.
SIMPLE EXAMPLE:
An operator doing a routine plant round under the normal operating procedure does not need a permit. But opening a flange on a process line is 'breaking containment' – that is in PTW scope.
ASK THE TRAINEES:
Is replacing a valve on a process gas line routine or non-routine? Which box does it fall into?
EXPECTED ANSWER:
Non-routine. It is 'breaking containment' and may also involve stored energy (pressure) and toxic/flammable gas.
TRAINER REMINDER:
The scope is defined in the site Safety Management System, and bypassing PTW for an in-scope activity is a disciplinary offence.
ANIMATION:
Each hazard card appears on click.
SOURCE: Module 7 Course Notes – Section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For PTW to be more than a paper exercise, it stands on seven principles. Competency is the foundation – every person in the chain must be trained and authorised. Clarity – the permit must be precise. Positive control – the Issuer only authorises after personally verifying, often by walking the site. Communication – handovers, briefings and displaying the permit. Consistency – the same forms everywhere. Strict compliance – no deviations unless the permit is formally suspended and re-authorised. And continuous monitoring during the work.
SIMPLE EXAMPLE:
Positive control is like an electrical circuit: the permit is the switch that lets work start, but the verification is what closes the safety circuit.
ASK THE TRAINEES:
Which principle is described as 'the foundation'?
EXPECTED ANSWER:
Competency.
TRAINER REMINDER:
Deviations from a permit are forbidden unless it is formally suspended, revised and re-authorised.
SOURCE: Module 7 Course Notes – Section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Clarity is one of the most practical principles. A vague permit lets people drift onto the wrong equipment or do tasks nobody assessed. A clear permit names the exact equipment, location, controls and times. It also says what is NOT authorised – the Course Notes call that phrase 'powerful and necessary'.
SIMPLE EXAMPLE:
In a gas plant you may have Pump P-101A and its standby P-101B side by side. 'Work on the pump' could mean either. Only one is isolated. A clear permit removes that risk.
ASK THE TRAINEES:
Why should permit times be written in 24-hour format?
EXPECTED ANSWER:
To avoid AM/PM confusion.
TRAINER REMINDER:
Every example on the right is taken from the Course Notes. Precise descriptions prevent 'scope creep'.
ANIMATION:
Click 1 vague, click 2 clear, click 3 key line.
SOURCE: Module 7 Course Notes – Sections 1.3.1, 6.2.2, 8.1.2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PTW is one layer in a set of defences. First we ask: can we eliminate the hazard? Then engineering controls like alarms and relief valves. Then the PTW procedure itself. Then supervision during the work. And last, PPE. The idea is simple: if one layer fails, the next layer catches it. Our roles work the same way – like slices of Swiss cheese, the holes in one slice are covered by the next.
SIMPLE EXAMPLE:
If the JSA for a pump job forgets that the bypass line from the standby pump is still live, the Permit Issuer – who knows the plant – should catch it during review.
ASK THE TRAINEES:
Why is PPE the LAST layer and not the first?
EXPECTED ANSWER:
Because PPE does not remove the hazard; it only protects the worker if it is the right type, worn correctly and does not fail.
TRAINER REMINDER:
The PTW process should ask the elimination question first: can this hazardous work be avoided?
SOURCE: Module 7 Course Notes – Sections 1.3.2 and 3.8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is the Life Saving Rule for work authorisation: work must not be performed without a valid permit where a permit is required. Life Saving Rules are few, simple, and cover activities where breaking the rule is likely to lead to death or life-changing injury. There is no such thing as a 'quick job' that justifies skipping the permit. Verbal or implied approval is not valid – the authorisation exists only in the signed, written permit. The rule applies to everyone. Breaking it is gross misconduct and usually means immediate removal from site.
SIMPLE EXAMPLE:
A supervisor says: 'It's just ten minutes with a grinder on that support – go ahead, I'll sort the paperwork later.' That is a verbal authorisation for hot work. It is not valid and breaks the Life Saving Rule.
ASK THE TRAINEES:
Who does this rule apply to?
EXPECTED ANSWER:
Everyone – company employees, contractors, subcontractors and visitors. One standard.
TRAINER REMINDER:
This rule is the bedrock of the whole PTW system. Enforcement happens within a 'just culture' that also encourages reporting near misses without fear of blame.
SOURCE: Module 7 Course Notes – Sections 1.4.1 and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How do you know a permit is valid? Five things must all be true at the same moment. It is fully completed. It has the original handwritten signatures of the Issuer and Receiver. It is within its date and time. All the attached certificates – such as the gas test and the isolation certificate – are there and still current. And the actual worksite matches what the permit says. If any one of these is missing, the permit is not valid.
SIMPLE EXAMPLE:
A vessel-entry permit is signed and in date, but the gas test was done four hours ago and the re-test interval has passed. The permit is no longer valid until the atmosphere is re-tested.
ASK THE TRAINEES:
If the wind changes direction during outdoor hot work, is the permit still valid?
EXPECTED ANSWER:
Not automatically – conditions have changed. Any change invalidates the permit until it is re-assessed; hot work revalidation is required if conditions change, for example wind direction.
TRAINER REMINDER:
The signed permit (or a verified copy) must be posted at the worksite for the whole job – for the crew, auditors and emergency responders.
SOURCE: Module 7 Course Notes – Sections 1.4.2 and 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Read the situation aloud and let the group answer before you click. This is the most common pressure point in real life – a small job, time pressure, and a supervisor offering a verbal OK.
SIMPLE EXAMPLE:
The Course Notes include a real-style example: a worker was found grinding without a Hot Work Permit because the supervisor told him to start under time pressure. The root cause was that small reactive jobs were not being planned.
ASK THE TRAINEES:
How would you say 'no' politely but firmly to your supervisor?
EXPECTED ANSWER:
For example: 'I can't start without a valid permit – it's a Life Saving Rule. Let's raise the permit now.' Every person has the right and the duty to stop unsafe work.
TRAINER REMINDER:
Stop Work Authority is protected by policy. No production goal is more important than this rule.
ANIMATION:
Each answer appears on click.
SOURCE: Module 7 Course Notes – Sections 1.4.2, 7.4, 11.3.3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Different jobs have different hazards, so we use specialised permits. Remember: permit types often combine – one job can need several.
SOURCE: Module 7 Course Notes – Section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Here is the whole permit family. Seven main types – hot work, cold work, confined space entry, electrical, excavation, work at height and radiography – plus combined and specialised permits. Each permit tailors the general PTW principles to a specific hazard. These are not separate boxes: they frequently overlap.
SIMPLE EXAMPLE:
The Course Notes give this example: repairing a pump motor inside a vessel using welding would need an Electrical Work Permit, a Confined Space Entry Permit and a Hot Work Permit – all integrated together.
ASK THE TRAINEES:
Can one job need more than one permit type?
EXPECTED ANSWER:
Yes. Permits frequently overlap and must be combined, not issued in isolation.
TRAINER REMINDER:
Use the next slides to go into each type; keep this slide as the 'map'.
SOURCE: Module 7 Course Notes – Section 2.0 Introduction and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Hot Work Permit is needed for any job that produces enough heat, sparks or flame to ignite flammable or combustible materials. The Course Notes call it the most common and potentially most dangerous permit, because it brings an ignition source into an area that may contain flammable gas. Note that it is not only welding: grinding, open flames and even ordinary non-intrinsically-safe power tools and extension cords count.
SIMPLE EXAMPLE:
In a gas treatment plant, grinding a corroded pipe support next to a live process area is hot work. Even a standard electric drill can be an ignition source.
ASK THE TRAINEES:
Is using a normal (non-certified) power drill in a process area hot work?
EXPECTED ANSWER:
Yes – non-intrinsically safe electrical equipment is listed as in-scope for hot work.
TRAINER REMINDER:
Watch for hidden hazards – pyrophoric scale and hidden pockets of flammables inside ducts or double-walled structures.
SOURCE: Module 7 Course Notes – Section 2.1.1–2.1.2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These are the hot-work controls from the Course Notes. Gas monitoring is the non-negotiable first step: continuous combustible-gas monitoring, alarm set at or below 10% LEL, and work stops immediately if the reading goes above 10% LEL. Clear combustibles for at least 15 metres or cover them. A dedicated fire watch with no other duties stays during the work and for at least 60 minutes afterwards. Hot work permits are valid for one shift, maximum 12 hours.
SIMPLE EXAMPLE:
Welding near operating gas equipment: the gas monitor is placed at the low point near the work because heavier-than-air gases settle there; the fire watch stands by with a 9 kg extinguisher and a radio; drains and openings within 15 m are covered so sparks cannot travel.
ASK THE TRAINEES:
Why does the fire watch stay for 60 minutes after welding stops?
EXPECTED ANSWER:
Because smouldering fires can start after the work ends – the fire watch keeps watching the area, including adjacent spaces.
TRAINER REMINDER:
LEL means Lower Explosive Limit – the lowest concentration of gas in air that can ignite. 10% LEL is only one tenth of that, giving a safety margin. Hot work is absolutely forbidden in areas with active hydrocarbon releases.
SOURCE: Module 7 Course Notes – Sections 2.1.3–2.1.4, 3.8.2, 6.6.2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Cold Work Permit covers high-risk work that has no ignition source. It is the general-purpose permit for mechanical tasks. The big warning in the Course Notes is complacency: because it is 'cold', people underestimate pressure, chemicals and moving parts. Energy isolation – Lock-Out Tag-Out – is the cornerstone of cold work.
SIMPLE EXAMPLE:
Replacing a valve on a process line that previously carried sour gas is cold work. There is no flame, but trapped pressure or residual H2S could be released when the line is opened. That is why isolation, verification and possibly gas testing are required.
ASK THE TRAINEES:
What is the cornerstone control of a Cold Work Permit?
EXPECTED ANSWER:
Energy isolation (LOTO) with a documented isolation plan and verification of isolation.
TRAINER REMINDER:
Atmospheric testing may be required even for cold work if the task breaks into systems that could have contained toxics or asphyxiants.
SOURCE: Module 7 Course Notes – Section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confined space must have all three features: it is not designed for people to stay in, it has limited ways in and out, and it may contain a hazardous atmosphere or condition – low or high oxygen, flammable gas, toxic gas like H2S or carbon monoxide, engulfment, moving parts or awkward shapes. Any entry into such a space needs a Confined Space Entry Permit.
SIMPLE EXAMPLE:
In a gas treatment plant, entering a process vessel or column through a manway for inspection is confined space entry. Even after draining and purging, residual H2S or low oxygen can be present.
ASK THE TRAINEES:
Who are the four members of the confined space team?
EXPECTED ANSWER:
The Authorised Entrant, the Attendant (standby person – never enters), the Entry Supervisor (authorises entry and signs), and the pre-designated Rescue Team.
TRAINER REMINDER:
The Attendant NEVER enters the space under any circumstances. Do not rely on municipal fire services as primary rescue unless pre-arranged and trained on your equipment.
SOURCE: Module 7 Course Notes – Sections 2.3.1–2.3.2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Here is the confined-space sequence from the Course Notes. Isolate every energy source and blind or disconnect every pipe. Clean and purge. Ventilate continuously with forced air – natural ventilation is not enough. Test the atmosphere in the correct order – oxygen first, then flammables, then toxics – at the top, middle and bottom because gases layer. Have the rescue equipment set up before entry. Then the Attendant monitors continuously at the entrance.
SIMPLE EXAMPLE:
Before entering a vessel in our plant, the tester lowers the sampling hose and reads oxygen first, then LEL, then H2S, at three levels. The permit states the acceptable entry levels, for example O2 19.5–23.5%, LEL below 10%, H2S below 10 ppm.
ASK THE TRAINEES:
Why do we test oxygen FIRST?
EXPECTED ANSWER:
The Course Notes require the order oxygen, flammables, toxics. (Trainer: keep to that order as stated – oxygen level also affects whether the other readings can be trusted.)
TRAINER REMINDER:
The permit is typically valid for one entry or a maximum of 4 hours. Re-test if the space is vacated and re-entered, or if conditions change.
ANIMATION:
Steps wipe in one by one; then the four numbers.
SOURCE: Module 7 Course Notes – Section 2.3.3 and 6.4.2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Electrical Work Permit covers work on or near electrical systems and works hand-in-hand with LOTO. The rule is a hierarchy: de-energise first – that is always the goal. Working live is a last resort, allowed only if de-energising creates a greater hazard or is not feasible, and it needs extra justification, management approval, trained people, arc-flash PPE and insulated tools.
SIMPLE EXAMPLE:
Before maintenance on an electric motor driving a process pump, the electrician isolates the breaker, applies a personal lock and tag, and proves the circuit dead with a tester that is checked on a known live source before and after – the 'live-dead-live' test.
ASK THE TRAINEES:
What does 'live-dead-live' mean?
EXPECTED ANSWER:
Check the tester on a known live source, test the circuit (dead), then check the tester again on the live source – proving the tester worked.
TRAINER REMINDER:
Emergency contingency: if someone is electrocuted, DO NOT TOUCH THE VICTIM – de-energise first, or use a non-conductive rescue hook.
SOURCE: Module 7 Course Notes – Sections 2.4 and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An Excavation Permit is needed for any digging, trenching or boring. The two big risks are hitting underground services and collapse. So we notify utility owners 24 to 48 hours in advance, use drawings but never rely on them alone, and physically locate every service. The deeper the excavation, the stronger the protection: basic precautions under 1.2 m if the ground is verified competent, a protective system between 1.2 and 4.5 m, and an engineer-approved design beyond 4.5 m.
SIMPLE EXAMPLE:
Digging a trench in a gas plant to lay a new cable may cross buried process lines or live cables. Locating them with a cable locator or by careful potholing before machine digging prevents a strike.
ASK THE TRAINEES:
Why do we keep the spoil pile back from the edge?
EXPECTED ANSWER:
Spoil near the edge adds weight and can make the trench wall collapse or fall onto workers; the Course Notes require at least 0.6 m.
TRAINER REMINDER:
Contingency: if the trench shows cracking, sloughing or water seepage – evacuate immediately; no re-entry until a competent person inspects.
SOURCE: Module 7 Course Notes – Sections 2.5 and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Work at height means any work where a fall could cause injury – sometimes at 2 metres or even less if there are hazards below. The permit focuses on preventing the fall, not just catching it. Follow the hierarchy: eliminate first, then guardrails and scaffolds, then nets, then personal fall protection – and restraint, which stops you reaching the edge, is better than arrest, which stops you after you fall.
SIMPLE EXAMPLE:
Inspecting a valve on an upper platform of a process column: use a proper scaffold with guardrails and a green tag rather than a ladder. If a harness is used for fall arrest, the rescue plan must be ready before work begins.
ASK THE TRAINEES:
What does a RED scaffold tag mean?
EXPECTED ANSWER:
Do not use.
TRAINER REMINDER:
Scaffolds are built, altered and dismantled only by certified scaffolders; users check daily and a competent person inspects weekly. A fallen worker must be rescued within minutes to avoid suspension trauma.
SOURCE: Module 7 Course Notes – Sections 2.6 and 9.4.2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Radiography uses X-ray machines or gamma sources to check welds without cutting them. The hazard – ionising radiation – is invisible and potentially lethal. The guiding principle is ALARA: keep exposure as low as reasonably achievable. The work area is divided into a controlled area, where nobody unauthorised may enter during exposure, and a supervised area around it. A radiography safety watch keeps the perimeter clear and monitors with a survey meter.
SIMPLE EXAMPLE:
When new pipeline welds in the plant are radiographed, barriers and warning lights go up, a horn sounds before exposure, and the Radiation Safety Officer surveys the boundary.
ASK THE TRAINEES:
You see radiation barrier tape and a flashing light across your normal route. What do you do?
EXPECTED ANSWER:
Do not cross. Wait or take another route – unauthorised entry into the controlled area is strictly prohibited during exposure.
TRAINER REMINDER:
Radiography is often night or off-shift work – everyone must respect barriers even when nobody seems to be around.
SOURCE: Module 7 Course Notes – Sections 2.7 and 3.8.2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Complex jobs need several hazard controls at once. We do not issue separate permits in isolation – we combine them. A master permit, often the Cold Work Permit, acts as the umbrella, and supplementary certificates are attached for confined space, hot work, isolation and scaffolding. The golden rule: the most restrictive condition on any attached document governs the whole job.
SIMPLE EXAMPLE:
If the Confined Space Certificate requires continuous ventilation and the Hot Work Certificate requires a fire watch, both must be in place at the same time for work to continue. If ventilation stops, the work stops – even though the fire watch is still there.
ASK THE TRAINEES:
During this vessel job, ventilation fails but the welder says the fire watch is present, so they can continue. Correct?
EXPECTED ANSWER:
No. Every condition of every attached certificate must be met simultaneously. Stop work.
TRAINER REMINDER:
The Permit Issuer's final responsibility is to make sure the complete, integrated safety envelope is established and verified before authorising.
SOURCE: Module 7 Course Notes – Section 2.8.1 and 2.8.3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Beyond the main seven, the Course Notes describe specialised permits. Two matter most in a running gas plant. SIMOPS – simultaneous operations – is used when two potentially conflicting high-risk activities happen close together, like a crane lift over live process piping. Break of Containment is the specific, highly controlled permit for the first break into any process system. MOC permits link physical changes to the approved change. High-pressure/high-temperature, laboratory and critical lifting permits cover their own special risks.
SIMPLE EXAMPLE:
A crane lift of a new heat-exchanger bundle over live gas piping while the unit is running is a SIMOPS situation: the lift and the live process must be coordinated, with clear boundaries and a SIMOPS coordinator.
ASK THE TRAINEES:
What is a 'Break of Containment' permit for?
EXPECTED ANSWER:
The first break into any process system containing hazardous chemicals, gases or fluids under pressure or vacuum.
TRAINER REMINDER:
Which specialised permits exist on your site is defined by the site procedure – these are the categories described in the Course Notes.
SOURCE: Module 7 Course Notes – Sections 1.1.2 and 2.8.2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Read each job and ask the group to name the permit before you click. Encourage them to name every permit when jobs combine.
SIMPLE EXAMPLE:
The vessel-welding job is the classic combined permit: the Course Notes' catalyst-replacement example uses a Cold Work master permit with Confined Space, Hot Work, Isolation and Scaffold certificates.
ASK THE TRAINEES:
For the vessel welding: which condition wins if two certificates say different things?
EXPECTED ANSWER:
The most restrictive condition governs.
TRAINER REMINDER:
Final decisions on permit type are made by the Permit Issuer using the site procedure.
ANIMATION:
Each answer appears on click.
SOURCE: Module 7 Course Notes – Sections 2.1–2.5,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PTW is a human system. It only works if every person understands their own duties, the limits of their authority and how they depend on others.
SOURCE: Module 7 Course Notes – Section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Here are the eight roles in the Course Notes. The two most important for daily work are the Permit Issuer – who owns the safety of the workplace and authorises the work – and the Permit Receiver – who owns the safe execution of the work. Around them: the Coordinator manages the permit log; the Area Authority and Isolating Authority handle local knowledge and isolations; the Safety Officer gives independent advice and audits; and the work team and attendants carry out the job.
SIMPLE EXAMPLE:
For a pump seal replacement: the Operations Shift Supervisor is the Issuer, the Maintenance Supervisor is the Receiver, the area operator closes the valves, the Isolating Authority verifies zero pressure and signs the Isolation Certificate, and the mechanics do the work.
ASK THE TRAINEES:
Which role is described as 'the eyes and ears' of operations in a plant area?
EXPECTED ANSWER:
The Area Authority (Operations Representative).
TRAINER REMINDER:
Each role is a link in a safety chain. A breakdown in one role weakens the entire system.
SOURCE: Module 7 Course Notes – Sections 3.1–3.8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These two roles are the heart of PTW. The Issuer is the guardian of the workplace: they review the request, specify the isolations and controls, walk the site with the Receiver, personally verify the controls and only then sign. The Receiver is the guardian of the work: they independently check the permit, accept it, brief every worker, supervise continuously and stop the work if conditions change.
SIMPLE EXAMPLE:
At signing, the Issuer says: 'I have verified the area is safe for work to commence.' The Receiver then says: 'I accept responsibility for performing the work within these defined conditions.' The Issuer always signs first.
ASK THE TRAINEES:
The Receiver is not happy with one of the controls. Should they sign anyway to keep the job on schedule?
EXPECTED ANSWER:
No. The Receiver has the right and duty to challenge the Issuer and must not accept a permit they do not fully understand or agree with.
TRAINER REMINDER:
The Issuer needs the 'moral courage to say no'. Any change to permit conditions requires suspension and re-issue by the Issuer.
SOURCE: Module 7 Course Notes – Sections 3.3, 3.4, 4.3.2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table shows the supporting roles. Notice the third column: every role also has limits. The Manager owns the system but cannot authorise individual permits or order people to bypass steps. The Coordinator is an administrator, not a technical authority. The Area Authority executes isolations but does not issue permits. The Isolating Authority has the final technical say on isolation, but does not authorise the overall permit. The Safety Officer advises and audits but cannot issue permits.
SIMPLE EXAMPLE:
If the Coordinator sees that a hot work permit and a flange-break permit are requested on the same pipe rack at the same time, they flag the SIMOPS conflict and can hold the processing until the Issuers resolve it.
ASK THE TRAINEES:
Who has the final technical say on whether an isolation is adequate?
EXPECTED ANSWER:
The Isolating Authority – their certificate is a mandatory prerequisite for the Permit Issuer.
TRAINER REMINDER:
Knowing the LIMITS of each role prevents the dangerous assumption that 'someone else' is responsible.
SOURCE: Module 7 Course Notes – Sections 3.1, 3.2, 3.5, 3.6,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Every single worker holds the most basic responsibility: their own safety and their colleagues' safety. That means attending the briefing, understanding the permit, following it, staying alert and stopping work if something is wrong. Some jobs also need special attendants: the Fire Watch, the Confined Space Attendant and the Radiography Safety Watch. Each has ONE job – and must not be distracted by other tasks.
SIMPLE EXAMPLE:
During welding near a process pump, the fire watch is asked to 'quickly fetch a tool'. They must refuse – the fire watch has no other duties.
ASK THE TRAINEES:
An entrant collapses inside a vessel. What does the Attendant do?
EXPECTED ANSWER:
Raise the alarm, start non-entry rescue (tripod/winch) if possible and summon the rescue team – but NEVER enter the space and never attempt a solo rescue.
TRAINER REMINDER:
Stop Work Authority belongs to every worker. Use it without fear.
SOURCE: Module 7 Course Notes – Section 3.8,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Run this as a fast quiz. Ask each question, let trainees shout the answer, then click to confirm.
TRAINER REMINDER:
The last answer is the most important: Stop Work Authority belongs to every person on site, including visitors and the newest apprentice.
ANIMATION:
Each answer appears on click.
SOURCE: Module 7 Course Notes – Sections 3.3–3.8,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permit is not a static document – it is a process with a lifecycle. At each stage, information is exchanged, checks are made and responsibility is formally handed over.
SOURCE: Module 7 Course Notes – Section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Here is the full lifecycle. One: the requestor applies and plans, with a JSA. Two: the Issuer reviews the hazards and writes the isolation plan and controls. Three: the Issuer and Receiver walk the site, verify and sign. Four: the Receiver briefs the crew. Five: the work is done and monitored. Six: the work is completed and the site cleaned – but locks stay on. Seven: the permit is closed, extended or cancelled. It is a closed loop – every permit becomes data for improving future work.
SIMPLE EXAMPLE:
A pump seal job: the planner raises the application on Monday, the Issuer reviews it, on Tuesday morning they walk down and sign, the crew is briefed, the seal is changed, the site is cleaned, and the permit is closed after the final walkdown.
ASK THE TRAINEES:
At which stage does responsibility for the workspace pass from Operations to Maintenance?
EXPECTED ANSWER:
At Stage 3 – Issue: after the joint walkdown and signatures, custodial responsibility transfers from the Issuer to the Receiver.
TRAINER REMINDER:
Each stage has an output and a handoff. The workflow is a closed loop.
ANIMATION:
Stages wipe in one at a time.
SOURCE: Module 7 Course Notes – Sections 4.0–4.7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Stage one is the application. It must be precise: the exact job, the exact equipment and location, times, people, and the planning documents – especially the JSA. The Coordinator screens it and logs it. Stage two is the Issuer's review. The Issuer uses their plant knowledge to challenge the JSA and add hazards the maintenance team may not see – adjacent operations, live utilities, weather, other jobs nearby. Then they write the Isolation Plan and specify every control.
SIMPLE EXAMPLE:
From the Course Notes: the JSA says 'isolate pump'. The Issuer turns that into 'Close and lock valves XV-101A and XV-101B, install blind at Flange F-101 per drawing SK-101' – and adds 'note: the bypass line from P-101B remains live'.
ASK THE TRAINEES:
Why is the Issuer – and not the maintenance team – best placed to spot interface hazards?
EXPECTED ANSWER:
Because the Issuer knows the live status of the plant and how systems are interconnected.
TRAINER REMINDER:
Output of Stage 2: a permit draft with all hazards and controls listed, and a detailed isolation plan – the 'safe envelope'.
SOURCE: Module 7 Course Notes – Sections 4.1, 4.2, 5.4.2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Stage three is where the plan meets reality. The Issuer and Receiver meet at the actual job location with the draft permit and go through every single control: they physically look at each lock, tag and blind, review the gas test, and check that extinguishers, ventilation and barriers are there. Then the isolation is proved with a positive test – Verification of Isolation, or VOI – with the Receiver as witness. Only when both are satisfied do they sign: Issuer first, then Receiver.
SIMPLE EXAMPLE:
At a pump job, the Issuer points to each padlock on the suction and discharge valves, checks the blind tag number against the permit, then opens a bleed point to show the pressure gauge reading zero.
ASK THE TRAINEES:
What does VOI stand for, and give one example.
EXPECTED ANSWER:
Verification of Isolation – for example a try-start of a motor or confirming zero pressure on a gauge.
TRAINER REMINDER:
After signing: post the original at the worksite, lodge a copy with the Coordinator (log = ACTIVE) and attach supplementary certificates.
ANIMATION:
Steps wipe in; then the signature statements.
SOURCE: Module 7 Course Notes – Section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Immediately after accepting the permit, the Receiver gathers the whole team – including the fire watch or attendant – at the worksite with the permit visible. The Course Notes give a simple structure called TRAHC: Task, Risks, Actions, Help and Communication. Then the Receiver checks understanding with questions, checks everyone's PPE, and the workers sign on.
SIMPLE EXAMPLE:
The Course Notes suggest questions like: 'What's the LEL alarm level on this monitor?' and 'Show me our primary escape path.' For a vessel job, the Receiver points to the tripod, the ventilation fan, the gas monitor and the escape route.
ASK THE TRAINEES:
What does the 'H' in TRAHC stand for, and what should it cover?
EXPECTED ANSWER:
Help – the emergency procedure: what to do if something goes wrong, the escape route, who the Attendant is and how to call for help.
TRAINER REMINDER:
Never assume knowledge carries over: a new shift's crew gets a full briefing, even if the work is continuous.
ANIMATION:
TRAHC letters wipe in one by one.
SOURCE: Module 7 Course Notes – Sections 4.4, 7.2.2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During the work, the team does only what the permit says: the described task, at the stated location, with the assessed tools – and never bypasses a control. Monitoring is a team sport: every worker watches for leaks and changes, the Receiver supervises continuously, attendants do their dedicated duties, and the Issuer and Safety Officer make checks. If anything changes, the Receiver must stop the work and notify the Issuer – the permit is then effectively suspended.
SIMPLE EXAMPLE:
While removing insulation for a valve job, the crew finds an extra pipe they did not expect. That is outside the permit – stop, make safe, tell the Issuer.
ASK THE TRAINEES:
A colleague wants to quickly tighten a leaking flange on the next pipe, 'since we are here anyway'. Allowed?
EXPECTED ANSWER:
No. Only the task and location described in the permit are authorised. New work needs its own assessment and authorisation.
TRAINER REMINDER:
If the change is minor and controls are still valid, the Issuer may re-confirm; if significant, the permit may be cancelled and a new one started.
SOURCE: Module 7 Course Notes – Section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Let us put the whole lifecycle together with one job that appears throughout the Course Notes – replacing the mechanical seal on Pump P-101A. Follow the six steps: a precise request with a JSA; the Issuer adds a hazard the team missed – the bypass from the standby pump is still live; a specific isolation plan; walkdown with verification of zero energy; toolbox talk and supervised work; then completion and formal closure.
SIMPLE EXAMPLE:
In a gas plant, P-101A and P-101B are duty and standby pumps. If only P-101A's valves are closed but the bypass from P-101B is live, product could reach the worksite. That is exactly the kind of interface hazard the Issuer must find.
ASK THE TRAINEES:
Why do the team's locks stay on after the job is finished?
EXPECTED ANSWER:
Isolations remain in place until the Issuer's final verification; personal locks are removed only after the Issuer confirms it is safe.
TRAINER REMINDER:
This example shows the HAZOP-style question the Issuer should ask: 'OTHER THAN isolation, could product still reach the worksite?'
ANIMATION:
Steps appear one by one.
SOURCE: Module 7 Course Notes – Sections 4.1–4.7, 5.1.2 C, 5.4.2, 6.2.2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If trainees remember one thing from the process section, it is this: no one signs a permit until the controls have been physically verified on site. Then brief, monitor and close formally.
ASK THE TRAINEES:
What is the difference between a permit signed in the office and one signed after a walkdown?
EXPECTED ANSWER:
Only the walkdown permit has verified controls – the office permit is based on assumptions.
TRAINER REMINDER:
Positive control and verification is one of the seven principles: 'The permit is the switch that allows work to begin; the verification is closing the safety circuit.'
SOURCE: Module 7 Course Notes – Sections 1.3.1,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Risk assessment is the 'engine' of the PTW. The permit form gives structure, but the quality of the risk assessment decides how safe the job really is.
SOURCE: Module 7 Course Notes – Section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Course Notes describe five ways to find hazards. The JSA, or Task Risk Assessment, is the foundation: break the job into steps and ask what can go wrong at each. 'What-If' brainstorming suits complex or new jobs. The HAZOP mindset is the Issuer's skill: using guide words to ask whether product could still reach the worker despite isolation. The site walkdown is mandatory – it checks the paper against reality. And past data tells us what went wrong before.
SIMPLE EXAMPLE:
From the Course Notes: 'The last time this exchanger was opened, we found H2S scale; therefore specific toxic gas monitoring is required.' History changed the controls for the next job.
ASK THE TRAINEES:
Which technique is mandatory for every permit?
EXPECTED ANSWER:
The joint workplace inspection / walkdown immediately before issue.
TRAINER REMINDER:
Philosophy: 'systematic scepticism' – challenge assumptions and keep asking 'what if?'
SOURCE: Module 7 Course Notes – Section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Once we know the hazards, we rate each one. Risk combines severity – how bad could it be – with likelihood – how likely is it during this particular job. The site risk matrix turns that into a rating. High or extreme: the work cannot proceed until additional controls bring it down to medium or lower. Medium: proceed with specified controls, supervision and monitoring. Low: proceed with routine controls.
SIMPLE EXAMPLE:
Breaking a flange on a gas line: a minor leak is 'likely'. Before controls, the risk could be high. After isolation, blinding, draining and gas testing, the remaining – residual – risk should fall into medium or low.
ASK THE TRAINEES:
What is the difference between inherent risk and residual risk?
EXPECTED ANSWER:
Inherent risk is the risk with no controls; residual risk is what remains after all planned controls are applied. The evaluation must consider the residual risk.
TRAINER REMINDER:
Use your SITE risk matrix for the actual scoring – this slide only shows the categories described in the Course Notes.
SOURCE: Module 7 Course Notes – Section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hierarchy of controls tells us which controls to choose first. Always start at the top. Elimination removes the hazard completely. Substitution replaces it with something less hazardous. Engineering controls physically separate people from the hazard – isolation and LOTO are the primary domain of PTW. Administrative controls change how people work – the permit itself is one. PPE is the last line of defence and is always used in addition to the others, never instead of them.
SIMPLE EXAMPLE:
Need to cut a pipe in a gas plant? First ask: can the work wait until the unit is shut down and depressurised (elimination)? Can we use a hydraulic cutter instead of a grinder so there are no sparks (substitution)? Then isolate and ventilate (engineering), issue the permit and brief (administrative), and wear the right PPE.
ASK THE TRAINEES:
Why is relying only on PPE called 'a failure of the PTW process'?
EXPECTED ANSWER:
Because PPE does not eliminate the hazard; it only protects if it is the right type, worn correctly and does not fail.
TRAINER REMINDER:
The Permit Issuer should first ask: 'Can this hazard be eliminated?'
ANIMATION:
Each level wipes in from the top.
SOURCE: Module 7 Course Notes – Section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bow-tie is a simple picture for major hazards. In the middle is the top event – the moment control is lost. The example in the Course Notes is 'release of flammable gas'. On the left are preventive barriers that stop it happening: isolation valve, positive blind, lockout. On the right are mitigating barriers that limit the damage if it does happen: gas detection alarm, fire watch, emergency response plan.
SIMPLE EXAMPLE:
Before breaking a flange on a gas line, the Issuer checks the left side – valves locked, blind installed – AND the right side – gas monitor running, fire extinguisher ready, escape route clear.
ASK THE TRAINEES:
Is a fire watch a preventive or a mitigating barrier in this bow-tie?
EXPECTED ANSWER:
Mitigating – it limits consequences if the release happens.
TRAINER REMINDER:
The permit must verify barriers on BOTH sides.
ANIMATION:
Click 1 preventive barriers, click 2 mitigating barriers, click 3 key line.
SOURCE: Module 7 Course Notes – Section 5.3.3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JSA and the PTW work together. The JSA is the planning tool written by the work team; the PTW is the authorisation and field-verification tool. The Issuer does not blindly accept the JSA – they add system hazards and turn general words into exact permit conditions. And because no job is zero-risk, the Receiver must explain the remaining – residual – risk in the briefing using three simple statements.
SIMPLE EXAMPLE:
This flange example is straight from the Course Notes: 'the remaining risk is a minor leak when we break the final flange. Therefore, we will crack it slowly from the top side, stand clear, and have the gas monitor ready.'
ASK THE TRAINEES:
If conditions change during the job, what happens to the JSA?
EXPECTED ANSWER:
It becomes a 'living JSA': the permit is suspended, the JSA is reviewed for the new hazard, and the permit may be re-issued with new conditions.
TRAINER REMINDER:
Informed consent: by signing and attending the briefing, workers confirm they have been told the residual risks and controls. Without clear communication of residual risk, that consent is invalid.
SOURCE: Module 7 Course Notes – Sections 5.4 and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heart of a permit is not the signature block – it is the conditions and controls written on it. And the most critical technical control is isolation.
SOURCE: Module 7 Course Notes – Sections 6.1–6.3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Some conditions apply to every permit, whatever the task: competency, fitness for work, stop work authority, site rules, housekeeping and fit-for-purpose tools. Other conditions are specific limits written on this particular permit: exact scope, validity, maximum number of people, allowed tools, and environmental stop triggers. These limits prevent 'scope creep' – a common cause of incidents.
SIMPLE EXAMPLE:
The examples on the right are from the Course Notes: a vessel V-205 permit allowing a maximum of 2 people inside at once, hand tools and an air-driven intrinsically safe impact wrench only, and stop work if wind exceeds 25 km/h or rain begins.
ASK THE TRAINEES:
Why might a permit say 'NO electrical grinders or heaters permitted'?
EXPECTED ANSWER:
To control the introduction of ignition sources or incompatible equipment.
TRAINER REMINDER:
Permit conditions are legally binding 'rules of engagement', not suggestions. The specific numbers come from YOUR permit.
SOURCE: Module 7 Course Notes – Sections 6.1 and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ISOLATION – simple meaning: separating the equipment from its energy or hazardous material so it cannot reach the worker. The Course Notes rank isolation methods from most to least reliable. Best: physically disconnect or remove a section. Next: a positive blind in a flange. Then double block and bleed – two locked valves with an open bleed between – but it is not acceptable as the primary isolation for hydrocarbons or highly hazardous chemicals unless company standards specifically allow it, because both valves could leak. Lowest: a single locked valve, only acceptable for non-hazardous utilities or as a secondary isolation.
SIMPLE EXAMPLE:
For maintenance on equipment that held process gas, a single closed valve is not enough. The isolation plan uses a blind or removes a spool so gas cannot pass, with every point locked and tagged.
ASK THE TRAINEES:
Is a single locked valve acceptable to isolate a process gas line for maintenance?
EXPECTED ANSWER:
No – a single valve is only acceptable for non-hazardous utilities or as a secondary isolation.
TRAINER REMINDER:
Every blind is tagged with a unique number recorded on the permit, and the Issuer/Receiver visually confirm its position (spectacle blind turned to the 'blind' side).
ANIMATION:
Methods wipe in from best to least reliable.
SOURCE: Module 7 Course Notes – Section 6.3.2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LOTO means Lock-Out Tag-Out. Four elements. First, personal locks: every worker exposed to the hazard puts their own lock on the hasp – one person, one lock. Second, standard danger tags saying who, why and 'DO NOT OPERATE – MEN AT WORK'. Third, the Isolation Certificate – the master list of every isolation point and lock owner, attached to the permit. Fourth, Verification of Isolation: after locking and tagging, prove zero energy with a positive test.
SIMPLE EXAMPLE:
Before working on a process pump, the suction and discharge valves are closed and locked on a group hasp. Each mechanic adds a personal padlock. Then the Isolating Authority opens a bleed and confirms the gauge reads zero, and tries to start the motor – it must not run.
ASK THE TRAINEES:
Why is a supervisor's group lock not enough to protect you?
EXPECTED ANSWER:
Because personal protection requires YOUR lock – only you control its removal. The Course Notes state supervisory or group locks are insufficient for personal protection.
TRAINER REMINDER:
Auditors check that every lock is a personal safety lock – not a master lock, tool lock or zip-tie – and that each lock belongs to a worker present and listed.
SOURCE: Module 7 Course Notes – Sections 6.3.3, 8.2.2,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Let us apply isolation to a real line-breaking job. The question: is closing one valve enough? Let trainees answer first. The Course Notes are clear: single-valve isolation is only acceptable for non-hazardous utilities or as a secondary isolation. For a hazardous process line we need positive isolation – a blind or physical disconnection – locked and tagged, recorded on the Isolation Certificate, and verified at zero pressure before the permit is signed. Gas testing is done where required, then the walkdown, signatures and briefing. When breaking, follow the residual-risk instruction: crack it slowly from the top or far side, stand clear, with the gas monitor ready.
SIMPLE EXAMPLE:
Why is this so important in a sour-gas service? A leaking valve can let gas – including H2S – reach the flange. The blind gives a physical barrier the valve cannot.
ASK THE TRAINEES:
What emergency equipment should already be at the flange before the last bolt is loosened?
EXPECTED ANSWER:
A pre-fitted leak clamp or emergency blind, absorbent materials and drip trays – and the crew briefed on their use.
TRAINER REMINDER:
The Break of Containment permit is the specific, highly controlled permit for the FIRST break into any process system – check which permit your site requires.
ANIMATION:
Click 1: answer; click 2: contingency; then the six steps.
SOURCE: Module 7 Course Notes – Sections 2.8.2, 5.5.2, 6.3,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Atmospheric hazards are dynamic – they change. So gas testing is not a one-time event; it is a monitoring programme designed to detect changes before they become dangerous.
SOURCE: Module 7 Course Notes – Section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We test for three things. Oxygen: the acceptable range is 19.5 to 23.5 percent – too little and people suffocate, too much and fire risk increases. Flammables, measured as % of the Lower Explosive Limit: LEL simple meaning – the lowest amount of gas in air that can ignite; the acceptable level is below 10% LEL. Toxic gases such as hydrogen sulphide and carbon monoxide: limits are site-specific; the Course Notes give typical examples of H2S below 10 ppm and CO below 35 ppm.
SIMPLE EXAMPLE:
Before work on equipment that previously contained sour gas, the tester checks O2, LEL and H2S. A reading of H2S above 10 ppm means stop and evacuate.
ASK THE TRAINEES:
What does 'ppm' mean?
EXPECTED ANSWER:
Parts per million – a way of measuring very small concentrations of a gas.
TRAINER REMINDER:
NOTE FOR TRAINER: The Course Notes' testing table (6.4.2) also lists 'action at 20%, evacuate at 40%+ LEL', but the abort criteria (6.6.2), trigger events (9.1.2) and hot-work rules (2.1.3) all require work to STOP at &gt; 10% LEL. Teach the stricter &gt; 10% stop rule and follow your site procedure. Always use the limits written on YOUR permit.
SOURCE: Module 7 Course Notes – Sections 2.3.1, 6.4.2, 6.6.2, 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Gas testing has a routine. Check the instrument: calibrated, and bump-tested – a quick function check – before each day's use. Sample with a pump and hose at the top, middle and bottom, because gases form layers, and test every compartment. Test in order: oxygen, then flammables, then toxics. Record every test on the Gas Test Certificate – location, time, tester, readings and instrument serial number – and attach it to the permit.
SIMPLE EXAMPLE:
For a vessel entry, the tester takes a baseline with the space open but not yet ventilated, then again after ventilation. During the job, the attendant monitors at the entrance and re-tests are recorded, typically every 30 to 60 minutes and before re-entry after a break.
ASK THE TRAINEES:
Why do we test at the top, middle AND bottom?
EXPECTED ANSWER:
Because of gas stratification – heavier gases settle low and lighter gases rise, so one reading may miss a hazard.
TRAINER REMINDER:
The tester must be a competent, authorised person. Falsifying a gas test certificate is a MAJOR non-conformance.
SOURCE: Module 7 Course Notes – Sections 2.3.3, 6.4.2, 8.2.2, 11.3.2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scenario uses two real examples from the Course Notes. First, history matters: because H2S scale was found the last time this exchanger was opened, specific toxic gas monitoring is required. Second, the Course Notes give 'a gas monitor reads 5% LEL – below alarm but above zero' as an example of a SIGNIFICANT deviation. The response is to stop work, secure the site, notify the Issuer and jointly re-assess before anything restarts.
SIMPLE EXAMPLE:
Many people think 'it's below the alarm so it's fine'. The Course Notes say otherwise: gas is present that was not expected, so the safe envelope may be broken.
ASK THE TRAINEES:
Who decides whether the work can restart?
EXPECTED ANSWER:
The Permit Issuer and Receiver jointly, after re-assessment. If the change is substantial, the permit is cancelled and a new one is raised.
TRAINER REMINDER:
Any reading that shows conditions have changed means stop and re-assess.
ANIMATION:
Each answer appears on click.
SOURCE: Module 7 Course Notes – Sections 5.1.2 E, 5.4.2, 7.3.2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Every permit must answer: 'If our primary controls fail, what then?' This section covers PPE and emergency planning.
SOURCE: Module 7 Course Notes – Sections 6.5, 6.6,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PPE is chosen from a task- and hazard-specific risk assessment, not tradition. The Course Notes show a sample PPE matrix for one combined task: welding inside a confined space. Every body part has a hazard and a minimum PPE item. Three key principles: layering – safety glasses go under the welding helmet; task-specific – welding gloves are not chemical gloves; and pre-use checks – the worker checks their own PPE before use.
SIMPLE EXAMPLE:
For a welder working inside a vessel: helmet plus glasses, PAPR or supplied air depending on the atmosphere, FR coveralls and leather jacket, insulated gloves, safety boots, and a harness connected to the tripod lifeline at the entry point.
ASK THE TRAINEES:
Why is the harness listed in the PPE matrix for a confined space job?
EXPECTED ANSWER:
For fall protection at the entry point and to allow non-entry rescue using the tripod/retrieval system.
TRAINER REMINDER:
The PPE matrix on YOUR permit is the instruction. PPE is always used in addition to higher-level controls.
SOURCE: Module 7 Course Notes – Sections 5.3.2,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PTW emergency planning does not replace the site Emergency Response Plan – it tailors it to this job. The Issuer and Receiver must define three things. WHEN to act: the trigger events. WHAT to do in the first 60 seconds: shout, stop, evacuate, assist only if safe, and raise the alarm. And WHERE to go: escape routes physically walked during the walkdown, and a Worksite Assembly Point upwind and uphill for an immediate headcount.
SIMPLE EXAMPLE:
In a gas plant, check the windsock during the walkdown. If H2S or hydrocarbon is released, you move upwind and uphill to the worksite assembly point, then follow the site muster procedure.
ASK THE TRAINEES:
Why should the Worksite Assembly Point be upwind and uphill?
EXPECTED ANSWER:
So released gas or vapour is carried away from people; heavier gases also flow downhill.
TRAINER REMINDER:
These triggers are verbally repeated in every pre-job briefing. Do not stop to gather tools.
SOURCE: Module 7 Course Notes – Sections 6.6.2,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Contingency plans are pre-planned actions to control a developing situation before it becomes a full emergency. Each permit type has its own. The middle column shows what could go wrong; the right column shows the planned response. And each one has a verification during issue: the extinguisher is charged, the rescue equipment is set up, the rescue hook is at the worksite, the leak clamp is ready.
SIMPLE EXAMPLE:
For a vessel entry in our plant, if the gas monitor alarms for H2S, the attendant immediately orders everyone out, starts non-entry rescue with the tripod and winch if someone cannot get out, and calls the dedicated rescue team – but never goes in.
ASK THE TRAINEES:
A colleague is in contact with a live electrical source. What must you NOT do?
EXPECTED ANSWER:
Do not touch the victim. First de-energise at the established LOTO point, or use a non-conductive rescue hook.
TRAINER REMINDER:
The equipment for each contingency must be checked at the worksite during the pre-issue walkdown.
SOURCE: Module 7 Course Notes – Section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Failed communication is a primary reason emergencies escalate. Each permit has a layered plan: primary communication is the site radio on a set channel with a clear emergency phrase; backup is a phone, air horn or whistle signal. When you call the control room, use METHANE so nothing is missed. For confined space and high-risk work, a written rescue plan must be ready BEFORE work begins. 'Call 911' – or calling the outside emergency services – is NOT a rescue plan.
SIMPLE EXAMPLE:
'Emergency, Emergency, Emergency – Fire at Pump Alley 1' is the example emergency call in the Course Notes. A backup signal could be three long horn blasts = evacuate.
ASK THE TRAINEES:
What is always the first and preferred rescue option for a confined space?
EXPECTED ANSWER:
Non-entry rescue – using the retrieval system to pull the entrant out. Entry rescue is a last resort, by specially trained people with breathing apparatus.
TRAINER REMINDER:
Work must not proceed if rescue capability is unavailable or the response time is unacceptable for the hazard (e.g. H2S exposure). Drills: tabletop quarterly; worksite drills at least annually per high-risk permit type.
ANIMATION:
METHANE letters wipe in; then the rescue panel.
SOURCE: Module 7 Course Notes – Sections 9.3, 9.4,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permit is a snapshot in time. The real world changes. Monitoring and supervision keep the safe envelope intact until the job is done.
SOURCE: Module 7 Course Notes – Section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Compliance cannot be assumed – it must be verified by looking. The Receiver supervises continuously. The Issuer checks at least once per permit validity period – for example once per shift – and more for high-risk work. The Safety Officer does unannounced audits, and managers do Visible Felt Leadership tours that focus on conversations. The checklist on the right is what any of them looks for.
SIMPLE EXAMPLE:
An Issuer walking past a flange job checks: permit posted and valid? Locks still on the hasp? Gas monitor running and reading zero? Is the crew only working on the flange named on the permit?
ASK THE TRAINEES:
Pick one item on the checklist that you could check yourself as a worker.
EXPECTED ANSWER:
Any – e.g. is my PPE correct, is the escape route clear, has the weather changed? Every worker maintains situational awareness.
TRAINER REMINDER:
Monitoring requires a 'guardian mindset' – active curiosity, relentless verification and the courage to intervene.
SOURCE: Module 7 Course Notes – Section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Changes during work are normal – what matters is how we respond. The Course Notes define three levels. Minor: the control is still effective – for example, a non-critical PPE item is damaged and an identical replacement is available; the Receiver approves the swap and work continues. Significant: a control is compromised or a new hazard appears – stop immediately, make the site safe, notify the Issuer, and re-assess together. Major: an emergency – evacuate, activate the ERP, and the permit becomes void.
SIMPLE EXAMPLE:
During a pipe job, the crew removes insulation and finds a pipe that is not on the drawing. That is a significant deviation: stop, secure, call the Issuer. They may need a new JSA, extra isolation and an amended – or completely new – permit.
ASK THE TRAINEES:
Rain starts during outdoor electrical work. Which level is this?
EXPECTED ANSWER:
Significant – it is one of the Course Notes' own examples. Stop, secure, notify the Issuer and re-assess.
TRAINER REMINDER:
If the change is substantial, the original permit is CANCELLED and a new application starts. Amendments need clear notes and initials from both Issuer and Receiver.
SOURCE: Module 7 Course Notes – Section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Stop Work Authority is described as the most important authority in the PTW system – the emergency brake. Anyone can use it, any time, for any safety concern: the newest apprentice, a contractor, a visitor. Say 'STOP WORK' and the reason. Work stops immediately – no debate, no ridicule, no repercussions. Then the formal suspension follows five steps: notify, secure, document, investigate and restart only after joint revalidation and a new briefing.
SIMPLE EXAMPLE:
A young technician helping on a flange job smells gas and shouts 'Stop work! I smell gas.' Everyone stops. The Receiver secures the site and calls the Issuer. Even if it turns out to be nothing, the technician did exactly the right thing.
ASK THE TRAINEES:
After a stop, what must happen before the crew starts again?
EXPECTED ANSWER:
The Issuer and Receiver jointly revalidate the permit, a new briefing is held with the crew, and both initial and time-stamp the 'WORK RESUMED' section.
TRAINER REMINDER:
Investigate the CONDITION that caused the stop, not the person who stopped the work. Retaliation against SWA is a 'cardinal cultural sin'. A rising number of SWA uses is a positive sign.
SOURCE: Module 7 Course Notes – Sections 7.4, 10.3.2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Shift change is one of the riskiest moments in PTW, because information can be lost. The Course Notes call the solution a 'three-party handshake': Receiver to Receiver at the worksite, Issuer to Issuer in the control room, and a full new briefing for the new crew. The incoming Receiver signs the permit's shift-handover block to accept responsibility.
SIMPLE EXAMPLE:
The handover example from the Course Notes: 'The blind is in at Flange F-205, confirmed at 08:00. The gas monitor has been stable at 0% LEL.' That is specific, factual and checkable.
ASK THE TRAINEES:
The night-shift Receiver has not arrived and the day Receiver's shift is over. What happens?
EXPECTED ANSWER:
The day Receiver cannot leave; the work may need to be safely suspended. Work must never be left unattended during a shift change.
TRAINER REMINDER:
The Permit Coordinator also hands over the permit log between shifts.
SOURCE: Module 7 Course Notes – Sections 3.2.2,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scenario combines everything from Section 10. A gas smell is a change in conditions – and smelling gas is literally the example the Course Notes use for Stop Work Authority. Let trainees discuss, then reveal each step.
SIMPLE EXAMPLE:
Wind changes are also named in the Course Notes as a reason to revalidate a hot work permit and as an environmental condition the Issuer must consider.
ASK THE TRAINEES:
Is the permit still valid after the work is stopped?
EXPECTED ANSWER:
No – it is suspended. Work resumes only when the Issuer and Receiver jointly revalidate it, or a new permit is issued.
TRAINER REMINDER:
Uncontrolled release and gas monitor alarm are both emergency trigger events – no hesitation.
ANIMATION:
Each step appears on click.
SOURCE: Module 7 Course Notes – Sections 7.3, 7.4, 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Every permit ends in one of three ways: it is closed after normal completion, extended (revalidated) if the work continues, or cancelled if the work cannot start or will not resume.
SOURCE: Module 7 Course Notes – Sections 4.6, 4.7,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There are three ways a permit ends. Closure is the normal ending: a final joint walkdown, the site restored, locks removed only after the Issuer confirms, both sign, and the permit is logged closed and archived. Extension or revalidation is used when work must continue beyond the validity: the Receiver asks before expiry, and the Issuer repeats a fresh walkdown and re-verifies the controls – extensions are never automatic. Cancellation is used when work cannot start, stops and will not resume on this permit, or the scope or hazard changes significantly.
SIMPLE EXAMPLE:
A vessel inspection takes longer than one shift. Before the permit expires, the Receiver asks for revalidation. The Issuer walks the site again, a fresh gas test is done and the isolations are checked before the new expiry time is signed.
ASK THE TRAINEES:
The permit expired 10 minutes ago and the job is nearly finished. Can the team just finish quickly?
EXPECTED ANSWER:
No. Work must stop immediately if the permit expires, and can only resume after formal revalidation by the Issuer.
TRAINER REMINDER:
A cancelled permit is still archived – it remains part of the record and the audit trail. A high extension rate can indicate poor planning.
SOURCE: Module 7 Course Notes – Sections 1.4.2, 4.7, 8.5, 10.3.2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Closure is a formal process, not an afterthought. The Receiver confirms the work is complete, the area is cleaned and everyone is out – but the team's locks stay on. The Receiver tells the Issuer. Together they do a final walkdown and check restoration: temporary controls removed, blinds out, valves restored, equipment safe for return to service. Only then do workers remove their personal locks. Both sign the closure section with the time, and the Coordinator logs it as closed.
SIMPLE EXAMPLE:
After a pump seal change, the Issuer checks the blind at F-101 is removed and the flange is re-bolted before the mechanics take off their padlocks. Then the pump can be returned to Operations.
ASK THE TRAINEES:
Why must the team's personal locks stay on until after the Issuer's final inspection?
EXPECTED ANSWER:
So the equipment cannot be re-energised or returned to service until the Issuer has verified that the work is complete and the site is safe.
TRAINER REMINDER:
If an incident happened during the job, the permit is NOT closed or archived until released by the investigation team.
ANIMATION:
Steps wipe in; then the legal-moment banner.
SOURCE: Module 7 Course Notes – Sections 4.6, 4.7.2 A, 8.5.2, 10.2.2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simple but very common situation. The job is finished early – can the crew just pack up? Ask the group, then reveal.
ASK THE TRAINEES:
What could happen if the locks come off before the Issuer's inspection?
EXPECTED ANSWER:
The pump could be returned to service with a blind still installed or a flange not fully re-bolted – or re-energised while something is still open.
TRAINER REMINDER:
The Receiver's job ends with formally returning the permit – not with leaving the site.
ANIMATION:
Each answer appears on click.
SOURCE: Module 7 Course Notes – Sections 4.6.2, 4.7.2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section is short for beginners. It explains why paperwork matters, how the system is checked, and how people become authorised.
SOURCE: Module 7 Course Notes – Sections 8.0, 10.0–13.0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Documentation is the evidence of due diligence. Every permit has standard sections, and supporting certificates are attached with the same permit number – a certificate is invalid without its master permit, and vice versa. Simple rules: no blank fields – write N/A to show it was considered; use 24-hour times in logical order; correct mistakes with a single line, initials and date. With an electronic permit system, a printed copy is still posted at the worksite.
SIMPLE EXAMPLE:
An auditor picks a closed permit for a vessel entry. The gas test certificate has readings but no tester signature, and the shift-handover block is blank. Those are exactly the failures listed on the right.
ASK THE TRAINEES:
Why should you write 'N/A' rather than leave a field blank?
EXPECTED ANSWER:
To show the item was considered, not forgotten.
TRAINER REMINDER:
In any investigation, the permit dossier is 'Exhibit A'. Sloppy records are the hallmark of a sloppy safety process.
SOURCE: Module 7 Course Notes – Sections 8.1–8.5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PTW system checks itself. The first line of defence is the daily work of Issuers and Receivers. The second is HSE internal audits. The third is external assurance. Audit findings are classified: a major non-conformance means a critical breakdown that could lead directly to a serious incident – work stops; a minor one is a lapse that weakens the system; an Opportunity for Improvement is an idea. After every job, a short 4-point review captures lessons, and near misses are reported without blame.
SIMPLE EXAMPLE:
The Course Notes' root-cause example: a worker was found grinding without a Hot Work Permit. Asking 'why' five times showed the real cause – small reactive jobs were never planned – so the fix was a new procedure, not just blaming the worker.
ASK THE TRAINEES:
Is a rising number of Stop Work Authority uses good or bad news?
EXPECTED ANSWER:
Good news – the Course Notes say an increasing trend is positive because it shows people feel safe to speak up.
TRAINER REMINDER:
Post-work review: 10–15 minutes, ideally within 24 hours, focused on learning not blame.
SOURCE: Module 7 Course Notes – Sections 10.1–10.3, 11.1–11.3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Competency is described as the single most critical component of the PTW system. Training is tiered. Today's course covers Tier 1 awareness and the basis of Tier 2 user knowledge. People who will act as Issuers, Receivers, Isolating Authorities, Attendants or Fire Watches need Tier 3 role training and must be assessed – 'show me, don't tell me' – including direct observation on real jobs. Authorisations are role- and area-specific, recorded in the Competency Register and re-certified, typically every 2 to 3 years.
SIMPLE EXAMPLE:
A new Permit Issuer candidate must be observed issuing at least 3–5 permits of varying complexity under supervision before they are authorised to issue alone.
ASK THE TRAINEES:
Does attending a course make you an authorised Permit Receiver?
EXPECTED ANSWER:
No – competency must be proven through assessment, and authorisation is granted formally and recorded in the Competency Register.
TRAINER REMINDER:
Anyone issuing or receiving a permit must have an active status in the register for that role.
SOURCE: Module 7 Course Notes – Sections 12.1–12.5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Now we put it all together. Use these scenarios as group exercises – give teams two minutes per scenario before revealing the answers.
SOURCE: Module 7 Course Notes – All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Give the group two minutes to list everything needed for this vessel entry, then reveal the six answers. Everything comes from Sections 2.3, 6.2, 6.4 and 9.4 of the Course Notes.
SIMPLE EXAMPLE:
The Course Notes use V-205 itself as an example of a personnel limit: 'Maximum number of personnel inside the confined space (V-205) simultaneously: 2.'
ASK THE TRAINEES:
Why is natural ventilation not enough?
EXPECTED ANSWER:
The Course Notes require continuous forced mechanical ventilation from a clean air source – natural ventilation is insufficient for confined spaces.
TRAINER REMINDER:
Oxygen deficiency and H2S are both atmospheric hazards that cannot be seen. The attendant monitors at the entrance throughout; work must not proceed if rescue capability is unavailable.
ANIMATION:
Each answer appears on click.
SOURCE: Module 7 Course Notes – Sections 2.3, 6.2.2, 6.4,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scenario combines the Life Saving Rule with hot-work controls. Let the group spot the problem first: 'we'll do the permit after' is a verbal authorisation and is not valid.
SIMPLE EXAMPLE:
The Course Notes' corrective-action example is almost identical: a worker found grinding without a Hot Work Permit because the supervisor was under pressure to finish before shift end.
ASK THE TRAINEES:
Who should check for conflicts with the operating equipment nearby?
EXPECTED ANSWER:
The Permit Issuer, with the Permit Coordinator flagging SIMOPS conflicts – the Issuer considers adjacent operations, utilities and environmental conditions.
TRAINER REMINDER:
Leadership must show that no production or schedule pressure justifies bypassing the PTW process.
ANIMATION:
Each answer appears on click.
SOURCE: Module 7 Course Notes – Sections 1.4, 2.1, 3.1.2, 4.2.2, 11.3.3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This slide pulls together the most common mistakes described across the Course Notes – each paired with the right way. Reveal them one at a time and ask trainees whether they have seen any of them on site.
SIMPLE EXAMPLE:
The list mixes documentation failures (vague descriptions, missing briefing records), audit non-conformances (work without a permit, no isolation) and procedure rules (locks stay on until final inspection; never leave work unattended at shift change).
ASK THE TRAINEES:
Which of these mistakes do you think happens most often – and why?
EXPECTED ANSWER:
Open discussion. The Course Notes list underlying causes such as time pressure, unplanned reactive work and cumbersome processes – investigate the cause, not just the person.
TRAINER REMINDER:
Keep the discussion blame-free; the aim is learning.
ANIMATION:
Each pair appears on click.
SOURCE: Module 7 Course Notes – Sections 1.2.1, 1.4.2, 6.3.2, 7.2.2, 8.4.3, 11.3.2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Ten golden rules to take away, each one taken from the Course Notes. Read them out one at a time, and ask the group to give a one-sentence reason for each.
ASK THE TRAINEES:
Which rule would have prevented the 'grinding without a permit' example we discussed?
EXPECTED ANSWER:
Rule 1 – no valid permit, no work (the Life Saving Rule) – supported by Rule 8 and Stop Work Authority.
TRAINER REMINDER:
These are memory aids. The detailed requirements are on your site's permit forms and procedure.
ANIMATION:
Each rule appears on click.
SOURCE: Module 7 Course Notes – Sections 1.3, 1.4, 4.0–4.7, 6.3, 6.4, 7.2–7.4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Use this quiz to close the course. Ask each question to a different trainee.
TRAINER REMINDER:
If several answers are weak, revisit that section briefly before closing.
ANIMATION:
Each answer appears on click.
SOURCE: Module 7 Course Notes – Sections 1.4, 2.1, 2.3, 4.3, 6.3,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The Course Notes end their roles section with one shared goal: sending everyone home safely. That is what PTW is for. Thank the group and open the floor for questions.
TRAINER REMINDER:
Collect feedback – the Course Notes encourage frontline feedback to improve the PTW process.
SOURCE: Module 7 Course Notes – Section 3.8 Conclusion, 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EXPLANATION:
A reference slide with the key terms used today, in simple words. Leave it on screen during breaks or print it as a handout.
SOURCE: Module 7 Course Notes – Section 14.0 Abbreviations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8"/>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rtlCol="0" anchor="ctr"/>
          <a:lstStyle/>
          <a:p>
            <a:pPr indent="0" marL="0">
              <a:buNone/>
            </a:pPr>
            <a:r>
              <a:rPr lang="en-US" sz="1100" dirty="0">
                <a:solidFill>
                  <a:srgbClr val="5B6B75"/>
                </a:solidFill>
                <a:latin typeface="Calibri" pitchFamily="34" charset="0"/>
                <a:ea typeface="Calibri" pitchFamily="34" charset="-122"/>
                <a:cs typeface="Calibri" pitchFamily="34" charset="-120"/>
              </a:rPr>
              <a:t>Module 7 · Permit to Work (PTW) · Beginner Course</a:t>
            </a:r>
            <a:endParaRPr lang="en-US" sz="11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rgbClr val="0B2A3C"/>
                </a:solidFill>
                <a:latin typeface="Arial" pitchFamily="34" charset="0"/>
                <a:ea typeface="Arial" pitchFamily="34" charset="-122"/>
                <a:cs typeface="Arial"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A3C"/>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rtlCol="0" anchor="ctr"/>
          <a:lstStyle/>
          <a:p>
            <a:pPr indent="0" marL="0">
              <a:buNone/>
            </a:pPr>
            <a:r>
              <a:rPr lang="en-US" sz="1100" dirty="0">
                <a:solidFill>
                  <a:srgbClr val="9FB3C0"/>
                </a:solidFill>
                <a:latin typeface="Calibri" pitchFamily="34" charset="0"/>
                <a:ea typeface="Calibri" pitchFamily="34" charset="-122"/>
                <a:cs typeface="Calibri" pitchFamily="34" charset="-120"/>
              </a:rPr>
              <a:t>Module 7 · Permit to Work (PTW) · Beginner Course</a:t>
            </a:r>
            <a:endParaRPr lang="en-US" sz="1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2.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2.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2.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2.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slideLayout" Target="../slideLayouts/slideLayout2.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slideLayout" Target="../slideLayouts/slideLayout2.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2.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2.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2.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slideLayout" Target="../slideLayouts/slideLayout2.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2.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slideLayout" Target="../slideLayouts/slideLayout2.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slideLayout" Target="../slideLayouts/slideLayout2.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2.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2.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slideLayout" Target="../slideLayouts/slideLayout2.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image" Target="../media/image-68-7.png"/><Relationship Id="rId8" Type="http://schemas.openxmlformats.org/officeDocument/2006/relationships/image" Target="../media/image-68-8.png"/><Relationship Id="rId9" Type="http://schemas.openxmlformats.org/officeDocument/2006/relationships/image" Target="../media/image-68-9.png"/><Relationship Id="rId10" Type="http://schemas.openxmlformats.org/officeDocument/2006/relationships/image" Target="../media/image-68-10.png"/><Relationship Id="rId11" Type="http://schemas.openxmlformats.org/officeDocument/2006/relationships/image" Target="../media/image-68-11.png"/><Relationship Id="rId12" Type="http://schemas.openxmlformats.org/officeDocument/2006/relationships/slideLayout" Target="../slideLayouts/slideLayout2.xml"/><Relationship Id="rId1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2.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slideLayout" Target="../slideLayouts/slideLayout2.xml"/><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slideLayout" Target="../slideLayouts/slideLayout2.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2.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slideLayout" Target="../slideLayouts/slideLayout2.xml"/><Relationship Id="rId8"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slideLayout" Target="../slideLayouts/slideLayout2.xml"/><Relationship Id="rId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2.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slideLayout" Target="../slideLayouts/slideLayout2.xm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image" Target="../media/image-82-6.png"/><Relationship Id="rId7" Type="http://schemas.openxmlformats.org/officeDocument/2006/relationships/image" Target="../media/image-82-7.png"/><Relationship Id="rId8" Type="http://schemas.openxmlformats.org/officeDocument/2006/relationships/slideLayout" Target="../slideLayouts/slideLayout2.xml"/><Relationship Id="rId9"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5" Type="http://schemas.openxmlformats.org/officeDocument/2006/relationships/image" Target="../media/image-83-5.png"/><Relationship Id="rId6" Type="http://schemas.openxmlformats.org/officeDocument/2006/relationships/image" Target="../media/image-83-6.png"/><Relationship Id="rId7" Type="http://schemas.openxmlformats.org/officeDocument/2006/relationships/image" Target="../media/image-83-7.png"/><Relationship Id="rId8" Type="http://schemas.openxmlformats.org/officeDocument/2006/relationships/slideLayout" Target="../slideLayouts/slideLayout2.xml"/><Relationship Id="rId9"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image" Target="../media/image-84-6.png"/><Relationship Id="rId7" Type="http://schemas.openxmlformats.org/officeDocument/2006/relationships/image" Target="../media/image-84-7.png"/><Relationship Id="rId8" Type="http://schemas.openxmlformats.org/officeDocument/2006/relationships/image" Target="../media/image-84-8.png"/><Relationship Id="rId9" Type="http://schemas.openxmlformats.org/officeDocument/2006/relationships/image" Target="../media/image-84-9.png"/><Relationship Id="rId10" Type="http://schemas.openxmlformats.org/officeDocument/2006/relationships/image" Target="../media/image-84-10.png"/><Relationship Id="rId11" Type="http://schemas.openxmlformats.org/officeDocument/2006/relationships/image" Target="../media/image-84-11.png"/><Relationship Id="rId12" Type="http://schemas.openxmlformats.org/officeDocument/2006/relationships/image" Target="../media/image-84-12.png"/><Relationship Id="rId13" Type="http://schemas.openxmlformats.org/officeDocument/2006/relationships/image" Target="../media/image-84-13.png"/><Relationship Id="rId14" Type="http://schemas.openxmlformats.org/officeDocument/2006/relationships/image" Target="../media/image-84-14.png"/><Relationship Id="rId15" Type="http://schemas.openxmlformats.org/officeDocument/2006/relationships/image" Target="../media/image-84-15.png"/><Relationship Id="rId16" Type="http://schemas.openxmlformats.org/officeDocument/2006/relationships/image" Target="../media/image-84-16.png"/><Relationship Id="rId17" Type="http://schemas.openxmlformats.org/officeDocument/2006/relationships/image" Target="../media/image-84-17.png"/><Relationship Id="rId18" Type="http://schemas.openxmlformats.org/officeDocument/2006/relationships/image" Target="../media/image-84-18.png"/><Relationship Id="rId19" Type="http://schemas.openxmlformats.org/officeDocument/2006/relationships/image" Target="../media/image-84-19.png"/><Relationship Id="rId20" Type="http://schemas.openxmlformats.org/officeDocument/2006/relationships/image" Target="../media/image-84-20.png"/><Relationship Id="rId21" Type="http://schemas.openxmlformats.org/officeDocument/2006/relationships/image" Target="../media/image-84-21.png"/><Relationship Id="rId22" Type="http://schemas.openxmlformats.org/officeDocument/2006/relationships/image" Target="../media/image-84-22.png"/><Relationship Id="rId23" Type="http://schemas.openxmlformats.org/officeDocument/2006/relationships/image" Target="../media/image-84-23.png"/><Relationship Id="rId24" Type="http://schemas.openxmlformats.org/officeDocument/2006/relationships/image" Target="../media/image-84-24.png"/><Relationship Id="rId25" Type="http://schemas.openxmlformats.org/officeDocument/2006/relationships/slideLayout" Target="../slideLayouts/slideLayout2.xml"/><Relationship Id="rId26"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image" Target="../media/image-86-6.png"/><Relationship Id="rId7" Type="http://schemas.openxmlformats.org/officeDocument/2006/relationships/image" Target="../media/image-86-7.png"/><Relationship Id="rId8" Type="http://schemas.openxmlformats.org/officeDocument/2006/relationships/slideLayout" Target="../slideLayouts/slideLayout2.xml"/><Relationship Id="rId9"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ox_1"/>
          <p:cNvSpPr/>
          <p:nvPr/>
        </p:nvSpPr>
        <p:spPr>
          <a:xfrm>
            <a:off x="0" y="0"/>
            <a:ext cx="12191695" cy="6858000"/>
          </a:xfrm>
          <a:prstGeom prst="rect">
            <a:avLst/>
          </a:prstGeom>
          <a:solidFill>
            <a:srgbClr val="123B52"/>
          </a:solidFill>
          <a:ln/>
        </p:spPr>
      </p:sp>
      <p:sp>
        <p:nvSpPr>
          <p:cNvPr id="3" name="circ_2"/>
          <p:cNvSpPr/>
          <p:nvPr/>
        </p:nvSpPr>
        <p:spPr>
          <a:xfrm>
            <a:off x="8138160" y="1097280"/>
            <a:ext cx="1005840" cy="1005840"/>
          </a:xfrm>
          <a:prstGeom prst="ellipse">
            <a:avLst/>
          </a:prstGeom>
          <a:solidFill>
            <a:srgbClr val="0F6E7A"/>
          </a:solidFill>
          <a:ln/>
        </p:spPr>
      </p:sp>
      <p:pic>
        <p:nvPicPr>
          <p:cNvPr id="4" name="icon_3" descr="preencoded.png">    </p:cNvPr>
          <p:cNvPicPr>
            <a:picLocks noChangeAspect="1"/>
          </p:cNvPicPr>
          <p:nvPr/>
        </p:nvPicPr>
        <p:blipFill>
          <a:blip r:embed="rId1"/>
          <a:stretch>
            <a:fillRect/>
          </a:stretch>
        </p:blipFill>
        <p:spPr>
          <a:xfrm>
            <a:off x="8364474" y="1323594"/>
            <a:ext cx="553212" cy="553212"/>
          </a:xfrm>
          <a:prstGeom prst="rect">
            <a:avLst/>
          </a:prstGeom>
        </p:spPr>
      </p:pic>
      <p:sp>
        <p:nvSpPr>
          <p:cNvPr id="5" name="txt_4"/>
          <p:cNvSpPr txBox="1"/>
          <p:nvPr/>
        </p:nvSpPr>
        <p:spPr>
          <a:xfrm>
            <a:off x="7635240" y="2148840"/>
            <a:ext cx="1920240" cy="41148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Plan</a:t>
            </a:r>
            <a:endParaRPr lang="en-US" sz="1800" dirty="0"/>
          </a:p>
        </p:txBody>
      </p:sp>
      <p:sp>
        <p:nvSpPr>
          <p:cNvPr id="6" name="circ_5"/>
          <p:cNvSpPr/>
          <p:nvPr/>
        </p:nvSpPr>
        <p:spPr>
          <a:xfrm>
            <a:off x="10241280" y="1097280"/>
            <a:ext cx="1005840" cy="1005840"/>
          </a:xfrm>
          <a:prstGeom prst="ellipse">
            <a:avLst/>
          </a:prstGeom>
          <a:solidFill>
            <a:srgbClr val="E8771E"/>
          </a:solidFill>
          <a:ln/>
        </p:spPr>
      </p:sp>
      <p:pic>
        <p:nvPicPr>
          <p:cNvPr id="7" name="icon_6" descr="preencoded.png">    </p:cNvPr>
          <p:cNvPicPr>
            <a:picLocks noChangeAspect="1"/>
          </p:cNvPicPr>
          <p:nvPr/>
        </p:nvPicPr>
        <p:blipFill>
          <a:blip r:embed="rId2"/>
          <a:stretch>
            <a:fillRect/>
          </a:stretch>
        </p:blipFill>
        <p:spPr>
          <a:xfrm>
            <a:off x="10467594" y="1323594"/>
            <a:ext cx="553212" cy="553212"/>
          </a:xfrm>
          <a:prstGeom prst="rect">
            <a:avLst/>
          </a:prstGeom>
        </p:spPr>
      </p:pic>
      <p:sp>
        <p:nvSpPr>
          <p:cNvPr id="8" name="txt_7"/>
          <p:cNvSpPr txBox="1"/>
          <p:nvPr/>
        </p:nvSpPr>
        <p:spPr>
          <a:xfrm>
            <a:off x="9738360" y="2148840"/>
            <a:ext cx="1920240" cy="41148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Verify</a:t>
            </a:r>
            <a:endParaRPr lang="en-US" sz="1800" dirty="0"/>
          </a:p>
        </p:txBody>
      </p:sp>
      <p:sp>
        <p:nvSpPr>
          <p:cNvPr id="9" name="circ_8"/>
          <p:cNvSpPr/>
          <p:nvPr/>
        </p:nvSpPr>
        <p:spPr>
          <a:xfrm>
            <a:off x="8138160" y="2788920"/>
            <a:ext cx="1005840" cy="1005840"/>
          </a:xfrm>
          <a:prstGeom prst="ellipse">
            <a:avLst/>
          </a:prstGeom>
          <a:solidFill>
            <a:srgbClr val="0F6E7A"/>
          </a:solidFill>
          <a:ln/>
        </p:spPr>
      </p:sp>
      <p:pic>
        <p:nvPicPr>
          <p:cNvPr id="10" name="icon_9" descr="preencoded.png">    </p:cNvPr>
          <p:cNvPicPr>
            <a:picLocks noChangeAspect="1"/>
          </p:cNvPicPr>
          <p:nvPr/>
        </p:nvPicPr>
        <p:blipFill>
          <a:blip r:embed="rId3"/>
          <a:stretch>
            <a:fillRect/>
          </a:stretch>
        </p:blipFill>
        <p:spPr>
          <a:xfrm>
            <a:off x="8364474" y="3015234"/>
            <a:ext cx="553212" cy="553212"/>
          </a:xfrm>
          <a:prstGeom prst="rect">
            <a:avLst/>
          </a:prstGeom>
        </p:spPr>
      </p:pic>
      <p:sp>
        <p:nvSpPr>
          <p:cNvPr id="11" name="txt_10"/>
          <p:cNvSpPr txBox="1"/>
          <p:nvPr/>
        </p:nvSpPr>
        <p:spPr>
          <a:xfrm>
            <a:off x="7635240" y="3840480"/>
            <a:ext cx="1920240" cy="41148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Authorise</a:t>
            </a:r>
            <a:endParaRPr lang="en-US" sz="1800" dirty="0"/>
          </a:p>
        </p:txBody>
      </p:sp>
      <p:sp>
        <p:nvSpPr>
          <p:cNvPr id="12" name="circ_11"/>
          <p:cNvSpPr/>
          <p:nvPr/>
        </p:nvSpPr>
        <p:spPr>
          <a:xfrm>
            <a:off x="10241280" y="2788920"/>
            <a:ext cx="1005840" cy="1005840"/>
          </a:xfrm>
          <a:prstGeom prst="ellipse">
            <a:avLst/>
          </a:prstGeom>
          <a:solidFill>
            <a:srgbClr val="E8771E"/>
          </a:solidFill>
          <a:ln/>
        </p:spPr>
      </p:sp>
      <p:pic>
        <p:nvPicPr>
          <p:cNvPr id="13" name="icon_12" descr="preencoded.png">    </p:cNvPr>
          <p:cNvPicPr>
            <a:picLocks noChangeAspect="1"/>
          </p:cNvPicPr>
          <p:nvPr/>
        </p:nvPicPr>
        <p:blipFill>
          <a:blip r:embed="rId4"/>
          <a:stretch>
            <a:fillRect/>
          </a:stretch>
        </p:blipFill>
        <p:spPr>
          <a:xfrm>
            <a:off x="10467594" y="3015234"/>
            <a:ext cx="553212" cy="553212"/>
          </a:xfrm>
          <a:prstGeom prst="rect">
            <a:avLst/>
          </a:prstGeom>
        </p:spPr>
      </p:pic>
      <p:sp>
        <p:nvSpPr>
          <p:cNvPr id="14" name="txt_13"/>
          <p:cNvSpPr txBox="1"/>
          <p:nvPr/>
        </p:nvSpPr>
        <p:spPr>
          <a:xfrm>
            <a:off x="9738360" y="3840480"/>
            <a:ext cx="1920240" cy="41148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Communicate</a:t>
            </a:r>
            <a:endParaRPr lang="en-US" sz="1800" dirty="0"/>
          </a:p>
        </p:txBody>
      </p:sp>
      <p:sp>
        <p:nvSpPr>
          <p:cNvPr id="15" name="circ_14"/>
          <p:cNvSpPr/>
          <p:nvPr/>
        </p:nvSpPr>
        <p:spPr>
          <a:xfrm>
            <a:off x="8138160" y="4480560"/>
            <a:ext cx="1005840" cy="1005840"/>
          </a:xfrm>
          <a:prstGeom prst="ellipse">
            <a:avLst/>
          </a:prstGeom>
          <a:solidFill>
            <a:srgbClr val="0F6E7A"/>
          </a:solidFill>
          <a:ln/>
        </p:spPr>
      </p:sp>
      <p:pic>
        <p:nvPicPr>
          <p:cNvPr id="16" name="icon_15" descr="preencoded.png">    </p:cNvPr>
          <p:cNvPicPr>
            <a:picLocks noChangeAspect="1"/>
          </p:cNvPicPr>
          <p:nvPr/>
        </p:nvPicPr>
        <p:blipFill>
          <a:blip r:embed="rId5"/>
          <a:stretch>
            <a:fillRect/>
          </a:stretch>
        </p:blipFill>
        <p:spPr>
          <a:xfrm>
            <a:off x="8364474" y="4706874"/>
            <a:ext cx="553212" cy="553212"/>
          </a:xfrm>
          <a:prstGeom prst="rect">
            <a:avLst/>
          </a:prstGeom>
        </p:spPr>
      </p:pic>
      <p:sp>
        <p:nvSpPr>
          <p:cNvPr id="17" name="txt_16"/>
          <p:cNvSpPr txBox="1"/>
          <p:nvPr/>
        </p:nvSpPr>
        <p:spPr>
          <a:xfrm>
            <a:off x="7635240" y="5532120"/>
            <a:ext cx="1920240" cy="41148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Monitor</a:t>
            </a:r>
            <a:endParaRPr lang="en-US" sz="1800" dirty="0"/>
          </a:p>
        </p:txBody>
      </p:sp>
      <p:sp>
        <p:nvSpPr>
          <p:cNvPr id="18" name="circ_17"/>
          <p:cNvSpPr/>
          <p:nvPr/>
        </p:nvSpPr>
        <p:spPr>
          <a:xfrm>
            <a:off x="10241280" y="4480560"/>
            <a:ext cx="1005840" cy="1005840"/>
          </a:xfrm>
          <a:prstGeom prst="ellipse">
            <a:avLst/>
          </a:prstGeom>
          <a:solidFill>
            <a:srgbClr val="E8771E"/>
          </a:solidFill>
          <a:ln/>
        </p:spPr>
      </p:sp>
      <p:pic>
        <p:nvPicPr>
          <p:cNvPr id="19" name="icon_18" descr="preencoded.png">    </p:cNvPr>
          <p:cNvPicPr>
            <a:picLocks noChangeAspect="1"/>
          </p:cNvPicPr>
          <p:nvPr/>
        </p:nvPicPr>
        <p:blipFill>
          <a:blip r:embed="rId6"/>
          <a:stretch>
            <a:fillRect/>
          </a:stretch>
        </p:blipFill>
        <p:spPr>
          <a:xfrm>
            <a:off x="10467594" y="4706874"/>
            <a:ext cx="553212" cy="553212"/>
          </a:xfrm>
          <a:prstGeom prst="rect">
            <a:avLst/>
          </a:prstGeom>
        </p:spPr>
      </p:pic>
      <p:sp>
        <p:nvSpPr>
          <p:cNvPr id="20" name="txt_19"/>
          <p:cNvSpPr txBox="1"/>
          <p:nvPr/>
        </p:nvSpPr>
        <p:spPr>
          <a:xfrm>
            <a:off x="9738360" y="5532120"/>
            <a:ext cx="1920240" cy="41148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Close</a:t>
            </a:r>
            <a:endParaRPr lang="en-US" sz="1800" dirty="0"/>
          </a:p>
        </p:txBody>
      </p:sp>
      <p:sp>
        <p:nvSpPr>
          <p:cNvPr id="21" name="circ_20"/>
          <p:cNvSpPr/>
          <p:nvPr/>
        </p:nvSpPr>
        <p:spPr>
          <a:xfrm>
            <a:off x="548640" y="731520"/>
            <a:ext cx="914400" cy="914400"/>
          </a:xfrm>
          <a:prstGeom prst="ellipse">
            <a:avLst/>
          </a:prstGeom>
          <a:solidFill>
            <a:srgbClr val="E8771E"/>
          </a:solidFill>
          <a:ln/>
        </p:spPr>
      </p:sp>
      <p:pic>
        <p:nvPicPr>
          <p:cNvPr id="22" name="icon_21" descr="preencoded.png">    </p:cNvPr>
          <p:cNvPicPr>
            <a:picLocks noChangeAspect="1"/>
          </p:cNvPicPr>
          <p:nvPr/>
        </p:nvPicPr>
        <p:blipFill>
          <a:blip r:embed="rId7"/>
          <a:stretch>
            <a:fillRect/>
          </a:stretch>
        </p:blipFill>
        <p:spPr>
          <a:xfrm>
            <a:off x="754380" y="937260"/>
            <a:ext cx="502920" cy="502920"/>
          </a:xfrm>
          <a:prstGeom prst="rect">
            <a:avLst/>
          </a:prstGeom>
        </p:spPr>
      </p:pic>
      <p:sp>
        <p:nvSpPr>
          <p:cNvPr id="23" name="txt_22"/>
          <p:cNvSpPr txBox="1"/>
          <p:nvPr/>
        </p:nvSpPr>
        <p:spPr>
          <a:xfrm>
            <a:off x="548640" y="1828800"/>
            <a:ext cx="6400800" cy="411480"/>
          </a:xfrm>
          <a:prstGeom prst="rect">
            <a:avLst/>
          </a:prstGeom>
          <a:noFill/>
          <a:ln/>
        </p:spPr>
        <p:txBody>
          <a:bodyPr wrap="square" lIns="635" tIns="635" rIns="635" bIns="635" rtlCol="0" anchor="t"/>
          <a:lstStyle/>
          <a:p>
            <a:pPr indent="0" marL="0">
              <a:buNone/>
            </a:pPr>
            <a:r>
              <a:rPr lang="en-US" sz="1800" b="1" spc="300" kern="0" dirty="0">
                <a:solidFill>
                  <a:srgbClr val="E8771E"/>
                </a:solidFill>
                <a:latin typeface="Calibri" pitchFamily="34" charset="0"/>
                <a:ea typeface="Calibri" pitchFamily="34" charset="-122"/>
                <a:cs typeface="Calibri" pitchFamily="34" charset="-120"/>
              </a:rPr>
              <a:t>MODULE 7  ·  HSE TRAINING</a:t>
            </a:r>
            <a:endParaRPr lang="en-US" sz="1800" dirty="0"/>
          </a:p>
        </p:txBody>
      </p:sp>
      <p:sp>
        <p:nvSpPr>
          <p:cNvPr id="24" name="txt_23"/>
          <p:cNvSpPr txBox="1"/>
          <p:nvPr/>
        </p:nvSpPr>
        <p:spPr>
          <a:xfrm>
            <a:off x="548640" y="2240280"/>
            <a:ext cx="6400800" cy="1097280"/>
          </a:xfrm>
          <a:prstGeom prst="rect">
            <a:avLst/>
          </a:prstGeom>
          <a:noFill/>
          <a:ln/>
        </p:spPr>
        <p:txBody>
          <a:bodyPr wrap="square" lIns="635" tIns="635" rIns="635" bIns="635" rtlCol="0" anchor="ctr"/>
          <a:lstStyle/>
          <a:p>
            <a:pPr indent="0" marL="0">
              <a:buNone/>
            </a:pPr>
            <a:r>
              <a:rPr lang="en-US" sz="4600" b="1" dirty="0">
                <a:solidFill>
                  <a:srgbClr val="FFFFFF"/>
                </a:solidFill>
                <a:latin typeface="Arial" pitchFamily="34" charset="0"/>
                <a:ea typeface="Arial" pitchFamily="34" charset="-122"/>
                <a:cs typeface="Arial" pitchFamily="34" charset="-120"/>
              </a:rPr>
              <a:t>Permit to Work (PTW)</a:t>
            </a:r>
            <a:endParaRPr lang="en-US" sz="4600" dirty="0"/>
          </a:p>
        </p:txBody>
      </p:sp>
      <p:sp>
        <p:nvSpPr>
          <p:cNvPr id="25" name="txt_24"/>
          <p:cNvSpPr txBox="1"/>
          <p:nvPr/>
        </p:nvSpPr>
        <p:spPr>
          <a:xfrm>
            <a:off x="548640" y="3383280"/>
            <a:ext cx="6035040" cy="914400"/>
          </a:xfrm>
          <a:prstGeom prst="rect">
            <a:avLst/>
          </a:prstGeom>
          <a:noFill/>
          <a:ln/>
        </p:spPr>
        <p:txBody>
          <a:bodyPr wrap="square" lIns="635" tIns="635" rIns="635" bIns="635" rtlCol="0" anchor="t"/>
          <a:lstStyle/>
          <a:p>
            <a:pPr indent="0" marL="0">
              <a:buNone/>
            </a:pPr>
            <a:r>
              <a:rPr lang="en-US" sz="2400" dirty="0">
                <a:solidFill>
                  <a:srgbClr val="DCE6EC"/>
                </a:solidFill>
                <a:latin typeface="Calibri" pitchFamily="34" charset="0"/>
                <a:ea typeface="Calibri" pitchFamily="34" charset="-122"/>
                <a:cs typeface="Calibri" pitchFamily="34" charset="-120"/>
              </a:rPr>
              <a:t>A beginner-friendly course for Gas Treatment plant teams</a:t>
            </a:r>
            <a:endParaRPr lang="en-US" sz="2400" dirty="0"/>
          </a:p>
        </p:txBody>
      </p:sp>
      <p:sp>
        <p:nvSpPr>
          <p:cNvPr id="26" name="txt_25"/>
          <p:cNvSpPr txBox="1"/>
          <p:nvPr/>
        </p:nvSpPr>
        <p:spPr>
          <a:xfrm>
            <a:off x="548640" y="5943600"/>
            <a:ext cx="6217920" cy="365760"/>
          </a:xfrm>
          <a:prstGeom prst="rect">
            <a:avLst/>
          </a:prstGeom>
          <a:noFill/>
          <a:ln/>
        </p:spPr>
        <p:txBody>
          <a:bodyPr wrap="square" lIns="635" tIns="635" rIns="635" bIns="635" rtlCol="0" anchor="t"/>
          <a:lstStyle/>
          <a:p>
            <a:pPr indent="0" marL="0">
              <a:buNone/>
            </a:pPr>
            <a:r>
              <a:rPr lang="en-US" sz="1400" dirty="0">
                <a:solidFill>
                  <a:srgbClr val="9FB3C0"/>
                </a:solidFill>
                <a:latin typeface="Calibri" pitchFamily="34" charset="0"/>
                <a:ea typeface="Calibri" pitchFamily="34" charset="-122"/>
                <a:cs typeface="Calibri" pitchFamily="34" charset="-120"/>
              </a:rPr>
              <a:t>Based on: Module 7 Course Notes – Permit to Work (Review 10 Feb 26)</a:t>
            </a:r>
            <a:endParaRPr lang="en-US" sz="1400" dirty="0"/>
          </a:p>
        </p:txBody>
      </p:sp>
      <p:sp>
        <p:nvSpPr>
          <p:cNvPr id="2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Your Learning Journey Today</a:t>
            </a:r>
            <a:endParaRPr lang="en-US" sz="3200" dirty="0"/>
          </a:p>
        </p:txBody>
      </p:sp>
      <p:sp>
        <p:nvSpPr>
          <p:cNvPr id="3" name="box_26"/>
          <p:cNvSpPr/>
          <p:nvPr/>
        </p:nvSpPr>
        <p:spPr>
          <a:xfrm>
            <a:off x="548640" y="128016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27"/>
          <p:cNvSpPr/>
          <p:nvPr/>
        </p:nvSpPr>
        <p:spPr>
          <a:xfrm>
            <a:off x="713232" y="1463040"/>
            <a:ext cx="658368" cy="658368"/>
          </a:xfrm>
          <a:prstGeom prst="ellipse">
            <a:avLst/>
          </a:prstGeom>
          <a:solidFill>
            <a:srgbClr val="0F6E7A"/>
          </a:solidFill>
          <a:ln/>
        </p:spPr>
      </p:sp>
      <p:pic>
        <p:nvPicPr>
          <p:cNvPr id="5" name="icon_28" descr="preencoded.png">    </p:cNvPr>
          <p:cNvPicPr>
            <a:picLocks noChangeAspect="1"/>
          </p:cNvPicPr>
          <p:nvPr/>
        </p:nvPicPr>
        <p:blipFill>
          <a:blip r:embed="rId1"/>
          <a:stretch>
            <a:fillRect/>
          </a:stretch>
        </p:blipFill>
        <p:spPr>
          <a:xfrm>
            <a:off x="861365" y="1611173"/>
            <a:ext cx="362102" cy="362102"/>
          </a:xfrm>
          <a:prstGeom prst="rect">
            <a:avLst/>
          </a:prstGeom>
        </p:spPr>
      </p:pic>
      <p:sp>
        <p:nvSpPr>
          <p:cNvPr id="6" name="txt_29"/>
          <p:cNvSpPr txBox="1"/>
          <p:nvPr/>
        </p:nvSpPr>
        <p:spPr>
          <a:xfrm>
            <a:off x="1508760" y="137160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1</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What is PTW &amp; why?</a:t>
            </a:r>
            <a:endParaRPr lang="en-US" sz="2000" dirty="0"/>
          </a:p>
        </p:txBody>
      </p:sp>
      <p:sp>
        <p:nvSpPr>
          <p:cNvPr id="7" name="box_30"/>
          <p:cNvSpPr/>
          <p:nvPr/>
        </p:nvSpPr>
        <p:spPr>
          <a:xfrm>
            <a:off x="3372536" y="128016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8" name="circ_31"/>
          <p:cNvSpPr/>
          <p:nvPr/>
        </p:nvSpPr>
        <p:spPr>
          <a:xfrm>
            <a:off x="3537128" y="1463040"/>
            <a:ext cx="658368" cy="658368"/>
          </a:xfrm>
          <a:prstGeom prst="ellipse">
            <a:avLst/>
          </a:prstGeom>
          <a:solidFill>
            <a:srgbClr val="0F6E7A"/>
          </a:solidFill>
          <a:ln/>
        </p:spPr>
      </p:sp>
      <p:pic>
        <p:nvPicPr>
          <p:cNvPr id="9" name="icon_32" descr="preencoded.png">    </p:cNvPr>
          <p:cNvPicPr>
            <a:picLocks noChangeAspect="1"/>
          </p:cNvPicPr>
          <p:nvPr/>
        </p:nvPicPr>
        <p:blipFill>
          <a:blip r:embed="rId2"/>
          <a:stretch>
            <a:fillRect/>
          </a:stretch>
        </p:blipFill>
        <p:spPr>
          <a:xfrm>
            <a:off x="3685261" y="1611173"/>
            <a:ext cx="362102" cy="362102"/>
          </a:xfrm>
          <a:prstGeom prst="rect">
            <a:avLst/>
          </a:prstGeom>
        </p:spPr>
      </p:pic>
      <p:sp>
        <p:nvSpPr>
          <p:cNvPr id="10" name="txt_33"/>
          <p:cNvSpPr txBox="1"/>
          <p:nvPr/>
        </p:nvSpPr>
        <p:spPr>
          <a:xfrm>
            <a:off x="4332656" y="137160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2</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Principles &amp; Life Saving Rule</a:t>
            </a:r>
            <a:endParaRPr lang="en-US" sz="2000" dirty="0"/>
          </a:p>
        </p:txBody>
      </p:sp>
      <p:sp>
        <p:nvSpPr>
          <p:cNvPr id="11" name="box_34"/>
          <p:cNvSpPr/>
          <p:nvPr/>
        </p:nvSpPr>
        <p:spPr>
          <a:xfrm>
            <a:off x="6196432" y="128016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circ_35"/>
          <p:cNvSpPr/>
          <p:nvPr/>
        </p:nvSpPr>
        <p:spPr>
          <a:xfrm>
            <a:off x="6361024" y="1463040"/>
            <a:ext cx="658368" cy="658368"/>
          </a:xfrm>
          <a:prstGeom prst="ellipse">
            <a:avLst/>
          </a:prstGeom>
          <a:solidFill>
            <a:srgbClr val="0F6E7A"/>
          </a:solidFill>
          <a:ln/>
        </p:spPr>
      </p:sp>
      <p:pic>
        <p:nvPicPr>
          <p:cNvPr id="13" name="icon_36" descr="preencoded.png">    </p:cNvPr>
          <p:cNvPicPr>
            <a:picLocks noChangeAspect="1"/>
          </p:cNvPicPr>
          <p:nvPr/>
        </p:nvPicPr>
        <p:blipFill>
          <a:blip r:embed="rId3"/>
          <a:stretch>
            <a:fillRect/>
          </a:stretch>
        </p:blipFill>
        <p:spPr>
          <a:xfrm>
            <a:off x="6509156" y="1611173"/>
            <a:ext cx="362102" cy="362102"/>
          </a:xfrm>
          <a:prstGeom prst="rect">
            <a:avLst/>
          </a:prstGeom>
        </p:spPr>
      </p:pic>
      <p:sp>
        <p:nvSpPr>
          <p:cNvPr id="14" name="txt_37"/>
          <p:cNvSpPr txBox="1"/>
          <p:nvPr/>
        </p:nvSpPr>
        <p:spPr>
          <a:xfrm>
            <a:off x="7156552" y="137160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3</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Types of permits</a:t>
            </a:r>
            <a:endParaRPr lang="en-US" sz="2000" dirty="0"/>
          </a:p>
        </p:txBody>
      </p:sp>
      <p:sp>
        <p:nvSpPr>
          <p:cNvPr id="15" name="box_38"/>
          <p:cNvSpPr/>
          <p:nvPr/>
        </p:nvSpPr>
        <p:spPr>
          <a:xfrm>
            <a:off x="9020327" y="128016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6" name="circ_39"/>
          <p:cNvSpPr/>
          <p:nvPr/>
        </p:nvSpPr>
        <p:spPr>
          <a:xfrm>
            <a:off x="9184919" y="1463040"/>
            <a:ext cx="658368" cy="658368"/>
          </a:xfrm>
          <a:prstGeom prst="ellipse">
            <a:avLst/>
          </a:prstGeom>
          <a:solidFill>
            <a:srgbClr val="0F6E7A"/>
          </a:solidFill>
          <a:ln/>
        </p:spPr>
      </p:sp>
      <p:pic>
        <p:nvPicPr>
          <p:cNvPr id="17" name="icon_40" descr="preencoded.png">    </p:cNvPr>
          <p:cNvPicPr>
            <a:picLocks noChangeAspect="1"/>
          </p:cNvPicPr>
          <p:nvPr/>
        </p:nvPicPr>
        <p:blipFill>
          <a:blip r:embed="rId4"/>
          <a:stretch>
            <a:fillRect/>
          </a:stretch>
        </p:blipFill>
        <p:spPr>
          <a:xfrm>
            <a:off x="9333052" y="1611173"/>
            <a:ext cx="362102" cy="362102"/>
          </a:xfrm>
          <a:prstGeom prst="rect">
            <a:avLst/>
          </a:prstGeom>
        </p:spPr>
      </p:pic>
      <p:sp>
        <p:nvSpPr>
          <p:cNvPr id="18" name="txt_41"/>
          <p:cNvSpPr txBox="1"/>
          <p:nvPr/>
        </p:nvSpPr>
        <p:spPr>
          <a:xfrm>
            <a:off x="9980447" y="137160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4</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Roles &amp; responsibilities</a:t>
            </a:r>
            <a:endParaRPr lang="en-US" sz="2000" dirty="0"/>
          </a:p>
        </p:txBody>
      </p:sp>
      <p:sp>
        <p:nvSpPr>
          <p:cNvPr id="19" name="box_42"/>
          <p:cNvSpPr/>
          <p:nvPr/>
        </p:nvSpPr>
        <p:spPr>
          <a:xfrm>
            <a:off x="548640" y="246888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0" name="circ_43"/>
          <p:cNvSpPr/>
          <p:nvPr/>
        </p:nvSpPr>
        <p:spPr>
          <a:xfrm>
            <a:off x="713232" y="2651760"/>
            <a:ext cx="658368" cy="658368"/>
          </a:xfrm>
          <a:prstGeom prst="ellipse">
            <a:avLst/>
          </a:prstGeom>
          <a:solidFill>
            <a:srgbClr val="0F6E7A"/>
          </a:solidFill>
          <a:ln/>
        </p:spPr>
      </p:sp>
      <p:pic>
        <p:nvPicPr>
          <p:cNvPr id="21" name="icon_44" descr="preencoded.png">    </p:cNvPr>
          <p:cNvPicPr>
            <a:picLocks noChangeAspect="1"/>
          </p:cNvPicPr>
          <p:nvPr/>
        </p:nvPicPr>
        <p:blipFill>
          <a:blip r:embed="rId5"/>
          <a:stretch>
            <a:fillRect/>
          </a:stretch>
        </p:blipFill>
        <p:spPr>
          <a:xfrm>
            <a:off x="861365" y="2799893"/>
            <a:ext cx="362102" cy="362102"/>
          </a:xfrm>
          <a:prstGeom prst="rect">
            <a:avLst/>
          </a:prstGeom>
        </p:spPr>
      </p:pic>
      <p:sp>
        <p:nvSpPr>
          <p:cNvPr id="22" name="txt_45"/>
          <p:cNvSpPr txBox="1"/>
          <p:nvPr/>
        </p:nvSpPr>
        <p:spPr>
          <a:xfrm>
            <a:off x="1508760" y="256032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5</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The PTW process</a:t>
            </a:r>
            <a:endParaRPr lang="en-US" sz="2000" dirty="0"/>
          </a:p>
        </p:txBody>
      </p:sp>
      <p:sp>
        <p:nvSpPr>
          <p:cNvPr id="23" name="box_46"/>
          <p:cNvSpPr/>
          <p:nvPr/>
        </p:nvSpPr>
        <p:spPr>
          <a:xfrm>
            <a:off x="3372536" y="246888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circ_47"/>
          <p:cNvSpPr/>
          <p:nvPr/>
        </p:nvSpPr>
        <p:spPr>
          <a:xfrm>
            <a:off x="3537128" y="2651760"/>
            <a:ext cx="658368" cy="658368"/>
          </a:xfrm>
          <a:prstGeom prst="ellipse">
            <a:avLst/>
          </a:prstGeom>
          <a:solidFill>
            <a:srgbClr val="0F6E7A"/>
          </a:solidFill>
          <a:ln/>
        </p:spPr>
      </p:sp>
      <p:pic>
        <p:nvPicPr>
          <p:cNvPr id="25" name="icon_48" descr="preencoded.png">    </p:cNvPr>
          <p:cNvPicPr>
            <a:picLocks noChangeAspect="1"/>
          </p:cNvPicPr>
          <p:nvPr/>
        </p:nvPicPr>
        <p:blipFill>
          <a:blip r:embed="rId6"/>
          <a:stretch>
            <a:fillRect/>
          </a:stretch>
        </p:blipFill>
        <p:spPr>
          <a:xfrm>
            <a:off x="3685261" y="2799893"/>
            <a:ext cx="362102" cy="362102"/>
          </a:xfrm>
          <a:prstGeom prst="rect">
            <a:avLst/>
          </a:prstGeom>
        </p:spPr>
      </p:pic>
      <p:sp>
        <p:nvSpPr>
          <p:cNvPr id="26" name="txt_49"/>
          <p:cNvSpPr txBox="1"/>
          <p:nvPr/>
        </p:nvSpPr>
        <p:spPr>
          <a:xfrm>
            <a:off x="4332656" y="256032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6</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Risk assessment</a:t>
            </a:r>
            <a:endParaRPr lang="en-US" sz="2000" dirty="0"/>
          </a:p>
        </p:txBody>
      </p:sp>
      <p:sp>
        <p:nvSpPr>
          <p:cNvPr id="27" name="box_50"/>
          <p:cNvSpPr/>
          <p:nvPr/>
        </p:nvSpPr>
        <p:spPr>
          <a:xfrm>
            <a:off x="6196432" y="246888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8" name="circ_51"/>
          <p:cNvSpPr/>
          <p:nvPr/>
        </p:nvSpPr>
        <p:spPr>
          <a:xfrm>
            <a:off x="6361024" y="2651760"/>
            <a:ext cx="658368" cy="658368"/>
          </a:xfrm>
          <a:prstGeom prst="ellipse">
            <a:avLst/>
          </a:prstGeom>
          <a:solidFill>
            <a:srgbClr val="0F6E7A"/>
          </a:solidFill>
          <a:ln/>
        </p:spPr>
      </p:sp>
      <p:pic>
        <p:nvPicPr>
          <p:cNvPr id="29" name="icon_52" descr="preencoded.png">    </p:cNvPr>
          <p:cNvPicPr>
            <a:picLocks noChangeAspect="1"/>
          </p:cNvPicPr>
          <p:nvPr/>
        </p:nvPicPr>
        <p:blipFill>
          <a:blip r:embed="rId7"/>
          <a:stretch>
            <a:fillRect/>
          </a:stretch>
        </p:blipFill>
        <p:spPr>
          <a:xfrm>
            <a:off x="6509156" y="2799893"/>
            <a:ext cx="362102" cy="362102"/>
          </a:xfrm>
          <a:prstGeom prst="rect">
            <a:avLst/>
          </a:prstGeom>
        </p:spPr>
      </p:pic>
      <p:sp>
        <p:nvSpPr>
          <p:cNvPr id="30" name="txt_53"/>
          <p:cNvSpPr txBox="1"/>
          <p:nvPr/>
        </p:nvSpPr>
        <p:spPr>
          <a:xfrm>
            <a:off x="7156552" y="256032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7</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Permit conditions &amp; isolation</a:t>
            </a:r>
            <a:endParaRPr lang="en-US" sz="2000" dirty="0"/>
          </a:p>
        </p:txBody>
      </p:sp>
      <p:sp>
        <p:nvSpPr>
          <p:cNvPr id="31" name="box_54"/>
          <p:cNvSpPr/>
          <p:nvPr/>
        </p:nvSpPr>
        <p:spPr>
          <a:xfrm>
            <a:off x="9020327" y="246888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2" name="circ_55"/>
          <p:cNvSpPr/>
          <p:nvPr/>
        </p:nvSpPr>
        <p:spPr>
          <a:xfrm>
            <a:off x="9184919" y="2651760"/>
            <a:ext cx="658368" cy="658368"/>
          </a:xfrm>
          <a:prstGeom prst="ellipse">
            <a:avLst/>
          </a:prstGeom>
          <a:solidFill>
            <a:srgbClr val="0F6E7A"/>
          </a:solidFill>
          <a:ln/>
        </p:spPr>
      </p:sp>
      <p:pic>
        <p:nvPicPr>
          <p:cNvPr id="33" name="icon_56" descr="preencoded.png">    </p:cNvPr>
          <p:cNvPicPr>
            <a:picLocks noChangeAspect="1"/>
          </p:cNvPicPr>
          <p:nvPr/>
        </p:nvPicPr>
        <p:blipFill>
          <a:blip r:embed="rId8"/>
          <a:stretch>
            <a:fillRect/>
          </a:stretch>
        </p:blipFill>
        <p:spPr>
          <a:xfrm>
            <a:off x="9333052" y="2799893"/>
            <a:ext cx="362102" cy="362102"/>
          </a:xfrm>
          <a:prstGeom prst="rect">
            <a:avLst/>
          </a:prstGeom>
        </p:spPr>
      </p:pic>
      <p:sp>
        <p:nvSpPr>
          <p:cNvPr id="34" name="txt_57"/>
          <p:cNvSpPr txBox="1"/>
          <p:nvPr/>
        </p:nvSpPr>
        <p:spPr>
          <a:xfrm>
            <a:off x="9980447" y="256032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8</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Gas testing</a:t>
            </a:r>
            <a:endParaRPr lang="en-US" sz="2000" dirty="0"/>
          </a:p>
        </p:txBody>
      </p:sp>
      <p:sp>
        <p:nvSpPr>
          <p:cNvPr id="35" name="box_58"/>
          <p:cNvSpPr/>
          <p:nvPr/>
        </p:nvSpPr>
        <p:spPr>
          <a:xfrm>
            <a:off x="548640" y="365760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6" name="circ_59"/>
          <p:cNvSpPr/>
          <p:nvPr/>
        </p:nvSpPr>
        <p:spPr>
          <a:xfrm>
            <a:off x="713232" y="3840480"/>
            <a:ext cx="658368" cy="658368"/>
          </a:xfrm>
          <a:prstGeom prst="ellipse">
            <a:avLst/>
          </a:prstGeom>
          <a:solidFill>
            <a:srgbClr val="0F6E7A"/>
          </a:solidFill>
          <a:ln/>
        </p:spPr>
      </p:sp>
      <p:pic>
        <p:nvPicPr>
          <p:cNvPr id="37" name="icon_60" descr="preencoded.png">    </p:cNvPr>
          <p:cNvPicPr>
            <a:picLocks noChangeAspect="1"/>
          </p:cNvPicPr>
          <p:nvPr/>
        </p:nvPicPr>
        <p:blipFill>
          <a:blip r:embed="rId9"/>
          <a:stretch>
            <a:fillRect/>
          </a:stretch>
        </p:blipFill>
        <p:spPr>
          <a:xfrm>
            <a:off x="861365" y="3988613"/>
            <a:ext cx="362102" cy="362102"/>
          </a:xfrm>
          <a:prstGeom prst="rect">
            <a:avLst/>
          </a:prstGeom>
        </p:spPr>
      </p:pic>
      <p:sp>
        <p:nvSpPr>
          <p:cNvPr id="38" name="txt_61"/>
          <p:cNvSpPr txBox="1"/>
          <p:nvPr/>
        </p:nvSpPr>
        <p:spPr>
          <a:xfrm>
            <a:off x="1508760" y="374904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9</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PPE &amp; emergencies</a:t>
            </a:r>
            <a:endParaRPr lang="en-US" sz="2000" dirty="0"/>
          </a:p>
        </p:txBody>
      </p:sp>
      <p:sp>
        <p:nvSpPr>
          <p:cNvPr id="39" name="box_62"/>
          <p:cNvSpPr/>
          <p:nvPr/>
        </p:nvSpPr>
        <p:spPr>
          <a:xfrm>
            <a:off x="3372536" y="365760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0" name="circ_63"/>
          <p:cNvSpPr/>
          <p:nvPr/>
        </p:nvSpPr>
        <p:spPr>
          <a:xfrm>
            <a:off x="3537128" y="3840480"/>
            <a:ext cx="658368" cy="658368"/>
          </a:xfrm>
          <a:prstGeom prst="ellipse">
            <a:avLst/>
          </a:prstGeom>
          <a:solidFill>
            <a:srgbClr val="0F6E7A"/>
          </a:solidFill>
          <a:ln/>
        </p:spPr>
      </p:sp>
      <p:pic>
        <p:nvPicPr>
          <p:cNvPr id="41" name="icon_64" descr="preencoded.png">    </p:cNvPr>
          <p:cNvPicPr>
            <a:picLocks noChangeAspect="1"/>
          </p:cNvPicPr>
          <p:nvPr/>
        </p:nvPicPr>
        <p:blipFill>
          <a:blip r:embed="rId10"/>
          <a:stretch>
            <a:fillRect/>
          </a:stretch>
        </p:blipFill>
        <p:spPr>
          <a:xfrm>
            <a:off x="3685261" y="3988613"/>
            <a:ext cx="362102" cy="362102"/>
          </a:xfrm>
          <a:prstGeom prst="rect">
            <a:avLst/>
          </a:prstGeom>
        </p:spPr>
      </p:pic>
      <p:sp>
        <p:nvSpPr>
          <p:cNvPr id="42" name="txt_65"/>
          <p:cNvSpPr txBox="1"/>
          <p:nvPr/>
        </p:nvSpPr>
        <p:spPr>
          <a:xfrm>
            <a:off x="4332656" y="374904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10</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During the work</a:t>
            </a:r>
            <a:endParaRPr lang="en-US" sz="2000" dirty="0"/>
          </a:p>
        </p:txBody>
      </p:sp>
      <p:sp>
        <p:nvSpPr>
          <p:cNvPr id="43" name="box_66"/>
          <p:cNvSpPr/>
          <p:nvPr/>
        </p:nvSpPr>
        <p:spPr>
          <a:xfrm>
            <a:off x="6196432" y="365760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4" name="circ_67"/>
          <p:cNvSpPr/>
          <p:nvPr/>
        </p:nvSpPr>
        <p:spPr>
          <a:xfrm>
            <a:off x="6361024" y="3840480"/>
            <a:ext cx="658368" cy="658368"/>
          </a:xfrm>
          <a:prstGeom prst="ellipse">
            <a:avLst/>
          </a:prstGeom>
          <a:solidFill>
            <a:srgbClr val="0F6E7A"/>
          </a:solidFill>
          <a:ln/>
        </p:spPr>
      </p:sp>
      <p:pic>
        <p:nvPicPr>
          <p:cNvPr id="45" name="icon_68" descr="preencoded.png">    </p:cNvPr>
          <p:cNvPicPr>
            <a:picLocks noChangeAspect="1"/>
          </p:cNvPicPr>
          <p:nvPr/>
        </p:nvPicPr>
        <p:blipFill>
          <a:blip r:embed="rId11"/>
          <a:stretch>
            <a:fillRect/>
          </a:stretch>
        </p:blipFill>
        <p:spPr>
          <a:xfrm>
            <a:off x="6509156" y="3988613"/>
            <a:ext cx="362102" cy="362102"/>
          </a:xfrm>
          <a:prstGeom prst="rect">
            <a:avLst/>
          </a:prstGeom>
        </p:spPr>
      </p:pic>
      <p:sp>
        <p:nvSpPr>
          <p:cNvPr id="46" name="txt_69"/>
          <p:cNvSpPr txBox="1"/>
          <p:nvPr/>
        </p:nvSpPr>
        <p:spPr>
          <a:xfrm>
            <a:off x="7156552" y="374904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11</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Extension, cancellation &amp; closure</a:t>
            </a:r>
            <a:endParaRPr lang="en-US" sz="2000" dirty="0"/>
          </a:p>
        </p:txBody>
      </p:sp>
      <p:sp>
        <p:nvSpPr>
          <p:cNvPr id="47" name="box_70"/>
          <p:cNvSpPr/>
          <p:nvPr/>
        </p:nvSpPr>
        <p:spPr>
          <a:xfrm>
            <a:off x="9020327" y="365760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8" name="circ_71"/>
          <p:cNvSpPr/>
          <p:nvPr/>
        </p:nvSpPr>
        <p:spPr>
          <a:xfrm>
            <a:off x="9184919" y="3840480"/>
            <a:ext cx="658368" cy="658368"/>
          </a:xfrm>
          <a:prstGeom prst="ellipse">
            <a:avLst/>
          </a:prstGeom>
          <a:solidFill>
            <a:srgbClr val="0F6E7A"/>
          </a:solidFill>
          <a:ln/>
        </p:spPr>
      </p:sp>
      <p:pic>
        <p:nvPicPr>
          <p:cNvPr id="49" name="icon_72" descr="preencoded.png">    </p:cNvPr>
          <p:cNvPicPr>
            <a:picLocks noChangeAspect="1"/>
          </p:cNvPicPr>
          <p:nvPr/>
        </p:nvPicPr>
        <p:blipFill>
          <a:blip r:embed="rId12"/>
          <a:stretch>
            <a:fillRect/>
          </a:stretch>
        </p:blipFill>
        <p:spPr>
          <a:xfrm>
            <a:off x="9333052" y="3988613"/>
            <a:ext cx="362102" cy="362102"/>
          </a:xfrm>
          <a:prstGeom prst="rect">
            <a:avLst/>
          </a:prstGeom>
        </p:spPr>
      </p:pic>
      <p:sp>
        <p:nvSpPr>
          <p:cNvPr id="50" name="txt_73"/>
          <p:cNvSpPr txBox="1"/>
          <p:nvPr/>
        </p:nvSpPr>
        <p:spPr>
          <a:xfrm>
            <a:off x="9980447" y="3749040"/>
            <a:ext cx="1571168" cy="841248"/>
          </a:xfrm>
          <a:prstGeom prst="rect">
            <a:avLst/>
          </a:prstGeom>
          <a:noFill/>
          <a:ln/>
        </p:spPr>
        <p:txBody>
          <a:bodyPr wrap="square" lIns="635" tIns="635" rIns="635" bIns="635" rtlCol="0" anchor="ctr"/>
          <a:lstStyle/>
          <a:p>
            <a:pPr indent="0" marL="0">
              <a:buNone/>
            </a:pPr>
            <a:r>
              <a:rPr lang="en-US" sz="1300" b="1" dirty="0">
                <a:solidFill>
                  <a:srgbClr val="0F6E7A"/>
                </a:solidFill>
                <a:latin typeface="Calibri" pitchFamily="34" charset="0"/>
                <a:ea typeface="Calibri" pitchFamily="34" charset="-122"/>
                <a:cs typeface="Calibri" pitchFamily="34" charset="-120"/>
              </a:rPr>
              <a:t>SECTION 12</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Records, audits &amp; competence</a:t>
            </a:r>
            <a:endParaRPr lang="en-US" sz="2000" dirty="0"/>
          </a:p>
        </p:txBody>
      </p:sp>
      <p:sp>
        <p:nvSpPr>
          <p:cNvPr id="51" name="box_74"/>
          <p:cNvSpPr/>
          <p:nvPr/>
        </p:nvSpPr>
        <p:spPr>
          <a:xfrm>
            <a:off x="548640" y="4846320"/>
            <a:ext cx="2622728" cy="1024128"/>
          </a:xfrm>
          <a:prstGeom prst="roundRect">
            <a:avLst>
              <a:gd name="adj" fmla="val 1071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52" name="circ_75"/>
          <p:cNvSpPr/>
          <p:nvPr/>
        </p:nvSpPr>
        <p:spPr>
          <a:xfrm>
            <a:off x="713232" y="5029200"/>
            <a:ext cx="658368" cy="658368"/>
          </a:xfrm>
          <a:prstGeom prst="ellipse">
            <a:avLst/>
          </a:prstGeom>
          <a:solidFill>
            <a:srgbClr val="E8771E"/>
          </a:solidFill>
          <a:ln/>
        </p:spPr>
      </p:sp>
      <p:pic>
        <p:nvPicPr>
          <p:cNvPr id="53" name="icon_76" descr="preencoded.png">    </p:cNvPr>
          <p:cNvPicPr>
            <a:picLocks noChangeAspect="1"/>
          </p:cNvPicPr>
          <p:nvPr/>
        </p:nvPicPr>
        <p:blipFill>
          <a:blip r:embed="rId13"/>
          <a:stretch>
            <a:fillRect/>
          </a:stretch>
        </p:blipFill>
        <p:spPr>
          <a:xfrm>
            <a:off x="861365" y="5177333"/>
            <a:ext cx="362102" cy="362102"/>
          </a:xfrm>
          <a:prstGeom prst="rect">
            <a:avLst/>
          </a:prstGeom>
        </p:spPr>
      </p:pic>
      <p:sp>
        <p:nvSpPr>
          <p:cNvPr id="54" name="txt_77"/>
          <p:cNvSpPr txBox="1"/>
          <p:nvPr/>
        </p:nvSpPr>
        <p:spPr>
          <a:xfrm>
            <a:off x="1508760" y="4937760"/>
            <a:ext cx="1571168" cy="841248"/>
          </a:xfrm>
          <a:prstGeom prst="rect">
            <a:avLst/>
          </a:prstGeom>
          <a:noFill/>
          <a:ln/>
        </p:spPr>
        <p:txBody>
          <a:bodyPr wrap="square" lIns="635" tIns="635" rIns="635" bIns="635" rtlCol="0" anchor="ctr"/>
          <a:lstStyle/>
          <a:p>
            <a:pPr indent="0" marL="0">
              <a:buNone/>
            </a:pPr>
            <a:r>
              <a:rPr lang="en-US" sz="1300" b="1" dirty="0">
                <a:solidFill>
                  <a:srgbClr val="E8771E"/>
                </a:solidFill>
                <a:latin typeface="Calibri" pitchFamily="34" charset="0"/>
                <a:ea typeface="Calibri" pitchFamily="34" charset="-122"/>
                <a:cs typeface="Calibri" pitchFamily="34" charset="-120"/>
              </a:rPr>
              <a:t>SECTION 13</a:t>
            </a:r>
            <a:endParaRPr lang="en-US" sz="2000" dirty="0"/>
          </a:p>
          <a:p>
            <a:pPr indent="0" marL="0">
              <a:buNone/>
            </a:pPr>
            <a:r>
              <a:rPr lang="en-US" sz="1800" b="1" dirty="0">
                <a:solidFill>
                  <a:srgbClr val="0B2A3C"/>
                </a:solidFill>
                <a:latin typeface="Calibri" pitchFamily="34" charset="0"/>
                <a:ea typeface="Calibri" pitchFamily="34" charset="-122"/>
                <a:cs typeface="Calibri" pitchFamily="34" charset="-120"/>
              </a:rPr>
              <a:t>Scenarios &amp; key takeaways</a:t>
            </a:r>
            <a:endParaRPr lang="en-US" sz="2000" dirty="0"/>
          </a:p>
        </p:txBody>
      </p:sp>
      <p:sp>
        <p:nvSpPr>
          <p:cNvPr id="5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Learning Objectives</a:t>
            </a:r>
            <a:endParaRPr lang="en-US" sz="3200" dirty="0"/>
          </a:p>
        </p:txBody>
      </p:sp>
      <p:sp>
        <p:nvSpPr>
          <p:cNvPr id="3" name="txt_78"/>
          <p:cNvSpPr txBox="1"/>
          <p:nvPr/>
        </p:nvSpPr>
        <p:spPr>
          <a:xfrm>
            <a:off x="548640" y="1234440"/>
            <a:ext cx="6583680" cy="457200"/>
          </a:xfrm>
          <a:prstGeom prst="rect">
            <a:avLst/>
          </a:prstGeom>
          <a:noFill/>
          <a:ln/>
        </p:spPr>
        <p:txBody>
          <a:bodyPr wrap="square" lIns="635" tIns="635" rIns="635" bIns="635" rtlCol="0" anchor="t"/>
          <a:lstStyle/>
          <a:p>
            <a:pPr indent="0" marL="0">
              <a:buNone/>
            </a:pPr>
            <a:r>
              <a:rPr lang="en-US" sz="2200" b="1" dirty="0">
                <a:solidFill>
                  <a:srgbClr val="0F6E7A"/>
                </a:solidFill>
                <a:latin typeface="Calibri" pitchFamily="34" charset="0"/>
                <a:ea typeface="Calibri" pitchFamily="34" charset="-122"/>
                <a:cs typeface="Calibri" pitchFamily="34" charset="-120"/>
              </a:rPr>
              <a:t>By the end of this course you will be able to:</a:t>
            </a:r>
            <a:endParaRPr lang="en-US" sz="2200" dirty="0"/>
          </a:p>
        </p:txBody>
      </p:sp>
      <p:sp>
        <p:nvSpPr>
          <p:cNvPr id="4" name="a1_circ_79"/>
          <p:cNvSpPr/>
          <p:nvPr/>
        </p:nvSpPr>
        <p:spPr>
          <a:xfrm>
            <a:off x="548640" y="1819656"/>
            <a:ext cx="438912" cy="438912"/>
          </a:xfrm>
          <a:prstGeom prst="ellipse">
            <a:avLst/>
          </a:prstGeom>
          <a:solidFill>
            <a:srgbClr val="2E7D32"/>
          </a:solidFill>
          <a:ln/>
        </p:spPr>
      </p:sp>
      <p:pic>
        <p:nvPicPr>
          <p:cNvPr id="5" name="a1_icon_80" descr="preencoded.png">    </p:cNvPr>
          <p:cNvPicPr>
            <a:picLocks noChangeAspect="1"/>
          </p:cNvPicPr>
          <p:nvPr/>
        </p:nvPicPr>
        <p:blipFill>
          <a:blip r:embed="rId1"/>
          <a:stretch>
            <a:fillRect/>
          </a:stretch>
        </p:blipFill>
        <p:spPr>
          <a:xfrm>
            <a:off x="647395" y="1918411"/>
            <a:ext cx="241402" cy="241402"/>
          </a:xfrm>
          <a:prstGeom prst="rect">
            <a:avLst/>
          </a:prstGeom>
        </p:spPr>
      </p:pic>
      <p:sp>
        <p:nvSpPr>
          <p:cNvPr id="6" name="a1_txt_81"/>
          <p:cNvSpPr txBox="1"/>
          <p:nvPr/>
        </p:nvSpPr>
        <p:spPr>
          <a:xfrm>
            <a:off x="1143000" y="1783080"/>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Explain what a Permit to Work is and why it exists</a:t>
            </a:r>
            <a:endParaRPr lang="en-US" sz="2000" dirty="0"/>
          </a:p>
        </p:txBody>
      </p:sp>
      <p:sp>
        <p:nvSpPr>
          <p:cNvPr id="7" name="a1_circ_82"/>
          <p:cNvSpPr/>
          <p:nvPr/>
        </p:nvSpPr>
        <p:spPr>
          <a:xfrm>
            <a:off x="548640" y="2441448"/>
            <a:ext cx="438912" cy="438912"/>
          </a:xfrm>
          <a:prstGeom prst="ellipse">
            <a:avLst/>
          </a:prstGeom>
          <a:solidFill>
            <a:srgbClr val="2E7D32"/>
          </a:solidFill>
          <a:ln/>
        </p:spPr>
      </p:sp>
      <p:pic>
        <p:nvPicPr>
          <p:cNvPr id="8" name="a1_icon_83" descr="preencoded.png">    </p:cNvPr>
          <p:cNvPicPr>
            <a:picLocks noChangeAspect="1"/>
          </p:cNvPicPr>
          <p:nvPr/>
        </p:nvPicPr>
        <p:blipFill>
          <a:blip r:embed="rId2"/>
          <a:stretch>
            <a:fillRect/>
          </a:stretch>
        </p:blipFill>
        <p:spPr>
          <a:xfrm>
            <a:off x="647395" y="2540203"/>
            <a:ext cx="241402" cy="241402"/>
          </a:xfrm>
          <a:prstGeom prst="rect">
            <a:avLst/>
          </a:prstGeom>
        </p:spPr>
      </p:pic>
      <p:sp>
        <p:nvSpPr>
          <p:cNvPr id="9" name="a1_txt_84"/>
          <p:cNvSpPr txBox="1"/>
          <p:nvPr/>
        </p:nvSpPr>
        <p:spPr>
          <a:xfrm>
            <a:off x="1143000" y="2404872"/>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Know when a permit is required – and the Life Saving Rule</a:t>
            </a:r>
            <a:endParaRPr lang="en-US" sz="2000" dirty="0"/>
          </a:p>
        </p:txBody>
      </p:sp>
      <p:sp>
        <p:nvSpPr>
          <p:cNvPr id="10" name="a1_circ_85"/>
          <p:cNvSpPr/>
          <p:nvPr/>
        </p:nvSpPr>
        <p:spPr>
          <a:xfrm>
            <a:off x="548640" y="3063240"/>
            <a:ext cx="438912" cy="438912"/>
          </a:xfrm>
          <a:prstGeom prst="ellipse">
            <a:avLst/>
          </a:prstGeom>
          <a:solidFill>
            <a:srgbClr val="2E7D32"/>
          </a:solidFill>
          <a:ln/>
        </p:spPr>
      </p:sp>
      <p:pic>
        <p:nvPicPr>
          <p:cNvPr id="11" name="a1_icon_86" descr="preencoded.png">    </p:cNvPr>
          <p:cNvPicPr>
            <a:picLocks noChangeAspect="1"/>
          </p:cNvPicPr>
          <p:nvPr/>
        </p:nvPicPr>
        <p:blipFill>
          <a:blip r:embed="rId3"/>
          <a:stretch>
            <a:fillRect/>
          </a:stretch>
        </p:blipFill>
        <p:spPr>
          <a:xfrm>
            <a:off x="647395" y="3161995"/>
            <a:ext cx="241402" cy="241402"/>
          </a:xfrm>
          <a:prstGeom prst="rect">
            <a:avLst/>
          </a:prstGeom>
        </p:spPr>
      </p:pic>
      <p:sp>
        <p:nvSpPr>
          <p:cNvPr id="12" name="a1_txt_87"/>
          <p:cNvSpPr txBox="1"/>
          <p:nvPr/>
        </p:nvSpPr>
        <p:spPr>
          <a:xfrm>
            <a:off x="1143000" y="3026664"/>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Recognise the main permit types and their key controls</a:t>
            </a:r>
            <a:endParaRPr lang="en-US" sz="2000" dirty="0"/>
          </a:p>
        </p:txBody>
      </p:sp>
      <p:sp>
        <p:nvSpPr>
          <p:cNvPr id="13" name="a1_circ_88"/>
          <p:cNvSpPr/>
          <p:nvPr/>
        </p:nvSpPr>
        <p:spPr>
          <a:xfrm>
            <a:off x="548640" y="3685032"/>
            <a:ext cx="438912" cy="438912"/>
          </a:xfrm>
          <a:prstGeom prst="ellipse">
            <a:avLst/>
          </a:prstGeom>
          <a:solidFill>
            <a:srgbClr val="2E7D32"/>
          </a:solidFill>
          <a:ln/>
        </p:spPr>
      </p:sp>
      <p:pic>
        <p:nvPicPr>
          <p:cNvPr id="14" name="a1_icon_89" descr="preencoded.png">    </p:cNvPr>
          <p:cNvPicPr>
            <a:picLocks noChangeAspect="1"/>
          </p:cNvPicPr>
          <p:nvPr/>
        </p:nvPicPr>
        <p:blipFill>
          <a:blip r:embed="rId4"/>
          <a:stretch>
            <a:fillRect/>
          </a:stretch>
        </p:blipFill>
        <p:spPr>
          <a:xfrm>
            <a:off x="647395" y="3783787"/>
            <a:ext cx="241402" cy="241402"/>
          </a:xfrm>
          <a:prstGeom prst="rect">
            <a:avLst/>
          </a:prstGeom>
        </p:spPr>
      </p:pic>
      <p:sp>
        <p:nvSpPr>
          <p:cNvPr id="15" name="a1_txt_90"/>
          <p:cNvSpPr txBox="1"/>
          <p:nvPr/>
        </p:nvSpPr>
        <p:spPr>
          <a:xfrm>
            <a:off x="1143000" y="3648456"/>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Describe who does what: Issuer, Receiver and other roles</a:t>
            </a:r>
            <a:endParaRPr lang="en-US" sz="2000" dirty="0"/>
          </a:p>
        </p:txBody>
      </p:sp>
      <p:sp>
        <p:nvSpPr>
          <p:cNvPr id="16" name="a1_circ_91"/>
          <p:cNvSpPr/>
          <p:nvPr/>
        </p:nvSpPr>
        <p:spPr>
          <a:xfrm>
            <a:off x="548640" y="4306824"/>
            <a:ext cx="438912" cy="438912"/>
          </a:xfrm>
          <a:prstGeom prst="ellipse">
            <a:avLst/>
          </a:prstGeom>
          <a:solidFill>
            <a:srgbClr val="2E7D32"/>
          </a:solidFill>
          <a:ln/>
        </p:spPr>
      </p:sp>
      <p:pic>
        <p:nvPicPr>
          <p:cNvPr id="17" name="a1_icon_92" descr="preencoded.png">    </p:cNvPr>
          <p:cNvPicPr>
            <a:picLocks noChangeAspect="1"/>
          </p:cNvPicPr>
          <p:nvPr/>
        </p:nvPicPr>
        <p:blipFill>
          <a:blip r:embed="rId5"/>
          <a:stretch>
            <a:fillRect/>
          </a:stretch>
        </p:blipFill>
        <p:spPr>
          <a:xfrm>
            <a:off x="647395" y="4405579"/>
            <a:ext cx="241402" cy="241402"/>
          </a:xfrm>
          <a:prstGeom prst="rect">
            <a:avLst/>
          </a:prstGeom>
        </p:spPr>
      </p:pic>
      <p:sp>
        <p:nvSpPr>
          <p:cNvPr id="18" name="a1_txt_93"/>
          <p:cNvSpPr txBox="1"/>
          <p:nvPr/>
        </p:nvSpPr>
        <p:spPr>
          <a:xfrm>
            <a:off x="1143000" y="4270248"/>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Follow the PTW lifecycle from request to closure</a:t>
            </a:r>
            <a:endParaRPr lang="en-US" sz="2000" dirty="0"/>
          </a:p>
        </p:txBody>
      </p:sp>
      <p:sp>
        <p:nvSpPr>
          <p:cNvPr id="19" name="a1_circ_94"/>
          <p:cNvSpPr/>
          <p:nvPr/>
        </p:nvSpPr>
        <p:spPr>
          <a:xfrm>
            <a:off x="548640" y="4928616"/>
            <a:ext cx="438912" cy="438912"/>
          </a:xfrm>
          <a:prstGeom prst="ellipse">
            <a:avLst/>
          </a:prstGeom>
          <a:solidFill>
            <a:srgbClr val="2E7D32"/>
          </a:solidFill>
          <a:ln/>
        </p:spPr>
      </p:sp>
      <p:pic>
        <p:nvPicPr>
          <p:cNvPr id="20" name="a1_icon_95" descr="preencoded.png">    </p:cNvPr>
          <p:cNvPicPr>
            <a:picLocks noChangeAspect="1"/>
          </p:cNvPicPr>
          <p:nvPr/>
        </p:nvPicPr>
        <p:blipFill>
          <a:blip r:embed="rId6"/>
          <a:stretch>
            <a:fillRect/>
          </a:stretch>
        </p:blipFill>
        <p:spPr>
          <a:xfrm>
            <a:off x="647395" y="5027371"/>
            <a:ext cx="241402" cy="241402"/>
          </a:xfrm>
          <a:prstGeom prst="rect">
            <a:avLst/>
          </a:prstGeom>
        </p:spPr>
      </p:pic>
      <p:sp>
        <p:nvSpPr>
          <p:cNvPr id="21" name="a1_txt_96"/>
          <p:cNvSpPr txBox="1"/>
          <p:nvPr/>
        </p:nvSpPr>
        <p:spPr>
          <a:xfrm>
            <a:off x="1143000" y="4892040"/>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Understand isolation (LOTO), gas testing and emergency planning</a:t>
            </a:r>
            <a:endParaRPr lang="en-US" sz="2000" dirty="0"/>
          </a:p>
        </p:txBody>
      </p:sp>
      <p:sp>
        <p:nvSpPr>
          <p:cNvPr id="22" name="a1_circ_97"/>
          <p:cNvSpPr/>
          <p:nvPr/>
        </p:nvSpPr>
        <p:spPr>
          <a:xfrm>
            <a:off x="548640" y="5550408"/>
            <a:ext cx="438912" cy="438912"/>
          </a:xfrm>
          <a:prstGeom prst="ellipse">
            <a:avLst/>
          </a:prstGeom>
          <a:solidFill>
            <a:srgbClr val="2E7D32"/>
          </a:solidFill>
          <a:ln/>
        </p:spPr>
      </p:sp>
      <p:pic>
        <p:nvPicPr>
          <p:cNvPr id="23" name="a1_icon_98" descr="preencoded.png">    </p:cNvPr>
          <p:cNvPicPr>
            <a:picLocks noChangeAspect="1"/>
          </p:cNvPicPr>
          <p:nvPr/>
        </p:nvPicPr>
        <p:blipFill>
          <a:blip r:embed="rId7"/>
          <a:stretch>
            <a:fillRect/>
          </a:stretch>
        </p:blipFill>
        <p:spPr>
          <a:xfrm>
            <a:off x="647395" y="5649163"/>
            <a:ext cx="241402" cy="241402"/>
          </a:xfrm>
          <a:prstGeom prst="rect">
            <a:avLst/>
          </a:prstGeom>
        </p:spPr>
      </p:pic>
      <p:sp>
        <p:nvSpPr>
          <p:cNvPr id="24" name="a1_txt_99"/>
          <p:cNvSpPr txBox="1"/>
          <p:nvPr/>
        </p:nvSpPr>
        <p:spPr>
          <a:xfrm>
            <a:off x="1143000" y="5513832"/>
            <a:ext cx="6126480" cy="530352"/>
          </a:xfrm>
          <a:prstGeom prst="rect">
            <a:avLst/>
          </a:prstGeom>
          <a:noFill/>
          <a:ln/>
        </p:spPr>
        <p:txBody>
          <a:bodyPr wrap="square" lIns="635" tIns="635" rIns="635" bIns="635" rtlCol="0" anchor="ctr"/>
          <a:lstStyle/>
          <a:p>
            <a:pPr indent="0" marL="0">
              <a:buNone/>
            </a:pPr>
            <a:r>
              <a:rPr lang="en-US" sz="2000" dirty="0">
                <a:solidFill>
                  <a:srgbClr val="1B2730"/>
                </a:solidFill>
                <a:latin typeface="Calibri" pitchFamily="34" charset="0"/>
                <a:ea typeface="Calibri" pitchFamily="34" charset="-122"/>
                <a:cs typeface="Calibri" pitchFamily="34" charset="-120"/>
              </a:rPr>
              <a:t>Know when to STOP work and what happens next</a:t>
            </a:r>
            <a:endParaRPr lang="en-US" sz="2000" dirty="0"/>
          </a:p>
        </p:txBody>
      </p:sp>
      <p:sp>
        <p:nvSpPr>
          <p:cNvPr id="25" name="box_100"/>
          <p:cNvSpPr/>
          <p:nvPr/>
        </p:nvSpPr>
        <p:spPr>
          <a:xfrm>
            <a:off x="7315200" y="1234440"/>
            <a:ext cx="4325112" cy="4983480"/>
          </a:xfrm>
          <a:prstGeom prst="rect">
            <a:avLst/>
          </a:prstGeom>
          <a:solidFill>
            <a:srgbClr val="0F6E7A"/>
          </a:solidFill>
          <a:ln/>
        </p:spPr>
      </p:sp>
      <p:pic>
        <p:nvPicPr>
          <p:cNvPr id="26" name="icon_101" descr="preencoded.png">    </p:cNvPr>
          <p:cNvPicPr>
            <a:picLocks noChangeAspect="1"/>
          </p:cNvPicPr>
          <p:nvPr/>
        </p:nvPicPr>
        <p:blipFill>
          <a:blip r:embed="rId8"/>
          <a:stretch>
            <a:fillRect/>
          </a:stretch>
        </p:blipFill>
        <p:spPr>
          <a:xfrm>
            <a:off x="8569482" y="2543586"/>
            <a:ext cx="1816547" cy="1816547"/>
          </a:xfrm>
          <a:prstGeom prst="rect">
            <a:avLst/>
          </a:prstGeom>
        </p:spPr>
      </p:pic>
      <p:sp>
        <p:nvSpPr>
          <p:cNvPr id="27" name="txt_102"/>
          <p:cNvSpPr txBox="1"/>
          <p:nvPr/>
        </p:nvSpPr>
        <p:spPr>
          <a:xfrm>
            <a:off x="7589520" y="4634454"/>
            <a:ext cx="3776472"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Learn · Ask · Apply</a:t>
            </a:r>
            <a:endParaRPr lang="en-US" sz="1800" dirty="0"/>
          </a:p>
        </p:txBody>
      </p:sp>
      <p:sp>
        <p:nvSpPr>
          <p:cNvPr id="2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irc_103"/>
          <p:cNvSpPr/>
          <p:nvPr/>
        </p:nvSpPr>
        <p:spPr>
          <a:xfrm>
            <a:off x="548640" y="2011680"/>
            <a:ext cx="1371600" cy="1371600"/>
          </a:xfrm>
          <a:prstGeom prst="ellipse">
            <a:avLst/>
          </a:prstGeom>
          <a:solidFill>
            <a:srgbClr val="E8771E"/>
          </a:solidFill>
          <a:ln/>
        </p:spPr>
      </p:sp>
      <p:pic>
        <p:nvPicPr>
          <p:cNvPr id="3" name="icon_104"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05"/>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1</a:t>
            </a:r>
            <a:endParaRPr lang="en-US" sz="1800" dirty="0"/>
          </a:p>
        </p:txBody>
      </p:sp>
      <p:sp>
        <p:nvSpPr>
          <p:cNvPr id="5" name="txt_106"/>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What is a Permit to Work – and why do we need it?</a:t>
            </a:r>
            <a:endParaRPr lang="en-US" sz="4000" dirty="0"/>
          </a:p>
        </p:txBody>
      </p:sp>
      <p:sp>
        <p:nvSpPr>
          <p:cNvPr id="6" name="txt_107"/>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The basics: definition, purpose and what can go wrong</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What is a Permit to Work?</a:t>
            </a:r>
            <a:endParaRPr lang="en-US" sz="3200" dirty="0"/>
          </a:p>
        </p:txBody>
      </p:sp>
      <p:sp>
        <p:nvSpPr>
          <p:cNvPr id="3" name="txt_108"/>
          <p:cNvSpPr txBox="1"/>
          <p:nvPr/>
        </p:nvSpPr>
        <p:spPr>
          <a:xfrm>
            <a:off x="548640" y="1325880"/>
            <a:ext cx="6126480" cy="3840480"/>
          </a:xfrm>
          <a:prstGeom prst="rect">
            <a:avLst/>
          </a:prstGeom>
          <a:noFill/>
          <a:ln/>
        </p:spPr>
        <p:txBody>
          <a:bodyPr wrap="square" lIns="635" tIns="635" rIns="635" bIns="635" rtlCol="0" anchor="t"/>
          <a:lstStyle/>
          <a:p>
            <a:pPr marL="228600" indent="-228600">
              <a:spcAft>
                <a:spcPts val="1200"/>
              </a:spcAft>
              <a:buSzPct val="100000"/>
              <a:buChar char="•"/>
            </a:pPr>
            <a:r>
              <a:rPr lang="en-US" sz="2100" b="1" dirty="0">
                <a:solidFill>
                  <a:srgbClr val="1B2730"/>
                </a:solidFill>
                <a:latin typeface="Calibri" pitchFamily="34" charset="0"/>
                <a:ea typeface="Calibri" pitchFamily="34" charset="-122"/>
                <a:cs typeface="Calibri" pitchFamily="34" charset="-120"/>
              </a:rPr>
              <a:t>A formal, written safety process </a:t>
            </a:r>
            <a:pPr indent="0" marL="0">
              <a:buNone/>
            </a:pPr>
            <a:r>
              <a:rPr lang="en-US" sz="2100" dirty="0">
                <a:solidFill>
                  <a:srgbClr val="1B2730"/>
                </a:solidFill>
                <a:latin typeface="Calibri" pitchFamily="34" charset="0"/>
                <a:ea typeface="Calibri" pitchFamily="34" charset="-122"/>
                <a:cs typeface="Calibri" pitchFamily="34" charset="-120"/>
              </a:rPr>
              <a:t>for planning, reviewing, authorising and controlling work</a:t>
            </a:r>
            <a:endParaRPr lang="en-US" sz="2100" dirty="0"/>
          </a:p>
          <a:p>
            <a:pPr marL="228600" indent="-228600">
              <a:spcAft>
                <a:spcPts val="1200"/>
              </a:spcAft>
              <a:buSzPct val="100000"/>
              <a:buChar char="•"/>
            </a:pPr>
            <a:r>
              <a:rPr lang="en-US" sz="2100" b="1" dirty="0">
                <a:solidFill>
                  <a:srgbClr val="1B2730"/>
                </a:solidFill>
                <a:latin typeface="Calibri" pitchFamily="34" charset="0"/>
                <a:ea typeface="Calibri" pitchFamily="34" charset="-122"/>
                <a:cs typeface="Calibri" pitchFamily="34" charset="-120"/>
              </a:rPr>
              <a:t>Used for non-routine work </a:t>
            </a:r>
            <a:pPr indent="0" marL="0">
              <a:buNone/>
            </a:pPr>
            <a:r>
              <a:rPr lang="en-US" sz="2100" dirty="0">
                <a:solidFill>
                  <a:srgbClr val="1B2730"/>
                </a:solidFill>
                <a:latin typeface="Calibri" pitchFamily="34" charset="0"/>
                <a:ea typeface="Calibri" pitchFamily="34" charset="-122"/>
                <a:cs typeface="Calibri" pitchFamily="34" charset="-120"/>
              </a:rPr>
              <a:t>with significant risk</a:t>
            </a:r>
            <a:endParaRPr lang="en-US" sz="2100" dirty="0"/>
          </a:p>
          <a:p>
            <a:pPr marL="228600" indent="-228600">
              <a:spcAft>
                <a:spcPts val="1200"/>
              </a:spcAft>
              <a:buSzPct val="100000"/>
              <a:buChar char="•"/>
            </a:pPr>
            <a:r>
              <a:rPr lang="en-US" sz="2100" b="1" dirty="0">
                <a:solidFill>
                  <a:srgbClr val="1B2730"/>
                </a:solidFill>
                <a:latin typeface="Calibri" pitchFamily="34" charset="0"/>
                <a:ea typeface="Calibri" pitchFamily="34" charset="-122"/>
                <a:cs typeface="Calibri" pitchFamily="34" charset="-120"/>
              </a:rPr>
              <a:t>A written dialogue </a:t>
            </a:r>
            <a:pPr indent="0" marL="0">
              <a:buNone/>
            </a:pPr>
            <a:r>
              <a:rPr lang="en-US" sz="2100" dirty="0">
                <a:solidFill>
                  <a:srgbClr val="1B2730"/>
                </a:solidFill>
                <a:latin typeface="Calibri" pitchFamily="34" charset="0"/>
                <a:ea typeface="Calibri" pitchFamily="34" charset="-122"/>
                <a:cs typeface="Calibri" pitchFamily="34" charset="-120"/>
              </a:rPr>
              <a:t>between the people who own the workplace and the people who do the work</a:t>
            </a:r>
            <a:endParaRPr lang="en-US" sz="2100" dirty="0"/>
          </a:p>
          <a:p>
            <a:pPr marL="228600" indent="-228600">
              <a:spcAft>
                <a:spcPts val="1200"/>
              </a:spcAft>
              <a:buSzPct val="100000"/>
              <a:buChar char="•"/>
            </a:pPr>
            <a:r>
              <a:rPr lang="en-US" sz="2100" b="1" dirty="0">
                <a:solidFill>
                  <a:srgbClr val="1B2730"/>
                </a:solidFill>
                <a:latin typeface="Calibri" pitchFamily="34" charset="0"/>
                <a:ea typeface="Calibri" pitchFamily="34" charset="-122"/>
                <a:cs typeface="Calibri" pitchFamily="34" charset="-120"/>
              </a:rPr>
              <a:t>Forces a “Time Out for Safety” </a:t>
            </a:r>
            <a:pPr indent="0" marL="0">
              <a:buNone/>
            </a:pPr>
            <a:r>
              <a:rPr lang="en-US" sz="2100" dirty="0">
                <a:solidFill>
                  <a:srgbClr val="1B2730"/>
                </a:solidFill>
                <a:latin typeface="Calibri" pitchFamily="34" charset="0"/>
                <a:ea typeface="Calibri" pitchFamily="34" charset="-122"/>
                <a:cs typeface="Calibri" pitchFamily="34" charset="-120"/>
              </a:rPr>
              <a:t>before any tool is lifted or any valve is turned</a:t>
            </a:r>
            <a:endParaRPr lang="en-US" sz="2100" dirty="0"/>
          </a:p>
          <a:p>
            <a:pPr marL="228600" indent="-228600">
              <a:spcAft>
                <a:spcPts val="1200"/>
              </a:spcAft>
              <a:buSzPct val="100000"/>
              <a:buChar char="•"/>
            </a:pPr>
            <a:r>
              <a:rPr lang="en-US" sz="2100" b="1" dirty="0">
                <a:solidFill>
                  <a:srgbClr val="1B2730"/>
                </a:solidFill>
                <a:latin typeface="Calibri" pitchFamily="34" charset="0"/>
                <a:ea typeface="Calibri" pitchFamily="34" charset="-122"/>
                <a:cs typeface="Calibri" pitchFamily="34" charset="-120"/>
              </a:rPr>
              <a:t>Creates a “safe envelope” </a:t>
            </a:r>
            <a:pPr indent="0" marL="0">
              <a:buNone/>
            </a:pPr>
            <a:r>
              <a:rPr lang="en-US" sz="2100" dirty="0">
                <a:solidFill>
                  <a:srgbClr val="1B2730"/>
                </a:solidFill>
                <a:latin typeface="Calibri" pitchFamily="34" charset="0"/>
                <a:ea typeface="Calibri" pitchFamily="34" charset="-122"/>
                <a:cs typeface="Calibri" pitchFamily="34" charset="-120"/>
              </a:rPr>
              <a:t>inside which high-risk work can be done</a:t>
            </a:r>
            <a:endParaRPr lang="en-US" sz="2100" dirty="0"/>
          </a:p>
        </p:txBody>
      </p:sp>
      <p:sp>
        <p:nvSpPr>
          <p:cNvPr id="4" name="a1_box_109"/>
          <p:cNvSpPr/>
          <p:nvPr/>
        </p:nvSpPr>
        <p:spPr>
          <a:xfrm>
            <a:off x="6949440" y="1280160"/>
            <a:ext cx="4690872" cy="1600200"/>
          </a:xfrm>
          <a:prstGeom prst="roundRect">
            <a:avLst>
              <a:gd name="adj" fmla="val 685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5" name="a1_circ_110"/>
          <p:cNvSpPr/>
          <p:nvPr/>
        </p:nvSpPr>
        <p:spPr>
          <a:xfrm>
            <a:off x="7132320" y="1463040"/>
            <a:ext cx="685800" cy="685800"/>
          </a:xfrm>
          <a:prstGeom prst="ellipse">
            <a:avLst/>
          </a:prstGeom>
          <a:solidFill>
            <a:srgbClr val="0F6E7A"/>
          </a:solidFill>
          <a:ln/>
        </p:spPr>
      </p:sp>
      <p:pic>
        <p:nvPicPr>
          <p:cNvPr id="6" name="a1_icon_111" descr="preencoded.png">    </p:cNvPr>
          <p:cNvPicPr>
            <a:picLocks noChangeAspect="1"/>
          </p:cNvPicPr>
          <p:nvPr/>
        </p:nvPicPr>
        <p:blipFill>
          <a:blip r:embed="rId1"/>
          <a:stretch>
            <a:fillRect/>
          </a:stretch>
        </p:blipFill>
        <p:spPr>
          <a:xfrm>
            <a:off x="7286625" y="1617345"/>
            <a:ext cx="377190" cy="377190"/>
          </a:xfrm>
          <a:prstGeom prst="rect">
            <a:avLst/>
          </a:prstGeom>
        </p:spPr>
      </p:pic>
      <p:sp>
        <p:nvSpPr>
          <p:cNvPr id="7" name="a1_txt_112"/>
          <p:cNvSpPr txBox="1"/>
          <p:nvPr/>
        </p:nvSpPr>
        <p:spPr>
          <a:xfrm>
            <a:off x="7982712" y="1444752"/>
            <a:ext cx="3520440"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Permit Issuer</a:t>
            </a:r>
            <a:endParaRPr lang="en-US" sz="2000" dirty="0"/>
          </a:p>
        </p:txBody>
      </p:sp>
      <p:sp>
        <p:nvSpPr>
          <p:cNvPr id="8" name="a1_txt_113"/>
          <p:cNvSpPr txBox="1"/>
          <p:nvPr/>
        </p:nvSpPr>
        <p:spPr>
          <a:xfrm>
            <a:off x="7178040" y="2221992"/>
            <a:ext cx="4279392" cy="5669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Owns the workplace / equipment (e.g. Operations Shift Supervisor)</a:t>
            </a:r>
            <a:endParaRPr lang="en-US" sz="1600" dirty="0"/>
          </a:p>
        </p:txBody>
      </p:sp>
      <p:pic>
        <p:nvPicPr>
          <p:cNvPr id="9" name="a2_icon_114" descr="preencoded.png">    </p:cNvPr>
          <p:cNvPicPr>
            <a:picLocks noChangeAspect="1"/>
          </p:cNvPicPr>
          <p:nvPr/>
        </p:nvPicPr>
        <p:blipFill>
          <a:blip r:embed="rId2"/>
          <a:stretch>
            <a:fillRect/>
          </a:stretch>
        </p:blipFill>
        <p:spPr>
          <a:xfrm>
            <a:off x="8961120" y="2926080"/>
            <a:ext cx="548640" cy="548640"/>
          </a:xfrm>
          <a:prstGeom prst="rect">
            <a:avLst/>
          </a:prstGeom>
        </p:spPr>
      </p:pic>
      <p:sp>
        <p:nvSpPr>
          <p:cNvPr id="10" name="a2_txt_115"/>
          <p:cNvSpPr txBox="1"/>
          <p:nvPr/>
        </p:nvSpPr>
        <p:spPr>
          <a:xfrm>
            <a:off x="9692640" y="2926080"/>
            <a:ext cx="1920240" cy="548640"/>
          </a:xfrm>
          <a:prstGeom prst="rect">
            <a:avLst/>
          </a:prstGeom>
          <a:noFill/>
          <a:ln/>
        </p:spPr>
        <p:txBody>
          <a:bodyPr wrap="square" lIns="635" tIns="635" rIns="635" bIns="635" rtlCol="0" anchor="ctr"/>
          <a:lstStyle/>
          <a:p>
            <a:pPr indent="0" marL="0">
              <a:buNone/>
            </a:pPr>
            <a:r>
              <a:rPr lang="en-US" sz="1800" b="1" dirty="0">
                <a:solidFill>
                  <a:srgbClr val="E8771E"/>
                </a:solidFill>
                <a:latin typeface="Calibri" pitchFamily="34" charset="0"/>
                <a:ea typeface="Calibri" pitchFamily="34" charset="-122"/>
                <a:cs typeface="Calibri" pitchFamily="34" charset="-120"/>
              </a:rPr>
              <a:t>THE PERMIT</a:t>
            </a:r>
            <a:endParaRPr lang="en-US" sz="1800" dirty="0"/>
          </a:p>
        </p:txBody>
      </p:sp>
      <p:sp>
        <p:nvSpPr>
          <p:cNvPr id="11" name="a3_box_116"/>
          <p:cNvSpPr/>
          <p:nvPr/>
        </p:nvSpPr>
        <p:spPr>
          <a:xfrm>
            <a:off x="6949440" y="3520440"/>
            <a:ext cx="4690872" cy="1600200"/>
          </a:xfrm>
          <a:prstGeom prst="roundRect">
            <a:avLst>
              <a:gd name="adj" fmla="val 685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a3_circ_117"/>
          <p:cNvSpPr/>
          <p:nvPr/>
        </p:nvSpPr>
        <p:spPr>
          <a:xfrm>
            <a:off x="7132320" y="3703320"/>
            <a:ext cx="685800" cy="685800"/>
          </a:xfrm>
          <a:prstGeom prst="ellipse">
            <a:avLst/>
          </a:prstGeom>
          <a:solidFill>
            <a:srgbClr val="E8771E"/>
          </a:solidFill>
          <a:ln/>
        </p:spPr>
      </p:sp>
      <p:pic>
        <p:nvPicPr>
          <p:cNvPr id="13" name="a3_icon_118" descr="preencoded.png">    </p:cNvPr>
          <p:cNvPicPr>
            <a:picLocks noChangeAspect="1"/>
          </p:cNvPicPr>
          <p:nvPr/>
        </p:nvPicPr>
        <p:blipFill>
          <a:blip r:embed="rId3"/>
          <a:stretch>
            <a:fillRect/>
          </a:stretch>
        </p:blipFill>
        <p:spPr>
          <a:xfrm>
            <a:off x="7286625" y="3857625"/>
            <a:ext cx="377190" cy="377190"/>
          </a:xfrm>
          <a:prstGeom prst="rect">
            <a:avLst/>
          </a:prstGeom>
        </p:spPr>
      </p:pic>
      <p:sp>
        <p:nvSpPr>
          <p:cNvPr id="14" name="a3_txt_119"/>
          <p:cNvSpPr txBox="1"/>
          <p:nvPr/>
        </p:nvSpPr>
        <p:spPr>
          <a:xfrm>
            <a:off x="7982712" y="3685032"/>
            <a:ext cx="3520440"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Permit Receiver</a:t>
            </a:r>
            <a:endParaRPr lang="en-US" sz="2000" dirty="0"/>
          </a:p>
        </p:txBody>
      </p:sp>
      <p:sp>
        <p:nvSpPr>
          <p:cNvPr id="15" name="a3_txt_120"/>
          <p:cNvSpPr txBox="1"/>
          <p:nvPr/>
        </p:nvSpPr>
        <p:spPr>
          <a:xfrm>
            <a:off x="7178040" y="4462272"/>
            <a:ext cx="4279392" cy="5669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Does the work (e.g. Maintenance Supervisor / Foreman)</a:t>
            </a:r>
            <a:endParaRPr lang="en-US" sz="1600" dirty="0"/>
          </a:p>
        </p:txBody>
      </p:sp>
      <p:sp>
        <p:nvSpPr>
          <p:cNvPr id="16" name="a4_box_121"/>
          <p:cNvSpPr/>
          <p:nvPr/>
        </p:nvSpPr>
        <p:spPr>
          <a:xfrm>
            <a:off x="548640" y="5257800"/>
            <a:ext cx="11094415" cy="960120"/>
          </a:xfrm>
          <a:prstGeom prst="roundRect">
            <a:avLst>
              <a:gd name="adj" fmla="val 11429"/>
            </a:avLst>
          </a:prstGeom>
          <a:solidFill>
            <a:srgbClr val="0B2A3C"/>
          </a:solidFill>
          <a:ln/>
        </p:spPr>
      </p:sp>
      <p:sp>
        <p:nvSpPr>
          <p:cNvPr id="17" name="a4_txt_122"/>
          <p:cNvSpPr txBox="1"/>
          <p:nvPr/>
        </p:nvSpPr>
        <p:spPr>
          <a:xfrm>
            <a:off x="822960" y="5303520"/>
            <a:ext cx="10545775" cy="868680"/>
          </a:xfrm>
          <a:prstGeom prst="rect">
            <a:avLst/>
          </a:prstGeom>
          <a:noFill/>
          <a:ln/>
        </p:spPr>
        <p:txBody>
          <a:bodyPr wrap="square" lIns="635" tIns="635" rIns="635" bIns="635"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Purpose: protect people, assets, the environment and the plant’s operational integrity.</a:t>
            </a:r>
            <a:endParaRPr lang="en-US" sz="21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7 Questions Every Permit Must Answer</a:t>
            </a:r>
            <a:endParaRPr lang="en-US" sz="3200" dirty="0"/>
          </a:p>
        </p:txBody>
      </p:sp>
      <p:sp>
        <p:nvSpPr>
          <p:cNvPr id="3" name="txt_123"/>
          <p:cNvSpPr txBox="1"/>
          <p:nvPr/>
        </p:nvSpPr>
        <p:spPr>
          <a:xfrm>
            <a:off x="548640" y="1188720"/>
            <a:ext cx="11094415" cy="457200"/>
          </a:xfrm>
          <a:prstGeom prst="rect">
            <a:avLst/>
          </a:prstGeom>
          <a:noFill/>
          <a:ln/>
        </p:spPr>
        <p:txBody>
          <a:bodyPr wrap="square" lIns="635" tIns="635" rIns="635" bIns="635" rtlCol="0" anchor="t"/>
          <a:lstStyle/>
          <a:p>
            <a:pPr indent="0" marL="0">
              <a:buNone/>
            </a:pPr>
            <a:r>
              <a:rPr lang="en-US" sz="2000" i="1" dirty="0">
                <a:solidFill>
                  <a:srgbClr val="5B6B75"/>
                </a:solidFill>
                <a:latin typeface="Calibri" pitchFamily="34" charset="0"/>
                <a:ea typeface="Calibri" pitchFamily="34" charset="-122"/>
                <a:cs typeface="Calibri" pitchFamily="34" charset="-120"/>
              </a:rPr>
              <a:t>Before any tool is lifted or any valve is turned, the PTW answers:</a:t>
            </a:r>
            <a:endParaRPr lang="en-US" sz="2000" dirty="0"/>
          </a:p>
        </p:txBody>
      </p:sp>
      <p:sp>
        <p:nvSpPr>
          <p:cNvPr id="4" name="a1_box_124"/>
          <p:cNvSpPr/>
          <p:nvPr/>
        </p:nvSpPr>
        <p:spPr>
          <a:xfrm>
            <a:off x="548640" y="173736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5" name="a1_circ_125"/>
          <p:cNvSpPr/>
          <p:nvPr/>
        </p:nvSpPr>
        <p:spPr>
          <a:xfrm>
            <a:off x="731520" y="1920240"/>
            <a:ext cx="685800" cy="685800"/>
          </a:xfrm>
          <a:prstGeom prst="ellipse">
            <a:avLst/>
          </a:prstGeom>
          <a:solidFill>
            <a:srgbClr val="0F6E7A"/>
          </a:solidFill>
          <a:ln/>
        </p:spPr>
      </p:sp>
      <p:pic>
        <p:nvPicPr>
          <p:cNvPr id="6" name="a1_icon_126" descr="preencoded.png">    </p:cNvPr>
          <p:cNvPicPr>
            <a:picLocks noChangeAspect="1"/>
          </p:cNvPicPr>
          <p:nvPr/>
        </p:nvPicPr>
        <p:blipFill>
          <a:blip r:embed="rId1"/>
          <a:stretch>
            <a:fillRect/>
          </a:stretch>
        </p:blipFill>
        <p:spPr>
          <a:xfrm>
            <a:off x="885825" y="2074545"/>
            <a:ext cx="377190" cy="377190"/>
          </a:xfrm>
          <a:prstGeom prst="rect">
            <a:avLst/>
          </a:prstGeom>
        </p:spPr>
      </p:pic>
      <p:sp>
        <p:nvSpPr>
          <p:cNvPr id="7" name="a1_txt_127"/>
          <p:cNvSpPr txBox="1"/>
          <p:nvPr/>
        </p:nvSpPr>
        <p:spPr>
          <a:xfrm>
            <a:off x="1581912" y="190195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WHAT &amp; WHERE?</a:t>
            </a:r>
            <a:endParaRPr lang="en-US" sz="1900" dirty="0"/>
          </a:p>
        </p:txBody>
      </p:sp>
      <p:sp>
        <p:nvSpPr>
          <p:cNvPr id="8" name="a1_txt_128"/>
          <p:cNvSpPr txBox="1"/>
          <p:nvPr/>
        </p:nvSpPr>
        <p:spPr>
          <a:xfrm>
            <a:off x="777240" y="267919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Exactly what work, and exactly where</a:t>
            </a:r>
            <a:endParaRPr lang="en-US" sz="1800" dirty="0"/>
          </a:p>
        </p:txBody>
      </p:sp>
      <p:sp>
        <p:nvSpPr>
          <p:cNvPr id="9" name="a2_box_129"/>
          <p:cNvSpPr/>
          <p:nvPr/>
        </p:nvSpPr>
        <p:spPr>
          <a:xfrm>
            <a:off x="3372536" y="173736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a2_circ_130"/>
          <p:cNvSpPr/>
          <p:nvPr/>
        </p:nvSpPr>
        <p:spPr>
          <a:xfrm>
            <a:off x="3555416" y="1920240"/>
            <a:ext cx="685800" cy="685800"/>
          </a:xfrm>
          <a:prstGeom prst="ellipse">
            <a:avLst/>
          </a:prstGeom>
          <a:solidFill>
            <a:srgbClr val="0F6E7A"/>
          </a:solidFill>
          <a:ln/>
        </p:spPr>
      </p:sp>
      <p:pic>
        <p:nvPicPr>
          <p:cNvPr id="11" name="a2_icon_131" descr="preencoded.png">    </p:cNvPr>
          <p:cNvPicPr>
            <a:picLocks noChangeAspect="1"/>
          </p:cNvPicPr>
          <p:nvPr/>
        </p:nvPicPr>
        <p:blipFill>
          <a:blip r:embed="rId2"/>
          <a:stretch>
            <a:fillRect/>
          </a:stretch>
        </p:blipFill>
        <p:spPr>
          <a:xfrm>
            <a:off x="3709721" y="2074545"/>
            <a:ext cx="377190" cy="377190"/>
          </a:xfrm>
          <a:prstGeom prst="rect">
            <a:avLst/>
          </a:prstGeom>
        </p:spPr>
      </p:pic>
      <p:sp>
        <p:nvSpPr>
          <p:cNvPr id="12" name="a2_txt_132"/>
          <p:cNvSpPr txBox="1"/>
          <p:nvPr/>
        </p:nvSpPr>
        <p:spPr>
          <a:xfrm>
            <a:off x="4405808" y="190195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WHEN?</a:t>
            </a:r>
            <a:endParaRPr lang="en-US" sz="1900" dirty="0"/>
          </a:p>
        </p:txBody>
      </p:sp>
      <p:sp>
        <p:nvSpPr>
          <p:cNvPr id="13" name="a2_txt_133"/>
          <p:cNvSpPr txBox="1"/>
          <p:nvPr/>
        </p:nvSpPr>
        <p:spPr>
          <a:xfrm>
            <a:off x="3601136" y="267919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When will it be done, and for how long?</a:t>
            </a:r>
            <a:endParaRPr lang="en-US" sz="1800" dirty="0"/>
          </a:p>
        </p:txBody>
      </p:sp>
      <p:sp>
        <p:nvSpPr>
          <p:cNvPr id="14" name="a3_box_134"/>
          <p:cNvSpPr/>
          <p:nvPr/>
        </p:nvSpPr>
        <p:spPr>
          <a:xfrm>
            <a:off x="6196432" y="173736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5" name="a3_circ_135"/>
          <p:cNvSpPr/>
          <p:nvPr/>
        </p:nvSpPr>
        <p:spPr>
          <a:xfrm>
            <a:off x="6379312" y="1920240"/>
            <a:ext cx="685800" cy="685800"/>
          </a:xfrm>
          <a:prstGeom prst="ellipse">
            <a:avLst/>
          </a:prstGeom>
          <a:solidFill>
            <a:srgbClr val="0F6E7A"/>
          </a:solidFill>
          <a:ln/>
        </p:spPr>
      </p:sp>
      <p:pic>
        <p:nvPicPr>
          <p:cNvPr id="16" name="a3_icon_136" descr="preencoded.png">    </p:cNvPr>
          <p:cNvPicPr>
            <a:picLocks noChangeAspect="1"/>
          </p:cNvPicPr>
          <p:nvPr/>
        </p:nvPicPr>
        <p:blipFill>
          <a:blip r:embed="rId3"/>
          <a:stretch>
            <a:fillRect/>
          </a:stretch>
        </p:blipFill>
        <p:spPr>
          <a:xfrm>
            <a:off x="6533617" y="2074545"/>
            <a:ext cx="377190" cy="377190"/>
          </a:xfrm>
          <a:prstGeom prst="rect">
            <a:avLst/>
          </a:prstGeom>
        </p:spPr>
      </p:pic>
      <p:sp>
        <p:nvSpPr>
          <p:cNvPr id="17" name="a3_txt_137"/>
          <p:cNvSpPr txBox="1"/>
          <p:nvPr/>
        </p:nvSpPr>
        <p:spPr>
          <a:xfrm>
            <a:off x="7229704" y="190195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WHO?</a:t>
            </a:r>
            <a:endParaRPr lang="en-US" sz="1900" dirty="0"/>
          </a:p>
        </p:txBody>
      </p:sp>
      <p:sp>
        <p:nvSpPr>
          <p:cNvPr id="18" name="a3_txt_138"/>
          <p:cNvSpPr txBox="1"/>
          <p:nvPr/>
        </p:nvSpPr>
        <p:spPr>
          <a:xfrm>
            <a:off x="6425032" y="267919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Who will do it – are they competent?</a:t>
            </a:r>
            <a:endParaRPr lang="en-US" sz="1800" dirty="0"/>
          </a:p>
        </p:txBody>
      </p:sp>
      <p:sp>
        <p:nvSpPr>
          <p:cNvPr id="19" name="a4_box_139"/>
          <p:cNvSpPr/>
          <p:nvPr/>
        </p:nvSpPr>
        <p:spPr>
          <a:xfrm>
            <a:off x="9020327" y="173736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0" name="a4_circ_140"/>
          <p:cNvSpPr/>
          <p:nvPr/>
        </p:nvSpPr>
        <p:spPr>
          <a:xfrm>
            <a:off x="9203207" y="1920240"/>
            <a:ext cx="685800" cy="685800"/>
          </a:xfrm>
          <a:prstGeom prst="ellipse">
            <a:avLst/>
          </a:prstGeom>
          <a:solidFill>
            <a:srgbClr val="C0392B"/>
          </a:solidFill>
          <a:ln/>
        </p:spPr>
      </p:sp>
      <p:pic>
        <p:nvPicPr>
          <p:cNvPr id="21" name="a4_icon_141" descr="preencoded.png">    </p:cNvPr>
          <p:cNvPicPr>
            <a:picLocks noChangeAspect="1"/>
          </p:cNvPicPr>
          <p:nvPr/>
        </p:nvPicPr>
        <p:blipFill>
          <a:blip r:embed="rId4"/>
          <a:stretch>
            <a:fillRect/>
          </a:stretch>
        </p:blipFill>
        <p:spPr>
          <a:xfrm>
            <a:off x="9357512" y="2074545"/>
            <a:ext cx="377190" cy="377190"/>
          </a:xfrm>
          <a:prstGeom prst="rect">
            <a:avLst/>
          </a:prstGeom>
        </p:spPr>
      </p:pic>
      <p:sp>
        <p:nvSpPr>
          <p:cNvPr id="22" name="a4_txt_142"/>
          <p:cNvSpPr txBox="1"/>
          <p:nvPr/>
        </p:nvSpPr>
        <p:spPr>
          <a:xfrm>
            <a:off x="10053599" y="190195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HAZARDS?</a:t>
            </a:r>
            <a:endParaRPr lang="en-US" sz="1900" dirty="0"/>
          </a:p>
        </p:txBody>
      </p:sp>
      <p:sp>
        <p:nvSpPr>
          <p:cNvPr id="23" name="a4_txt_143"/>
          <p:cNvSpPr txBox="1"/>
          <p:nvPr/>
        </p:nvSpPr>
        <p:spPr>
          <a:xfrm>
            <a:off x="9248927" y="267919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What hazards exist for this task, here, now?</a:t>
            </a:r>
            <a:endParaRPr lang="en-US" sz="1800" dirty="0"/>
          </a:p>
        </p:txBody>
      </p:sp>
      <p:sp>
        <p:nvSpPr>
          <p:cNvPr id="24" name="a5_box_144"/>
          <p:cNvSpPr/>
          <p:nvPr/>
        </p:nvSpPr>
        <p:spPr>
          <a:xfrm>
            <a:off x="1960588" y="416052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5" name="a5_circ_145"/>
          <p:cNvSpPr/>
          <p:nvPr/>
        </p:nvSpPr>
        <p:spPr>
          <a:xfrm>
            <a:off x="2143468" y="4343400"/>
            <a:ext cx="685800" cy="685800"/>
          </a:xfrm>
          <a:prstGeom prst="ellipse">
            <a:avLst/>
          </a:prstGeom>
          <a:solidFill>
            <a:srgbClr val="2E7D32"/>
          </a:solidFill>
          <a:ln/>
        </p:spPr>
      </p:sp>
      <p:pic>
        <p:nvPicPr>
          <p:cNvPr id="26" name="a5_icon_146" descr="preencoded.png">    </p:cNvPr>
          <p:cNvPicPr>
            <a:picLocks noChangeAspect="1"/>
          </p:cNvPicPr>
          <p:nvPr/>
        </p:nvPicPr>
        <p:blipFill>
          <a:blip r:embed="rId5"/>
          <a:stretch>
            <a:fillRect/>
          </a:stretch>
        </p:blipFill>
        <p:spPr>
          <a:xfrm>
            <a:off x="2297773" y="4497705"/>
            <a:ext cx="377190" cy="377190"/>
          </a:xfrm>
          <a:prstGeom prst="rect">
            <a:avLst/>
          </a:prstGeom>
        </p:spPr>
      </p:pic>
      <p:sp>
        <p:nvSpPr>
          <p:cNvPr id="27" name="a5_txt_147"/>
          <p:cNvSpPr txBox="1"/>
          <p:nvPr/>
        </p:nvSpPr>
        <p:spPr>
          <a:xfrm>
            <a:off x="2993860" y="432511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CONTROLS?</a:t>
            </a:r>
            <a:endParaRPr lang="en-US" sz="1900" dirty="0"/>
          </a:p>
        </p:txBody>
      </p:sp>
      <p:sp>
        <p:nvSpPr>
          <p:cNvPr id="28" name="a5_txt_148"/>
          <p:cNvSpPr txBox="1"/>
          <p:nvPr/>
        </p:nvSpPr>
        <p:spPr>
          <a:xfrm>
            <a:off x="2189188" y="510235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What controls &amp; isolations are needed – and verified?</a:t>
            </a:r>
            <a:endParaRPr lang="en-US" sz="1800" dirty="0"/>
          </a:p>
        </p:txBody>
      </p:sp>
      <p:sp>
        <p:nvSpPr>
          <p:cNvPr id="29" name="a6_box_149"/>
          <p:cNvSpPr/>
          <p:nvPr/>
        </p:nvSpPr>
        <p:spPr>
          <a:xfrm>
            <a:off x="4784484" y="416052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0" name="a6_circ_150"/>
          <p:cNvSpPr/>
          <p:nvPr/>
        </p:nvSpPr>
        <p:spPr>
          <a:xfrm>
            <a:off x="4967364" y="4343400"/>
            <a:ext cx="685800" cy="685800"/>
          </a:xfrm>
          <a:prstGeom prst="ellipse">
            <a:avLst/>
          </a:prstGeom>
          <a:solidFill>
            <a:srgbClr val="E8771E"/>
          </a:solidFill>
          <a:ln/>
        </p:spPr>
      </p:sp>
      <p:pic>
        <p:nvPicPr>
          <p:cNvPr id="31" name="a6_icon_151" descr="preencoded.png">    </p:cNvPr>
          <p:cNvPicPr>
            <a:picLocks noChangeAspect="1"/>
          </p:cNvPicPr>
          <p:nvPr/>
        </p:nvPicPr>
        <p:blipFill>
          <a:blip r:embed="rId6"/>
          <a:stretch>
            <a:fillRect/>
          </a:stretch>
        </p:blipFill>
        <p:spPr>
          <a:xfrm>
            <a:off x="5121669" y="4497705"/>
            <a:ext cx="377190" cy="377190"/>
          </a:xfrm>
          <a:prstGeom prst="rect">
            <a:avLst/>
          </a:prstGeom>
        </p:spPr>
      </p:pic>
      <p:sp>
        <p:nvSpPr>
          <p:cNvPr id="32" name="a6_txt_152"/>
          <p:cNvSpPr txBox="1"/>
          <p:nvPr/>
        </p:nvSpPr>
        <p:spPr>
          <a:xfrm>
            <a:off x="5817756" y="432511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EMERGENCY?</a:t>
            </a:r>
            <a:endParaRPr lang="en-US" sz="1900" dirty="0"/>
          </a:p>
        </p:txBody>
      </p:sp>
      <p:sp>
        <p:nvSpPr>
          <p:cNvPr id="33" name="a6_txt_153"/>
          <p:cNvSpPr txBox="1"/>
          <p:nvPr/>
        </p:nvSpPr>
        <p:spPr>
          <a:xfrm>
            <a:off x="5013084" y="510235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What if conditions change or something goes wrong?</a:t>
            </a:r>
            <a:endParaRPr lang="en-US" sz="1800" dirty="0"/>
          </a:p>
        </p:txBody>
      </p:sp>
      <p:sp>
        <p:nvSpPr>
          <p:cNvPr id="34" name="a7_box_154"/>
          <p:cNvSpPr/>
          <p:nvPr/>
        </p:nvSpPr>
        <p:spPr>
          <a:xfrm>
            <a:off x="7608380" y="4160520"/>
            <a:ext cx="2622728"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5" name="a7_circ_155"/>
          <p:cNvSpPr/>
          <p:nvPr/>
        </p:nvSpPr>
        <p:spPr>
          <a:xfrm>
            <a:off x="7791259" y="4343400"/>
            <a:ext cx="685800" cy="685800"/>
          </a:xfrm>
          <a:prstGeom prst="ellipse">
            <a:avLst/>
          </a:prstGeom>
          <a:solidFill>
            <a:srgbClr val="0B2A3C"/>
          </a:solidFill>
          <a:ln/>
        </p:spPr>
      </p:sp>
      <p:pic>
        <p:nvPicPr>
          <p:cNvPr id="36" name="a7_icon_156" descr="preencoded.png">    </p:cNvPr>
          <p:cNvPicPr>
            <a:picLocks noChangeAspect="1"/>
          </p:cNvPicPr>
          <p:nvPr/>
        </p:nvPicPr>
        <p:blipFill>
          <a:blip r:embed="rId7"/>
          <a:stretch>
            <a:fillRect/>
          </a:stretch>
        </p:blipFill>
        <p:spPr>
          <a:xfrm>
            <a:off x="7945564" y="4497705"/>
            <a:ext cx="377190" cy="377190"/>
          </a:xfrm>
          <a:prstGeom prst="rect">
            <a:avLst/>
          </a:prstGeom>
        </p:spPr>
      </p:pic>
      <p:sp>
        <p:nvSpPr>
          <p:cNvPr id="37" name="a7_txt_157"/>
          <p:cNvSpPr txBox="1"/>
          <p:nvPr/>
        </p:nvSpPr>
        <p:spPr>
          <a:xfrm>
            <a:off x="8641651" y="4325112"/>
            <a:ext cx="1452296"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RESTORE?</a:t>
            </a:r>
            <a:endParaRPr lang="en-US" sz="1900" dirty="0"/>
          </a:p>
        </p:txBody>
      </p:sp>
      <p:sp>
        <p:nvSpPr>
          <p:cNvPr id="38" name="a7_txt_158"/>
          <p:cNvSpPr txBox="1"/>
          <p:nvPr/>
        </p:nvSpPr>
        <p:spPr>
          <a:xfrm>
            <a:off x="7836980" y="5102352"/>
            <a:ext cx="2211248"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How will the area be made safe and operable again?</a:t>
            </a:r>
            <a:endParaRPr lang="en-US" sz="1800" dirty="0"/>
          </a:p>
        </p:txBody>
      </p:sp>
      <p:sp>
        <p:nvSpPr>
          <p:cNvPr id="3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500"/>
                                        <p:tgtEl>
                                          <p:spTgt spid="3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500"/>
                                        <p:tgtEl>
                                          <p:spTgt spid="3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5" dur="500"/>
                                        <p:tgtEl>
                                          <p:spTgt spid="3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8" dur="500"/>
                                        <p:tgtEl>
                                          <p:spTgt spid="37"/>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irc_159"/>
          <p:cNvSpPr/>
          <p:nvPr/>
        </p:nvSpPr>
        <p:spPr>
          <a:xfrm>
            <a:off x="5547208" y="640080"/>
            <a:ext cx="1097280" cy="1097280"/>
          </a:xfrm>
          <a:prstGeom prst="ellipse">
            <a:avLst/>
          </a:prstGeom>
          <a:solidFill>
            <a:srgbClr val="E8771E"/>
          </a:solidFill>
          <a:ln/>
        </p:spPr>
      </p:sp>
      <p:pic>
        <p:nvPicPr>
          <p:cNvPr id="3" name="icon_160" descr="preencoded.png">    </p:cNvPr>
          <p:cNvPicPr>
            <a:picLocks noChangeAspect="1"/>
          </p:cNvPicPr>
          <p:nvPr/>
        </p:nvPicPr>
        <p:blipFill>
          <a:blip r:embed="rId1"/>
          <a:stretch>
            <a:fillRect/>
          </a:stretch>
        </p:blipFill>
        <p:spPr>
          <a:xfrm>
            <a:off x="5794096" y="886968"/>
            <a:ext cx="603504" cy="603504"/>
          </a:xfrm>
          <a:prstGeom prst="rect">
            <a:avLst/>
          </a:prstGeom>
        </p:spPr>
      </p:pic>
      <p:sp>
        <p:nvSpPr>
          <p:cNvPr id="4" name="txt_161"/>
          <p:cNvSpPr txBox="1"/>
          <p:nvPr/>
        </p:nvSpPr>
        <p:spPr>
          <a:xfrm>
            <a:off x="548640" y="1874520"/>
            <a:ext cx="11094415" cy="411480"/>
          </a:xfrm>
          <a:prstGeom prst="rect">
            <a:avLst/>
          </a:prstGeom>
          <a:noFill/>
          <a:ln/>
        </p:spPr>
        <p:txBody>
          <a:bodyPr wrap="square" lIns="635" tIns="635" rIns="635" bIns="635" rtlCol="0" anchor="t"/>
          <a:lstStyle/>
          <a:p>
            <a:pPr algn="ctr" indent="0" marL="0">
              <a:buNone/>
            </a:pPr>
            <a:r>
              <a:rPr lang="en-US" sz="1800" b="1" spc="400" kern="0" dirty="0">
                <a:solidFill>
                  <a:srgbClr val="E8771E"/>
                </a:solidFill>
                <a:latin typeface="Calibri" pitchFamily="34" charset="0"/>
                <a:ea typeface="Calibri" pitchFamily="34" charset="-122"/>
                <a:cs typeface="Calibri" pitchFamily="34" charset="-120"/>
              </a:rPr>
              <a:t>KEY MESSAGE</a:t>
            </a:r>
            <a:endParaRPr lang="en-US" sz="1800" dirty="0"/>
          </a:p>
        </p:txBody>
      </p:sp>
      <p:sp>
        <p:nvSpPr>
          <p:cNvPr id="5" name="txt_162"/>
          <p:cNvSpPr txBox="1"/>
          <p:nvPr/>
        </p:nvSpPr>
        <p:spPr>
          <a:xfrm>
            <a:off x="548640" y="2286000"/>
            <a:ext cx="11094415" cy="109728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A permit is NOT just a piece of paper</a:t>
            </a:r>
            <a:endParaRPr lang="en-US" sz="3400" dirty="0"/>
          </a:p>
        </p:txBody>
      </p:sp>
      <p:sp>
        <p:nvSpPr>
          <p:cNvPr id="6" name="a1_box_163"/>
          <p:cNvSpPr/>
          <p:nvPr/>
        </p:nvSpPr>
        <p:spPr>
          <a:xfrm>
            <a:off x="548640" y="3794760"/>
            <a:ext cx="2036003" cy="1463040"/>
          </a:xfrm>
          <a:prstGeom prst="roundRect">
            <a:avLst>
              <a:gd name="adj" fmla="val 7500"/>
            </a:avLst>
          </a:prstGeom>
          <a:solidFill>
            <a:srgbClr val="123B52"/>
          </a:solidFill>
          <a:ln w="12700">
            <a:solidFill>
              <a:srgbClr val="2C5873"/>
            </a:solidFill>
            <a:prstDash val="solid"/>
          </a:ln>
        </p:spPr>
      </p:sp>
      <p:sp>
        <p:nvSpPr>
          <p:cNvPr id="7" name="a1_txt_164"/>
          <p:cNvSpPr txBox="1"/>
          <p:nvPr/>
        </p:nvSpPr>
        <p:spPr>
          <a:xfrm>
            <a:off x="658368" y="3840480"/>
            <a:ext cx="1816547"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Walk the worksite</a:t>
            </a:r>
            <a:endParaRPr lang="en-US" sz="2000" dirty="0"/>
          </a:p>
        </p:txBody>
      </p:sp>
      <p:sp>
        <p:nvSpPr>
          <p:cNvPr id="8" name="a2_box_165"/>
          <p:cNvSpPr/>
          <p:nvPr/>
        </p:nvSpPr>
        <p:spPr>
          <a:xfrm>
            <a:off x="2813243" y="3794760"/>
            <a:ext cx="2036003" cy="1463040"/>
          </a:xfrm>
          <a:prstGeom prst="roundRect">
            <a:avLst>
              <a:gd name="adj" fmla="val 7500"/>
            </a:avLst>
          </a:prstGeom>
          <a:solidFill>
            <a:srgbClr val="123B52"/>
          </a:solidFill>
          <a:ln w="12700">
            <a:solidFill>
              <a:srgbClr val="2C5873"/>
            </a:solidFill>
            <a:prstDash val="solid"/>
          </a:ln>
        </p:spPr>
      </p:sp>
      <p:sp>
        <p:nvSpPr>
          <p:cNvPr id="9" name="a2_txt_166"/>
          <p:cNvSpPr txBox="1"/>
          <p:nvPr/>
        </p:nvSpPr>
        <p:spPr>
          <a:xfrm>
            <a:off x="2922971" y="3840480"/>
            <a:ext cx="1816547"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Find the hazards</a:t>
            </a:r>
            <a:endParaRPr lang="en-US" sz="2000" dirty="0"/>
          </a:p>
        </p:txBody>
      </p:sp>
      <p:sp>
        <p:nvSpPr>
          <p:cNvPr id="10" name="a3_box_167"/>
          <p:cNvSpPr/>
          <p:nvPr/>
        </p:nvSpPr>
        <p:spPr>
          <a:xfrm>
            <a:off x="5077846" y="3794760"/>
            <a:ext cx="2036003" cy="1463040"/>
          </a:xfrm>
          <a:prstGeom prst="roundRect">
            <a:avLst>
              <a:gd name="adj" fmla="val 7500"/>
            </a:avLst>
          </a:prstGeom>
          <a:solidFill>
            <a:srgbClr val="123B52"/>
          </a:solidFill>
          <a:ln w="12700">
            <a:solidFill>
              <a:srgbClr val="2C5873"/>
            </a:solidFill>
            <a:prstDash val="solid"/>
          </a:ln>
        </p:spPr>
      </p:sp>
      <p:sp>
        <p:nvSpPr>
          <p:cNvPr id="11" name="a3_txt_168"/>
          <p:cNvSpPr txBox="1"/>
          <p:nvPr/>
        </p:nvSpPr>
        <p:spPr>
          <a:xfrm>
            <a:off x="5187574" y="3840480"/>
            <a:ext cx="1816547"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Agree the controls</a:t>
            </a:r>
            <a:endParaRPr lang="en-US" sz="2000" dirty="0"/>
          </a:p>
        </p:txBody>
      </p:sp>
      <p:sp>
        <p:nvSpPr>
          <p:cNvPr id="12" name="a4_box_169"/>
          <p:cNvSpPr/>
          <p:nvPr/>
        </p:nvSpPr>
        <p:spPr>
          <a:xfrm>
            <a:off x="7342449" y="3794760"/>
            <a:ext cx="2036003" cy="1463040"/>
          </a:xfrm>
          <a:prstGeom prst="roundRect">
            <a:avLst>
              <a:gd name="adj" fmla="val 7500"/>
            </a:avLst>
          </a:prstGeom>
          <a:solidFill>
            <a:srgbClr val="123B52"/>
          </a:solidFill>
          <a:ln w="12700">
            <a:solidFill>
              <a:srgbClr val="2C5873"/>
            </a:solidFill>
            <a:prstDash val="solid"/>
          </a:ln>
        </p:spPr>
      </p:sp>
      <p:sp>
        <p:nvSpPr>
          <p:cNvPr id="13" name="a4_txt_170"/>
          <p:cNvSpPr txBox="1"/>
          <p:nvPr/>
        </p:nvSpPr>
        <p:spPr>
          <a:xfrm>
            <a:off x="7452177" y="3840480"/>
            <a:ext cx="1816547"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Physically verify isolations</a:t>
            </a:r>
            <a:endParaRPr lang="en-US" sz="2000" dirty="0"/>
          </a:p>
        </p:txBody>
      </p:sp>
      <p:sp>
        <p:nvSpPr>
          <p:cNvPr id="14" name="a5_box_171"/>
          <p:cNvSpPr/>
          <p:nvPr/>
        </p:nvSpPr>
        <p:spPr>
          <a:xfrm>
            <a:off x="9607052" y="3794760"/>
            <a:ext cx="2036003" cy="1463040"/>
          </a:xfrm>
          <a:prstGeom prst="roundRect">
            <a:avLst>
              <a:gd name="adj" fmla="val 7500"/>
            </a:avLst>
          </a:prstGeom>
          <a:solidFill>
            <a:srgbClr val="123B52"/>
          </a:solidFill>
          <a:ln w="12700">
            <a:solidFill>
              <a:srgbClr val="2C5873"/>
            </a:solidFill>
            <a:prstDash val="solid"/>
          </a:ln>
        </p:spPr>
      </p:sp>
      <p:sp>
        <p:nvSpPr>
          <p:cNvPr id="15" name="a5_txt_172"/>
          <p:cNvSpPr txBox="1"/>
          <p:nvPr/>
        </p:nvSpPr>
        <p:spPr>
          <a:xfrm>
            <a:off x="9716780" y="3840480"/>
            <a:ext cx="1816547"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Brief the crew face-to-face</a:t>
            </a:r>
            <a:endParaRPr lang="en-US" sz="2000" dirty="0"/>
          </a:p>
        </p:txBody>
      </p:sp>
      <p:sp>
        <p:nvSpPr>
          <p:cNvPr id="16"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What Can Go Wrong? Without vs. With PTW</a:t>
            </a:r>
            <a:endParaRPr lang="en-US" sz="3200" dirty="0"/>
          </a:p>
        </p:txBody>
      </p:sp>
      <p:sp>
        <p:nvSpPr>
          <p:cNvPr id="3" name="txt_173"/>
          <p:cNvSpPr txBox="1"/>
          <p:nvPr/>
        </p:nvSpPr>
        <p:spPr>
          <a:xfrm>
            <a:off x="548640" y="1188720"/>
            <a:ext cx="11094415" cy="457200"/>
          </a:xfrm>
          <a:prstGeom prst="rect">
            <a:avLst/>
          </a:prstGeom>
          <a:noFill/>
          <a:ln/>
        </p:spPr>
        <p:txBody>
          <a:bodyPr wrap="square" lIns="635" tIns="635" rIns="635" bIns="635" rtlCol="0" anchor="t"/>
          <a:lstStyle/>
          <a:p>
            <a:pPr indent="0" marL="0">
              <a:buNone/>
            </a:pPr>
            <a:r>
              <a:rPr lang="en-US" sz="1900" i="1" dirty="0">
                <a:solidFill>
                  <a:srgbClr val="5B6B75"/>
                </a:solidFill>
                <a:latin typeface="Calibri" pitchFamily="34" charset="0"/>
                <a:ea typeface="Calibri" pitchFamily="34" charset="-122"/>
                <a:cs typeface="Calibri" pitchFamily="34" charset="-120"/>
              </a:rPr>
              <a:t>Example: a flange must be opened on a process line that contained flammable gas and H₂S</a:t>
            </a:r>
            <a:endParaRPr lang="en-US" sz="1900" dirty="0"/>
          </a:p>
        </p:txBody>
      </p:sp>
      <p:sp>
        <p:nvSpPr>
          <p:cNvPr id="4" name="a1_box_174"/>
          <p:cNvSpPr/>
          <p:nvPr/>
        </p:nvSpPr>
        <p:spPr>
          <a:xfrm>
            <a:off x="548640" y="1737360"/>
            <a:ext cx="11094415" cy="1965960"/>
          </a:xfrm>
          <a:prstGeom prst="roundRect">
            <a:avLst>
              <a:gd name="adj" fmla="val 5581"/>
            </a:avLst>
          </a:prstGeom>
          <a:solidFill>
            <a:srgbClr val="F8E0DD"/>
          </a:solidFill>
          <a:ln/>
        </p:spPr>
      </p:sp>
      <p:pic>
        <p:nvPicPr>
          <p:cNvPr id="5" name="a1_icon_175" descr="preencoded.png">    </p:cNvPr>
          <p:cNvPicPr>
            <a:picLocks noChangeAspect="1"/>
          </p:cNvPicPr>
          <p:nvPr/>
        </p:nvPicPr>
        <p:blipFill>
          <a:blip r:embed="rId1"/>
          <a:stretch>
            <a:fillRect/>
          </a:stretch>
        </p:blipFill>
        <p:spPr>
          <a:xfrm>
            <a:off x="731520" y="1828800"/>
            <a:ext cx="457200" cy="457200"/>
          </a:xfrm>
          <a:prstGeom prst="rect">
            <a:avLst/>
          </a:prstGeom>
        </p:spPr>
      </p:pic>
      <p:sp>
        <p:nvSpPr>
          <p:cNvPr id="6" name="a1_txt_176"/>
          <p:cNvSpPr txBox="1"/>
          <p:nvPr/>
        </p:nvSpPr>
        <p:spPr>
          <a:xfrm>
            <a:off x="1280160" y="1810512"/>
            <a:ext cx="5486400" cy="502920"/>
          </a:xfrm>
          <a:prstGeom prst="rect">
            <a:avLst/>
          </a:prstGeom>
          <a:noFill/>
          <a:ln/>
        </p:spPr>
        <p:txBody>
          <a:bodyPr wrap="square" lIns="635" tIns="635" rIns="635" bIns="635" rtlCol="0" anchor="ctr"/>
          <a:lstStyle/>
          <a:p>
            <a:pPr indent="0" marL="0">
              <a:buNone/>
            </a:pPr>
            <a:r>
              <a:rPr lang="en-US" sz="2000" b="1" dirty="0">
                <a:solidFill>
                  <a:srgbClr val="C0392B"/>
                </a:solidFill>
                <a:latin typeface="Calibri" pitchFamily="34" charset="0"/>
                <a:ea typeface="Calibri" pitchFamily="34" charset="-122"/>
                <a:cs typeface="Calibri" pitchFamily="34" charset="-120"/>
              </a:rPr>
              <a:t>WITHOUT an effective PTW</a:t>
            </a:r>
            <a:endParaRPr lang="en-US" sz="2000" dirty="0"/>
          </a:p>
        </p:txBody>
      </p:sp>
      <p:sp>
        <p:nvSpPr>
          <p:cNvPr id="7" name="box_177"/>
          <p:cNvSpPr/>
          <p:nvPr/>
        </p:nvSpPr>
        <p:spPr>
          <a:xfrm>
            <a:off x="731520" y="2377440"/>
            <a:ext cx="2014057" cy="1188720"/>
          </a:xfrm>
          <a:prstGeom prst="roundRect">
            <a:avLst>
              <a:gd name="adj" fmla="val 923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8" name="box_178"/>
          <p:cNvSpPr/>
          <p:nvPr/>
        </p:nvSpPr>
        <p:spPr>
          <a:xfrm>
            <a:off x="731520" y="2377440"/>
            <a:ext cx="2014057" cy="566928"/>
          </a:xfrm>
          <a:prstGeom prst="rect">
            <a:avLst/>
          </a:prstGeom>
          <a:solidFill>
            <a:srgbClr val="C0392B"/>
          </a:solidFill>
          <a:ln/>
        </p:spPr>
      </p:sp>
      <p:sp>
        <p:nvSpPr>
          <p:cNvPr id="9" name="txt_179"/>
          <p:cNvSpPr txBox="1"/>
          <p:nvPr/>
        </p:nvSpPr>
        <p:spPr>
          <a:xfrm>
            <a:off x="822960" y="3063240"/>
            <a:ext cx="1831177" cy="45720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No permit / tick-box</a:t>
            </a:r>
            <a:endParaRPr lang="en-US" sz="1700" dirty="0"/>
          </a:p>
        </p:txBody>
      </p:sp>
      <p:sp>
        <p:nvSpPr>
          <p:cNvPr id="10" name="box_180"/>
          <p:cNvSpPr/>
          <p:nvPr/>
        </p:nvSpPr>
        <p:spPr>
          <a:xfrm>
            <a:off x="2910169" y="2377440"/>
            <a:ext cx="2014057" cy="1188720"/>
          </a:xfrm>
          <a:prstGeom prst="roundRect">
            <a:avLst>
              <a:gd name="adj" fmla="val 923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1" name="box_181"/>
          <p:cNvSpPr/>
          <p:nvPr/>
        </p:nvSpPr>
        <p:spPr>
          <a:xfrm>
            <a:off x="2910169" y="2377440"/>
            <a:ext cx="2014057" cy="566928"/>
          </a:xfrm>
          <a:prstGeom prst="rect">
            <a:avLst/>
          </a:prstGeom>
          <a:solidFill>
            <a:srgbClr val="C0392B"/>
          </a:solidFill>
          <a:ln/>
        </p:spPr>
      </p:sp>
      <p:sp>
        <p:nvSpPr>
          <p:cNvPr id="12" name="txt_182"/>
          <p:cNvSpPr txBox="1"/>
          <p:nvPr/>
        </p:nvSpPr>
        <p:spPr>
          <a:xfrm>
            <a:off x="3001609" y="3063240"/>
            <a:ext cx="1831177" cy="45720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Hazards not identified</a:t>
            </a:r>
            <a:endParaRPr lang="en-US" sz="1700" dirty="0"/>
          </a:p>
        </p:txBody>
      </p:sp>
      <p:sp>
        <p:nvSpPr>
          <p:cNvPr id="13" name="box_183"/>
          <p:cNvSpPr/>
          <p:nvPr/>
        </p:nvSpPr>
        <p:spPr>
          <a:xfrm>
            <a:off x="5088819" y="2377440"/>
            <a:ext cx="2014057" cy="1188720"/>
          </a:xfrm>
          <a:prstGeom prst="roundRect">
            <a:avLst>
              <a:gd name="adj" fmla="val 923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box_184"/>
          <p:cNvSpPr/>
          <p:nvPr/>
        </p:nvSpPr>
        <p:spPr>
          <a:xfrm>
            <a:off x="5088819" y="2377440"/>
            <a:ext cx="2014057" cy="566928"/>
          </a:xfrm>
          <a:prstGeom prst="rect">
            <a:avLst/>
          </a:prstGeom>
          <a:solidFill>
            <a:srgbClr val="C0392B"/>
          </a:solidFill>
          <a:ln/>
        </p:spPr>
      </p:sp>
      <p:sp>
        <p:nvSpPr>
          <p:cNvPr id="15" name="txt_185"/>
          <p:cNvSpPr txBox="1"/>
          <p:nvPr/>
        </p:nvSpPr>
        <p:spPr>
          <a:xfrm>
            <a:off x="5180259" y="3063240"/>
            <a:ext cx="1831177" cy="45720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Isolation not verified</a:t>
            </a:r>
            <a:endParaRPr lang="en-US" sz="1700" dirty="0"/>
          </a:p>
        </p:txBody>
      </p:sp>
      <p:sp>
        <p:nvSpPr>
          <p:cNvPr id="16" name="box_186"/>
          <p:cNvSpPr/>
          <p:nvPr/>
        </p:nvSpPr>
        <p:spPr>
          <a:xfrm>
            <a:off x="7267468" y="2377440"/>
            <a:ext cx="2014057" cy="1188720"/>
          </a:xfrm>
          <a:prstGeom prst="roundRect">
            <a:avLst>
              <a:gd name="adj" fmla="val 923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box_187"/>
          <p:cNvSpPr/>
          <p:nvPr/>
        </p:nvSpPr>
        <p:spPr>
          <a:xfrm>
            <a:off x="7267468" y="2377440"/>
            <a:ext cx="2014057" cy="566928"/>
          </a:xfrm>
          <a:prstGeom prst="rect">
            <a:avLst/>
          </a:prstGeom>
          <a:solidFill>
            <a:srgbClr val="C0392B"/>
          </a:solidFill>
          <a:ln/>
        </p:spPr>
      </p:sp>
      <p:sp>
        <p:nvSpPr>
          <p:cNvPr id="18" name="txt_188"/>
          <p:cNvSpPr txBox="1"/>
          <p:nvPr/>
        </p:nvSpPr>
        <p:spPr>
          <a:xfrm>
            <a:off x="7358908" y="3063240"/>
            <a:ext cx="1831177" cy="45720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Flange opened</a:t>
            </a:r>
            <a:endParaRPr lang="en-US" sz="1700" dirty="0"/>
          </a:p>
        </p:txBody>
      </p:sp>
      <p:sp>
        <p:nvSpPr>
          <p:cNvPr id="19" name="box_189"/>
          <p:cNvSpPr/>
          <p:nvPr/>
        </p:nvSpPr>
        <p:spPr>
          <a:xfrm>
            <a:off x="9446118" y="2377440"/>
            <a:ext cx="2014057" cy="1188720"/>
          </a:xfrm>
          <a:prstGeom prst="roundRect">
            <a:avLst>
              <a:gd name="adj" fmla="val 923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0" name="box_190"/>
          <p:cNvSpPr/>
          <p:nvPr/>
        </p:nvSpPr>
        <p:spPr>
          <a:xfrm>
            <a:off x="9446118" y="2377440"/>
            <a:ext cx="2014057" cy="566928"/>
          </a:xfrm>
          <a:prstGeom prst="rect">
            <a:avLst/>
          </a:prstGeom>
          <a:solidFill>
            <a:srgbClr val="C0392B"/>
          </a:solidFill>
          <a:ln/>
        </p:spPr>
      </p:sp>
      <p:sp>
        <p:nvSpPr>
          <p:cNvPr id="21" name="txt_191"/>
          <p:cNvSpPr txBox="1"/>
          <p:nvPr/>
        </p:nvSpPr>
        <p:spPr>
          <a:xfrm>
            <a:off x="9537558" y="3063240"/>
            <a:ext cx="1831177" cy="45720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Gas release, fire or exposure</a:t>
            </a:r>
            <a:endParaRPr lang="en-US" sz="1700" dirty="0"/>
          </a:p>
        </p:txBody>
      </p:sp>
      <p:sp>
        <p:nvSpPr>
          <p:cNvPr id="22" name="a2_box_192"/>
          <p:cNvSpPr/>
          <p:nvPr/>
        </p:nvSpPr>
        <p:spPr>
          <a:xfrm>
            <a:off x="548640" y="3931920"/>
            <a:ext cx="11094415" cy="2286000"/>
          </a:xfrm>
          <a:prstGeom prst="roundRect">
            <a:avLst>
              <a:gd name="adj" fmla="val 4800"/>
            </a:avLst>
          </a:prstGeom>
          <a:solidFill>
            <a:srgbClr val="E2F1E3"/>
          </a:solidFill>
          <a:ln/>
        </p:spPr>
      </p:sp>
      <p:pic>
        <p:nvPicPr>
          <p:cNvPr id="23" name="a2_icon_193" descr="preencoded.png">    </p:cNvPr>
          <p:cNvPicPr>
            <a:picLocks noChangeAspect="1"/>
          </p:cNvPicPr>
          <p:nvPr/>
        </p:nvPicPr>
        <p:blipFill>
          <a:blip r:embed="rId2"/>
          <a:stretch>
            <a:fillRect/>
          </a:stretch>
        </p:blipFill>
        <p:spPr>
          <a:xfrm>
            <a:off x="731520" y="4023360"/>
            <a:ext cx="457200" cy="457200"/>
          </a:xfrm>
          <a:prstGeom prst="rect">
            <a:avLst/>
          </a:prstGeom>
        </p:spPr>
      </p:pic>
      <p:sp>
        <p:nvSpPr>
          <p:cNvPr id="24" name="a2_txt_194"/>
          <p:cNvSpPr txBox="1"/>
          <p:nvPr/>
        </p:nvSpPr>
        <p:spPr>
          <a:xfrm>
            <a:off x="1280160" y="4005072"/>
            <a:ext cx="5486400" cy="502920"/>
          </a:xfrm>
          <a:prstGeom prst="rect">
            <a:avLst/>
          </a:prstGeom>
          <a:noFill/>
          <a:ln/>
        </p:spPr>
        <p:txBody>
          <a:bodyPr wrap="square" lIns="635" tIns="635" rIns="635" bIns="635" rtlCol="0" anchor="ctr"/>
          <a:lstStyle/>
          <a:p>
            <a:pPr indent="0" marL="0">
              <a:buNone/>
            </a:pPr>
            <a:r>
              <a:rPr lang="en-US" sz="2000" b="1" dirty="0">
                <a:solidFill>
                  <a:srgbClr val="2E7D32"/>
                </a:solidFill>
                <a:latin typeface="Calibri" pitchFamily="34" charset="0"/>
                <a:ea typeface="Calibri" pitchFamily="34" charset="-122"/>
                <a:cs typeface="Calibri" pitchFamily="34" charset="-120"/>
              </a:rPr>
              <a:t>WITH an effective PTW</a:t>
            </a:r>
            <a:endParaRPr lang="en-US" sz="2000" dirty="0"/>
          </a:p>
        </p:txBody>
      </p:sp>
      <p:sp>
        <p:nvSpPr>
          <p:cNvPr id="25" name="a3w_box_195"/>
          <p:cNvSpPr/>
          <p:nvPr/>
        </p:nvSpPr>
        <p:spPr>
          <a:xfrm>
            <a:off x="731520"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6" name="a3w_box_196"/>
          <p:cNvSpPr/>
          <p:nvPr/>
        </p:nvSpPr>
        <p:spPr>
          <a:xfrm>
            <a:off x="731520" y="4572000"/>
            <a:ext cx="1245070" cy="566928"/>
          </a:xfrm>
          <a:prstGeom prst="rect">
            <a:avLst/>
          </a:prstGeom>
          <a:solidFill>
            <a:srgbClr val="2E7D32"/>
          </a:solidFill>
          <a:ln/>
        </p:spPr>
      </p:sp>
      <p:sp>
        <p:nvSpPr>
          <p:cNvPr id="27" name="a3w_txt_197"/>
          <p:cNvSpPr txBox="1"/>
          <p:nvPr/>
        </p:nvSpPr>
        <p:spPr>
          <a:xfrm>
            <a:off x="822960"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Plan &amp; JSA</a:t>
            </a:r>
            <a:endParaRPr lang="en-US" sz="1700" dirty="0"/>
          </a:p>
        </p:txBody>
      </p:sp>
      <p:sp>
        <p:nvSpPr>
          <p:cNvPr id="28" name="a4w_box_198"/>
          <p:cNvSpPr/>
          <p:nvPr/>
        </p:nvSpPr>
        <p:spPr>
          <a:xfrm>
            <a:off x="2086318"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4w_box_199"/>
          <p:cNvSpPr/>
          <p:nvPr/>
        </p:nvSpPr>
        <p:spPr>
          <a:xfrm>
            <a:off x="2086318" y="4572000"/>
            <a:ext cx="1245070" cy="566928"/>
          </a:xfrm>
          <a:prstGeom prst="rect">
            <a:avLst/>
          </a:prstGeom>
          <a:solidFill>
            <a:srgbClr val="2E7D32"/>
          </a:solidFill>
          <a:ln/>
        </p:spPr>
      </p:sp>
      <p:sp>
        <p:nvSpPr>
          <p:cNvPr id="30" name="a4w_txt_200"/>
          <p:cNvSpPr txBox="1"/>
          <p:nvPr/>
        </p:nvSpPr>
        <p:spPr>
          <a:xfrm>
            <a:off x="2177758"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Identify hazards</a:t>
            </a:r>
            <a:endParaRPr lang="en-US" sz="1700" dirty="0"/>
          </a:p>
        </p:txBody>
      </p:sp>
      <p:sp>
        <p:nvSpPr>
          <p:cNvPr id="31" name="a5w_box_201"/>
          <p:cNvSpPr/>
          <p:nvPr/>
        </p:nvSpPr>
        <p:spPr>
          <a:xfrm>
            <a:off x="3441116"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2" name="a5w_box_202"/>
          <p:cNvSpPr/>
          <p:nvPr/>
        </p:nvSpPr>
        <p:spPr>
          <a:xfrm>
            <a:off x="3441116" y="4572000"/>
            <a:ext cx="1245070" cy="566928"/>
          </a:xfrm>
          <a:prstGeom prst="rect">
            <a:avLst/>
          </a:prstGeom>
          <a:solidFill>
            <a:srgbClr val="2E7D32"/>
          </a:solidFill>
          <a:ln/>
        </p:spPr>
      </p:sp>
      <p:sp>
        <p:nvSpPr>
          <p:cNvPr id="33" name="a5w_txt_203"/>
          <p:cNvSpPr txBox="1"/>
          <p:nvPr/>
        </p:nvSpPr>
        <p:spPr>
          <a:xfrm>
            <a:off x="3532556"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Isolate &amp; lock</a:t>
            </a:r>
            <a:endParaRPr lang="en-US" sz="1700" dirty="0"/>
          </a:p>
        </p:txBody>
      </p:sp>
      <p:sp>
        <p:nvSpPr>
          <p:cNvPr id="34" name="a6w_box_204"/>
          <p:cNvSpPr/>
          <p:nvPr/>
        </p:nvSpPr>
        <p:spPr>
          <a:xfrm>
            <a:off x="4795914"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5" name="a6w_box_205"/>
          <p:cNvSpPr/>
          <p:nvPr/>
        </p:nvSpPr>
        <p:spPr>
          <a:xfrm>
            <a:off x="4795914" y="4572000"/>
            <a:ext cx="1245070" cy="566928"/>
          </a:xfrm>
          <a:prstGeom prst="rect">
            <a:avLst/>
          </a:prstGeom>
          <a:solidFill>
            <a:srgbClr val="2E7D32"/>
          </a:solidFill>
          <a:ln/>
        </p:spPr>
      </p:sp>
      <p:sp>
        <p:nvSpPr>
          <p:cNvPr id="36" name="a6w_txt_206"/>
          <p:cNvSpPr txBox="1"/>
          <p:nvPr/>
        </p:nvSpPr>
        <p:spPr>
          <a:xfrm>
            <a:off x="4887354"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Verify zero energy</a:t>
            </a:r>
            <a:endParaRPr lang="en-US" sz="1700" dirty="0"/>
          </a:p>
        </p:txBody>
      </p:sp>
      <p:sp>
        <p:nvSpPr>
          <p:cNvPr id="37" name="a7w_box_207"/>
          <p:cNvSpPr/>
          <p:nvPr/>
        </p:nvSpPr>
        <p:spPr>
          <a:xfrm>
            <a:off x="6150712"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8" name="a7w_box_208"/>
          <p:cNvSpPr/>
          <p:nvPr/>
        </p:nvSpPr>
        <p:spPr>
          <a:xfrm>
            <a:off x="6150712" y="4572000"/>
            <a:ext cx="1245070" cy="566928"/>
          </a:xfrm>
          <a:prstGeom prst="rect">
            <a:avLst/>
          </a:prstGeom>
          <a:solidFill>
            <a:srgbClr val="2E7D32"/>
          </a:solidFill>
          <a:ln/>
        </p:spPr>
      </p:sp>
      <p:sp>
        <p:nvSpPr>
          <p:cNvPr id="39" name="a7w_txt_209"/>
          <p:cNvSpPr txBox="1"/>
          <p:nvPr/>
        </p:nvSpPr>
        <p:spPr>
          <a:xfrm>
            <a:off x="6242152"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Gas test</a:t>
            </a:r>
            <a:endParaRPr lang="en-US" sz="1700" dirty="0"/>
          </a:p>
        </p:txBody>
      </p:sp>
      <p:sp>
        <p:nvSpPr>
          <p:cNvPr id="40" name="a8w_box_210"/>
          <p:cNvSpPr/>
          <p:nvPr/>
        </p:nvSpPr>
        <p:spPr>
          <a:xfrm>
            <a:off x="7505510"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1" name="a8w_box_211"/>
          <p:cNvSpPr/>
          <p:nvPr/>
        </p:nvSpPr>
        <p:spPr>
          <a:xfrm>
            <a:off x="7505510" y="4572000"/>
            <a:ext cx="1245070" cy="566928"/>
          </a:xfrm>
          <a:prstGeom prst="rect">
            <a:avLst/>
          </a:prstGeom>
          <a:solidFill>
            <a:srgbClr val="2E7D32"/>
          </a:solidFill>
          <a:ln/>
        </p:spPr>
      </p:sp>
      <p:sp>
        <p:nvSpPr>
          <p:cNvPr id="42" name="a8w_txt_212"/>
          <p:cNvSpPr txBox="1"/>
          <p:nvPr/>
        </p:nvSpPr>
        <p:spPr>
          <a:xfrm>
            <a:off x="7596950"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Authorise &amp; sign</a:t>
            </a:r>
            <a:endParaRPr lang="en-US" sz="1700" dirty="0"/>
          </a:p>
        </p:txBody>
      </p:sp>
      <p:sp>
        <p:nvSpPr>
          <p:cNvPr id="43" name="a9w_box_213"/>
          <p:cNvSpPr/>
          <p:nvPr/>
        </p:nvSpPr>
        <p:spPr>
          <a:xfrm>
            <a:off x="8860307"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4" name="a9w_box_214"/>
          <p:cNvSpPr/>
          <p:nvPr/>
        </p:nvSpPr>
        <p:spPr>
          <a:xfrm>
            <a:off x="8860307" y="4572000"/>
            <a:ext cx="1245070" cy="566928"/>
          </a:xfrm>
          <a:prstGeom prst="rect">
            <a:avLst/>
          </a:prstGeom>
          <a:solidFill>
            <a:srgbClr val="2E7D32"/>
          </a:solidFill>
          <a:ln/>
        </p:spPr>
      </p:sp>
      <p:sp>
        <p:nvSpPr>
          <p:cNvPr id="45" name="a9w_txt_215"/>
          <p:cNvSpPr txBox="1"/>
          <p:nvPr/>
        </p:nvSpPr>
        <p:spPr>
          <a:xfrm>
            <a:off x="8951747"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Brief crew</a:t>
            </a:r>
            <a:endParaRPr lang="en-US" sz="1700" dirty="0"/>
          </a:p>
        </p:txBody>
      </p:sp>
      <p:sp>
        <p:nvSpPr>
          <p:cNvPr id="46" name="a10w_box_216"/>
          <p:cNvSpPr/>
          <p:nvPr/>
        </p:nvSpPr>
        <p:spPr>
          <a:xfrm>
            <a:off x="10215105" y="4572000"/>
            <a:ext cx="1245070" cy="1463040"/>
          </a:xfrm>
          <a:prstGeom prst="roundRect">
            <a:avLst>
              <a:gd name="adj" fmla="val 8813"/>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7" name="a10w_box_217"/>
          <p:cNvSpPr/>
          <p:nvPr/>
        </p:nvSpPr>
        <p:spPr>
          <a:xfrm>
            <a:off x="10215105" y="4572000"/>
            <a:ext cx="1245070" cy="566928"/>
          </a:xfrm>
          <a:prstGeom prst="rect">
            <a:avLst/>
          </a:prstGeom>
          <a:solidFill>
            <a:srgbClr val="2E7D32"/>
          </a:solidFill>
          <a:ln/>
        </p:spPr>
      </p:sp>
      <p:sp>
        <p:nvSpPr>
          <p:cNvPr id="48" name="a10w_txt_218"/>
          <p:cNvSpPr txBox="1"/>
          <p:nvPr/>
        </p:nvSpPr>
        <p:spPr>
          <a:xfrm>
            <a:off x="10306545" y="5257800"/>
            <a:ext cx="1062190" cy="7315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Work, monitor, close</a:t>
            </a:r>
            <a:endParaRPr lang="en-US" sz="1700" dirty="0"/>
          </a:p>
        </p:txBody>
      </p:sp>
      <p:sp>
        <p:nvSpPr>
          <p:cNvPr id="4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left)">
                                      <p:cBhvr>
                                        <p:cTn id="40" dur="500"/>
                                        <p:tgtEl>
                                          <p:spTgt spid="28"/>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left)">
                                      <p:cBhvr>
                                        <p:cTn id="43" dur="500"/>
                                        <p:tgtEl>
                                          <p:spTgt spid="29"/>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left)">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500"/>
                                        <p:tgtEl>
                                          <p:spTgt spid="31"/>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wipe(left)">
                                      <p:cBhvr>
                                        <p:cTn id="54" dur="500"/>
                                        <p:tgtEl>
                                          <p:spTgt spid="32"/>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left)">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left)">
                                      <p:cBhvr>
                                        <p:cTn id="62" dur="500"/>
                                        <p:tgtEl>
                                          <p:spTgt spid="34"/>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left)">
                                      <p:cBhvr>
                                        <p:cTn id="65" dur="500"/>
                                        <p:tgtEl>
                                          <p:spTgt spid="35"/>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left)">
                                      <p:cBhvr>
                                        <p:cTn id="68" dur="500"/>
                                        <p:tgtEl>
                                          <p:spTgt spid="3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wipe(left)">
                                      <p:cBhvr>
                                        <p:cTn id="76" dur="500"/>
                                        <p:tgtEl>
                                          <p:spTgt spid="38"/>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wipe(left)">
                                      <p:cBhvr>
                                        <p:cTn id="79" dur="500"/>
                                        <p:tgtEl>
                                          <p:spTgt spid="3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40"/>
                                        </p:tgtEl>
                                        <p:attrNameLst>
                                          <p:attrName>style.visibility</p:attrName>
                                        </p:attrNameLst>
                                      </p:cBhvr>
                                      <p:to>
                                        <p:strVal val="visible"/>
                                      </p:to>
                                    </p:set>
                                    <p:animEffect transition="in" filter="wipe(left)">
                                      <p:cBhvr>
                                        <p:cTn id="84" dur="500"/>
                                        <p:tgtEl>
                                          <p:spTgt spid="40"/>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wipe(left)">
                                      <p:cBhvr>
                                        <p:cTn id="87" dur="500"/>
                                        <p:tgtEl>
                                          <p:spTgt spid="41"/>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wipe(left)">
                                      <p:cBhvr>
                                        <p:cTn id="90" dur="500"/>
                                        <p:tgtEl>
                                          <p:spTgt spid="4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wipe(left)">
                                      <p:cBhvr>
                                        <p:cTn id="95" dur="500"/>
                                        <p:tgtEl>
                                          <p:spTgt spid="43"/>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wipe(left)">
                                      <p:cBhvr>
                                        <p:cTn id="98" dur="500"/>
                                        <p:tgtEl>
                                          <p:spTgt spid="44"/>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wipe(left)">
                                      <p:cBhvr>
                                        <p:cTn id="101" dur="500"/>
                                        <p:tgtEl>
                                          <p:spTgt spid="45"/>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wipe(left)">
                                      <p:cBhvr>
                                        <p:cTn id="106" dur="500"/>
                                        <p:tgtEl>
                                          <p:spTgt spid="46"/>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wipe(left)">
                                      <p:cBhvr>
                                        <p:cTn id="109" dur="500"/>
                                        <p:tgtEl>
                                          <p:spTgt spid="47"/>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wipe(left)">
                                      <p:cBhvr>
                                        <p:cTn id="1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Why We Need PTW – 8 Objectives</a:t>
            </a:r>
            <a:endParaRPr lang="en-US" sz="3200" dirty="0"/>
          </a:p>
        </p:txBody>
      </p:sp>
      <p:sp>
        <p:nvSpPr>
          <p:cNvPr id="3" name="a1_box_219"/>
          <p:cNvSpPr/>
          <p:nvPr/>
        </p:nvSpPr>
        <p:spPr>
          <a:xfrm>
            <a:off x="548640"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220"/>
          <p:cNvSpPr/>
          <p:nvPr/>
        </p:nvSpPr>
        <p:spPr>
          <a:xfrm>
            <a:off x="731520" y="1463040"/>
            <a:ext cx="685800" cy="685800"/>
          </a:xfrm>
          <a:prstGeom prst="ellipse">
            <a:avLst/>
          </a:prstGeom>
          <a:solidFill>
            <a:srgbClr val="0F6E7A"/>
          </a:solidFill>
          <a:ln/>
        </p:spPr>
      </p:sp>
      <p:pic>
        <p:nvPicPr>
          <p:cNvPr id="5" name="a1_icon_221"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a1_txt_222"/>
          <p:cNvSpPr txBox="1"/>
          <p:nvPr/>
        </p:nvSpPr>
        <p:spPr>
          <a:xfrm>
            <a:off x="1581912" y="14447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Identify hazards</a:t>
            </a:r>
            <a:endParaRPr lang="en-US" sz="1700" dirty="0"/>
          </a:p>
        </p:txBody>
      </p:sp>
      <p:sp>
        <p:nvSpPr>
          <p:cNvPr id="7" name="a1_txt_223"/>
          <p:cNvSpPr txBox="1"/>
          <p:nvPr/>
        </p:nvSpPr>
        <p:spPr>
          <a:xfrm>
            <a:off x="777240" y="22219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Formal review of the task and the work environment</a:t>
            </a:r>
            <a:endParaRPr lang="en-US" sz="1800" dirty="0"/>
          </a:p>
        </p:txBody>
      </p:sp>
      <p:sp>
        <p:nvSpPr>
          <p:cNvPr id="8" name="a1_box_224"/>
          <p:cNvSpPr/>
          <p:nvPr/>
        </p:nvSpPr>
        <p:spPr>
          <a:xfrm>
            <a:off x="3372536"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circ_225"/>
          <p:cNvSpPr/>
          <p:nvPr/>
        </p:nvSpPr>
        <p:spPr>
          <a:xfrm>
            <a:off x="3555416" y="1463040"/>
            <a:ext cx="685800" cy="685800"/>
          </a:xfrm>
          <a:prstGeom prst="ellipse">
            <a:avLst/>
          </a:prstGeom>
          <a:solidFill>
            <a:srgbClr val="E8771E"/>
          </a:solidFill>
          <a:ln/>
        </p:spPr>
      </p:sp>
      <p:pic>
        <p:nvPicPr>
          <p:cNvPr id="10" name="a1_icon_226" descr="preencoded.png">    </p:cNvPr>
          <p:cNvPicPr>
            <a:picLocks noChangeAspect="1"/>
          </p:cNvPicPr>
          <p:nvPr/>
        </p:nvPicPr>
        <p:blipFill>
          <a:blip r:embed="rId2"/>
          <a:stretch>
            <a:fillRect/>
          </a:stretch>
        </p:blipFill>
        <p:spPr>
          <a:xfrm>
            <a:off x="3709721" y="1617345"/>
            <a:ext cx="377190" cy="377190"/>
          </a:xfrm>
          <a:prstGeom prst="rect">
            <a:avLst/>
          </a:prstGeom>
        </p:spPr>
      </p:pic>
      <p:sp>
        <p:nvSpPr>
          <p:cNvPr id="11" name="a1_txt_227"/>
          <p:cNvSpPr txBox="1"/>
          <p:nvPr/>
        </p:nvSpPr>
        <p:spPr>
          <a:xfrm>
            <a:off x="4405808" y="14447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Assure controls</a:t>
            </a:r>
            <a:endParaRPr lang="en-US" sz="1700" dirty="0"/>
          </a:p>
        </p:txBody>
      </p:sp>
      <p:sp>
        <p:nvSpPr>
          <p:cNvPr id="12" name="a1_txt_228"/>
          <p:cNvSpPr txBox="1"/>
          <p:nvPr/>
        </p:nvSpPr>
        <p:spPr>
          <a:xfrm>
            <a:off x="3601136" y="22219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Controls planned AND physically verified</a:t>
            </a:r>
            <a:endParaRPr lang="en-US" sz="1800" dirty="0"/>
          </a:p>
        </p:txBody>
      </p:sp>
      <p:sp>
        <p:nvSpPr>
          <p:cNvPr id="13" name="a1_box_229"/>
          <p:cNvSpPr/>
          <p:nvPr/>
        </p:nvSpPr>
        <p:spPr>
          <a:xfrm>
            <a:off x="6196432"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1_circ_230"/>
          <p:cNvSpPr/>
          <p:nvPr/>
        </p:nvSpPr>
        <p:spPr>
          <a:xfrm>
            <a:off x="6379312" y="1463040"/>
            <a:ext cx="685800" cy="685800"/>
          </a:xfrm>
          <a:prstGeom prst="ellipse">
            <a:avLst/>
          </a:prstGeom>
          <a:solidFill>
            <a:srgbClr val="0F6E7A"/>
          </a:solidFill>
          <a:ln/>
        </p:spPr>
      </p:sp>
      <p:pic>
        <p:nvPicPr>
          <p:cNvPr id="15" name="a1_icon_231" descr="preencoded.png">    </p:cNvPr>
          <p:cNvPicPr>
            <a:picLocks noChangeAspect="1"/>
          </p:cNvPicPr>
          <p:nvPr/>
        </p:nvPicPr>
        <p:blipFill>
          <a:blip r:embed="rId3"/>
          <a:stretch>
            <a:fillRect/>
          </a:stretch>
        </p:blipFill>
        <p:spPr>
          <a:xfrm>
            <a:off x="6533617" y="1617345"/>
            <a:ext cx="377190" cy="377190"/>
          </a:xfrm>
          <a:prstGeom prst="rect">
            <a:avLst/>
          </a:prstGeom>
        </p:spPr>
      </p:pic>
      <p:sp>
        <p:nvSpPr>
          <p:cNvPr id="16" name="a1_txt_232"/>
          <p:cNvSpPr txBox="1"/>
          <p:nvPr/>
        </p:nvSpPr>
        <p:spPr>
          <a:xfrm>
            <a:off x="7229704" y="14447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Clear authorisation</a:t>
            </a:r>
            <a:endParaRPr lang="en-US" sz="1700" dirty="0"/>
          </a:p>
        </p:txBody>
      </p:sp>
      <p:sp>
        <p:nvSpPr>
          <p:cNvPr id="17" name="a1_txt_233"/>
          <p:cNvSpPr txBox="1"/>
          <p:nvPr/>
        </p:nvSpPr>
        <p:spPr>
          <a:xfrm>
            <a:off x="6425032" y="22219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Written roles and accountabilities</a:t>
            </a:r>
            <a:endParaRPr lang="en-US" sz="1800" dirty="0"/>
          </a:p>
        </p:txBody>
      </p:sp>
      <p:sp>
        <p:nvSpPr>
          <p:cNvPr id="18" name="a1_box_234"/>
          <p:cNvSpPr/>
          <p:nvPr/>
        </p:nvSpPr>
        <p:spPr>
          <a:xfrm>
            <a:off x="9020327"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1_circ_235"/>
          <p:cNvSpPr/>
          <p:nvPr/>
        </p:nvSpPr>
        <p:spPr>
          <a:xfrm>
            <a:off x="9203207" y="1463040"/>
            <a:ext cx="685800" cy="685800"/>
          </a:xfrm>
          <a:prstGeom prst="ellipse">
            <a:avLst/>
          </a:prstGeom>
          <a:solidFill>
            <a:srgbClr val="E8771E"/>
          </a:solidFill>
          <a:ln/>
        </p:spPr>
      </p:sp>
      <p:pic>
        <p:nvPicPr>
          <p:cNvPr id="20" name="a1_icon_236" descr="preencoded.png">    </p:cNvPr>
          <p:cNvPicPr>
            <a:picLocks noChangeAspect="1"/>
          </p:cNvPicPr>
          <p:nvPr/>
        </p:nvPicPr>
        <p:blipFill>
          <a:blip r:embed="rId4"/>
          <a:stretch>
            <a:fillRect/>
          </a:stretch>
        </p:blipFill>
        <p:spPr>
          <a:xfrm>
            <a:off x="9357512" y="1617345"/>
            <a:ext cx="377190" cy="377190"/>
          </a:xfrm>
          <a:prstGeom prst="rect">
            <a:avLst/>
          </a:prstGeom>
        </p:spPr>
      </p:pic>
      <p:sp>
        <p:nvSpPr>
          <p:cNvPr id="21" name="a1_txt_237"/>
          <p:cNvSpPr txBox="1"/>
          <p:nvPr/>
        </p:nvSpPr>
        <p:spPr>
          <a:xfrm>
            <a:off x="10053599" y="14447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Communication</a:t>
            </a:r>
            <a:endParaRPr lang="en-US" sz="1700" dirty="0"/>
          </a:p>
        </p:txBody>
      </p:sp>
      <p:sp>
        <p:nvSpPr>
          <p:cNvPr id="22" name="a1_txt_238"/>
          <p:cNvSpPr txBox="1"/>
          <p:nvPr/>
        </p:nvSpPr>
        <p:spPr>
          <a:xfrm>
            <a:off x="9248927" y="22219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Hazards, controls &amp; emergency info passed on</a:t>
            </a:r>
            <a:endParaRPr lang="en-US" sz="1800" dirty="0"/>
          </a:p>
        </p:txBody>
      </p:sp>
      <p:sp>
        <p:nvSpPr>
          <p:cNvPr id="23" name="a2_box_239"/>
          <p:cNvSpPr/>
          <p:nvPr/>
        </p:nvSpPr>
        <p:spPr>
          <a:xfrm>
            <a:off x="548640"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2_circ_240"/>
          <p:cNvSpPr/>
          <p:nvPr/>
        </p:nvSpPr>
        <p:spPr>
          <a:xfrm>
            <a:off x="731520" y="3977640"/>
            <a:ext cx="685800" cy="685800"/>
          </a:xfrm>
          <a:prstGeom prst="ellipse">
            <a:avLst/>
          </a:prstGeom>
          <a:solidFill>
            <a:srgbClr val="0F6E7A"/>
          </a:solidFill>
          <a:ln/>
        </p:spPr>
      </p:sp>
      <p:pic>
        <p:nvPicPr>
          <p:cNvPr id="25" name="a2_icon_241" descr="preencoded.png">    </p:cNvPr>
          <p:cNvPicPr>
            <a:picLocks noChangeAspect="1"/>
          </p:cNvPicPr>
          <p:nvPr/>
        </p:nvPicPr>
        <p:blipFill>
          <a:blip r:embed="rId5"/>
          <a:stretch>
            <a:fillRect/>
          </a:stretch>
        </p:blipFill>
        <p:spPr>
          <a:xfrm>
            <a:off x="885825" y="4131945"/>
            <a:ext cx="377190" cy="377190"/>
          </a:xfrm>
          <a:prstGeom prst="rect">
            <a:avLst/>
          </a:prstGeom>
        </p:spPr>
      </p:pic>
      <p:sp>
        <p:nvSpPr>
          <p:cNvPr id="26" name="a2_txt_242"/>
          <p:cNvSpPr txBox="1"/>
          <p:nvPr/>
        </p:nvSpPr>
        <p:spPr>
          <a:xfrm>
            <a:off x="1581912" y="39593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Coordination</a:t>
            </a:r>
            <a:endParaRPr lang="en-US" sz="1700" dirty="0"/>
          </a:p>
        </p:txBody>
      </p:sp>
      <p:sp>
        <p:nvSpPr>
          <p:cNvPr id="27" name="a2_txt_243"/>
          <p:cNvSpPr txBox="1"/>
          <p:nvPr/>
        </p:nvSpPr>
        <p:spPr>
          <a:xfrm>
            <a:off x="777240" y="47365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Prevents clashes between work groups</a:t>
            </a:r>
            <a:endParaRPr lang="en-US" sz="1800" dirty="0"/>
          </a:p>
        </p:txBody>
      </p:sp>
      <p:sp>
        <p:nvSpPr>
          <p:cNvPr id="28" name="a2_box_244"/>
          <p:cNvSpPr/>
          <p:nvPr/>
        </p:nvSpPr>
        <p:spPr>
          <a:xfrm>
            <a:off x="3372536"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2_circ_245"/>
          <p:cNvSpPr/>
          <p:nvPr/>
        </p:nvSpPr>
        <p:spPr>
          <a:xfrm>
            <a:off x="3555416" y="3977640"/>
            <a:ext cx="685800" cy="685800"/>
          </a:xfrm>
          <a:prstGeom prst="ellipse">
            <a:avLst/>
          </a:prstGeom>
          <a:solidFill>
            <a:srgbClr val="E8771E"/>
          </a:solidFill>
          <a:ln/>
        </p:spPr>
      </p:sp>
      <p:pic>
        <p:nvPicPr>
          <p:cNvPr id="30" name="a2_icon_246" descr="preencoded.png">    </p:cNvPr>
          <p:cNvPicPr>
            <a:picLocks noChangeAspect="1"/>
          </p:cNvPicPr>
          <p:nvPr/>
        </p:nvPicPr>
        <p:blipFill>
          <a:blip r:embed="rId6"/>
          <a:stretch>
            <a:fillRect/>
          </a:stretch>
        </p:blipFill>
        <p:spPr>
          <a:xfrm>
            <a:off x="3709721" y="4131945"/>
            <a:ext cx="377190" cy="377190"/>
          </a:xfrm>
          <a:prstGeom prst="rect">
            <a:avLst/>
          </a:prstGeom>
        </p:spPr>
      </p:pic>
      <p:sp>
        <p:nvSpPr>
          <p:cNvPr id="31" name="a2_txt_247"/>
          <p:cNvSpPr txBox="1"/>
          <p:nvPr/>
        </p:nvSpPr>
        <p:spPr>
          <a:xfrm>
            <a:off x="4405808" y="39593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Legal compliance</a:t>
            </a:r>
            <a:endParaRPr lang="en-US" sz="1700" dirty="0"/>
          </a:p>
        </p:txBody>
      </p:sp>
      <p:sp>
        <p:nvSpPr>
          <p:cNvPr id="32" name="a2_txt_248"/>
          <p:cNvSpPr txBox="1"/>
          <p:nvPr/>
        </p:nvSpPr>
        <p:spPr>
          <a:xfrm>
            <a:off x="3601136" y="47365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Verifiable audit trail of due diligence</a:t>
            </a:r>
            <a:endParaRPr lang="en-US" sz="1800" dirty="0"/>
          </a:p>
        </p:txBody>
      </p:sp>
      <p:sp>
        <p:nvSpPr>
          <p:cNvPr id="33" name="a2_box_249"/>
          <p:cNvSpPr/>
          <p:nvPr/>
        </p:nvSpPr>
        <p:spPr>
          <a:xfrm>
            <a:off x="6196432"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4" name="a2_circ_250"/>
          <p:cNvSpPr/>
          <p:nvPr/>
        </p:nvSpPr>
        <p:spPr>
          <a:xfrm>
            <a:off x="6379312" y="3977640"/>
            <a:ext cx="685800" cy="685800"/>
          </a:xfrm>
          <a:prstGeom prst="ellipse">
            <a:avLst/>
          </a:prstGeom>
          <a:solidFill>
            <a:srgbClr val="0F6E7A"/>
          </a:solidFill>
          <a:ln/>
        </p:spPr>
      </p:sp>
      <p:pic>
        <p:nvPicPr>
          <p:cNvPr id="35" name="a2_icon_251" descr="preencoded.png">    </p:cNvPr>
          <p:cNvPicPr>
            <a:picLocks noChangeAspect="1"/>
          </p:cNvPicPr>
          <p:nvPr/>
        </p:nvPicPr>
        <p:blipFill>
          <a:blip r:embed="rId7"/>
          <a:stretch>
            <a:fillRect/>
          </a:stretch>
        </p:blipFill>
        <p:spPr>
          <a:xfrm>
            <a:off x="6533617" y="4131945"/>
            <a:ext cx="377190" cy="377190"/>
          </a:xfrm>
          <a:prstGeom prst="rect">
            <a:avLst/>
          </a:prstGeom>
        </p:spPr>
      </p:pic>
      <p:sp>
        <p:nvSpPr>
          <p:cNvPr id="36" name="a2_txt_252"/>
          <p:cNvSpPr txBox="1"/>
          <p:nvPr/>
        </p:nvSpPr>
        <p:spPr>
          <a:xfrm>
            <a:off x="7229704" y="39593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Permanent record</a:t>
            </a:r>
            <a:endParaRPr lang="en-US" sz="1700" dirty="0"/>
          </a:p>
        </p:txBody>
      </p:sp>
      <p:sp>
        <p:nvSpPr>
          <p:cNvPr id="37" name="a2_txt_253"/>
          <p:cNvSpPr txBox="1"/>
          <p:nvPr/>
        </p:nvSpPr>
        <p:spPr>
          <a:xfrm>
            <a:off x="6425032" y="47365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What, where, when, by whom, under what controls</a:t>
            </a:r>
            <a:endParaRPr lang="en-US" sz="1800" dirty="0"/>
          </a:p>
        </p:txBody>
      </p:sp>
      <p:sp>
        <p:nvSpPr>
          <p:cNvPr id="38" name="a2_box_254"/>
          <p:cNvSpPr/>
          <p:nvPr/>
        </p:nvSpPr>
        <p:spPr>
          <a:xfrm>
            <a:off x="9020327"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9" name="a2_circ_255"/>
          <p:cNvSpPr/>
          <p:nvPr/>
        </p:nvSpPr>
        <p:spPr>
          <a:xfrm>
            <a:off x="9203207" y="3977640"/>
            <a:ext cx="685800" cy="685800"/>
          </a:xfrm>
          <a:prstGeom prst="ellipse">
            <a:avLst/>
          </a:prstGeom>
          <a:solidFill>
            <a:srgbClr val="E8771E"/>
          </a:solidFill>
          <a:ln/>
        </p:spPr>
      </p:sp>
      <p:pic>
        <p:nvPicPr>
          <p:cNvPr id="40" name="a2_icon_256" descr="preencoded.png">    </p:cNvPr>
          <p:cNvPicPr>
            <a:picLocks noChangeAspect="1"/>
          </p:cNvPicPr>
          <p:nvPr/>
        </p:nvPicPr>
        <p:blipFill>
          <a:blip r:embed="rId8"/>
          <a:stretch>
            <a:fillRect/>
          </a:stretch>
        </p:blipFill>
        <p:spPr>
          <a:xfrm>
            <a:off x="9357512" y="4131945"/>
            <a:ext cx="377190" cy="377190"/>
          </a:xfrm>
          <a:prstGeom prst="rect">
            <a:avLst/>
          </a:prstGeom>
        </p:spPr>
      </p:pic>
      <p:sp>
        <p:nvSpPr>
          <p:cNvPr id="41" name="a2_txt_257"/>
          <p:cNvSpPr txBox="1"/>
          <p:nvPr/>
        </p:nvSpPr>
        <p:spPr>
          <a:xfrm>
            <a:off x="10053599" y="3959352"/>
            <a:ext cx="1452296"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Safety culture</a:t>
            </a:r>
            <a:endParaRPr lang="en-US" sz="1700" dirty="0"/>
          </a:p>
        </p:txBody>
      </p:sp>
      <p:sp>
        <p:nvSpPr>
          <p:cNvPr id="42" name="a2_txt_258"/>
          <p:cNvSpPr txBox="1"/>
          <p:nvPr/>
        </p:nvSpPr>
        <p:spPr>
          <a:xfrm>
            <a:off x="9248927" y="4736592"/>
            <a:ext cx="2211248" cy="129844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Planning over rushing; anyone may question safety</a:t>
            </a:r>
            <a:endParaRPr lang="en-US" sz="1800" dirty="0"/>
          </a:p>
        </p:txBody>
      </p:sp>
      <p:sp>
        <p:nvSpPr>
          <p:cNvPr id="4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50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50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500"/>
                                        <p:tgtEl>
                                          <p:spTgt spid="3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500"/>
                                        <p:tgtEl>
                                          <p:spTgt spid="3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500"/>
                                        <p:tgtEl>
                                          <p:spTgt spid="3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500"/>
                                        <p:tgtEl>
                                          <p:spTgt spid="3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50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500"/>
                                        <p:tgtEl>
                                          <p:spTgt spid="4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PTW is a Legal Duty, Not a Choice</a:t>
            </a:r>
            <a:endParaRPr lang="en-US" sz="3200" dirty="0"/>
          </a:p>
        </p:txBody>
      </p:sp>
      <p:sp>
        <p:nvSpPr>
          <p:cNvPr id="3" name="box_259"/>
          <p:cNvSpPr/>
          <p:nvPr/>
        </p:nvSpPr>
        <p:spPr>
          <a:xfrm>
            <a:off x="548640" y="1280160"/>
            <a:ext cx="5486400" cy="2240280"/>
          </a:xfrm>
          <a:prstGeom prst="roundRect">
            <a:avLst>
              <a:gd name="adj" fmla="val 489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260"/>
          <p:cNvSpPr/>
          <p:nvPr/>
        </p:nvSpPr>
        <p:spPr>
          <a:xfrm>
            <a:off x="731520" y="1463040"/>
            <a:ext cx="685800" cy="685800"/>
          </a:xfrm>
          <a:prstGeom prst="ellipse">
            <a:avLst/>
          </a:prstGeom>
          <a:solidFill>
            <a:srgbClr val="0B2A3C"/>
          </a:solidFill>
          <a:ln/>
        </p:spPr>
      </p:sp>
      <p:pic>
        <p:nvPicPr>
          <p:cNvPr id="5" name="icon_261"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262"/>
          <p:cNvSpPr txBox="1"/>
          <p:nvPr/>
        </p:nvSpPr>
        <p:spPr>
          <a:xfrm>
            <a:off x="1581912" y="1444752"/>
            <a:ext cx="431596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Duty of care</a:t>
            </a:r>
            <a:endParaRPr lang="en-US" sz="2000" dirty="0"/>
          </a:p>
        </p:txBody>
      </p:sp>
      <p:sp>
        <p:nvSpPr>
          <p:cNvPr id="7" name="txt_263"/>
          <p:cNvSpPr txBox="1"/>
          <p:nvPr/>
        </p:nvSpPr>
        <p:spPr>
          <a:xfrm>
            <a:off x="777240" y="2221992"/>
            <a:ext cx="5074920" cy="120700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PTW is part of the legal duty to take all reasonable steps to keep workers, contractors and the public safe.</a:t>
            </a:r>
            <a:endParaRPr lang="en-US" sz="1800" dirty="0"/>
          </a:p>
        </p:txBody>
      </p:sp>
      <p:sp>
        <p:nvSpPr>
          <p:cNvPr id="8" name="box_264"/>
          <p:cNvSpPr/>
          <p:nvPr/>
        </p:nvSpPr>
        <p:spPr>
          <a:xfrm>
            <a:off x="548640" y="3703320"/>
            <a:ext cx="5486400" cy="2514600"/>
          </a:xfrm>
          <a:prstGeom prst="roundRect">
            <a:avLst>
              <a:gd name="adj" fmla="val 436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circ_265"/>
          <p:cNvSpPr/>
          <p:nvPr/>
        </p:nvSpPr>
        <p:spPr>
          <a:xfrm>
            <a:off x="731520" y="3886200"/>
            <a:ext cx="685800" cy="685800"/>
          </a:xfrm>
          <a:prstGeom prst="ellipse">
            <a:avLst/>
          </a:prstGeom>
          <a:solidFill>
            <a:srgbClr val="0F6E7A"/>
          </a:solidFill>
          <a:ln/>
        </p:spPr>
      </p:sp>
      <p:pic>
        <p:nvPicPr>
          <p:cNvPr id="10" name="icon_266" descr="preencoded.png">    </p:cNvPr>
          <p:cNvPicPr>
            <a:picLocks noChangeAspect="1"/>
          </p:cNvPicPr>
          <p:nvPr/>
        </p:nvPicPr>
        <p:blipFill>
          <a:blip r:embed="rId2"/>
          <a:stretch>
            <a:fillRect/>
          </a:stretch>
        </p:blipFill>
        <p:spPr>
          <a:xfrm>
            <a:off x="885825" y="4040505"/>
            <a:ext cx="377190" cy="377190"/>
          </a:xfrm>
          <a:prstGeom prst="rect">
            <a:avLst/>
          </a:prstGeom>
        </p:spPr>
      </p:pic>
      <p:sp>
        <p:nvSpPr>
          <p:cNvPr id="11" name="txt_267"/>
          <p:cNvSpPr txBox="1"/>
          <p:nvPr/>
        </p:nvSpPr>
        <p:spPr>
          <a:xfrm>
            <a:off x="1581912" y="3867912"/>
            <a:ext cx="431596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Examples named in the Course Notes</a:t>
            </a:r>
            <a:endParaRPr lang="en-US" sz="2000" dirty="0"/>
          </a:p>
        </p:txBody>
      </p:sp>
      <p:sp>
        <p:nvSpPr>
          <p:cNvPr id="12" name="txt_268"/>
          <p:cNvSpPr txBox="1"/>
          <p:nvPr/>
        </p:nvSpPr>
        <p:spPr>
          <a:xfrm>
            <a:off x="777240" y="4645152"/>
            <a:ext cx="5074920" cy="148132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ISO 45001 · ILO C155 &amp; C187 · OSHA PSM 1910.119 · OSHA LOTO 1910.147 · Confined spaces 1910.146 · UK HSWA 1974 &amp; COMAH 2015 · Energy Institute PTW Guidance · API · IOGP Life-Saving Rules</a:t>
            </a:r>
            <a:endParaRPr lang="en-US" sz="1700" dirty="0"/>
          </a:p>
        </p:txBody>
      </p:sp>
      <p:sp>
        <p:nvSpPr>
          <p:cNvPr id="13" name="txt_269"/>
          <p:cNvSpPr txBox="1"/>
          <p:nvPr/>
        </p:nvSpPr>
        <p:spPr>
          <a:xfrm>
            <a:off x="6355080" y="1280160"/>
            <a:ext cx="5303520" cy="457200"/>
          </a:xfrm>
          <a:prstGeom prst="rect">
            <a:avLst/>
          </a:prstGeom>
          <a:noFill/>
          <a:ln/>
        </p:spPr>
        <p:txBody>
          <a:bodyPr wrap="square" lIns="635" tIns="635" rIns="635" bIns="635" rtlCol="0" anchor="t"/>
          <a:lstStyle/>
          <a:p>
            <a:pPr indent="0" marL="0">
              <a:buNone/>
            </a:pPr>
            <a:r>
              <a:rPr lang="en-US" sz="2000" b="1" dirty="0">
                <a:solidFill>
                  <a:srgbClr val="C0392B"/>
                </a:solidFill>
                <a:latin typeface="Calibri" pitchFamily="34" charset="0"/>
                <a:ea typeface="Calibri" pitchFamily="34" charset="-122"/>
                <a:cs typeface="Calibri" pitchFamily="34" charset="-120"/>
              </a:rPr>
              <a:t>If PTW fails, the consequences include:</a:t>
            </a:r>
            <a:endParaRPr lang="en-US" sz="2000" dirty="0"/>
          </a:p>
        </p:txBody>
      </p:sp>
      <p:sp>
        <p:nvSpPr>
          <p:cNvPr id="14" name="a1_box_270"/>
          <p:cNvSpPr/>
          <p:nvPr/>
        </p:nvSpPr>
        <p:spPr>
          <a:xfrm>
            <a:off x="6355080" y="1828800"/>
            <a:ext cx="5285232" cy="960120"/>
          </a:xfrm>
          <a:prstGeom prst="roundRect">
            <a:avLst>
              <a:gd name="adj" fmla="val 11429"/>
            </a:avLst>
          </a:prstGeom>
          <a:solidFill>
            <a:srgbClr val="FFFFFF"/>
          </a:solidFill>
          <a:ln w="12700">
            <a:solidFill>
              <a:srgbClr val="C9D3D9"/>
            </a:solidFill>
            <a:prstDash val="solid"/>
          </a:ln>
        </p:spPr>
      </p:sp>
      <p:sp>
        <p:nvSpPr>
          <p:cNvPr id="15" name="a1_circ_271"/>
          <p:cNvSpPr/>
          <p:nvPr/>
        </p:nvSpPr>
        <p:spPr>
          <a:xfrm>
            <a:off x="6492240" y="1965960"/>
            <a:ext cx="685800" cy="685800"/>
          </a:xfrm>
          <a:prstGeom prst="ellipse">
            <a:avLst/>
          </a:prstGeom>
          <a:solidFill>
            <a:srgbClr val="C0392B"/>
          </a:solidFill>
          <a:ln/>
        </p:spPr>
      </p:sp>
      <p:pic>
        <p:nvPicPr>
          <p:cNvPr id="16" name="a1_icon_272" descr="preencoded.png">    </p:cNvPr>
          <p:cNvPicPr>
            <a:picLocks noChangeAspect="1"/>
          </p:cNvPicPr>
          <p:nvPr/>
        </p:nvPicPr>
        <p:blipFill>
          <a:blip r:embed="rId3"/>
          <a:stretch>
            <a:fillRect/>
          </a:stretch>
        </p:blipFill>
        <p:spPr>
          <a:xfrm>
            <a:off x="6646545" y="2120265"/>
            <a:ext cx="377190" cy="377190"/>
          </a:xfrm>
          <a:prstGeom prst="rect">
            <a:avLst/>
          </a:prstGeom>
        </p:spPr>
      </p:pic>
      <p:sp>
        <p:nvSpPr>
          <p:cNvPr id="17" name="a1_txt_273"/>
          <p:cNvSpPr txBox="1"/>
          <p:nvPr/>
        </p:nvSpPr>
        <p:spPr>
          <a:xfrm>
            <a:off x="7360920" y="1874520"/>
            <a:ext cx="4160520" cy="868680"/>
          </a:xfrm>
          <a:prstGeom prst="rect">
            <a:avLst/>
          </a:prstGeom>
          <a:noFill/>
          <a:ln/>
        </p:spPr>
        <p:txBody>
          <a:bodyPr wrap="square" lIns="635" tIns="635" rIns="635" bIns="635" rtlCol="0" anchor="ctr"/>
          <a:lstStyle/>
          <a:p>
            <a:pPr indent="0" marL="0">
              <a:buNone/>
            </a:pPr>
            <a:r>
              <a:rPr lang="en-US" sz="1900" dirty="0">
                <a:solidFill>
                  <a:srgbClr val="1B2730"/>
                </a:solidFill>
                <a:latin typeface="Calibri" pitchFamily="34" charset="0"/>
                <a:ea typeface="Calibri" pitchFamily="34" charset="-122"/>
                <a:cs typeface="Calibri" pitchFamily="34" charset="-120"/>
              </a:rPr>
              <a:t>Large fines for the organisation</a:t>
            </a:r>
            <a:endParaRPr lang="en-US" sz="1900" dirty="0"/>
          </a:p>
        </p:txBody>
      </p:sp>
      <p:sp>
        <p:nvSpPr>
          <p:cNvPr id="18" name="a2_box_274"/>
          <p:cNvSpPr/>
          <p:nvPr/>
        </p:nvSpPr>
        <p:spPr>
          <a:xfrm>
            <a:off x="6355080" y="2926080"/>
            <a:ext cx="5285232" cy="960120"/>
          </a:xfrm>
          <a:prstGeom prst="roundRect">
            <a:avLst>
              <a:gd name="adj" fmla="val 11429"/>
            </a:avLst>
          </a:prstGeom>
          <a:solidFill>
            <a:srgbClr val="FFFFFF"/>
          </a:solidFill>
          <a:ln w="12700">
            <a:solidFill>
              <a:srgbClr val="C9D3D9"/>
            </a:solidFill>
            <a:prstDash val="solid"/>
          </a:ln>
        </p:spPr>
      </p:sp>
      <p:sp>
        <p:nvSpPr>
          <p:cNvPr id="19" name="a2_circ_275"/>
          <p:cNvSpPr/>
          <p:nvPr/>
        </p:nvSpPr>
        <p:spPr>
          <a:xfrm>
            <a:off x="6492240" y="3063240"/>
            <a:ext cx="685800" cy="685800"/>
          </a:xfrm>
          <a:prstGeom prst="ellipse">
            <a:avLst/>
          </a:prstGeom>
          <a:solidFill>
            <a:srgbClr val="C0392B"/>
          </a:solidFill>
          <a:ln/>
        </p:spPr>
      </p:sp>
      <p:pic>
        <p:nvPicPr>
          <p:cNvPr id="20" name="a2_icon_276" descr="preencoded.png">    </p:cNvPr>
          <p:cNvPicPr>
            <a:picLocks noChangeAspect="1"/>
          </p:cNvPicPr>
          <p:nvPr/>
        </p:nvPicPr>
        <p:blipFill>
          <a:blip r:embed="rId4"/>
          <a:stretch>
            <a:fillRect/>
          </a:stretch>
        </p:blipFill>
        <p:spPr>
          <a:xfrm>
            <a:off x="6646545" y="3217545"/>
            <a:ext cx="377190" cy="377190"/>
          </a:xfrm>
          <a:prstGeom prst="rect">
            <a:avLst/>
          </a:prstGeom>
        </p:spPr>
      </p:pic>
      <p:sp>
        <p:nvSpPr>
          <p:cNvPr id="21" name="a2_txt_277"/>
          <p:cNvSpPr txBox="1"/>
          <p:nvPr/>
        </p:nvSpPr>
        <p:spPr>
          <a:xfrm>
            <a:off x="7360920" y="2971800"/>
            <a:ext cx="4160520" cy="868680"/>
          </a:xfrm>
          <a:prstGeom prst="rect">
            <a:avLst/>
          </a:prstGeom>
          <a:noFill/>
          <a:ln/>
        </p:spPr>
        <p:txBody>
          <a:bodyPr wrap="square" lIns="635" tIns="635" rIns="635" bIns="635" rtlCol="0" anchor="ctr"/>
          <a:lstStyle/>
          <a:p>
            <a:pPr indent="0" marL="0">
              <a:buNone/>
            </a:pPr>
            <a:r>
              <a:rPr lang="en-US" sz="1900" dirty="0">
                <a:solidFill>
                  <a:srgbClr val="1B2730"/>
                </a:solidFill>
                <a:latin typeface="Calibri" pitchFamily="34" charset="0"/>
                <a:ea typeface="Calibri" pitchFamily="34" charset="-122"/>
                <a:cs typeface="Calibri" pitchFamily="34" charset="-120"/>
              </a:rPr>
              <a:t>Criminal prosecution of managers &amp; supervisors</a:t>
            </a:r>
            <a:endParaRPr lang="en-US" sz="1900" dirty="0"/>
          </a:p>
        </p:txBody>
      </p:sp>
      <p:sp>
        <p:nvSpPr>
          <p:cNvPr id="22" name="a3_box_278"/>
          <p:cNvSpPr/>
          <p:nvPr/>
        </p:nvSpPr>
        <p:spPr>
          <a:xfrm>
            <a:off x="6355080" y="4023360"/>
            <a:ext cx="5285232" cy="960120"/>
          </a:xfrm>
          <a:prstGeom prst="roundRect">
            <a:avLst>
              <a:gd name="adj" fmla="val 11429"/>
            </a:avLst>
          </a:prstGeom>
          <a:solidFill>
            <a:srgbClr val="FFFFFF"/>
          </a:solidFill>
          <a:ln w="12700">
            <a:solidFill>
              <a:srgbClr val="C9D3D9"/>
            </a:solidFill>
            <a:prstDash val="solid"/>
          </a:ln>
        </p:spPr>
      </p:sp>
      <p:sp>
        <p:nvSpPr>
          <p:cNvPr id="23" name="a3_circ_279"/>
          <p:cNvSpPr/>
          <p:nvPr/>
        </p:nvSpPr>
        <p:spPr>
          <a:xfrm>
            <a:off x="6492240" y="4160520"/>
            <a:ext cx="685800" cy="685800"/>
          </a:xfrm>
          <a:prstGeom prst="ellipse">
            <a:avLst/>
          </a:prstGeom>
          <a:solidFill>
            <a:srgbClr val="C0392B"/>
          </a:solidFill>
          <a:ln/>
        </p:spPr>
      </p:sp>
      <p:pic>
        <p:nvPicPr>
          <p:cNvPr id="24" name="a3_icon_280" descr="preencoded.png">    </p:cNvPr>
          <p:cNvPicPr>
            <a:picLocks noChangeAspect="1"/>
          </p:cNvPicPr>
          <p:nvPr/>
        </p:nvPicPr>
        <p:blipFill>
          <a:blip r:embed="rId5"/>
          <a:stretch>
            <a:fillRect/>
          </a:stretch>
        </p:blipFill>
        <p:spPr>
          <a:xfrm>
            <a:off x="6646545" y="4314825"/>
            <a:ext cx="377190" cy="377190"/>
          </a:xfrm>
          <a:prstGeom prst="rect">
            <a:avLst/>
          </a:prstGeom>
        </p:spPr>
      </p:pic>
      <p:sp>
        <p:nvSpPr>
          <p:cNvPr id="25" name="a3_txt_281"/>
          <p:cNvSpPr txBox="1"/>
          <p:nvPr/>
        </p:nvSpPr>
        <p:spPr>
          <a:xfrm>
            <a:off x="7360920" y="4069080"/>
            <a:ext cx="4160520" cy="868680"/>
          </a:xfrm>
          <a:prstGeom prst="rect">
            <a:avLst/>
          </a:prstGeom>
          <a:noFill/>
          <a:ln/>
        </p:spPr>
        <p:txBody>
          <a:bodyPr wrap="square" lIns="635" tIns="635" rIns="635" bIns="635" rtlCol="0" anchor="ctr"/>
          <a:lstStyle/>
          <a:p>
            <a:pPr indent="0" marL="0">
              <a:buNone/>
            </a:pPr>
            <a:r>
              <a:rPr lang="en-US" sz="1900" dirty="0">
                <a:solidFill>
                  <a:srgbClr val="1B2730"/>
                </a:solidFill>
                <a:latin typeface="Calibri" pitchFamily="34" charset="0"/>
                <a:ea typeface="Calibri" pitchFamily="34" charset="-122"/>
                <a:cs typeface="Calibri" pitchFamily="34" charset="-120"/>
              </a:rPr>
              <a:t>Insurance claims invalidated</a:t>
            </a:r>
            <a:endParaRPr lang="en-US" sz="1900" dirty="0"/>
          </a:p>
        </p:txBody>
      </p:sp>
      <p:sp>
        <p:nvSpPr>
          <p:cNvPr id="26" name="a4_box_282"/>
          <p:cNvSpPr/>
          <p:nvPr/>
        </p:nvSpPr>
        <p:spPr>
          <a:xfrm>
            <a:off x="6355080" y="5120640"/>
            <a:ext cx="5285232" cy="960120"/>
          </a:xfrm>
          <a:prstGeom prst="roundRect">
            <a:avLst>
              <a:gd name="adj" fmla="val 11429"/>
            </a:avLst>
          </a:prstGeom>
          <a:solidFill>
            <a:srgbClr val="FFFFFF"/>
          </a:solidFill>
          <a:ln w="12700">
            <a:solidFill>
              <a:srgbClr val="C9D3D9"/>
            </a:solidFill>
            <a:prstDash val="solid"/>
          </a:ln>
        </p:spPr>
      </p:sp>
      <p:sp>
        <p:nvSpPr>
          <p:cNvPr id="27" name="a4_circ_283"/>
          <p:cNvSpPr/>
          <p:nvPr/>
        </p:nvSpPr>
        <p:spPr>
          <a:xfrm>
            <a:off x="6492240" y="5257800"/>
            <a:ext cx="685800" cy="685800"/>
          </a:xfrm>
          <a:prstGeom prst="ellipse">
            <a:avLst/>
          </a:prstGeom>
          <a:solidFill>
            <a:srgbClr val="C0392B"/>
          </a:solidFill>
          <a:ln/>
        </p:spPr>
      </p:sp>
      <p:pic>
        <p:nvPicPr>
          <p:cNvPr id="28" name="a4_icon_284" descr="preencoded.png">    </p:cNvPr>
          <p:cNvPicPr>
            <a:picLocks noChangeAspect="1"/>
          </p:cNvPicPr>
          <p:nvPr/>
        </p:nvPicPr>
        <p:blipFill>
          <a:blip r:embed="rId6"/>
          <a:stretch>
            <a:fillRect/>
          </a:stretch>
        </p:blipFill>
        <p:spPr>
          <a:xfrm>
            <a:off x="6646545" y="5412105"/>
            <a:ext cx="377190" cy="377190"/>
          </a:xfrm>
          <a:prstGeom prst="rect">
            <a:avLst/>
          </a:prstGeom>
        </p:spPr>
      </p:pic>
      <p:sp>
        <p:nvSpPr>
          <p:cNvPr id="29" name="a4_txt_285"/>
          <p:cNvSpPr txBox="1"/>
          <p:nvPr/>
        </p:nvSpPr>
        <p:spPr>
          <a:xfrm>
            <a:off x="7360920" y="5166360"/>
            <a:ext cx="4160520" cy="868680"/>
          </a:xfrm>
          <a:prstGeom prst="rect">
            <a:avLst/>
          </a:prstGeom>
          <a:noFill/>
          <a:ln/>
        </p:spPr>
        <p:txBody>
          <a:bodyPr wrap="square" lIns="635" tIns="635" rIns="635" bIns="635" rtlCol="0" anchor="ctr"/>
          <a:lstStyle/>
          <a:p>
            <a:pPr indent="0" marL="0">
              <a:buNone/>
            </a:pPr>
            <a:r>
              <a:rPr lang="en-US" sz="1900" dirty="0">
                <a:solidFill>
                  <a:srgbClr val="1B2730"/>
                </a:solidFill>
                <a:latin typeface="Calibri" pitchFamily="34" charset="0"/>
                <a:ea typeface="Calibri" pitchFamily="34" charset="-122"/>
                <a:cs typeface="Calibri" pitchFamily="34" charset="-120"/>
              </a:rPr>
              <a:t>Reputation damage &amp; loss of licence to operate</a:t>
            </a:r>
            <a:endParaRPr lang="en-US" sz="1900" dirty="0"/>
          </a:p>
        </p:txBody>
      </p:sp>
      <p:sp>
        <p:nvSpPr>
          <p:cNvPr id="30"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irc_286"/>
          <p:cNvSpPr/>
          <p:nvPr/>
        </p:nvSpPr>
        <p:spPr>
          <a:xfrm>
            <a:off x="548640" y="2011680"/>
            <a:ext cx="1371600" cy="1371600"/>
          </a:xfrm>
          <a:prstGeom prst="ellipse">
            <a:avLst/>
          </a:prstGeom>
          <a:solidFill>
            <a:srgbClr val="E8771E"/>
          </a:solidFill>
          <a:ln/>
        </p:spPr>
      </p:sp>
      <p:pic>
        <p:nvPicPr>
          <p:cNvPr id="3" name="icon_287"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288"/>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2</a:t>
            </a:r>
            <a:endParaRPr lang="en-US" sz="1800" dirty="0"/>
          </a:p>
        </p:txBody>
      </p:sp>
      <p:sp>
        <p:nvSpPr>
          <p:cNvPr id="5" name="txt_289"/>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When is PTW Required? Principles &amp; the Life Saving Rule</a:t>
            </a:r>
            <a:endParaRPr lang="en-US" sz="4000" dirty="0"/>
          </a:p>
        </p:txBody>
      </p:sp>
      <p:sp>
        <p:nvSpPr>
          <p:cNvPr id="6" name="txt_290"/>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The scope, the seven principles and the one rule we never break</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When is a Permit Required?</a:t>
            </a:r>
            <a:endParaRPr lang="en-US" sz="3200" dirty="0"/>
          </a:p>
        </p:txBody>
      </p:sp>
      <p:sp>
        <p:nvSpPr>
          <p:cNvPr id="3" name="box_291"/>
          <p:cNvSpPr/>
          <p:nvPr/>
        </p:nvSpPr>
        <p:spPr>
          <a:xfrm>
            <a:off x="548640" y="1280160"/>
            <a:ext cx="11094415" cy="960120"/>
          </a:xfrm>
          <a:prstGeom prst="roundRect">
            <a:avLst>
              <a:gd name="adj" fmla="val 11429"/>
            </a:avLst>
          </a:prstGeom>
          <a:solidFill>
            <a:srgbClr val="0B2A3C"/>
          </a:solidFill>
          <a:ln/>
        </p:spPr>
      </p:sp>
      <p:sp>
        <p:nvSpPr>
          <p:cNvPr id="4" name="txt_292"/>
          <p:cNvSpPr txBox="1"/>
          <p:nvPr/>
        </p:nvSpPr>
        <p:spPr>
          <a:xfrm>
            <a:off x="822960" y="1325880"/>
            <a:ext cx="10545775" cy="868680"/>
          </a:xfrm>
          <a:prstGeom prst="rect">
            <a:avLst/>
          </a:prstGeom>
          <a:noFill/>
          <a:ln/>
        </p:spPr>
        <p:txBody>
          <a:bodyPr wrap="square" lIns="635" tIns="635" rIns="635" bIns="635" rtlCol="0" anchor="ctr"/>
          <a:lstStyle/>
          <a:p>
            <a:pPr algn="ctr" indent="0" marL="0">
              <a:buNone/>
            </a:pPr>
            <a:r>
              <a:rPr lang="en-US" sz="2600" b="1" dirty="0">
                <a:solidFill>
                  <a:srgbClr val="E8771E"/>
                </a:solidFill>
                <a:latin typeface="Calibri" pitchFamily="34" charset="0"/>
                <a:ea typeface="Calibri" pitchFamily="34" charset="-122"/>
                <a:cs typeface="Calibri" pitchFamily="34" charset="-120"/>
              </a:rPr>
              <a:t>NON-ROUTINE WORK</a:t>
            </a:r>
            <a:pPr algn="ctr" indent="0" marL="0">
              <a:buNone/>
            </a:pPr>
            <a:r>
              <a:rPr lang="en-US" sz="2600" dirty="0">
                <a:solidFill>
                  <a:srgbClr val="FFFFFF"/>
                </a:solidFill>
                <a:latin typeface="Calibri" pitchFamily="34" charset="0"/>
                <a:ea typeface="Calibri" pitchFamily="34" charset="-122"/>
                <a:cs typeface="Calibri" pitchFamily="34" charset="-120"/>
              </a:rPr>
              <a:t>  +  </a:t>
            </a:r>
            <a:pPr algn="ctr" indent="0" marL="0">
              <a:buNone/>
            </a:pPr>
            <a:r>
              <a:rPr lang="en-US" sz="2600" b="1" dirty="0">
                <a:solidFill>
                  <a:srgbClr val="E8771E"/>
                </a:solidFill>
                <a:latin typeface="Calibri" pitchFamily="34" charset="0"/>
                <a:ea typeface="Calibri" pitchFamily="34" charset="-122"/>
                <a:cs typeface="Calibri" pitchFamily="34" charset="-120"/>
              </a:rPr>
              <a:t>SIGNIFICANT RISK</a:t>
            </a:r>
            <a:pPr algn="ctr" indent="0" marL="0">
              <a:buNone/>
            </a:pPr>
            <a:r>
              <a:rPr lang="en-US" sz="2600" b="1" dirty="0">
                <a:solidFill>
                  <a:srgbClr val="FFFFFF"/>
                </a:solidFill>
                <a:latin typeface="Calibri" pitchFamily="34" charset="0"/>
                <a:ea typeface="Calibri" pitchFamily="34" charset="-122"/>
                <a:cs typeface="Calibri" pitchFamily="34" charset="-120"/>
              </a:rPr>
              <a:t>  =  PTW required</a:t>
            </a:r>
            <a:endParaRPr lang="en-US" sz="2600" dirty="0"/>
          </a:p>
        </p:txBody>
      </p:sp>
      <p:sp>
        <p:nvSpPr>
          <p:cNvPr id="5" name="a1_box_293"/>
          <p:cNvSpPr/>
          <p:nvPr/>
        </p:nvSpPr>
        <p:spPr>
          <a:xfrm>
            <a:off x="548640" y="2468880"/>
            <a:ext cx="3564026"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6" name="a1_circ_294"/>
          <p:cNvSpPr/>
          <p:nvPr/>
        </p:nvSpPr>
        <p:spPr>
          <a:xfrm>
            <a:off x="731520" y="2651760"/>
            <a:ext cx="685800" cy="685800"/>
          </a:xfrm>
          <a:prstGeom prst="ellipse">
            <a:avLst/>
          </a:prstGeom>
          <a:solidFill>
            <a:srgbClr val="C0392B"/>
          </a:solidFill>
          <a:ln/>
        </p:spPr>
      </p:sp>
      <p:pic>
        <p:nvPicPr>
          <p:cNvPr id="7" name="a1_icon_295" descr="preencoded.png">    </p:cNvPr>
          <p:cNvPicPr>
            <a:picLocks noChangeAspect="1"/>
          </p:cNvPicPr>
          <p:nvPr/>
        </p:nvPicPr>
        <p:blipFill>
          <a:blip r:embed="rId1"/>
          <a:stretch>
            <a:fillRect/>
          </a:stretch>
        </p:blipFill>
        <p:spPr>
          <a:xfrm>
            <a:off x="885825" y="2806065"/>
            <a:ext cx="377190" cy="377190"/>
          </a:xfrm>
          <a:prstGeom prst="rect">
            <a:avLst/>
          </a:prstGeom>
        </p:spPr>
      </p:pic>
      <p:sp>
        <p:nvSpPr>
          <p:cNvPr id="8" name="a1_txt_296"/>
          <p:cNvSpPr txBox="1"/>
          <p:nvPr/>
        </p:nvSpPr>
        <p:spPr>
          <a:xfrm>
            <a:off x="1581912" y="263347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Fire or explosion</a:t>
            </a:r>
            <a:endParaRPr lang="en-US" sz="1900" dirty="0"/>
          </a:p>
        </p:txBody>
      </p:sp>
      <p:sp>
        <p:nvSpPr>
          <p:cNvPr id="9" name="a1_txt_297"/>
          <p:cNvSpPr txBox="1"/>
          <p:nvPr/>
        </p:nvSpPr>
        <p:spPr>
          <a:xfrm>
            <a:off x="777240" y="3410712"/>
            <a:ext cx="3152546" cy="74980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Ignition sources where flammable atmospheres may exist</a:t>
            </a:r>
            <a:endParaRPr lang="en-US" sz="1700" dirty="0"/>
          </a:p>
        </p:txBody>
      </p:sp>
      <p:sp>
        <p:nvSpPr>
          <p:cNvPr id="10" name="a2_box_298"/>
          <p:cNvSpPr/>
          <p:nvPr/>
        </p:nvSpPr>
        <p:spPr>
          <a:xfrm>
            <a:off x="4313834" y="2468880"/>
            <a:ext cx="3564026"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1" name="a2_circ_299"/>
          <p:cNvSpPr/>
          <p:nvPr/>
        </p:nvSpPr>
        <p:spPr>
          <a:xfrm>
            <a:off x="4496714" y="2651760"/>
            <a:ext cx="685800" cy="685800"/>
          </a:xfrm>
          <a:prstGeom prst="ellipse">
            <a:avLst/>
          </a:prstGeom>
          <a:solidFill>
            <a:srgbClr val="C0392B"/>
          </a:solidFill>
          <a:ln/>
        </p:spPr>
      </p:sp>
      <p:pic>
        <p:nvPicPr>
          <p:cNvPr id="12" name="a2_icon_300" descr="preencoded.png">    </p:cNvPr>
          <p:cNvPicPr>
            <a:picLocks noChangeAspect="1"/>
          </p:cNvPicPr>
          <p:nvPr/>
        </p:nvPicPr>
        <p:blipFill>
          <a:blip r:embed="rId2"/>
          <a:stretch>
            <a:fillRect/>
          </a:stretch>
        </p:blipFill>
        <p:spPr>
          <a:xfrm>
            <a:off x="4651019" y="2806065"/>
            <a:ext cx="377190" cy="377190"/>
          </a:xfrm>
          <a:prstGeom prst="rect">
            <a:avLst/>
          </a:prstGeom>
        </p:spPr>
      </p:pic>
      <p:sp>
        <p:nvSpPr>
          <p:cNvPr id="13" name="a2_txt_301"/>
          <p:cNvSpPr txBox="1"/>
          <p:nvPr/>
        </p:nvSpPr>
        <p:spPr>
          <a:xfrm>
            <a:off x="5347106" y="263347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Toxic / asphyxiating atmosphere</a:t>
            </a:r>
            <a:endParaRPr lang="en-US" sz="1900" dirty="0"/>
          </a:p>
        </p:txBody>
      </p:sp>
      <p:sp>
        <p:nvSpPr>
          <p:cNvPr id="14" name="a2_txt_302"/>
          <p:cNvSpPr txBox="1"/>
          <p:nvPr/>
        </p:nvSpPr>
        <p:spPr>
          <a:xfrm>
            <a:off x="4542434" y="3410712"/>
            <a:ext cx="3152546" cy="74980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Hazardous gases, vapours or low oxygen</a:t>
            </a:r>
            <a:endParaRPr lang="en-US" sz="1700" dirty="0"/>
          </a:p>
        </p:txBody>
      </p:sp>
      <p:sp>
        <p:nvSpPr>
          <p:cNvPr id="15" name="a3_box_303"/>
          <p:cNvSpPr/>
          <p:nvPr/>
        </p:nvSpPr>
        <p:spPr>
          <a:xfrm>
            <a:off x="8079029" y="2468880"/>
            <a:ext cx="3564026"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6" name="a3_circ_304"/>
          <p:cNvSpPr/>
          <p:nvPr/>
        </p:nvSpPr>
        <p:spPr>
          <a:xfrm>
            <a:off x="8261909" y="2651760"/>
            <a:ext cx="685800" cy="685800"/>
          </a:xfrm>
          <a:prstGeom prst="ellipse">
            <a:avLst/>
          </a:prstGeom>
          <a:solidFill>
            <a:srgbClr val="C0392B"/>
          </a:solidFill>
          <a:ln/>
        </p:spPr>
      </p:sp>
      <p:pic>
        <p:nvPicPr>
          <p:cNvPr id="17" name="a3_icon_305" descr="preencoded.png">    </p:cNvPr>
          <p:cNvPicPr>
            <a:picLocks noChangeAspect="1"/>
          </p:cNvPicPr>
          <p:nvPr/>
        </p:nvPicPr>
        <p:blipFill>
          <a:blip r:embed="rId3"/>
          <a:stretch>
            <a:fillRect/>
          </a:stretch>
        </p:blipFill>
        <p:spPr>
          <a:xfrm>
            <a:off x="8416214" y="2806065"/>
            <a:ext cx="377190" cy="377190"/>
          </a:xfrm>
          <a:prstGeom prst="rect">
            <a:avLst/>
          </a:prstGeom>
        </p:spPr>
      </p:pic>
      <p:sp>
        <p:nvSpPr>
          <p:cNvPr id="18" name="a3_txt_306"/>
          <p:cNvSpPr txBox="1"/>
          <p:nvPr/>
        </p:nvSpPr>
        <p:spPr>
          <a:xfrm>
            <a:off x="9112301" y="263347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Stored energy</a:t>
            </a:r>
            <a:endParaRPr lang="en-US" sz="1900" dirty="0"/>
          </a:p>
        </p:txBody>
      </p:sp>
      <p:sp>
        <p:nvSpPr>
          <p:cNvPr id="19" name="a3_txt_307"/>
          <p:cNvSpPr txBox="1"/>
          <p:nvPr/>
        </p:nvSpPr>
        <p:spPr>
          <a:xfrm>
            <a:off x="8307629" y="3410712"/>
            <a:ext cx="3152546" cy="74980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Electrical, mechanical, hydraulic, pneumatic, chemical, thermal…</a:t>
            </a:r>
            <a:endParaRPr lang="en-US" sz="1700" dirty="0"/>
          </a:p>
        </p:txBody>
      </p:sp>
      <p:sp>
        <p:nvSpPr>
          <p:cNvPr id="20" name="a4_box_308"/>
          <p:cNvSpPr/>
          <p:nvPr/>
        </p:nvSpPr>
        <p:spPr>
          <a:xfrm>
            <a:off x="548640" y="4416552"/>
            <a:ext cx="3564026"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circ_309"/>
          <p:cNvSpPr/>
          <p:nvPr/>
        </p:nvSpPr>
        <p:spPr>
          <a:xfrm>
            <a:off x="731520" y="4599432"/>
            <a:ext cx="685800" cy="685800"/>
          </a:xfrm>
          <a:prstGeom prst="ellipse">
            <a:avLst/>
          </a:prstGeom>
          <a:solidFill>
            <a:srgbClr val="C0392B"/>
          </a:solidFill>
          <a:ln/>
        </p:spPr>
      </p:sp>
      <p:pic>
        <p:nvPicPr>
          <p:cNvPr id="22" name="a4_icon_310" descr="preencoded.png">    </p:cNvPr>
          <p:cNvPicPr>
            <a:picLocks noChangeAspect="1"/>
          </p:cNvPicPr>
          <p:nvPr/>
        </p:nvPicPr>
        <p:blipFill>
          <a:blip r:embed="rId4"/>
          <a:stretch>
            <a:fillRect/>
          </a:stretch>
        </p:blipFill>
        <p:spPr>
          <a:xfrm>
            <a:off x="885825" y="4753737"/>
            <a:ext cx="377190" cy="377190"/>
          </a:xfrm>
          <a:prstGeom prst="rect">
            <a:avLst/>
          </a:prstGeom>
        </p:spPr>
      </p:pic>
      <p:sp>
        <p:nvSpPr>
          <p:cNvPr id="23" name="a4_txt_311"/>
          <p:cNvSpPr txBox="1"/>
          <p:nvPr/>
        </p:nvSpPr>
        <p:spPr>
          <a:xfrm>
            <a:off x="1581912" y="4581144"/>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Entrapment / engulfment</a:t>
            </a:r>
            <a:endParaRPr lang="en-US" sz="1900" dirty="0"/>
          </a:p>
        </p:txBody>
      </p:sp>
      <p:sp>
        <p:nvSpPr>
          <p:cNvPr id="24" name="a4_txt_312"/>
          <p:cNvSpPr txBox="1"/>
          <p:nvPr/>
        </p:nvSpPr>
        <p:spPr>
          <a:xfrm>
            <a:off x="777240" y="5358384"/>
            <a:ext cx="3152546" cy="74980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Collapse, engulfment or entrapment possible</a:t>
            </a:r>
            <a:endParaRPr lang="en-US" sz="1700" dirty="0"/>
          </a:p>
        </p:txBody>
      </p:sp>
      <p:sp>
        <p:nvSpPr>
          <p:cNvPr id="25" name="a5_box_313"/>
          <p:cNvSpPr/>
          <p:nvPr/>
        </p:nvSpPr>
        <p:spPr>
          <a:xfrm>
            <a:off x="4313834" y="4416552"/>
            <a:ext cx="3564026"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6" name="a5_circ_314"/>
          <p:cNvSpPr/>
          <p:nvPr/>
        </p:nvSpPr>
        <p:spPr>
          <a:xfrm>
            <a:off x="4496714" y="4599432"/>
            <a:ext cx="685800" cy="685800"/>
          </a:xfrm>
          <a:prstGeom prst="ellipse">
            <a:avLst/>
          </a:prstGeom>
          <a:solidFill>
            <a:srgbClr val="C0392B"/>
          </a:solidFill>
          <a:ln/>
        </p:spPr>
      </p:sp>
      <p:pic>
        <p:nvPicPr>
          <p:cNvPr id="27" name="a5_icon_315" descr="preencoded.png">    </p:cNvPr>
          <p:cNvPicPr>
            <a:picLocks noChangeAspect="1"/>
          </p:cNvPicPr>
          <p:nvPr/>
        </p:nvPicPr>
        <p:blipFill>
          <a:blip r:embed="rId5"/>
          <a:stretch>
            <a:fillRect/>
          </a:stretch>
        </p:blipFill>
        <p:spPr>
          <a:xfrm>
            <a:off x="4651019" y="4753737"/>
            <a:ext cx="377190" cy="377190"/>
          </a:xfrm>
          <a:prstGeom prst="rect">
            <a:avLst/>
          </a:prstGeom>
        </p:spPr>
      </p:pic>
      <p:sp>
        <p:nvSpPr>
          <p:cNvPr id="28" name="a5_txt_316"/>
          <p:cNvSpPr txBox="1"/>
          <p:nvPr/>
        </p:nvSpPr>
        <p:spPr>
          <a:xfrm>
            <a:off x="5347106" y="4581144"/>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Height or depth</a:t>
            </a:r>
            <a:endParaRPr lang="en-US" sz="1900" dirty="0"/>
          </a:p>
        </p:txBody>
      </p:sp>
      <p:sp>
        <p:nvSpPr>
          <p:cNvPr id="29" name="a5_txt_317"/>
          <p:cNvSpPr txBox="1"/>
          <p:nvPr/>
        </p:nvSpPr>
        <p:spPr>
          <a:xfrm>
            <a:off x="4542434" y="5358384"/>
            <a:ext cx="3152546" cy="74980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A fall from height or into depth</a:t>
            </a:r>
            <a:endParaRPr lang="en-US" sz="1700" dirty="0"/>
          </a:p>
        </p:txBody>
      </p:sp>
      <p:sp>
        <p:nvSpPr>
          <p:cNvPr id="30" name="a6_box_318"/>
          <p:cNvSpPr/>
          <p:nvPr/>
        </p:nvSpPr>
        <p:spPr>
          <a:xfrm>
            <a:off x="8079029" y="4416552"/>
            <a:ext cx="3564026"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1" name="a6_circ_319"/>
          <p:cNvSpPr/>
          <p:nvPr/>
        </p:nvSpPr>
        <p:spPr>
          <a:xfrm>
            <a:off x="8261909" y="4599432"/>
            <a:ext cx="685800" cy="685800"/>
          </a:xfrm>
          <a:prstGeom prst="ellipse">
            <a:avLst/>
          </a:prstGeom>
          <a:solidFill>
            <a:srgbClr val="E8771E"/>
          </a:solidFill>
          <a:ln/>
        </p:spPr>
      </p:sp>
      <p:pic>
        <p:nvPicPr>
          <p:cNvPr id="32" name="a6_icon_320" descr="preencoded.png">    </p:cNvPr>
          <p:cNvPicPr>
            <a:picLocks noChangeAspect="1"/>
          </p:cNvPicPr>
          <p:nvPr/>
        </p:nvPicPr>
        <p:blipFill>
          <a:blip r:embed="rId6"/>
          <a:stretch>
            <a:fillRect/>
          </a:stretch>
        </p:blipFill>
        <p:spPr>
          <a:xfrm>
            <a:off x="8416214" y="4753737"/>
            <a:ext cx="377190" cy="377190"/>
          </a:xfrm>
          <a:prstGeom prst="rect">
            <a:avLst/>
          </a:prstGeom>
        </p:spPr>
      </p:pic>
      <p:sp>
        <p:nvSpPr>
          <p:cNvPr id="33" name="a6_txt_321"/>
          <p:cNvSpPr txBox="1"/>
          <p:nvPr/>
        </p:nvSpPr>
        <p:spPr>
          <a:xfrm>
            <a:off x="9112301" y="4581144"/>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Breaking containment</a:t>
            </a:r>
            <a:endParaRPr lang="en-US" sz="1900" dirty="0"/>
          </a:p>
        </p:txBody>
      </p:sp>
      <p:sp>
        <p:nvSpPr>
          <p:cNvPr id="34" name="a6_txt_322"/>
          <p:cNvSpPr txBox="1"/>
          <p:nvPr/>
        </p:nvSpPr>
        <p:spPr>
          <a:xfrm>
            <a:off x="8307629" y="5358384"/>
            <a:ext cx="3152546" cy="749808"/>
          </a:xfrm>
          <a:prstGeom prst="rect">
            <a:avLst/>
          </a:prstGeom>
          <a:noFill/>
          <a:ln/>
        </p:spPr>
        <p:txBody>
          <a:bodyPr wrap="square" lIns="635" tIns="635" rIns="635" bIns="635" rtlCol="0" anchor="t"/>
          <a:lstStyle/>
          <a:p>
            <a:pPr indent="0" marL="0">
              <a:buNone/>
            </a:pPr>
            <a:r>
              <a:rPr lang="en-US" sz="1700" dirty="0">
                <a:solidFill>
                  <a:srgbClr val="1B2730"/>
                </a:solidFill>
                <a:latin typeface="Calibri" pitchFamily="34" charset="0"/>
                <a:ea typeface="Calibri" pitchFamily="34" charset="-122"/>
                <a:cs typeface="Calibri" pitchFamily="34" charset="-120"/>
              </a:rPr>
              <a:t>Breaking into a process system, pipeline or vessel</a:t>
            </a:r>
            <a:endParaRPr lang="en-US" sz="1700" dirty="0"/>
          </a:p>
        </p:txBody>
      </p:sp>
      <p:sp>
        <p:nvSpPr>
          <p:cNvPr id="3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The 7 Principles of an Effective PTW System</a:t>
            </a:r>
            <a:endParaRPr lang="en-US" sz="3200" dirty="0"/>
          </a:p>
        </p:txBody>
      </p:sp>
      <p:sp>
        <p:nvSpPr>
          <p:cNvPr id="3" name="a1_box_323"/>
          <p:cNvSpPr/>
          <p:nvPr/>
        </p:nvSpPr>
        <p:spPr>
          <a:xfrm>
            <a:off x="548640"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324"/>
          <p:cNvSpPr/>
          <p:nvPr/>
        </p:nvSpPr>
        <p:spPr>
          <a:xfrm>
            <a:off x="731520" y="1463040"/>
            <a:ext cx="685800" cy="685800"/>
          </a:xfrm>
          <a:prstGeom prst="ellipse">
            <a:avLst/>
          </a:prstGeom>
          <a:solidFill>
            <a:srgbClr val="0F6E7A"/>
          </a:solidFill>
          <a:ln/>
        </p:spPr>
      </p:sp>
      <p:pic>
        <p:nvPicPr>
          <p:cNvPr id="5" name="a1_icon_325"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a1_txt_326"/>
          <p:cNvSpPr txBox="1"/>
          <p:nvPr/>
        </p:nvSpPr>
        <p:spPr>
          <a:xfrm>
            <a:off x="1581912" y="144475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Competency</a:t>
            </a:r>
            <a:endParaRPr lang="en-US" sz="1600" dirty="0"/>
          </a:p>
        </p:txBody>
      </p:sp>
      <p:sp>
        <p:nvSpPr>
          <p:cNvPr id="7" name="a1_txt_327"/>
          <p:cNvSpPr txBox="1"/>
          <p:nvPr/>
        </p:nvSpPr>
        <p:spPr>
          <a:xfrm>
            <a:off x="777240" y="222199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Everyone trained, assessed and authorised for their role</a:t>
            </a:r>
            <a:endParaRPr lang="en-US" sz="1800" dirty="0"/>
          </a:p>
        </p:txBody>
      </p:sp>
      <p:sp>
        <p:nvSpPr>
          <p:cNvPr id="8" name="a2_box_328"/>
          <p:cNvSpPr/>
          <p:nvPr/>
        </p:nvSpPr>
        <p:spPr>
          <a:xfrm>
            <a:off x="3372536"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_circ_329"/>
          <p:cNvSpPr/>
          <p:nvPr/>
        </p:nvSpPr>
        <p:spPr>
          <a:xfrm>
            <a:off x="3555416" y="1463040"/>
            <a:ext cx="685800" cy="685800"/>
          </a:xfrm>
          <a:prstGeom prst="ellipse">
            <a:avLst/>
          </a:prstGeom>
          <a:solidFill>
            <a:srgbClr val="0F6E7A"/>
          </a:solidFill>
          <a:ln/>
        </p:spPr>
      </p:sp>
      <p:pic>
        <p:nvPicPr>
          <p:cNvPr id="10" name="a2_icon_330" descr="preencoded.png">    </p:cNvPr>
          <p:cNvPicPr>
            <a:picLocks noChangeAspect="1"/>
          </p:cNvPicPr>
          <p:nvPr/>
        </p:nvPicPr>
        <p:blipFill>
          <a:blip r:embed="rId2"/>
          <a:stretch>
            <a:fillRect/>
          </a:stretch>
        </p:blipFill>
        <p:spPr>
          <a:xfrm>
            <a:off x="3709721" y="1617345"/>
            <a:ext cx="377190" cy="377190"/>
          </a:xfrm>
          <a:prstGeom prst="rect">
            <a:avLst/>
          </a:prstGeom>
        </p:spPr>
      </p:pic>
      <p:sp>
        <p:nvSpPr>
          <p:cNvPr id="11" name="a2_txt_331"/>
          <p:cNvSpPr txBox="1"/>
          <p:nvPr/>
        </p:nvSpPr>
        <p:spPr>
          <a:xfrm>
            <a:off x="4405808" y="144475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Clarity</a:t>
            </a:r>
            <a:endParaRPr lang="en-US" sz="1600" dirty="0"/>
          </a:p>
        </p:txBody>
      </p:sp>
      <p:sp>
        <p:nvSpPr>
          <p:cNvPr id="12" name="a2_txt_332"/>
          <p:cNvSpPr txBox="1"/>
          <p:nvPr/>
        </p:nvSpPr>
        <p:spPr>
          <a:xfrm>
            <a:off x="3601136" y="222199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Exact work, location, hazards, controls and validity</a:t>
            </a:r>
            <a:endParaRPr lang="en-US" sz="1800" dirty="0"/>
          </a:p>
        </p:txBody>
      </p:sp>
      <p:sp>
        <p:nvSpPr>
          <p:cNvPr id="13" name="a3_box_333"/>
          <p:cNvSpPr/>
          <p:nvPr/>
        </p:nvSpPr>
        <p:spPr>
          <a:xfrm>
            <a:off x="6196432"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_circ_334"/>
          <p:cNvSpPr/>
          <p:nvPr/>
        </p:nvSpPr>
        <p:spPr>
          <a:xfrm>
            <a:off x="6379312" y="1463040"/>
            <a:ext cx="685800" cy="685800"/>
          </a:xfrm>
          <a:prstGeom prst="ellipse">
            <a:avLst/>
          </a:prstGeom>
          <a:solidFill>
            <a:srgbClr val="0F6E7A"/>
          </a:solidFill>
          <a:ln/>
        </p:spPr>
      </p:sp>
      <p:pic>
        <p:nvPicPr>
          <p:cNvPr id="15" name="a3_icon_335" descr="preencoded.png">    </p:cNvPr>
          <p:cNvPicPr>
            <a:picLocks noChangeAspect="1"/>
          </p:cNvPicPr>
          <p:nvPr/>
        </p:nvPicPr>
        <p:blipFill>
          <a:blip r:embed="rId3"/>
          <a:stretch>
            <a:fillRect/>
          </a:stretch>
        </p:blipFill>
        <p:spPr>
          <a:xfrm>
            <a:off x="6533617" y="1617345"/>
            <a:ext cx="377190" cy="377190"/>
          </a:xfrm>
          <a:prstGeom prst="rect">
            <a:avLst/>
          </a:prstGeom>
        </p:spPr>
      </p:pic>
      <p:sp>
        <p:nvSpPr>
          <p:cNvPr id="16" name="a3_txt_336"/>
          <p:cNvSpPr txBox="1"/>
          <p:nvPr/>
        </p:nvSpPr>
        <p:spPr>
          <a:xfrm>
            <a:off x="7229704" y="144475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Positive control &amp; verification</a:t>
            </a:r>
            <a:endParaRPr lang="en-US" sz="1600" dirty="0"/>
          </a:p>
        </p:txBody>
      </p:sp>
      <p:sp>
        <p:nvSpPr>
          <p:cNvPr id="17" name="a3_txt_337"/>
          <p:cNvSpPr txBox="1"/>
          <p:nvPr/>
        </p:nvSpPr>
        <p:spPr>
          <a:xfrm>
            <a:off x="6425032" y="222199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Controls physically checked before authorisation</a:t>
            </a:r>
            <a:endParaRPr lang="en-US" sz="1800" dirty="0"/>
          </a:p>
        </p:txBody>
      </p:sp>
      <p:sp>
        <p:nvSpPr>
          <p:cNvPr id="18" name="a4_box_338"/>
          <p:cNvSpPr/>
          <p:nvPr/>
        </p:nvSpPr>
        <p:spPr>
          <a:xfrm>
            <a:off x="9020327"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_circ_339"/>
          <p:cNvSpPr/>
          <p:nvPr/>
        </p:nvSpPr>
        <p:spPr>
          <a:xfrm>
            <a:off x="9203207" y="1463040"/>
            <a:ext cx="685800" cy="685800"/>
          </a:xfrm>
          <a:prstGeom prst="ellipse">
            <a:avLst/>
          </a:prstGeom>
          <a:solidFill>
            <a:srgbClr val="0F6E7A"/>
          </a:solidFill>
          <a:ln/>
        </p:spPr>
      </p:sp>
      <p:pic>
        <p:nvPicPr>
          <p:cNvPr id="20" name="a4_icon_340" descr="preencoded.png">    </p:cNvPr>
          <p:cNvPicPr>
            <a:picLocks noChangeAspect="1"/>
          </p:cNvPicPr>
          <p:nvPr/>
        </p:nvPicPr>
        <p:blipFill>
          <a:blip r:embed="rId4"/>
          <a:stretch>
            <a:fillRect/>
          </a:stretch>
        </p:blipFill>
        <p:spPr>
          <a:xfrm>
            <a:off x="9357512" y="1617345"/>
            <a:ext cx="377190" cy="377190"/>
          </a:xfrm>
          <a:prstGeom prst="rect">
            <a:avLst/>
          </a:prstGeom>
        </p:spPr>
      </p:pic>
      <p:sp>
        <p:nvSpPr>
          <p:cNvPr id="21" name="a4_txt_341"/>
          <p:cNvSpPr txBox="1"/>
          <p:nvPr/>
        </p:nvSpPr>
        <p:spPr>
          <a:xfrm>
            <a:off x="10053599" y="144475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Communication</a:t>
            </a:r>
            <a:endParaRPr lang="en-US" sz="1600" dirty="0"/>
          </a:p>
        </p:txBody>
      </p:sp>
      <p:sp>
        <p:nvSpPr>
          <p:cNvPr id="22" name="a4_txt_342"/>
          <p:cNvSpPr txBox="1"/>
          <p:nvPr/>
        </p:nvSpPr>
        <p:spPr>
          <a:xfrm>
            <a:off x="9248927" y="222199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Handover, briefing, permit displayed at site</a:t>
            </a:r>
            <a:endParaRPr lang="en-US" sz="1800" dirty="0"/>
          </a:p>
        </p:txBody>
      </p:sp>
      <p:sp>
        <p:nvSpPr>
          <p:cNvPr id="23" name="a5_box_343"/>
          <p:cNvSpPr/>
          <p:nvPr/>
        </p:nvSpPr>
        <p:spPr>
          <a:xfrm>
            <a:off x="1960588"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_circ_344"/>
          <p:cNvSpPr/>
          <p:nvPr/>
        </p:nvSpPr>
        <p:spPr>
          <a:xfrm>
            <a:off x="2143468" y="3931920"/>
            <a:ext cx="685800" cy="685800"/>
          </a:xfrm>
          <a:prstGeom prst="ellipse">
            <a:avLst/>
          </a:prstGeom>
          <a:solidFill>
            <a:srgbClr val="0F6E7A"/>
          </a:solidFill>
          <a:ln/>
        </p:spPr>
      </p:sp>
      <p:pic>
        <p:nvPicPr>
          <p:cNvPr id="25" name="a5_icon_345" descr="preencoded.png">    </p:cNvPr>
          <p:cNvPicPr>
            <a:picLocks noChangeAspect="1"/>
          </p:cNvPicPr>
          <p:nvPr/>
        </p:nvPicPr>
        <p:blipFill>
          <a:blip r:embed="rId5"/>
          <a:stretch>
            <a:fillRect/>
          </a:stretch>
        </p:blipFill>
        <p:spPr>
          <a:xfrm>
            <a:off x="2297773" y="4086225"/>
            <a:ext cx="377190" cy="377190"/>
          </a:xfrm>
          <a:prstGeom prst="rect">
            <a:avLst/>
          </a:prstGeom>
        </p:spPr>
      </p:pic>
      <p:sp>
        <p:nvSpPr>
          <p:cNvPr id="26" name="a5_txt_346"/>
          <p:cNvSpPr txBox="1"/>
          <p:nvPr/>
        </p:nvSpPr>
        <p:spPr>
          <a:xfrm>
            <a:off x="2993860" y="391363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Consistency</a:t>
            </a:r>
            <a:endParaRPr lang="en-US" sz="1600" dirty="0"/>
          </a:p>
        </p:txBody>
      </p:sp>
      <p:sp>
        <p:nvSpPr>
          <p:cNvPr id="27" name="a5_txt_347"/>
          <p:cNvSpPr txBox="1"/>
          <p:nvPr/>
        </p:nvSpPr>
        <p:spPr>
          <a:xfrm>
            <a:off x="2189188" y="469087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Same forms, terms and procedures across the site</a:t>
            </a:r>
            <a:endParaRPr lang="en-US" sz="1800" dirty="0"/>
          </a:p>
        </p:txBody>
      </p:sp>
      <p:sp>
        <p:nvSpPr>
          <p:cNvPr id="28" name="a6_box_348"/>
          <p:cNvSpPr/>
          <p:nvPr/>
        </p:nvSpPr>
        <p:spPr>
          <a:xfrm>
            <a:off x="4784484"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circ_349"/>
          <p:cNvSpPr/>
          <p:nvPr/>
        </p:nvSpPr>
        <p:spPr>
          <a:xfrm>
            <a:off x="4967364" y="3931920"/>
            <a:ext cx="685800" cy="685800"/>
          </a:xfrm>
          <a:prstGeom prst="ellipse">
            <a:avLst/>
          </a:prstGeom>
          <a:solidFill>
            <a:srgbClr val="0F6E7A"/>
          </a:solidFill>
          <a:ln/>
        </p:spPr>
      </p:sp>
      <p:pic>
        <p:nvPicPr>
          <p:cNvPr id="30" name="a6_icon_350" descr="preencoded.png">    </p:cNvPr>
          <p:cNvPicPr>
            <a:picLocks noChangeAspect="1"/>
          </p:cNvPicPr>
          <p:nvPr/>
        </p:nvPicPr>
        <p:blipFill>
          <a:blip r:embed="rId6"/>
          <a:stretch>
            <a:fillRect/>
          </a:stretch>
        </p:blipFill>
        <p:spPr>
          <a:xfrm>
            <a:off x="5121669" y="4086225"/>
            <a:ext cx="377190" cy="377190"/>
          </a:xfrm>
          <a:prstGeom prst="rect">
            <a:avLst/>
          </a:prstGeom>
        </p:spPr>
      </p:pic>
      <p:sp>
        <p:nvSpPr>
          <p:cNvPr id="31" name="a6_txt_351"/>
          <p:cNvSpPr txBox="1"/>
          <p:nvPr/>
        </p:nvSpPr>
        <p:spPr>
          <a:xfrm>
            <a:off x="5817756" y="391363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Strict compliance</a:t>
            </a:r>
            <a:endParaRPr lang="en-US" sz="1600" dirty="0"/>
          </a:p>
        </p:txBody>
      </p:sp>
      <p:sp>
        <p:nvSpPr>
          <p:cNvPr id="32" name="a6_txt_352"/>
          <p:cNvSpPr txBox="1"/>
          <p:nvPr/>
        </p:nvSpPr>
        <p:spPr>
          <a:xfrm>
            <a:off x="5013084" y="469087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Permit conditions are instructions, not suggestions</a:t>
            </a:r>
            <a:endParaRPr lang="en-US" sz="1800" dirty="0"/>
          </a:p>
        </p:txBody>
      </p:sp>
      <p:sp>
        <p:nvSpPr>
          <p:cNvPr id="33" name="a7_box_353"/>
          <p:cNvSpPr/>
          <p:nvPr/>
        </p:nvSpPr>
        <p:spPr>
          <a:xfrm>
            <a:off x="7608380"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4" name="a7_circ_354"/>
          <p:cNvSpPr/>
          <p:nvPr/>
        </p:nvSpPr>
        <p:spPr>
          <a:xfrm>
            <a:off x="7791259" y="3931920"/>
            <a:ext cx="685800" cy="685800"/>
          </a:xfrm>
          <a:prstGeom prst="ellipse">
            <a:avLst/>
          </a:prstGeom>
          <a:solidFill>
            <a:srgbClr val="0F6E7A"/>
          </a:solidFill>
          <a:ln/>
        </p:spPr>
      </p:sp>
      <p:pic>
        <p:nvPicPr>
          <p:cNvPr id="35" name="a7_icon_355" descr="preencoded.png">    </p:cNvPr>
          <p:cNvPicPr>
            <a:picLocks noChangeAspect="1"/>
          </p:cNvPicPr>
          <p:nvPr/>
        </p:nvPicPr>
        <p:blipFill>
          <a:blip r:embed="rId7"/>
          <a:stretch>
            <a:fillRect/>
          </a:stretch>
        </p:blipFill>
        <p:spPr>
          <a:xfrm>
            <a:off x="7945564" y="4086225"/>
            <a:ext cx="377190" cy="377190"/>
          </a:xfrm>
          <a:prstGeom prst="rect">
            <a:avLst/>
          </a:prstGeom>
        </p:spPr>
      </p:pic>
      <p:sp>
        <p:nvSpPr>
          <p:cNvPr id="36" name="a7_txt_356"/>
          <p:cNvSpPr txBox="1"/>
          <p:nvPr/>
        </p:nvSpPr>
        <p:spPr>
          <a:xfrm>
            <a:off x="8641651" y="3913632"/>
            <a:ext cx="1452296" cy="6858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Continuous monitoring</a:t>
            </a:r>
            <a:endParaRPr lang="en-US" sz="1600" dirty="0"/>
          </a:p>
        </p:txBody>
      </p:sp>
      <p:sp>
        <p:nvSpPr>
          <p:cNvPr id="37" name="a7_txt_357"/>
          <p:cNvSpPr txBox="1"/>
          <p:nvPr/>
        </p:nvSpPr>
        <p:spPr>
          <a:xfrm>
            <a:off x="7836980" y="4690872"/>
            <a:ext cx="2211248" cy="12527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Issuer checks the site; Receiver supervises the work</a:t>
            </a:r>
            <a:endParaRPr lang="en-US" sz="1800" dirty="0"/>
          </a:p>
        </p:txBody>
      </p:sp>
      <p:sp>
        <p:nvSpPr>
          <p:cNvPr id="3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fade">
                                      <p:cBhvr>
                                        <p:cTn id="118" dur="500"/>
                                        <p:tgtEl>
                                          <p:spTgt spid="3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Clarity: Vague Permits Cause Incidents</a:t>
            </a:r>
            <a:endParaRPr lang="en-US" sz="3200" dirty="0"/>
          </a:p>
        </p:txBody>
      </p:sp>
      <p:sp>
        <p:nvSpPr>
          <p:cNvPr id="3" name="a1_box_358"/>
          <p:cNvSpPr/>
          <p:nvPr/>
        </p:nvSpPr>
        <p:spPr>
          <a:xfrm>
            <a:off x="548640" y="1280160"/>
            <a:ext cx="5349240" cy="3886200"/>
          </a:xfrm>
          <a:prstGeom prst="roundRect">
            <a:avLst>
              <a:gd name="adj" fmla="val 2824"/>
            </a:avLst>
          </a:prstGeom>
          <a:solidFill>
            <a:srgbClr val="F8E0DD"/>
          </a:solidFill>
          <a:ln/>
        </p:spPr>
      </p:sp>
      <p:pic>
        <p:nvPicPr>
          <p:cNvPr id="4" name="a1_icon_359" descr="preencoded.png">    </p:cNvPr>
          <p:cNvPicPr>
            <a:picLocks noChangeAspect="1"/>
          </p:cNvPicPr>
          <p:nvPr/>
        </p:nvPicPr>
        <p:blipFill>
          <a:blip r:embed="rId1"/>
          <a:stretch>
            <a:fillRect/>
          </a:stretch>
        </p:blipFill>
        <p:spPr>
          <a:xfrm>
            <a:off x="777240" y="1463040"/>
            <a:ext cx="594360" cy="594360"/>
          </a:xfrm>
          <a:prstGeom prst="rect">
            <a:avLst/>
          </a:prstGeom>
        </p:spPr>
      </p:pic>
      <p:sp>
        <p:nvSpPr>
          <p:cNvPr id="5" name="a1_txt_360"/>
          <p:cNvSpPr txBox="1"/>
          <p:nvPr/>
        </p:nvSpPr>
        <p:spPr>
          <a:xfrm>
            <a:off x="1508760" y="1463040"/>
            <a:ext cx="4114800" cy="594360"/>
          </a:xfrm>
          <a:prstGeom prst="rect">
            <a:avLst/>
          </a:prstGeom>
          <a:noFill/>
          <a:ln/>
        </p:spPr>
        <p:txBody>
          <a:bodyPr wrap="square" lIns="635" tIns="635" rIns="635" bIns="635" rtlCol="0" anchor="ctr"/>
          <a:lstStyle/>
          <a:p>
            <a:pPr indent="0" marL="0">
              <a:buNone/>
            </a:pPr>
            <a:r>
              <a:rPr lang="en-US" sz="2400" b="1" dirty="0">
                <a:solidFill>
                  <a:srgbClr val="C0392B"/>
                </a:solidFill>
                <a:latin typeface="Calibri" pitchFamily="34" charset="0"/>
                <a:ea typeface="Calibri" pitchFamily="34" charset="-122"/>
                <a:cs typeface="Calibri" pitchFamily="34" charset="-120"/>
              </a:rPr>
              <a:t>VAGUE – DON’T</a:t>
            </a:r>
            <a:endParaRPr lang="en-US" sz="2400" dirty="0"/>
          </a:p>
        </p:txBody>
      </p:sp>
      <p:sp>
        <p:nvSpPr>
          <p:cNvPr id="6" name="a1_txt_361"/>
          <p:cNvSpPr txBox="1"/>
          <p:nvPr/>
        </p:nvSpPr>
        <p:spPr>
          <a:xfrm>
            <a:off x="822960" y="2286000"/>
            <a:ext cx="4846320" cy="2743200"/>
          </a:xfrm>
          <a:prstGeom prst="rect">
            <a:avLst/>
          </a:prstGeom>
          <a:noFill/>
          <a:ln/>
        </p:spPr>
        <p:txBody>
          <a:bodyPr wrap="square" lIns="635" tIns="635" rIns="635" bIns="635" rtlCol="0" anchor="t"/>
          <a:lstStyle/>
          <a:p>
            <a:pPr marL="228600" indent="-228600">
              <a:spcAft>
                <a:spcPts val="1400"/>
              </a:spcAft>
              <a:buSzPct val="100000"/>
              <a:buChar char="•"/>
            </a:pPr>
            <a:r>
              <a:rPr lang="en-US" sz="2200" dirty="0">
                <a:solidFill>
                  <a:srgbClr val="1B2730"/>
                </a:solidFill>
                <a:latin typeface="Calibri" pitchFamily="34" charset="0"/>
                <a:ea typeface="Calibri" pitchFamily="34" charset="-122"/>
                <a:cs typeface="Calibri" pitchFamily="34" charset="-120"/>
              </a:rPr>
              <a:t>“Work on the pump”</a:t>
            </a:r>
            <a:endParaRPr lang="en-US" sz="2200" dirty="0"/>
          </a:p>
          <a:p>
            <a:pPr marL="228600" indent="-228600">
              <a:spcAft>
                <a:spcPts val="1400"/>
              </a:spcAft>
              <a:buSzPct val="100000"/>
              <a:buChar char="•"/>
            </a:pPr>
            <a:r>
              <a:rPr lang="en-US" sz="2200" dirty="0">
                <a:solidFill>
                  <a:srgbClr val="1B2730"/>
                </a:solidFill>
                <a:latin typeface="Calibri" pitchFamily="34" charset="0"/>
                <a:ea typeface="Calibri" pitchFamily="34" charset="-122"/>
                <a:cs typeface="Calibri" pitchFamily="34" charset="-120"/>
              </a:rPr>
              <a:t>“Area around the tank”</a:t>
            </a:r>
            <a:endParaRPr lang="en-US" sz="2200" dirty="0"/>
          </a:p>
          <a:p>
            <a:pPr marL="228600" indent="-228600">
              <a:spcAft>
                <a:spcPts val="1400"/>
              </a:spcAft>
              <a:buSzPct val="100000"/>
              <a:buChar char="•"/>
            </a:pPr>
            <a:r>
              <a:rPr lang="en-US" sz="2200" dirty="0">
                <a:solidFill>
                  <a:srgbClr val="1B2730"/>
                </a:solidFill>
                <a:latin typeface="Calibri" pitchFamily="34" charset="0"/>
                <a:ea typeface="Calibri" pitchFamily="34" charset="-122"/>
                <a:cs typeface="Calibri" pitchFamily="34" charset="-120"/>
              </a:rPr>
              <a:t>“Isolate pump”</a:t>
            </a:r>
            <a:endParaRPr lang="en-US" sz="2200" dirty="0"/>
          </a:p>
          <a:p>
            <a:pPr marL="228600" indent="-228600">
              <a:spcAft>
                <a:spcPts val="1400"/>
              </a:spcAft>
              <a:buSzPct val="100000"/>
              <a:buChar char="•"/>
            </a:pPr>
            <a:r>
              <a:rPr lang="en-US" sz="2200" dirty="0">
                <a:solidFill>
                  <a:srgbClr val="1B2730"/>
                </a:solidFill>
                <a:latin typeface="Calibri" pitchFamily="34" charset="0"/>
                <a:ea typeface="Calibri" pitchFamily="34" charset="-122"/>
                <a:cs typeface="Calibri" pitchFamily="34" charset="-120"/>
              </a:rPr>
              <a:t>No times, or AM/PM confusion</a:t>
            </a:r>
            <a:endParaRPr lang="en-US" sz="2200" dirty="0"/>
          </a:p>
        </p:txBody>
      </p:sp>
      <p:sp>
        <p:nvSpPr>
          <p:cNvPr id="7" name="a2_box_362"/>
          <p:cNvSpPr/>
          <p:nvPr/>
        </p:nvSpPr>
        <p:spPr>
          <a:xfrm>
            <a:off x="6291072" y="1280160"/>
            <a:ext cx="5349240" cy="3886200"/>
          </a:xfrm>
          <a:prstGeom prst="roundRect">
            <a:avLst>
              <a:gd name="adj" fmla="val 2824"/>
            </a:avLst>
          </a:prstGeom>
          <a:solidFill>
            <a:srgbClr val="E2F1E3"/>
          </a:solidFill>
          <a:ln/>
        </p:spPr>
      </p:sp>
      <p:pic>
        <p:nvPicPr>
          <p:cNvPr id="8" name="a2_icon_363" descr="preencoded.png">    </p:cNvPr>
          <p:cNvPicPr>
            <a:picLocks noChangeAspect="1"/>
          </p:cNvPicPr>
          <p:nvPr/>
        </p:nvPicPr>
        <p:blipFill>
          <a:blip r:embed="rId2"/>
          <a:stretch>
            <a:fillRect/>
          </a:stretch>
        </p:blipFill>
        <p:spPr>
          <a:xfrm>
            <a:off x="6519672" y="1463040"/>
            <a:ext cx="594360" cy="594360"/>
          </a:xfrm>
          <a:prstGeom prst="rect">
            <a:avLst/>
          </a:prstGeom>
        </p:spPr>
      </p:pic>
      <p:sp>
        <p:nvSpPr>
          <p:cNvPr id="9" name="a2_txt_364"/>
          <p:cNvSpPr txBox="1"/>
          <p:nvPr/>
        </p:nvSpPr>
        <p:spPr>
          <a:xfrm>
            <a:off x="7251192" y="1463040"/>
            <a:ext cx="4114800" cy="594360"/>
          </a:xfrm>
          <a:prstGeom prst="rect">
            <a:avLst/>
          </a:prstGeom>
          <a:noFill/>
          <a:ln/>
        </p:spPr>
        <p:txBody>
          <a:bodyPr wrap="square" lIns="635" tIns="635" rIns="635" bIns="635" rtlCol="0" anchor="ctr"/>
          <a:lstStyle/>
          <a:p>
            <a:pPr indent="0" marL="0">
              <a:buNone/>
            </a:pPr>
            <a:r>
              <a:rPr lang="en-US" sz="2400" b="1" dirty="0">
                <a:solidFill>
                  <a:srgbClr val="2E7D32"/>
                </a:solidFill>
                <a:latin typeface="Calibri" pitchFamily="34" charset="0"/>
                <a:ea typeface="Calibri" pitchFamily="34" charset="-122"/>
                <a:cs typeface="Calibri" pitchFamily="34" charset="-120"/>
              </a:rPr>
              <a:t>CLEAR – DO</a:t>
            </a:r>
            <a:endParaRPr lang="en-US" sz="2400" dirty="0"/>
          </a:p>
        </p:txBody>
      </p:sp>
      <p:sp>
        <p:nvSpPr>
          <p:cNvPr id="10" name="a2_txt_365"/>
          <p:cNvSpPr txBox="1"/>
          <p:nvPr/>
        </p:nvSpPr>
        <p:spPr>
          <a:xfrm>
            <a:off x="6565392" y="2286000"/>
            <a:ext cx="4892040" cy="2834640"/>
          </a:xfrm>
          <a:prstGeom prst="rect">
            <a:avLst/>
          </a:prstGeom>
          <a:noFill/>
          <a:ln/>
        </p:spPr>
        <p:txBody>
          <a:bodyPr wrap="square" lIns="635" tIns="635" rIns="635" bIns="635" rtlCol="0" anchor="t"/>
          <a:lstStyle/>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“Replace mechanical seal on Pump P-101A. Pump Alley 1, Cell 3, at Grade.”</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“NO work is authorised on the motor or coupling.”</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“Close and lock XV-101A &amp; XV-101B, install blind at Flange F-101.”</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Valid 08:00 – 16:30 (24-hour format)</a:t>
            </a:r>
            <a:endParaRPr lang="en-US" sz="1900" dirty="0"/>
          </a:p>
        </p:txBody>
      </p:sp>
      <p:sp>
        <p:nvSpPr>
          <p:cNvPr id="11" name="a3_box_366"/>
          <p:cNvSpPr/>
          <p:nvPr/>
        </p:nvSpPr>
        <p:spPr>
          <a:xfrm>
            <a:off x="548640" y="5349240"/>
            <a:ext cx="11094415" cy="868680"/>
          </a:xfrm>
          <a:prstGeom prst="roundRect">
            <a:avLst>
              <a:gd name="adj" fmla="val 12632"/>
            </a:avLst>
          </a:prstGeom>
          <a:solidFill>
            <a:srgbClr val="0B2A3C"/>
          </a:solidFill>
          <a:ln/>
        </p:spPr>
      </p:sp>
      <p:sp>
        <p:nvSpPr>
          <p:cNvPr id="12" name="a3_txt_367"/>
          <p:cNvSpPr txBox="1"/>
          <p:nvPr/>
        </p:nvSpPr>
        <p:spPr>
          <a:xfrm>
            <a:off x="548640" y="5349240"/>
            <a:ext cx="11094415" cy="868680"/>
          </a:xfrm>
          <a:prstGeom prst="rect">
            <a:avLst/>
          </a:prstGeom>
          <a:noFill/>
          <a:ln/>
        </p:spPr>
        <p:txBody>
          <a:bodyPr wrap="square" lIns="635" tIns="635" rIns="635" bIns="635"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Ambiguity is a direct pathway to error and incident.</a:t>
            </a:r>
            <a:endParaRPr lang="en-US" sz="2400" dirty="0"/>
          </a:p>
        </p:txBody>
      </p:sp>
      <p:sp>
        <p:nvSpPr>
          <p:cNvPr id="1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Layers of Protection (Defence-in-Depth)</a:t>
            </a:r>
            <a:endParaRPr lang="en-US" sz="3200" dirty="0"/>
          </a:p>
        </p:txBody>
      </p:sp>
      <p:sp>
        <p:nvSpPr>
          <p:cNvPr id="3" name="a1_box_368"/>
          <p:cNvSpPr/>
          <p:nvPr/>
        </p:nvSpPr>
        <p:spPr>
          <a:xfrm>
            <a:off x="548640" y="1325880"/>
            <a:ext cx="6766560" cy="804672"/>
          </a:xfrm>
          <a:prstGeom prst="roundRect">
            <a:avLst>
              <a:gd name="adj" fmla="val 13636"/>
            </a:avLst>
          </a:prstGeom>
          <a:solidFill>
            <a:srgbClr val="2E7D32"/>
          </a:solidFill>
          <a:ln/>
        </p:spPr>
      </p:sp>
      <p:sp>
        <p:nvSpPr>
          <p:cNvPr id="4" name="a1_txt_369"/>
          <p:cNvSpPr txBox="1"/>
          <p:nvPr/>
        </p:nvSpPr>
        <p:spPr>
          <a:xfrm>
            <a:off x="731520" y="1325880"/>
            <a:ext cx="6400800" cy="804672"/>
          </a:xfrm>
          <a:prstGeom prst="rect">
            <a:avLst/>
          </a:prstGeom>
          <a:noFill/>
          <a:ln/>
        </p:spPr>
        <p:txBody>
          <a:bodyPr wrap="square" lIns="635" tIns="635" rIns="635" bIns="635" rtlCol="0" anchor="ctr"/>
          <a:lstStyle/>
          <a:p>
            <a:pPr indent="0" marL="0">
              <a:buNone/>
            </a:pPr>
            <a:r>
              <a:rPr lang="en-US" sz="2000" b="1" dirty="0">
                <a:solidFill>
                  <a:srgbClr val="FFE3C7"/>
                </a:solidFill>
                <a:latin typeface="Calibri" pitchFamily="34" charset="0"/>
                <a:ea typeface="Calibri" pitchFamily="34" charset="-122"/>
                <a:cs typeface="Calibri" pitchFamily="34" charset="-120"/>
              </a:rPr>
              <a:t>Layer 1  </a:t>
            </a:r>
            <a:pPr indent="0" marL="0">
              <a:buNone/>
            </a:pPr>
            <a:r>
              <a:rPr lang="en-US" sz="2000" b="1" dirty="0">
                <a:solidFill>
                  <a:srgbClr val="FFFFFF"/>
                </a:solidFill>
                <a:latin typeface="Calibri" pitchFamily="34" charset="0"/>
                <a:ea typeface="Calibri" pitchFamily="34" charset="-122"/>
                <a:cs typeface="Calibri" pitchFamily="34" charset="-120"/>
              </a:rPr>
              <a:t>Elimination / Substitution</a:t>
            </a:r>
            <a:endParaRPr lang="en-US" sz="2000" dirty="0"/>
          </a:p>
        </p:txBody>
      </p:sp>
      <p:sp>
        <p:nvSpPr>
          <p:cNvPr id="5" name="a2_box_370"/>
          <p:cNvSpPr/>
          <p:nvPr/>
        </p:nvSpPr>
        <p:spPr>
          <a:xfrm>
            <a:off x="868680" y="2258568"/>
            <a:ext cx="6126480" cy="804672"/>
          </a:xfrm>
          <a:prstGeom prst="roundRect">
            <a:avLst>
              <a:gd name="adj" fmla="val 13636"/>
            </a:avLst>
          </a:prstGeom>
          <a:solidFill>
            <a:srgbClr val="0F6E7A"/>
          </a:solidFill>
          <a:ln/>
        </p:spPr>
      </p:sp>
      <p:sp>
        <p:nvSpPr>
          <p:cNvPr id="6" name="a2_txt_371"/>
          <p:cNvSpPr txBox="1"/>
          <p:nvPr/>
        </p:nvSpPr>
        <p:spPr>
          <a:xfrm>
            <a:off x="1051560" y="2258568"/>
            <a:ext cx="5760720" cy="804672"/>
          </a:xfrm>
          <a:prstGeom prst="rect">
            <a:avLst/>
          </a:prstGeom>
          <a:noFill/>
          <a:ln/>
        </p:spPr>
        <p:txBody>
          <a:bodyPr wrap="square" lIns="635" tIns="635" rIns="635" bIns="635" rtlCol="0" anchor="ctr"/>
          <a:lstStyle/>
          <a:p>
            <a:pPr indent="0" marL="0">
              <a:buNone/>
            </a:pPr>
            <a:r>
              <a:rPr lang="en-US" sz="2000" b="1" dirty="0">
                <a:solidFill>
                  <a:srgbClr val="FFE3C7"/>
                </a:solidFill>
                <a:latin typeface="Calibri" pitchFamily="34" charset="0"/>
                <a:ea typeface="Calibri" pitchFamily="34" charset="-122"/>
                <a:cs typeface="Calibri" pitchFamily="34" charset="-120"/>
              </a:rPr>
              <a:t>Layer 2  </a:t>
            </a:r>
            <a:pPr indent="0" marL="0">
              <a:buNone/>
            </a:pPr>
            <a:r>
              <a:rPr lang="en-US" sz="2000" b="1" dirty="0">
                <a:solidFill>
                  <a:srgbClr val="FFFFFF"/>
                </a:solidFill>
                <a:latin typeface="Calibri" pitchFamily="34" charset="0"/>
                <a:ea typeface="Calibri" pitchFamily="34" charset="-122"/>
                <a:cs typeface="Calibri" pitchFamily="34" charset="-120"/>
              </a:rPr>
              <a:t>Engineering controls</a:t>
            </a:r>
            <a:endParaRPr lang="en-US" sz="2000" dirty="0"/>
          </a:p>
        </p:txBody>
      </p:sp>
      <p:sp>
        <p:nvSpPr>
          <p:cNvPr id="7" name="a3_box_372"/>
          <p:cNvSpPr/>
          <p:nvPr/>
        </p:nvSpPr>
        <p:spPr>
          <a:xfrm>
            <a:off x="1188720" y="3191256"/>
            <a:ext cx="5486400" cy="804672"/>
          </a:xfrm>
          <a:prstGeom prst="roundRect">
            <a:avLst>
              <a:gd name="adj" fmla="val 13636"/>
            </a:avLst>
          </a:prstGeom>
          <a:solidFill>
            <a:srgbClr val="0B2A3C"/>
          </a:solidFill>
          <a:ln/>
        </p:spPr>
      </p:sp>
      <p:sp>
        <p:nvSpPr>
          <p:cNvPr id="8" name="a3_txt_373"/>
          <p:cNvSpPr txBox="1"/>
          <p:nvPr/>
        </p:nvSpPr>
        <p:spPr>
          <a:xfrm>
            <a:off x="1371600" y="3191256"/>
            <a:ext cx="5120640" cy="804672"/>
          </a:xfrm>
          <a:prstGeom prst="rect">
            <a:avLst/>
          </a:prstGeom>
          <a:noFill/>
          <a:ln/>
        </p:spPr>
        <p:txBody>
          <a:bodyPr wrap="square" lIns="635" tIns="635" rIns="635" bIns="635" rtlCol="0" anchor="ctr"/>
          <a:lstStyle/>
          <a:p>
            <a:pPr indent="0" marL="0">
              <a:buNone/>
            </a:pPr>
            <a:r>
              <a:rPr lang="en-US" sz="2000" b="1" dirty="0">
                <a:solidFill>
                  <a:srgbClr val="FFE3C7"/>
                </a:solidFill>
                <a:latin typeface="Calibri" pitchFamily="34" charset="0"/>
                <a:ea typeface="Calibri" pitchFamily="34" charset="-122"/>
                <a:cs typeface="Calibri" pitchFamily="34" charset="-120"/>
              </a:rPr>
              <a:t>Layer 3  </a:t>
            </a:r>
            <a:pPr indent="0" marL="0">
              <a:buNone/>
            </a:pPr>
            <a:r>
              <a:rPr lang="en-US" sz="2000" b="1" dirty="0">
                <a:solidFill>
                  <a:srgbClr val="FFFFFF"/>
                </a:solidFill>
                <a:latin typeface="Calibri" pitchFamily="34" charset="0"/>
                <a:ea typeface="Calibri" pitchFamily="34" charset="-122"/>
                <a:cs typeface="Calibri" pitchFamily="34" charset="-120"/>
              </a:rPr>
              <a:t>Procedural control – PTW</a:t>
            </a:r>
            <a:endParaRPr lang="en-US" sz="2000" dirty="0"/>
          </a:p>
        </p:txBody>
      </p:sp>
      <p:sp>
        <p:nvSpPr>
          <p:cNvPr id="9" name="a4_box_374"/>
          <p:cNvSpPr/>
          <p:nvPr/>
        </p:nvSpPr>
        <p:spPr>
          <a:xfrm>
            <a:off x="1508760" y="4123944"/>
            <a:ext cx="4846320" cy="804672"/>
          </a:xfrm>
          <a:prstGeom prst="roundRect">
            <a:avLst>
              <a:gd name="adj" fmla="val 13636"/>
            </a:avLst>
          </a:prstGeom>
          <a:solidFill>
            <a:srgbClr val="E8771E"/>
          </a:solidFill>
          <a:ln/>
        </p:spPr>
      </p:sp>
      <p:sp>
        <p:nvSpPr>
          <p:cNvPr id="10" name="a4_txt_375"/>
          <p:cNvSpPr txBox="1"/>
          <p:nvPr/>
        </p:nvSpPr>
        <p:spPr>
          <a:xfrm>
            <a:off x="1691640" y="4123944"/>
            <a:ext cx="4480560" cy="804672"/>
          </a:xfrm>
          <a:prstGeom prst="rect">
            <a:avLst/>
          </a:prstGeom>
          <a:noFill/>
          <a:ln/>
        </p:spPr>
        <p:txBody>
          <a:bodyPr wrap="square" lIns="635" tIns="635" rIns="635" bIns="635" rtlCol="0" anchor="ctr"/>
          <a:lstStyle/>
          <a:p>
            <a:pPr indent="0" marL="0">
              <a:buNone/>
            </a:pPr>
            <a:r>
              <a:rPr lang="en-US" sz="2000" b="1" dirty="0">
                <a:solidFill>
                  <a:srgbClr val="FFE3C7"/>
                </a:solidFill>
                <a:latin typeface="Calibri" pitchFamily="34" charset="0"/>
                <a:ea typeface="Calibri" pitchFamily="34" charset="-122"/>
                <a:cs typeface="Calibri" pitchFamily="34" charset="-120"/>
              </a:rPr>
              <a:t>Layer 4  </a:t>
            </a:r>
            <a:pPr indent="0" marL="0">
              <a:buNone/>
            </a:pPr>
            <a:r>
              <a:rPr lang="en-US" sz="2000" b="1" dirty="0">
                <a:solidFill>
                  <a:srgbClr val="FFFFFF"/>
                </a:solidFill>
                <a:latin typeface="Calibri" pitchFamily="34" charset="0"/>
                <a:ea typeface="Calibri" pitchFamily="34" charset="-122"/>
                <a:cs typeface="Calibri" pitchFamily="34" charset="-120"/>
              </a:rPr>
              <a:t>Supervision &amp; monitoring</a:t>
            </a:r>
            <a:endParaRPr lang="en-US" sz="2000" dirty="0"/>
          </a:p>
        </p:txBody>
      </p:sp>
      <p:sp>
        <p:nvSpPr>
          <p:cNvPr id="11" name="a5_box_376"/>
          <p:cNvSpPr/>
          <p:nvPr/>
        </p:nvSpPr>
        <p:spPr>
          <a:xfrm>
            <a:off x="1828800" y="5056632"/>
            <a:ext cx="4206240" cy="804672"/>
          </a:xfrm>
          <a:prstGeom prst="roundRect">
            <a:avLst>
              <a:gd name="adj" fmla="val 13636"/>
            </a:avLst>
          </a:prstGeom>
          <a:solidFill>
            <a:srgbClr val="C0392B"/>
          </a:solidFill>
          <a:ln/>
        </p:spPr>
      </p:sp>
      <p:sp>
        <p:nvSpPr>
          <p:cNvPr id="12" name="a5_txt_377"/>
          <p:cNvSpPr txBox="1"/>
          <p:nvPr/>
        </p:nvSpPr>
        <p:spPr>
          <a:xfrm>
            <a:off x="2011680" y="5056632"/>
            <a:ext cx="3840480" cy="804672"/>
          </a:xfrm>
          <a:prstGeom prst="rect">
            <a:avLst/>
          </a:prstGeom>
          <a:noFill/>
          <a:ln/>
        </p:spPr>
        <p:txBody>
          <a:bodyPr wrap="square" lIns="635" tIns="635" rIns="635" bIns="635" rtlCol="0" anchor="ctr"/>
          <a:lstStyle/>
          <a:p>
            <a:pPr indent="0" marL="0">
              <a:buNone/>
            </a:pPr>
            <a:r>
              <a:rPr lang="en-US" sz="2000" b="1" dirty="0">
                <a:solidFill>
                  <a:srgbClr val="FFE3C7"/>
                </a:solidFill>
                <a:latin typeface="Calibri" pitchFamily="34" charset="0"/>
                <a:ea typeface="Calibri" pitchFamily="34" charset="-122"/>
                <a:cs typeface="Calibri" pitchFamily="34" charset="-120"/>
              </a:rPr>
              <a:t>Layer 5  </a:t>
            </a:r>
            <a:pPr indent="0" marL="0">
              <a:buNone/>
            </a:pPr>
            <a:r>
              <a:rPr lang="en-US" sz="2000" b="1" dirty="0">
                <a:solidFill>
                  <a:srgbClr val="FFFFFF"/>
                </a:solidFill>
                <a:latin typeface="Calibri" pitchFamily="34" charset="0"/>
                <a:ea typeface="Calibri" pitchFamily="34" charset="-122"/>
                <a:cs typeface="Calibri" pitchFamily="34" charset="-120"/>
              </a:rPr>
              <a:t>PPE</a:t>
            </a:r>
            <a:endParaRPr lang="en-US" sz="2000" dirty="0"/>
          </a:p>
        </p:txBody>
      </p:sp>
      <p:sp>
        <p:nvSpPr>
          <p:cNvPr id="13" name="a6_box_378"/>
          <p:cNvSpPr/>
          <p:nvPr/>
        </p:nvSpPr>
        <p:spPr>
          <a:xfrm>
            <a:off x="7635240" y="1325880"/>
            <a:ext cx="4005072" cy="2194560"/>
          </a:xfrm>
          <a:prstGeom prst="roundRect">
            <a:avLst>
              <a:gd name="adj" fmla="val 5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6_circ_379"/>
          <p:cNvSpPr/>
          <p:nvPr/>
        </p:nvSpPr>
        <p:spPr>
          <a:xfrm>
            <a:off x="7818120" y="1508760"/>
            <a:ext cx="685800" cy="685800"/>
          </a:xfrm>
          <a:prstGeom prst="ellipse">
            <a:avLst/>
          </a:prstGeom>
          <a:solidFill>
            <a:srgbClr val="0B2A3C"/>
          </a:solidFill>
          <a:ln/>
        </p:spPr>
      </p:sp>
      <p:pic>
        <p:nvPicPr>
          <p:cNvPr id="15" name="a6_icon_380" descr="preencoded.png">    </p:cNvPr>
          <p:cNvPicPr>
            <a:picLocks noChangeAspect="1"/>
          </p:cNvPicPr>
          <p:nvPr/>
        </p:nvPicPr>
        <p:blipFill>
          <a:blip r:embed="rId1"/>
          <a:stretch>
            <a:fillRect/>
          </a:stretch>
        </p:blipFill>
        <p:spPr>
          <a:xfrm>
            <a:off x="7972425" y="1663065"/>
            <a:ext cx="377190" cy="377190"/>
          </a:xfrm>
          <a:prstGeom prst="rect">
            <a:avLst/>
          </a:prstGeom>
        </p:spPr>
      </p:pic>
      <p:sp>
        <p:nvSpPr>
          <p:cNvPr id="16" name="a6_txt_381"/>
          <p:cNvSpPr txBox="1"/>
          <p:nvPr/>
        </p:nvSpPr>
        <p:spPr>
          <a:xfrm>
            <a:off x="8668512" y="1490472"/>
            <a:ext cx="2834640"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If one layer fails…</a:t>
            </a:r>
            <a:endParaRPr lang="en-US" sz="2000" dirty="0"/>
          </a:p>
        </p:txBody>
      </p:sp>
      <p:sp>
        <p:nvSpPr>
          <p:cNvPr id="17" name="a6_txt_382"/>
          <p:cNvSpPr txBox="1"/>
          <p:nvPr/>
        </p:nvSpPr>
        <p:spPr>
          <a:xfrm>
            <a:off x="7863840" y="2267712"/>
            <a:ext cx="3593592" cy="116128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…the next should catch it. A flawed risk assessment should be caught by the Issuer’s verification.</a:t>
            </a:r>
            <a:endParaRPr lang="en-US" sz="1800" dirty="0"/>
          </a:p>
        </p:txBody>
      </p:sp>
      <p:sp>
        <p:nvSpPr>
          <p:cNvPr id="18" name="a7_box_383"/>
          <p:cNvSpPr/>
          <p:nvPr/>
        </p:nvSpPr>
        <p:spPr>
          <a:xfrm>
            <a:off x="7635240" y="3703320"/>
            <a:ext cx="4005072" cy="2514600"/>
          </a:xfrm>
          <a:prstGeom prst="roundRect">
            <a:avLst>
              <a:gd name="adj" fmla="val 436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7_circ_384"/>
          <p:cNvSpPr/>
          <p:nvPr/>
        </p:nvSpPr>
        <p:spPr>
          <a:xfrm>
            <a:off x="7818120" y="3886200"/>
            <a:ext cx="685800" cy="685800"/>
          </a:xfrm>
          <a:prstGeom prst="ellipse">
            <a:avLst/>
          </a:prstGeom>
          <a:solidFill>
            <a:srgbClr val="E8771E"/>
          </a:solidFill>
          <a:ln/>
        </p:spPr>
      </p:sp>
      <p:pic>
        <p:nvPicPr>
          <p:cNvPr id="20" name="a7_icon_385" descr="preencoded.png">    </p:cNvPr>
          <p:cNvPicPr>
            <a:picLocks noChangeAspect="1"/>
          </p:cNvPicPr>
          <p:nvPr/>
        </p:nvPicPr>
        <p:blipFill>
          <a:blip r:embed="rId2"/>
          <a:stretch>
            <a:fillRect/>
          </a:stretch>
        </p:blipFill>
        <p:spPr>
          <a:xfrm>
            <a:off x="7972425" y="4040505"/>
            <a:ext cx="377190" cy="377190"/>
          </a:xfrm>
          <a:prstGeom prst="rect">
            <a:avLst/>
          </a:prstGeom>
        </p:spPr>
      </p:pic>
      <p:sp>
        <p:nvSpPr>
          <p:cNvPr id="21" name="a7_txt_386"/>
          <p:cNvSpPr txBox="1"/>
          <p:nvPr/>
        </p:nvSpPr>
        <p:spPr>
          <a:xfrm>
            <a:off x="8668512" y="3867912"/>
            <a:ext cx="2834640"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Swiss-cheese model</a:t>
            </a:r>
            <a:endParaRPr lang="en-US" sz="2000" dirty="0"/>
          </a:p>
        </p:txBody>
      </p:sp>
      <p:sp>
        <p:nvSpPr>
          <p:cNvPr id="22" name="a7_txt_387"/>
          <p:cNvSpPr txBox="1"/>
          <p:nvPr/>
        </p:nvSpPr>
        <p:spPr>
          <a:xfrm>
            <a:off x="7863840" y="4645152"/>
            <a:ext cx="3593592" cy="1481328"/>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Roles overlap. If an Issuer misses a hazard, the Receiver or Safety Officer is there to catch it.</a:t>
            </a:r>
            <a:endParaRPr lang="en-US" sz="1800" dirty="0"/>
          </a:p>
        </p:txBody>
      </p:sp>
      <p:sp>
        <p:nvSpPr>
          <p:cNvPr id="2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500"/>
                                        <p:tgtEl>
                                          <p:spTgt spid="2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irc_388"/>
          <p:cNvSpPr/>
          <p:nvPr/>
        </p:nvSpPr>
        <p:spPr>
          <a:xfrm>
            <a:off x="5455768" y="548640"/>
            <a:ext cx="1280160" cy="1280160"/>
          </a:xfrm>
          <a:prstGeom prst="ellipse">
            <a:avLst/>
          </a:prstGeom>
          <a:solidFill>
            <a:srgbClr val="C0392B"/>
          </a:solidFill>
          <a:ln/>
        </p:spPr>
      </p:sp>
      <p:pic>
        <p:nvPicPr>
          <p:cNvPr id="3" name="icon_389" descr="preencoded.png">    </p:cNvPr>
          <p:cNvPicPr>
            <a:picLocks noChangeAspect="1"/>
          </p:cNvPicPr>
          <p:nvPr/>
        </p:nvPicPr>
        <p:blipFill>
          <a:blip r:embed="rId1"/>
          <a:stretch>
            <a:fillRect/>
          </a:stretch>
        </p:blipFill>
        <p:spPr>
          <a:xfrm>
            <a:off x="5743804" y="836676"/>
            <a:ext cx="704088" cy="704088"/>
          </a:xfrm>
          <a:prstGeom prst="rect">
            <a:avLst/>
          </a:prstGeom>
        </p:spPr>
      </p:pic>
      <p:sp>
        <p:nvSpPr>
          <p:cNvPr id="4" name="txt_390"/>
          <p:cNvSpPr txBox="1"/>
          <p:nvPr/>
        </p:nvSpPr>
        <p:spPr>
          <a:xfrm>
            <a:off x="548640" y="1965960"/>
            <a:ext cx="11094415" cy="457200"/>
          </a:xfrm>
          <a:prstGeom prst="rect">
            <a:avLst/>
          </a:prstGeom>
          <a:noFill/>
          <a:ln/>
        </p:spPr>
        <p:txBody>
          <a:bodyPr wrap="square" lIns="635" tIns="635" rIns="635" bIns="635" rtlCol="0" anchor="t"/>
          <a:lstStyle/>
          <a:p>
            <a:pPr algn="ctr" indent="0" marL="0">
              <a:buNone/>
            </a:pPr>
            <a:r>
              <a:rPr lang="en-US" sz="2000" b="1" spc="300" kern="0" dirty="0">
                <a:solidFill>
                  <a:srgbClr val="E8771E"/>
                </a:solidFill>
                <a:latin typeface="Calibri" pitchFamily="34" charset="0"/>
                <a:ea typeface="Calibri" pitchFamily="34" charset="-122"/>
                <a:cs typeface="Calibri" pitchFamily="34" charset="-120"/>
              </a:rPr>
              <a:t>LIFE SAVING RULE  ·  WORK AUTHORISATION</a:t>
            </a:r>
            <a:endParaRPr lang="en-US" sz="2000" dirty="0"/>
          </a:p>
        </p:txBody>
      </p:sp>
      <p:sp>
        <p:nvSpPr>
          <p:cNvPr id="5" name="txt_391"/>
          <p:cNvSpPr txBox="1"/>
          <p:nvPr/>
        </p:nvSpPr>
        <p:spPr>
          <a:xfrm>
            <a:off x="914400" y="2468880"/>
            <a:ext cx="10362895" cy="137160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“Work must not be performed without a valid permit where a permit is required.”</a:t>
            </a:r>
            <a:endParaRPr lang="en-US" sz="3400" dirty="0"/>
          </a:p>
        </p:txBody>
      </p:sp>
      <p:sp>
        <p:nvSpPr>
          <p:cNvPr id="6" name="a1_box_392"/>
          <p:cNvSpPr/>
          <p:nvPr/>
        </p:nvSpPr>
        <p:spPr>
          <a:xfrm>
            <a:off x="609448" y="4160520"/>
            <a:ext cx="2606040" cy="1783080"/>
          </a:xfrm>
          <a:prstGeom prst="roundRect">
            <a:avLst>
              <a:gd name="adj" fmla="val 6154"/>
            </a:avLst>
          </a:prstGeom>
          <a:solidFill>
            <a:srgbClr val="123B52"/>
          </a:solidFill>
          <a:ln w="12700">
            <a:solidFill>
              <a:srgbClr val="2C5873"/>
            </a:solidFill>
            <a:prstDash val="solid"/>
          </a:ln>
        </p:spPr>
      </p:sp>
      <p:pic>
        <p:nvPicPr>
          <p:cNvPr id="7" name="a1_icon_393" descr="preencoded.png">    </p:cNvPr>
          <p:cNvPicPr>
            <a:picLocks noChangeAspect="1"/>
          </p:cNvPicPr>
          <p:nvPr/>
        </p:nvPicPr>
        <p:blipFill>
          <a:blip r:embed="rId2"/>
          <a:stretch>
            <a:fillRect/>
          </a:stretch>
        </p:blipFill>
        <p:spPr>
          <a:xfrm>
            <a:off x="1638148" y="4315968"/>
            <a:ext cx="548640" cy="548640"/>
          </a:xfrm>
          <a:prstGeom prst="rect">
            <a:avLst/>
          </a:prstGeom>
        </p:spPr>
      </p:pic>
      <p:sp>
        <p:nvSpPr>
          <p:cNvPr id="8" name="a1_txt_394"/>
          <p:cNvSpPr txBox="1"/>
          <p:nvPr/>
        </p:nvSpPr>
        <p:spPr>
          <a:xfrm>
            <a:off x="746608" y="4937760"/>
            <a:ext cx="2331720" cy="91440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 “quick job” exceptions</a:t>
            </a:r>
            <a:endParaRPr lang="en-US" sz="1800" dirty="0"/>
          </a:p>
        </p:txBody>
      </p:sp>
      <p:sp>
        <p:nvSpPr>
          <p:cNvPr id="9" name="a2_box_395"/>
          <p:cNvSpPr/>
          <p:nvPr/>
        </p:nvSpPr>
        <p:spPr>
          <a:xfrm>
            <a:off x="3398368" y="4160520"/>
            <a:ext cx="2606040" cy="1783080"/>
          </a:xfrm>
          <a:prstGeom prst="roundRect">
            <a:avLst>
              <a:gd name="adj" fmla="val 6154"/>
            </a:avLst>
          </a:prstGeom>
          <a:solidFill>
            <a:srgbClr val="123B52"/>
          </a:solidFill>
          <a:ln w="12700">
            <a:solidFill>
              <a:srgbClr val="2C5873"/>
            </a:solidFill>
            <a:prstDash val="solid"/>
          </a:ln>
        </p:spPr>
      </p:sp>
      <p:pic>
        <p:nvPicPr>
          <p:cNvPr id="10" name="a2_icon_396" descr="preencoded.png">    </p:cNvPr>
          <p:cNvPicPr>
            <a:picLocks noChangeAspect="1"/>
          </p:cNvPicPr>
          <p:nvPr/>
        </p:nvPicPr>
        <p:blipFill>
          <a:blip r:embed="rId3"/>
          <a:stretch>
            <a:fillRect/>
          </a:stretch>
        </p:blipFill>
        <p:spPr>
          <a:xfrm>
            <a:off x="4427068" y="4315968"/>
            <a:ext cx="548640" cy="548640"/>
          </a:xfrm>
          <a:prstGeom prst="rect">
            <a:avLst/>
          </a:prstGeom>
        </p:spPr>
      </p:pic>
      <p:sp>
        <p:nvSpPr>
          <p:cNvPr id="11" name="a2_txt_397"/>
          <p:cNvSpPr txBox="1"/>
          <p:nvPr/>
        </p:nvSpPr>
        <p:spPr>
          <a:xfrm>
            <a:off x="3535528" y="4937760"/>
            <a:ext cx="2331720" cy="91440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Verbal approval is NOT valid</a:t>
            </a:r>
            <a:endParaRPr lang="en-US" sz="1800" dirty="0"/>
          </a:p>
        </p:txBody>
      </p:sp>
      <p:sp>
        <p:nvSpPr>
          <p:cNvPr id="12" name="a3_box_398"/>
          <p:cNvSpPr/>
          <p:nvPr/>
        </p:nvSpPr>
        <p:spPr>
          <a:xfrm>
            <a:off x="6187288" y="4160520"/>
            <a:ext cx="2606040" cy="1783080"/>
          </a:xfrm>
          <a:prstGeom prst="roundRect">
            <a:avLst>
              <a:gd name="adj" fmla="val 6154"/>
            </a:avLst>
          </a:prstGeom>
          <a:solidFill>
            <a:srgbClr val="123B52"/>
          </a:solidFill>
          <a:ln w="12700">
            <a:solidFill>
              <a:srgbClr val="2C5873"/>
            </a:solidFill>
            <a:prstDash val="solid"/>
          </a:ln>
        </p:spPr>
      </p:sp>
      <p:pic>
        <p:nvPicPr>
          <p:cNvPr id="13" name="a3_icon_399" descr="preencoded.png">    </p:cNvPr>
          <p:cNvPicPr>
            <a:picLocks noChangeAspect="1"/>
          </p:cNvPicPr>
          <p:nvPr/>
        </p:nvPicPr>
        <p:blipFill>
          <a:blip r:embed="rId4"/>
          <a:stretch>
            <a:fillRect/>
          </a:stretch>
        </p:blipFill>
        <p:spPr>
          <a:xfrm>
            <a:off x="7215988" y="4315968"/>
            <a:ext cx="548640" cy="548640"/>
          </a:xfrm>
          <a:prstGeom prst="rect">
            <a:avLst/>
          </a:prstGeom>
        </p:spPr>
      </p:pic>
      <p:sp>
        <p:nvSpPr>
          <p:cNvPr id="14" name="a3_txt_400"/>
          <p:cNvSpPr txBox="1"/>
          <p:nvPr/>
        </p:nvSpPr>
        <p:spPr>
          <a:xfrm>
            <a:off x="6324448" y="4937760"/>
            <a:ext cx="2331720" cy="91440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Applies to employees, contractors, visitors</a:t>
            </a:r>
            <a:endParaRPr lang="en-US" sz="1800" dirty="0"/>
          </a:p>
        </p:txBody>
      </p:sp>
      <p:sp>
        <p:nvSpPr>
          <p:cNvPr id="15" name="a4_box_401"/>
          <p:cNvSpPr/>
          <p:nvPr/>
        </p:nvSpPr>
        <p:spPr>
          <a:xfrm>
            <a:off x="8976208" y="4160520"/>
            <a:ext cx="2606040" cy="1783080"/>
          </a:xfrm>
          <a:prstGeom prst="roundRect">
            <a:avLst>
              <a:gd name="adj" fmla="val 6154"/>
            </a:avLst>
          </a:prstGeom>
          <a:solidFill>
            <a:srgbClr val="123B52"/>
          </a:solidFill>
          <a:ln w="12700">
            <a:solidFill>
              <a:srgbClr val="2C5873"/>
            </a:solidFill>
            <a:prstDash val="solid"/>
          </a:ln>
        </p:spPr>
      </p:sp>
      <p:pic>
        <p:nvPicPr>
          <p:cNvPr id="16" name="a4_icon_402" descr="preencoded.png">    </p:cNvPr>
          <p:cNvPicPr>
            <a:picLocks noChangeAspect="1"/>
          </p:cNvPicPr>
          <p:nvPr/>
        </p:nvPicPr>
        <p:blipFill>
          <a:blip r:embed="rId5"/>
          <a:stretch>
            <a:fillRect/>
          </a:stretch>
        </p:blipFill>
        <p:spPr>
          <a:xfrm>
            <a:off x="10004908" y="4315968"/>
            <a:ext cx="548640" cy="548640"/>
          </a:xfrm>
          <a:prstGeom prst="rect">
            <a:avLst/>
          </a:prstGeom>
        </p:spPr>
      </p:pic>
      <p:sp>
        <p:nvSpPr>
          <p:cNvPr id="17" name="a4_txt_403"/>
          <p:cNvSpPr txBox="1"/>
          <p:nvPr/>
        </p:nvSpPr>
        <p:spPr>
          <a:xfrm>
            <a:off x="9113368" y="4937760"/>
            <a:ext cx="2331720" cy="91440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Violation = gross misconduct</a:t>
            </a:r>
            <a:endParaRPr lang="en-US" sz="18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4" grpId="0" animBg="1"/>
      <p:bldP spid="15"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Is the Permit VALID? 5 Checks</a:t>
            </a:r>
            <a:endParaRPr lang="en-US" sz="3200" dirty="0"/>
          </a:p>
        </p:txBody>
      </p:sp>
      <p:sp>
        <p:nvSpPr>
          <p:cNvPr id="3" name="txt_404"/>
          <p:cNvSpPr txBox="1"/>
          <p:nvPr/>
        </p:nvSpPr>
        <p:spPr>
          <a:xfrm>
            <a:off x="548640" y="1188720"/>
            <a:ext cx="6583680" cy="457200"/>
          </a:xfrm>
          <a:prstGeom prst="rect">
            <a:avLst/>
          </a:prstGeom>
          <a:noFill/>
          <a:ln/>
        </p:spPr>
        <p:txBody>
          <a:bodyPr wrap="square" lIns="635" tIns="635" rIns="635" bIns="635" rtlCol="0" anchor="t"/>
          <a:lstStyle/>
          <a:p>
            <a:pPr indent="0" marL="0">
              <a:buNone/>
            </a:pPr>
            <a:r>
              <a:rPr lang="en-US" sz="2000" i="1" dirty="0">
                <a:solidFill>
                  <a:srgbClr val="5B6B75"/>
                </a:solidFill>
                <a:latin typeface="Calibri" pitchFamily="34" charset="0"/>
                <a:ea typeface="Calibri" pitchFamily="34" charset="-122"/>
                <a:cs typeface="Calibri" pitchFamily="34" charset="-120"/>
              </a:rPr>
              <a:t>A permit is valid only when ALL five are true at the same time:</a:t>
            </a:r>
            <a:endParaRPr lang="en-US" sz="2000" dirty="0"/>
          </a:p>
        </p:txBody>
      </p:sp>
      <p:sp>
        <p:nvSpPr>
          <p:cNvPr id="4" name="a1_box_405"/>
          <p:cNvSpPr/>
          <p:nvPr/>
        </p:nvSpPr>
        <p:spPr>
          <a:xfrm>
            <a:off x="548640" y="1737360"/>
            <a:ext cx="6675120" cy="786384"/>
          </a:xfrm>
          <a:prstGeom prst="roundRect">
            <a:avLst>
              <a:gd name="adj" fmla="val 13953"/>
            </a:avLst>
          </a:prstGeom>
          <a:solidFill>
            <a:srgbClr val="FFFFFF"/>
          </a:solidFill>
          <a:ln w="12700">
            <a:solidFill>
              <a:srgbClr val="C9D3D9"/>
            </a:solidFill>
            <a:prstDash val="solid"/>
          </a:ln>
        </p:spPr>
      </p:sp>
      <p:sp>
        <p:nvSpPr>
          <p:cNvPr id="5" name="a1_circ_406"/>
          <p:cNvSpPr/>
          <p:nvPr/>
        </p:nvSpPr>
        <p:spPr>
          <a:xfrm>
            <a:off x="658368" y="1810512"/>
            <a:ext cx="640080" cy="640080"/>
          </a:xfrm>
          <a:prstGeom prst="ellipse">
            <a:avLst/>
          </a:prstGeom>
          <a:solidFill>
            <a:srgbClr val="0F6E7A"/>
          </a:solidFill>
          <a:ln/>
        </p:spPr>
      </p:sp>
      <p:pic>
        <p:nvPicPr>
          <p:cNvPr id="6" name="a1_icon_407" descr="preencoded.png">    </p:cNvPr>
          <p:cNvPicPr>
            <a:picLocks noChangeAspect="1"/>
          </p:cNvPicPr>
          <p:nvPr/>
        </p:nvPicPr>
        <p:blipFill>
          <a:blip r:embed="rId1"/>
          <a:stretch>
            <a:fillRect/>
          </a:stretch>
        </p:blipFill>
        <p:spPr>
          <a:xfrm>
            <a:off x="802386" y="1954530"/>
            <a:ext cx="352044" cy="352044"/>
          </a:xfrm>
          <a:prstGeom prst="rect">
            <a:avLst/>
          </a:prstGeom>
        </p:spPr>
      </p:pic>
      <p:sp>
        <p:nvSpPr>
          <p:cNvPr id="7" name="a1_txt_408"/>
          <p:cNvSpPr txBox="1"/>
          <p:nvPr/>
        </p:nvSpPr>
        <p:spPr>
          <a:xfrm>
            <a:off x="1463040" y="1764792"/>
            <a:ext cx="5669280" cy="7315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Fully completed</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Every required field filled in – nothing missing</a:t>
            </a:r>
            <a:endParaRPr lang="en-US" sz="1900" dirty="0"/>
          </a:p>
        </p:txBody>
      </p:sp>
      <p:sp>
        <p:nvSpPr>
          <p:cNvPr id="8" name="a2_box_409"/>
          <p:cNvSpPr/>
          <p:nvPr/>
        </p:nvSpPr>
        <p:spPr>
          <a:xfrm>
            <a:off x="548640" y="2633472"/>
            <a:ext cx="6675120" cy="786384"/>
          </a:xfrm>
          <a:prstGeom prst="roundRect">
            <a:avLst>
              <a:gd name="adj" fmla="val 13953"/>
            </a:avLst>
          </a:prstGeom>
          <a:solidFill>
            <a:srgbClr val="FFFFFF"/>
          </a:solidFill>
          <a:ln w="12700">
            <a:solidFill>
              <a:srgbClr val="C9D3D9"/>
            </a:solidFill>
            <a:prstDash val="solid"/>
          </a:ln>
        </p:spPr>
      </p:sp>
      <p:sp>
        <p:nvSpPr>
          <p:cNvPr id="9" name="a2_circ_410"/>
          <p:cNvSpPr/>
          <p:nvPr/>
        </p:nvSpPr>
        <p:spPr>
          <a:xfrm>
            <a:off x="658368" y="2706624"/>
            <a:ext cx="640080" cy="640080"/>
          </a:xfrm>
          <a:prstGeom prst="ellipse">
            <a:avLst/>
          </a:prstGeom>
          <a:solidFill>
            <a:srgbClr val="0F6E7A"/>
          </a:solidFill>
          <a:ln/>
        </p:spPr>
      </p:sp>
      <p:pic>
        <p:nvPicPr>
          <p:cNvPr id="10" name="a2_icon_411" descr="preencoded.png">    </p:cNvPr>
          <p:cNvPicPr>
            <a:picLocks noChangeAspect="1"/>
          </p:cNvPicPr>
          <p:nvPr/>
        </p:nvPicPr>
        <p:blipFill>
          <a:blip r:embed="rId2"/>
          <a:stretch>
            <a:fillRect/>
          </a:stretch>
        </p:blipFill>
        <p:spPr>
          <a:xfrm>
            <a:off x="802386" y="2850642"/>
            <a:ext cx="352044" cy="352044"/>
          </a:xfrm>
          <a:prstGeom prst="rect">
            <a:avLst/>
          </a:prstGeom>
        </p:spPr>
      </p:pic>
      <p:sp>
        <p:nvSpPr>
          <p:cNvPr id="11" name="a2_txt_412"/>
          <p:cNvSpPr txBox="1"/>
          <p:nvPr/>
        </p:nvSpPr>
        <p:spPr>
          <a:xfrm>
            <a:off x="1463040" y="2660904"/>
            <a:ext cx="5669280" cy="7315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Original signatures</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Handwritten Issuer &amp; Receiver signatures – not copied or stamped</a:t>
            </a:r>
            <a:endParaRPr lang="en-US" sz="1900" dirty="0"/>
          </a:p>
        </p:txBody>
      </p:sp>
      <p:sp>
        <p:nvSpPr>
          <p:cNvPr id="12" name="a3_box_413"/>
          <p:cNvSpPr/>
          <p:nvPr/>
        </p:nvSpPr>
        <p:spPr>
          <a:xfrm>
            <a:off x="548640" y="3529584"/>
            <a:ext cx="6675120" cy="786384"/>
          </a:xfrm>
          <a:prstGeom prst="roundRect">
            <a:avLst>
              <a:gd name="adj" fmla="val 13953"/>
            </a:avLst>
          </a:prstGeom>
          <a:solidFill>
            <a:srgbClr val="FFFFFF"/>
          </a:solidFill>
          <a:ln w="12700">
            <a:solidFill>
              <a:srgbClr val="C9D3D9"/>
            </a:solidFill>
            <a:prstDash val="solid"/>
          </a:ln>
        </p:spPr>
      </p:sp>
      <p:sp>
        <p:nvSpPr>
          <p:cNvPr id="13" name="a3_circ_414"/>
          <p:cNvSpPr/>
          <p:nvPr/>
        </p:nvSpPr>
        <p:spPr>
          <a:xfrm>
            <a:off x="658368" y="3602736"/>
            <a:ext cx="640080" cy="640080"/>
          </a:xfrm>
          <a:prstGeom prst="ellipse">
            <a:avLst/>
          </a:prstGeom>
          <a:solidFill>
            <a:srgbClr val="0F6E7A"/>
          </a:solidFill>
          <a:ln/>
        </p:spPr>
      </p:sp>
      <p:pic>
        <p:nvPicPr>
          <p:cNvPr id="14" name="a3_icon_415" descr="preencoded.png">    </p:cNvPr>
          <p:cNvPicPr>
            <a:picLocks noChangeAspect="1"/>
          </p:cNvPicPr>
          <p:nvPr/>
        </p:nvPicPr>
        <p:blipFill>
          <a:blip r:embed="rId3"/>
          <a:stretch>
            <a:fillRect/>
          </a:stretch>
        </p:blipFill>
        <p:spPr>
          <a:xfrm>
            <a:off x="802386" y="3746754"/>
            <a:ext cx="352044" cy="352044"/>
          </a:xfrm>
          <a:prstGeom prst="rect">
            <a:avLst/>
          </a:prstGeom>
        </p:spPr>
      </p:pic>
      <p:sp>
        <p:nvSpPr>
          <p:cNvPr id="15" name="a3_txt_416"/>
          <p:cNvSpPr txBox="1"/>
          <p:nvPr/>
        </p:nvSpPr>
        <p:spPr>
          <a:xfrm>
            <a:off x="1463040" y="3557016"/>
            <a:ext cx="5669280" cy="7315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Within validity</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Inside its date &amp; time – an expired permit is void</a:t>
            </a:r>
            <a:endParaRPr lang="en-US" sz="1900" dirty="0"/>
          </a:p>
        </p:txBody>
      </p:sp>
      <p:sp>
        <p:nvSpPr>
          <p:cNvPr id="16" name="a4_box_417"/>
          <p:cNvSpPr/>
          <p:nvPr/>
        </p:nvSpPr>
        <p:spPr>
          <a:xfrm>
            <a:off x="548640" y="4425696"/>
            <a:ext cx="6675120" cy="786384"/>
          </a:xfrm>
          <a:prstGeom prst="roundRect">
            <a:avLst>
              <a:gd name="adj" fmla="val 13953"/>
            </a:avLst>
          </a:prstGeom>
          <a:solidFill>
            <a:srgbClr val="FFFFFF"/>
          </a:solidFill>
          <a:ln w="12700">
            <a:solidFill>
              <a:srgbClr val="C9D3D9"/>
            </a:solidFill>
            <a:prstDash val="solid"/>
          </a:ln>
        </p:spPr>
      </p:sp>
      <p:sp>
        <p:nvSpPr>
          <p:cNvPr id="17" name="a4_circ_418"/>
          <p:cNvSpPr/>
          <p:nvPr/>
        </p:nvSpPr>
        <p:spPr>
          <a:xfrm>
            <a:off x="658368" y="4498848"/>
            <a:ext cx="640080" cy="640080"/>
          </a:xfrm>
          <a:prstGeom prst="ellipse">
            <a:avLst/>
          </a:prstGeom>
          <a:solidFill>
            <a:srgbClr val="0F6E7A"/>
          </a:solidFill>
          <a:ln/>
        </p:spPr>
      </p:sp>
      <p:pic>
        <p:nvPicPr>
          <p:cNvPr id="18" name="a4_icon_419" descr="preencoded.png">    </p:cNvPr>
          <p:cNvPicPr>
            <a:picLocks noChangeAspect="1"/>
          </p:cNvPicPr>
          <p:nvPr/>
        </p:nvPicPr>
        <p:blipFill>
          <a:blip r:embed="rId4"/>
          <a:stretch>
            <a:fillRect/>
          </a:stretch>
        </p:blipFill>
        <p:spPr>
          <a:xfrm>
            <a:off x="802386" y="4642866"/>
            <a:ext cx="352044" cy="352044"/>
          </a:xfrm>
          <a:prstGeom prst="rect">
            <a:avLst/>
          </a:prstGeom>
        </p:spPr>
      </p:pic>
      <p:sp>
        <p:nvSpPr>
          <p:cNvPr id="19" name="a4_txt_420"/>
          <p:cNvSpPr txBox="1"/>
          <p:nvPr/>
        </p:nvSpPr>
        <p:spPr>
          <a:xfrm>
            <a:off x="1463040" y="4453128"/>
            <a:ext cx="5669280" cy="7315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Certificates attached &amp; current</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Gas test, isolation etc. – within re-test intervals</a:t>
            </a:r>
            <a:endParaRPr lang="en-US" sz="1900" dirty="0"/>
          </a:p>
        </p:txBody>
      </p:sp>
      <p:sp>
        <p:nvSpPr>
          <p:cNvPr id="20" name="a5_box_421"/>
          <p:cNvSpPr/>
          <p:nvPr/>
        </p:nvSpPr>
        <p:spPr>
          <a:xfrm>
            <a:off x="548640" y="5321808"/>
            <a:ext cx="6675120" cy="786384"/>
          </a:xfrm>
          <a:prstGeom prst="roundRect">
            <a:avLst>
              <a:gd name="adj" fmla="val 13953"/>
            </a:avLst>
          </a:prstGeom>
          <a:solidFill>
            <a:srgbClr val="FFFFFF"/>
          </a:solidFill>
          <a:ln w="12700">
            <a:solidFill>
              <a:srgbClr val="C9D3D9"/>
            </a:solidFill>
            <a:prstDash val="solid"/>
          </a:ln>
        </p:spPr>
      </p:sp>
      <p:sp>
        <p:nvSpPr>
          <p:cNvPr id="21" name="a5_circ_422"/>
          <p:cNvSpPr/>
          <p:nvPr/>
        </p:nvSpPr>
        <p:spPr>
          <a:xfrm>
            <a:off x="658368" y="5394960"/>
            <a:ext cx="640080" cy="640080"/>
          </a:xfrm>
          <a:prstGeom prst="ellipse">
            <a:avLst/>
          </a:prstGeom>
          <a:solidFill>
            <a:srgbClr val="0F6E7A"/>
          </a:solidFill>
          <a:ln/>
        </p:spPr>
      </p:sp>
      <p:pic>
        <p:nvPicPr>
          <p:cNvPr id="22" name="a5_icon_423" descr="preencoded.png">    </p:cNvPr>
          <p:cNvPicPr>
            <a:picLocks noChangeAspect="1"/>
          </p:cNvPicPr>
          <p:nvPr/>
        </p:nvPicPr>
        <p:blipFill>
          <a:blip r:embed="rId5"/>
          <a:stretch>
            <a:fillRect/>
          </a:stretch>
        </p:blipFill>
        <p:spPr>
          <a:xfrm>
            <a:off x="802386" y="5538978"/>
            <a:ext cx="352044" cy="352044"/>
          </a:xfrm>
          <a:prstGeom prst="rect">
            <a:avLst/>
          </a:prstGeom>
        </p:spPr>
      </p:pic>
      <p:sp>
        <p:nvSpPr>
          <p:cNvPr id="23" name="a5_txt_424"/>
          <p:cNvSpPr txBox="1"/>
          <p:nvPr/>
        </p:nvSpPr>
        <p:spPr>
          <a:xfrm>
            <a:off x="1463040" y="5349240"/>
            <a:ext cx="5669280" cy="7315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Site matches the permit</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Any change invalidates it until re-assessed</a:t>
            </a:r>
            <a:endParaRPr lang="en-US" sz="1900" dirty="0"/>
          </a:p>
        </p:txBody>
      </p:sp>
      <p:sp>
        <p:nvSpPr>
          <p:cNvPr id="24" name="box_425"/>
          <p:cNvSpPr/>
          <p:nvPr/>
        </p:nvSpPr>
        <p:spPr>
          <a:xfrm>
            <a:off x="7498080" y="1234440"/>
            <a:ext cx="4142232" cy="4983480"/>
          </a:xfrm>
          <a:prstGeom prst="rect">
            <a:avLst/>
          </a:prstGeom>
          <a:solidFill>
            <a:srgbClr val="0B2A3C"/>
          </a:solidFill>
          <a:ln/>
        </p:spPr>
      </p:sp>
      <p:pic>
        <p:nvPicPr>
          <p:cNvPr id="25" name="icon_426" descr="preencoded.png">    </p:cNvPr>
          <p:cNvPicPr>
            <a:picLocks noChangeAspect="1"/>
          </p:cNvPicPr>
          <p:nvPr/>
        </p:nvPicPr>
        <p:blipFill>
          <a:blip r:embed="rId6"/>
          <a:stretch>
            <a:fillRect/>
          </a:stretch>
        </p:blipFill>
        <p:spPr>
          <a:xfrm>
            <a:off x="8699327" y="2581991"/>
            <a:ext cx="1739737" cy="1739737"/>
          </a:xfrm>
          <a:prstGeom prst="rect">
            <a:avLst/>
          </a:prstGeom>
        </p:spPr>
      </p:pic>
      <p:sp>
        <p:nvSpPr>
          <p:cNvPr id="26" name="txt_427"/>
          <p:cNvSpPr txBox="1"/>
          <p:nvPr/>
        </p:nvSpPr>
        <p:spPr>
          <a:xfrm>
            <a:off x="7772400" y="4596049"/>
            <a:ext cx="3593592"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Valid permit = all 5 checks</a:t>
            </a:r>
            <a:endParaRPr lang="en-US" sz="1800" dirty="0"/>
          </a:p>
        </p:txBody>
      </p:sp>
      <p:sp>
        <p:nvSpPr>
          <p:cNvPr id="2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Trainer Question: “It’s only a quick job…”</a:t>
            </a:r>
            <a:endParaRPr lang="en-US" sz="3200" dirty="0"/>
          </a:p>
        </p:txBody>
      </p:sp>
      <p:sp>
        <p:nvSpPr>
          <p:cNvPr id="3" name="box_428"/>
          <p:cNvSpPr/>
          <p:nvPr/>
        </p:nvSpPr>
        <p:spPr>
          <a:xfrm>
            <a:off x="548640" y="1280160"/>
            <a:ext cx="11094415" cy="1234440"/>
          </a:xfrm>
          <a:prstGeom prst="roundRect">
            <a:avLst>
              <a:gd name="adj" fmla="val 8889"/>
            </a:avLst>
          </a:prstGeom>
          <a:solidFill>
            <a:srgbClr val="0B2A3C"/>
          </a:solidFill>
          <a:ln/>
        </p:spPr>
      </p:sp>
      <p:pic>
        <p:nvPicPr>
          <p:cNvPr id="4" name="icon_429"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430"/>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A small leak needs a quick fix. The supervisor says: “No time for a permit – I give you verbal OK.”</a:t>
            </a:r>
            <a:endParaRPr lang="en-US" sz="1800" dirty="0"/>
          </a:p>
        </p:txBody>
      </p:sp>
      <p:sp>
        <p:nvSpPr>
          <p:cNvPr id="6" name="txt_431"/>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Can the technician start the work?</a:t>
            </a:r>
            <a:endParaRPr lang="en-US" sz="2400" dirty="0"/>
          </a:p>
        </p:txBody>
      </p:sp>
      <p:sp>
        <p:nvSpPr>
          <p:cNvPr id="7" name="txt_432"/>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433"/>
          <p:cNvSpPr/>
          <p:nvPr/>
        </p:nvSpPr>
        <p:spPr>
          <a:xfrm>
            <a:off x="548640" y="3063240"/>
            <a:ext cx="11094415"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434"/>
          <p:cNvSpPr/>
          <p:nvPr/>
        </p:nvSpPr>
        <p:spPr>
          <a:xfrm>
            <a:off x="548640" y="3063240"/>
            <a:ext cx="685800" cy="914400"/>
          </a:xfrm>
          <a:prstGeom prst="rect">
            <a:avLst/>
          </a:prstGeom>
          <a:solidFill>
            <a:srgbClr val="C0392B"/>
          </a:solidFill>
          <a:ln/>
        </p:spPr>
      </p:sp>
      <p:pic>
        <p:nvPicPr>
          <p:cNvPr id="10" name="a1_icon_435" descr="preencoded.png">    </p:cNvPr>
          <p:cNvPicPr>
            <a:picLocks noChangeAspect="1"/>
          </p:cNvPicPr>
          <p:nvPr/>
        </p:nvPicPr>
        <p:blipFill>
          <a:blip r:embed="rId2"/>
          <a:stretch>
            <a:fillRect/>
          </a:stretch>
        </p:blipFill>
        <p:spPr>
          <a:xfrm>
            <a:off x="704088" y="3328416"/>
            <a:ext cx="384048" cy="384048"/>
          </a:xfrm>
          <a:prstGeom prst="rect">
            <a:avLst/>
          </a:prstGeom>
        </p:spPr>
      </p:pic>
      <p:sp>
        <p:nvSpPr>
          <p:cNvPr id="11" name="a1_txt_436"/>
          <p:cNvSpPr txBox="1"/>
          <p:nvPr/>
        </p:nvSpPr>
        <p:spPr>
          <a:xfrm>
            <a:off x="1371600" y="3108960"/>
            <a:ext cx="10134295" cy="822960"/>
          </a:xfrm>
          <a:prstGeom prst="rect">
            <a:avLst/>
          </a:prstGeom>
          <a:noFill/>
          <a:ln/>
        </p:spPr>
        <p:txBody>
          <a:bodyPr wrap="square" lIns="635" tIns="635" rIns="635" bIns="635"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NO. </a:t>
            </a:r>
            <a:pPr indent="0" marL="0">
              <a:buNone/>
            </a:pPr>
            <a:r>
              <a:rPr lang="en-US" sz="1900" dirty="0">
                <a:solidFill>
                  <a:srgbClr val="1B2730"/>
                </a:solidFill>
                <a:latin typeface="Calibri" pitchFamily="34" charset="0"/>
                <a:ea typeface="Calibri" pitchFamily="34" charset="-122"/>
                <a:cs typeface="Calibri" pitchFamily="34" charset="-120"/>
              </a:rPr>
              <a:t>Verbal or implied authorisation is invalid. Authorisation exists only in the signed, written permit.</a:t>
            </a:r>
            <a:endParaRPr lang="en-US" sz="1900" dirty="0"/>
          </a:p>
        </p:txBody>
      </p:sp>
      <p:sp>
        <p:nvSpPr>
          <p:cNvPr id="12" name="a2_box_437"/>
          <p:cNvSpPr/>
          <p:nvPr/>
        </p:nvSpPr>
        <p:spPr>
          <a:xfrm>
            <a:off x="548640" y="4206240"/>
            <a:ext cx="11094415"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438"/>
          <p:cNvSpPr/>
          <p:nvPr/>
        </p:nvSpPr>
        <p:spPr>
          <a:xfrm>
            <a:off x="548640" y="4206240"/>
            <a:ext cx="685800" cy="914400"/>
          </a:xfrm>
          <a:prstGeom prst="rect">
            <a:avLst/>
          </a:prstGeom>
          <a:solidFill>
            <a:srgbClr val="E8771E"/>
          </a:solidFill>
          <a:ln/>
        </p:spPr>
      </p:sp>
      <p:pic>
        <p:nvPicPr>
          <p:cNvPr id="14" name="a2_icon_439" descr="preencoded.png">    </p:cNvPr>
          <p:cNvPicPr>
            <a:picLocks noChangeAspect="1"/>
          </p:cNvPicPr>
          <p:nvPr/>
        </p:nvPicPr>
        <p:blipFill>
          <a:blip r:embed="rId3"/>
          <a:stretch>
            <a:fillRect/>
          </a:stretch>
        </p:blipFill>
        <p:spPr>
          <a:xfrm>
            <a:off x="704088" y="4471416"/>
            <a:ext cx="384048" cy="384048"/>
          </a:xfrm>
          <a:prstGeom prst="rect">
            <a:avLst/>
          </a:prstGeom>
        </p:spPr>
      </p:pic>
      <p:sp>
        <p:nvSpPr>
          <p:cNvPr id="15" name="a2_txt_440"/>
          <p:cNvSpPr txBox="1"/>
          <p:nvPr/>
        </p:nvSpPr>
        <p:spPr>
          <a:xfrm>
            <a:off x="1371600" y="4251960"/>
            <a:ext cx="10134295" cy="822960"/>
          </a:xfrm>
          <a:prstGeom prst="rect">
            <a:avLst/>
          </a:prstGeom>
          <a:noFill/>
          <a:ln/>
        </p:spPr>
        <p:txBody>
          <a:bodyPr wrap="square" lIns="635" tIns="635" rIns="635" bIns="635" rtlCol="0" anchor="ctr"/>
          <a:lstStyle/>
          <a:p>
            <a:pPr indent="0" marL="0">
              <a:buNone/>
            </a:pPr>
            <a:r>
              <a:rPr lang="en-US" sz="1900" b="1" dirty="0">
                <a:solidFill>
                  <a:srgbClr val="E8771E"/>
                </a:solidFill>
                <a:latin typeface="Calibri" pitchFamily="34" charset="0"/>
                <a:ea typeface="Calibri" pitchFamily="34" charset="-122"/>
                <a:cs typeface="Calibri" pitchFamily="34" charset="-120"/>
              </a:rPr>
              <a:t>Why? </a:t>
            </a:r>
            <a:pPr indent="0" marL="0">
              <a:buNone/>
            </a:pPr>
            <a:r>
              <a:rPr lang="en-US" sz="1900" dirty="0">
                <a:solidFill>
                  <a:srgbClr val="1B2730"/>
                </a:solidFill>
                <a:latin typeface="Calibri" pitchFamily="34" charset="0"/>
                <a:ea typeface="Calibri" pitchFamily="34" charset="-122"/>
                <a:cs typeface="Calibri" pitchFamily="34" charset="-120"/>
              </a:rPr>
              <a:t>There is no “quick job” exception – the Life Saving Rule applies to everyone.</a:t>
            </a:r>
            <a:endParaRPr lang="en-US" sz="1900" dirty="0"/>
          </a:p>
        </p:txBody>
      </p:sp>
      <p:sp>
        <p:nvSpPr>
          <p:cNvPr id="16" name="a3_box_441"/>
          <p:cNvSpPr/>
          <p:nvPr/>
        </p:nvSpPr>
        <p:spPr>
          <a:xfrm>
            <a:off x="548640" y="5349240"/>
            <a:ext cx="11094415"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442"/>
          <p:cNvSpPr/>
          <p:nvPr/>
        </p:nvSpPr>
        <p:spPr>
          <a:xfrm>
            <a:off x="548640" y="5349240"/>
            <a:ext cx="685800" cy="914400"/>
          </a:xfrm>
          <a:prstGeom prst="rect">
            <a:avLst/>
          </a:prstGeom>
          <a:solidFill>
            <a:srgbClr val="2E7D32"/>
          </a:solidFill>
          <a:ln/>
        </p:spPr>
      </p:sp>
      <p:pic>
        <p:nvPicPr>
          <p:cNvPr id="18" name="a3_icon_443" descr="preencoded.png">    </p:cNvPr>
          <p:cNvPicPr>
            <a:picLocks noChangeAspect="1"/>
          </p:cNvPicPr>
          <p:nvPr/>
        </p:nvPicPr>
        <p:blipFill>
          <a:blip r:embed="rId4"/>
          <a:stretch>
            <a:fillRect/>
          </a:stretch>
        </p:blipFill>
        <p:spPr>
          <a:xfrm>
            <a:off x="704088" y="5614416"/>
            <a:ext cx="384048" cy="384048"/>
          </a:xfrm>
          <a:prstGeom prst="rect">
            <a:avLst/>
          </a:prstGeom>
        </p:spPr>
      </p:pic>
      <p:sp>
        <p:nvSpPr>
          <p:cNvPr id="19" name="a3_txt_444"/>
          <p:cNvSpPr txBox="1"/>
          <p:nvPr/>
        </p:nvSpPr>
        <p:spPr>
          <a:xfrm>
            <a:off x="1371600" y="5394960"/>
            <a:ext cx="10134295" cy="822960"/>
          </a:xfrm>
          <a:prstGeom prst="rect">
            <a:avLst/>
          </a:prstGeom>
          <a:noFill/>
          <a:ln/>
        </p:spPr>
        <p:txBody>
          <a:bodyPr wrap="square" lIns="635" tIns="635" rIns="635" bIns="635" rtlCol="0" anchor="ctr"/>
          <a:lstStyle/>
          <a:p>
            <a:pPr indent="0" marL="0">
              <a:buNone/>
            </a:pPr>
            <a:r>
              <a:rPr lang="en-US" sz="1900" b="1" dirty="0">
                <a:solidFill>
                  <a:srgbClr val="2E7D32"/>
                </a:solidFill>
                <a:latin typeface="Calibri" pitchFamily="34" charset="0"/>
                <a:ea typeface="Calibri" pitchFamily="34" charset="-122"/>
                <a:cs typeface="Calibri" pitchFamily="34" charset="-120"/>
              </a:rPr>
              <a:t>Do: </a:t>
            </a:r>
            <a:pPr indent="0" marL="0">
              <a:buNone/>
            </a:pPr>
            <a:r>
              <a:rPr lang="en-US" sz="1900" dirty="0">
                <a:solidFill>
                  <a:srgbClr val="1B2730"/>
                </a:solidFill>
                <a:latin typeface="Calibri" pitchFamily="34" charset="0"/>
                <a:ea typeface="Calibri" pitchFamily="34" charset="-122"/>
                <a:cs typeface="Calibri" pitchFamily="34" charset="-120"/>
              </a:rPr>
              <a:t>Use your Stop Work Authority, raise a permit request and wait for a valid, signed permit.</a:t>
            </a:r>
            <a:endParaRPr lang="en-US" sz="1900" dirty="0"/>
          </a:p>
        </p:txBody>
      </p:sp>
      <p:sp>
        <p:nvSpPr>
          <p:cNvPr id="20"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irc_445"/>
          <p:cNvSpPr/>
          <p:nvPr/>
        </p:nvSpPr>
        <p:spPr>
          <a:xfrm>
            <a:off x="548640" y="2011680"/>
            <a:ext cx="1371600" cy="1371600"/>
          </a:xfrm>
          <a:prstGeom prst="ellipse">
            <a:avLst/>
          </a:prstGeom>
          <a:solidFill>
            <a:srgbClr val="E8771E"/>
          </a:solidFill>
          <a:ln/>
        </p:spPr>
      </p:sp>
      <p:pic>
        <p:nvPicPr>
          <p:cNvPr id="3" name="icon_446"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447"/>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3</a:t>
            </a:r>
            <a:endParaRPr lang="en-US" sz="1800" dirty="0"/>
          </a:p>
        </p:txBody>
      </p:sp>
      <p:sp>
        <p:nvSpPr>
          <p:cNvPr id="5" name="txt_448"/>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Types of Work Permits</a:t>
            </a:r>
            <a:endParaRPr lang="en-US" sz="4000" dirty="0"/>
          </a:p>
        </p:txBody>
      </p:sp>
      <p:sp>
        <p:nvSpPr>
          <p:cNvPr id="6" name="txt_449"/>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Which permit for which job – and the key controls for each</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The Permit Family at a Glance</a:t>
            </a:r>
            <a:endParaRPr lang="en-US" sz="3200" dirty="0"/>
          </a:p>
        </p:txBody>
      </p:sp>
      <p:sp>
        <p:nvSpPr>
          <p:cNvPr id="3" name="a1_box_450"/>
          <p:cNvSpPr/>
          <p:nvPr/>
        </p:nvSpPr>
        <p:spPr>
          <a:xfrm>
            <a:off x="548640"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451"/>
          <p:cNvSpPr/>
          <p:nvPr/>
        </p:nvSpPr>
        <p:spPr>
          <a:xfrm>
            <a:off x="1402804" y="1508760"/>
            <a:ext cx="914400" cy="914400"/>
          </a:xfrm>
          <a:prstGeom prst="ellipse">
            <a:avLst/>
          </a:prstGeom>
          <a:solidFill>
            <a:srgbClr val="C0392B"/>
          </a:solidFill>
          <a:ln/>
        </p:spPr>
      </p:sp>
      <p:pic>
        <p:nvPicPr>
          <p:cNvPr id="5" name="a1_icon_452" descr="preencoded.png">    </p:cNvPr>
          <p:cNvPicPr>
            <a:picLocks noChangeAspect="1"/>
          </p:cNvPicPr>
          <p:nvPr/>
        </p:nvPicPr>
        <p:blipFill>
          <a:blip r:embed="rId1"/>
          <a:stretch>
            <a:fillRect/>
          </a:stretch>
        </p:blipFill>
        <p:spPr>
          <a:xfrm>
            <a:off x="1608544" y="1714500"/>
            <a:ext cx="502920" cy="502920"/>
          </a:xfrm>
          <a:prstGeom prst="rect">
            <a:avLst/>
          </a:prstGeom>
        </p:spPr>
      </p:pic>
      <p:sp>
        <p:nvSpPr>
          <p:cNvPr id="6" name="a1_txt_453"/>
          <p:cNvSpPr txBox="1"/>
          <p:nvPr/>
        </p:nvSpPr>
        <p:spPr>
          <a:xfrm>
            <a:off x="640080" y="251460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Hot Work</a:t>
            </a:r>
            <a:endParaRPr lang="en-US" sz="2000" dirty="0"/>
          </a:p>
        </p:txBody>
      </p:sp>
      <p:sp>
        <p:nvSpPr>
          <p:cNvPr id="7" name="a1_txt_454"/>
          <p:cNvSpPr txBox="1"/>
          <p:nvPr/>
        </p:nvSpPr>
        <p:spPr>
          <a:xfrm>
            <a:off x="685800" y="297180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Heat, sparks or flame</a:t>
            </a:r>
            <a:endParaRPr lang="en-US" sz="1600" dirty="0"/>
          </a:p>
        </p:txBody>
      </p:sp>
      <p:sp>
        <p:nvSpPr>
          <p:cNvPr id="8" name="a2_box_455"/>
          <p:cNvSpPr/>
          <p:nvPr/>
        </p:nvSpPr>
        <p:spPr>
          <a:xfrm>
            <a:off x="3372536"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_circ_456"/>
          <p:cNvSpPr/>
          <p:nvPr/>
        </p:nvSpPr>
        <p:spPr>
          <a:xfrm>
            <a:off x="4226700" y="1508760"/>
            <a:ext cx="914400" cy="914400"/>
          </a:xfrm>
          <a:prstGeom prst="ellipse">
            <a:avLst/>
          </a:prstGeom>
          <a:solidFill>
            <a:srgbClr val="0F6E7A"/>
          </a:solidFill>
          <a:ln/>
        </p:spPr>
      </p:sp>
      <p:pic>
        <p:nvPicPr>
          <p:cNvPr id="10" name="a2_icon_457" descr="preencoded.png">    </p:cNvPr>
          <p:cNvPicPr>
            <a:picLocks noChangeAspect="1"/>
          </p:cNvPicPr>
          <p:nvPr/>
        </p:nvPicPr>
        <p:blipFill>
          <a:blip r:embed="rId2"/>
          <a:stretch>
            <a:fillRect/>
          </a:stretch>
        </p:blipFill>
        <p:spPr>
          <a:xfrm>
            <a:off x="4432440" y="1714500"/>
            <a:ext cx="502920" cy="502920"/>
          </a:xfrm>
          <a:prstGeom prst="rect">
            <a:avLst/>
          </a:prstGeom>
        </p:spPr>
      </p:pic>
      <p:sp>
        <p:nvSpPr>
          <p:cNvPr id="11" name="a2_txt_458"/>
          <p:cNvSpPr txBox="1"/>
          <p:nvPr/>
        </p:nvSpPr>
        <p:spPr>
          <a:xfrm>
            <a:off x="3463976" y="251460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Cold Work</a:t>
            </a:r>
            <a:endParaRPr lang="en-US" sz="2000" dirty="0"/>
          </a:p>
        </p:txBody>
      </p:sp>
      <p:sp>
        <p:nvSpPr>
          <p:cNvPr id="12" name="a2_txt_459"/>
          <p:cNvSpPr txBox="1"/>
          <p:nvPr/>
        </p:nvSpPr>
        <p:spPr>
          <a:xfrm>
            <a:off x="3509696" y="297180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No ignition source, but significant risk</a:t>
            </a:r>
            <a:endParaRPr lang="en-US" sz="1600" dirty="0"/>
          </a:p>
        </p:txBody>
      </p:sp>
      <p:sp>
        <p:nvSpPr>
          <p:cNvPr id="13" name="a3_box_460"/>
          <p:cNvSpPr/>
          <p:nvPr/>
        </p:nvSpPr>
        <p:spPr>
          <a:xfrm>
            <a:off x="6196432"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_circ_461"/>
          <p:cNvSpPr/>
          <p:nvPr/>
        </p:nvSpPr>
        <p:spPr>
          <a:xfrm>
            <a:off x="7050596" y="1508760"/>
            <a:ext cx="914400" cy="914400"/>
          </a:xfrm>
          <a:prstGeom prst="ellipse">
            <a:avLst/>
          </a:prstGeom>
          <a:solidFill>
            <a:srgbClr val="E8771E"/>
          </a:solidFill>
          <a:ln/>
        </p:spPr>
      </p:sp>
      <p:pic>
        <p:nvPicPr>
          <p:cNvPr id="15" name="a3_icon_462" descr="preencoded.png">    </p:cNvPr>
          <p:cNvPicPr>
            <a:picLocks noChangeAspect="1"/>
          </p:cNvPicPr>
          <p:nvPr/>
        </p:nvPicPr>
        <p:blipFill>
          <a:blip r:embed="rId3"/>
          <a:stretch>
            <a:fillRect/>
          </a:stretch>
        </p:blipFill>
        <p:spPr>
          <a:xfrm>
            <a:off x="7256336" y="1714500"/>
            <a:ext cx="502920" cy="502920"/>
          </a:xfrm>
          <a:prstGeom prst="rect">
            <a:avLst/>
          </a:prstGeom>
        </p:spPr>
      </p:pic>
      <p:sp>
        <p:nvSpPr>
          <p:cNvPr id="16" name="a3_txt_463"/>
          <p:cNvSpPr txBox="1"/>
          <p:nvPr/>
        </p:nvSpPr>
        <p:spPr>
          <a:xfrm>
            <a:off x="6287872" y="251460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Confined Space Entry</a:t>
            </a:r>
            <a:endParaRPr lang="en-US" sz="2000" dirty="0"/>
          </a:p>
        </p:txBody>
      </p:sp>
      <p:sp>
        <p:nvSpPr>
          <p:cNvPr id="17" name="a3_txt_464"/>
          <p:cNvSpPr txBox="1"/>
          <p:nvPr/>
        </p:nvSpPr>
        <p:spPr>
          <a:xfrm>
            <a:off x="6333592" y="297180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Entry into vessels, tanks, pits</a:t>
            </a:r>
            <a:endParaRPr lang="en-US" sz="1600" dirty="0"/>
          </a:p>
        </p:txBody>
      </p:sp>
      <p:sp>
        <p:nvSpPr>
          <p:cNvPr id="18" name="a4_box_465"/>
          <p:cNvSpPr/>
          <p:nvPr/>
        </p:nvSpPr>
        <p:spPr>
          <a:xfrm>
            <a:off x="9020327" y="128016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_circ_466"/>
          <p:cNvSpPr/>
          <p:nvPr/>
        </p:nvSpPr>
        <p:spPr>
          <a:xfrm>
            <a:off x="9874491" y="1508760"/>
            <a:ext cx="914400" cy="914400"/>
          </a:xfrm>
          <a:prstGeom prst="ellipse">
            <a:avLst/>
          </a:prstGeom>
          <a:solidFill>
            <a:srgbClr val="F2A900"/>
          </a:solidFill>
          <a:ln/>
        </p:spPr>
      </p:sp>
      <p:pic>
        <p:nvPicPr>
          <p:cNvPr id="20" name="a4_icon_467" descr="preencoded.png">    </p:cNvPr>
          <p:cNvPicPr>
            <a:picLocks noChangeAspect="1"/>
          </p:cNvPicPr>
          <p:nvPr/>
        </p:nvPicPr>
        <p:blipFill>
          <a:blip r:embed="rId4"/>
          <a:stretch>
            <a:fillRect/>
          </a:stretch>
        </p:blipFill>
        <p:spPr>
          <a:xfrm>
            <a:off x="10080231" y="1714500"/>
            <a:ext cx="502920" cy="502920"/>
          </a:xfrm>
          <a:prstGeom prst="rect">
            <a:avLst/>
          </a:prstGeom>
        </p:spPr>
      </p:pic>
      <p:sp>
        <p:nvSpPr>
          <p:cNvPr id="21" name="a4_txt_468"/>
          <p:cNvSpPr txBox="1"/>
          <p:nvPr/>
        </p:nvSpPr>
        <p:spPr>
          <a:xfrm>
            <a:off x="9111767" y="251460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Electrical Work</a:t>
            </a:r>
            <a:endParaRPr lang="en-US" sz="2000" dirty="0"/>
          </a:p>
        </p:txBody>
      </p:sp>
      <p:sp>
        <p:nvSpPr>
          <p:cNvPr id="22" name="a4_txt_469"/>
          <p:cNvSpPr txBox="1"/>
          <p:nvPr/>
        </p:nvSpPr>
        <p:spPr>
          <a:xfrm>
            <a:off x="9157487" y="297180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Work on or near electrical systems</a:t>
            </a:r>
            <a:endParaRPr lang="en-US" sz="1600" dirty="0"/>
          </a:p>
        </p:txBody>
      </p:sp>
      <p:sp>
        <p:nvSpPr>
          <p:cNvPr id="23" name="a5_box_470"/>
          <p:cNvSpPr/>
          <p:nvPr/>
        </p:nvSpPr>
        <p:spPr>
          <a:xfrm>
            <a:off x="548640"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_circ_471"/>
          <p:cNvSpPr/>
          <p:nvPr/>
        </p:nvSpPr>
        <p:spPr>
          <a:xfrm>
            <a:off x="1402804" y="3977640"/>
            <a:ext cx="914400" cy="914400"/>
          </a:xfrm>
          <a:prstGeom prst="ellipse">
            <a:avLst/>
          </a:prstGeom>
          <a:solidFill>
            <a:srgbClr val="8D6E63"/>
          </a:solidFill>
          <a:ln/>
        </p:spPr>
      </p:sp>
      <p:pic>
        <p:nvPicPr>
          <p:cNvPr id="25" name="a5_icon_472" descr="preencoded.png">    </p:cNvPr>
          <p:cNvPicPr>
            <a:picLocks noChangeAspect="1"/>
          </p:cNvPicPr>
          <p:nvPr/>
        </p:nvPicPr>
        <p:blipFill>
          <a:blip r:embed="rId5"/>
          <a:stretch>
            <a:fillRect/>
          </a:stretch>
        </p:blipFill>
        <p:spPr>
          <a:xfrm>
            <a:off x="1608544" y="4183380"/>
            <a:ext cx="502920" cy="502920"/>
          </a:xfrm>
          <a:prstGeom prst="rect">
            <a:avLst/>
          </a:prstGeom>
        </p:spPr>
      </p:pic>
      <p:sp>
        <p:nvSpPr>
          <p:cNvPr id="26" name="a5_txt_473"/>
          <p:cNvSpPr txBox="1"/>
          <p:nvPr/>
        </p:nvSpPr>
        <p:spPr>
          <a:xfrm>
            <a:off x="640080" y="498348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Excavation</a:t>
            </a:r>
            <a:endParaRPr lang="en-US" sz="2000" dirty="0"/>
          </a:p>
        </p:txBody>
      </p:sp>
      <p:sp>
        <p:nvSpPr>
          <p:cNvPr id="27" name="a5_txt_474"/>
          <p:cNvSpPr txBox="1"/>
          <p:nvPr/>
        </p:nvSpPr>
        <p:spPr>
          <a:xfrm>
            <a:off x="685800" y="544068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Any digging, trenching, boring</a:t>
            </a:r>
            <a:endParaRPr lang="en-US" sz="1600" dirty="0"/>
          </a:p>
        </p:txBody>
      </p:sp>
      <p:sp>
        <p:nvSpPr>
          <p:cNvPr id="28" name="a6_box_475"/>
          <p:cNvSpPr/>
          <p:nvPr/>
        </p:nvSpPr>
        <p:spPr>
          <a:xfrm>
            <a:off x="3372536"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circ_476"/>
          <p:cNvSpPr/>
          <p:nvPr/>
        </p:nvSpPr>
        <p:spPr>
          <a:xfrm>
            <a:off x="4226700" y="3977640"/>
            <a:ext cx="914400" cy="914400"/>
          </a:xfrm>
          <a:prstGeom prst="ellipse">
            <a:avLst/>
          </a:prstGeom>
          <a:solidFill>
            <a:srgbClr val="0B2A3C"/>
          </a:solidFill>
          <a:ln/>
        </p:spPr>
      </p:sp>
      <p:pic>
        <p:nvPicPr>
          <p:cNvPr id="30" name="a6_icon_477" descr="preencoded.png">    </p:cNvPr>
          <p:cNvPicPr>
            <a:picLocks noChangeAspect="1"/>
          </p:cNvPicPr>
          <p:nvPr/>
        </p:nvPicPr>
        <p:blipFill>
          <a:blip r:embed="rId6"/>
          <a:stretch>
            <a:fillRect/>
          </a:stretch>
        </p:blipFill>
        <p:spPr>
          <a:xfrm>
            <a:off x="4432440" y="4183380"/>
            <a:ext cx="502920" cy="502920"/>
          </a:xfrm>
          <a:prstGeom prst="rect">
            <a:avLst/>
          </a:prstGeom>
        </p:spPr>
      </p:pic>
      <p:sp>
        <p:nvSpPr>
          <p:cNvPr id="31" name="a6_txt_478"/>
          <p:cNvSpPr txBox="1"/>
          <p:nvPr/>
        </p:nvSpPr>
        <p:spPr>
          <a:xfrm>
            <a:off x="3463976" y="498348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Work at Height</a:t>
            </a:r>
            <a:endParaRPr lang="en-US" sz="2000" dirty="0"/>
          </a:p>
        </p:txBody>
      </p:sp>
      <p:sp>
        <p:nvSpPr>
          <p:cNvPr id="32" name="a6_txt_479"/>
          <p:cNvSpPr txBox="1"/>
          <p:nvPr/>
        </p:nvSpPr>
        <p:spPr>
          <a:xfrm>
            <a:off x="3509696" y="544068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Where a fall could cause injury</a:t>
            </a:r>
            <a:endParaRPr lang="en-US" sz="1600" dirty="0"/>
          </a:p>
        </p:txBody>
      </p:sp>
      <p:sp>
        <p:nvSpPr>
          <p:cNvPr id="33" name="a7_box_480"/>
          <p:cNvSpPr/>
          <p:nvPr/>
        </p:nvSpPr>
        <p:spPr>
          <a:xfrm>
            <a:off x="6196432"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4" name="a7_circ_481"/>
          <p:cNvSpPr/>
          <p:nvPr/>
        </p:nvSpPr>
        <p:spPr>
          <a:xfrm>
            <a:off x="7050596" y="3977640"/>
            <a:ext cx="914400" cy="914400"/>
          </a:xfrm>
          <a:prstGeom prst="ellipse">
            <a:avLst/>
          </a:prstGeom>
          <a:solidFill>
            <a:srgbClr val="6A1B9A"/>
          </a:solidFill>
          <a:ln/>
        </p:spPr>
      </p:sp>
      <p:pic>
        <p:nvPicPr>
          <p:cNvPr id="35" name="a7_icon_482" descr="preencoded.png">    </p:cNvPr>
          <p:cNvPicPr>
            <a:picLocks noChangeAspect="1"/>
          </p:cNvPicPr>
          <p:nvPr/>
        </p:nvPicPr>
        <p:blipFill>
          <a:blip r:embed="rId7"/>
          <a:stretch>
            <a:fillRect/>
          </a:stretch>
        </p:blipFill>
        <p:spPr>
          <a:xfrm>
            <a:off x="7256336" y="4183380"/>
            <a:ext cx="502920" cy="502920"/>
          </a:xfrm>
          <a:prstGeom prst="rect">
            <a:avLst/>
          </a:prstGeom>
        </p:spPr>
      </p:pic>
      <p:sp>
        <p:nvSpPr>
          <p:cNvPr id="36" name="a7_txt_483"/>
          <p:cNvSpPr txBox="1"/>
          <p:nvPr/>
        </p:nvSpPr>
        <p:spPr>
          <a:xfrm>
            <a:off x="6287872" y="498348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Radiography</a:t>
            </a:r>
            <a:endParaRPr lang="en-US" sz="2000" dirty="0"/>
          </a:p>
        </p:txBody>
      </p:sp>
      <p:sp>
        <p:nvSpPr>
          <p:cNvPr id="37" name="a7_txt_484"/>
          <p:cNvSpPr txBox="1"/>
          <p:nvPr/>
        </p:nvSpPr>
        <p:spPr>
          <a:xfrm>
            <a:off x="6333592" y="544068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Industrial X-ray / gamma sources</a:t>
            </a:r>
            <a:endParaRPr lang="en-US" sz="1600" dirty="0"/>
          </a:p>
        </p:txBody>
      </p:sp>
      <p:sp>
        <p:nvSpPr>
          <p:cNvPr id="38" name="a8_box_485"/>
          <p:cNvSpPr/>
          <p:nvPr/>
        </p:nvSpPr>
        <p:spPr>
          <a:xfrm>
            <a:off x="9020327" y="3749040"/>
            <a:ext cx="2622728" cy="2286000"/>
          </a:xfrm>
          <a:prstGeom prst="roundRect">
            <a:avLst>
              <a:gd name="adj" fmla="val 48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9" name="a8_circ_486"/>
          <p:cNvSpPr/>
          <p:nvPr/>
        </p:nvSpPr>
        <p:spPr>
          <a:xfrm>
            <a:off x="9874491" y="3977640"/>
            <a:ext cx="914400" cy="914400"/>
          </a:xfrm>
          <a:prstGeom prst="ellipse">
            <a:avLst/>
          </a:prstGeom>
          <a:solidFill>
            <a:srgbClr val="5B6B75"/>
          </a:solidFill>
          <a:ln/>
        </p:spPr>
      </p:sp>
      <p:pic>
        <p:nvPicPr>
          <p:cNvPr id="40" name="a8_icon_487" descr="preencoded.png">    </p:cNvPr>
          <p:cNvPicPr>
            <a:picLocks noChangeAspect="1"/>
          </p:cNvPicPr>
          <p:nvPr/>
        </p:nvPicPr>
        <p:blipFill>
          <a:blip r:embed="rId8"/>
          <a:stretch>
            <a:fillRect/>
          </a:stretch>
        </p:blipFill>
        <p:spPr>
          <a:xfrm>
            <a:off x="10080231" y="4183380"/>
            <a:ext cx="502920" cy="502920"/>
          </a:xfrm>
          <a:prstGeom prst="rect">
            <a:avLst/>
          </a:prstGeom>
        </p:spPr>
      </p:pic>
      <p:sp>
        <p:nvSpPr>
          <p:cNvPr id="41" name="a8_txt_488"/>
          <p:cNvSpPr txBox="1"/>
          <p:nvPr/>
        </p:nvSpPr>
        <p:spPr>
          <a:xfrm>
            <a:off x="9111767" y="4983480"/>
            <a:ext cx="2439848" cy="457200"/>
          </a:xfrm>
          <a:prstGeom prst="rect">
            <a:avLst/>
          </a:prstGeom>
          <a:noFill/>
          <a:ln/>
        </p:spPr>
        <p:txBody>
          <a:bodyPr wrap="square" lIns="635" tIns="635" rIns="635" bIns="635" rtlCol="0" anchor="t"/>
          <a:lstStyle/>
          <a:p>
            <a:pPr algn="ctr" indent="0" marL="0">
              <a:buNone/>
            </a:pPr>
            <a:r>
              <a:rPr lang="en-US" sz="2000" b="1" dirty="0">
                <a:solidFill>
                  <a:srgbClr val="0B2A3C"/>
                </a:solidFill>
                <a:latin typeface="Calibri" pitchFamily="34" charset="0"/>
                <a:ea typeface="Calibri" pitchFamily="34" charset="-122"/>
                <a:cs typeface="Calibri" pitchFamily="34" charset="-120"/>
              </a:rPr>
              <a:t>Specialised</a:t>
            </a:r>
            <a:endParaRPr lang="en-US" sz="2000" dirty="0"/>
          </a:p>
        </p:txBody>
      </p:sp>
      <p:sp>
        <p:nvSpPr>
          <p:cNvPr id="42" name="a8_txt_489"/>
          <p:cNvSpPr txBox="1"/>
          <p:nvPr/>
        </p:nvSpPr>
        <p:spPr>
          <a:xfrm>
            <a:off x="9157487" y="5440680"/>
            <a:ext cx="2348408" cy="548640"/>
          </a:xfrm>
          <a:prstGeom prst="rect">
            <a:avLst/>
          </a:prstGeom>
          <a:noFill/>
          <a:ln/>
        </p:spPr>
        <p:txBody>
          <a:bodyPr wrap="square" lIns="635" tIns="635" rIns="635" bIns="635" rtlCol="0" anchor="t"/>
          <a:lstStyle/>
          <a:p>
            <a:pPr algn="ctr" indent="0" marL="0">
              <a:buNone/>
            </a:pPr>
            <a:r>
              <a:rPr lang="en-US" sz="1600" dirty="0">
                <a:solidFill>
                  <a:srgbClr val="5B6B75"/>
                </a:solidFill>
                <a:latin typeface="Calibri" pitchFamily="34" charset="0"/>
                <a:ea typeface="Calibri" pitchFamily="34" charset="-122"/>
                <a:cs typeface="Calibri" pitchFamily="34" charset="-120"/>
              </a:rPr>
              <a:t>SIMOPS, Break of Containment, MOC…</a:t>
            </a:r>
            <a:endParaRPr lang="en-US" sz="1600" dirty="0"/>
          </a:p>
        </p:txBody>
      </p:sp>
      <p:sp>
        <p:nvSpPr>
          <p:cNvPr id="4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fade">
                                      <p:cBhvr>
                                        <p:cTn id="118" dur="500"/>
                                        <p:tgtEl>
                                          <p:spTgt spid="3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500"/>
                                        <p:tgtEl>
                                          <p:spTgt spid="37"/>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500"/>
                                        <p:tgtEl>
                                          <p:spTgt spid="38"/>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9"/>
                                        </p:tgtEl>
                                        <p:attrNameLst>
                                          <p:attrName>style.visibility</p:attrName>
                                        </p:attrNameLst>
                                      </p:cBhvr>
                                      <p:to>
                                        <p:strVal val="visible"/>
                                      </p:to>
                                    </p:set>
                                    <p:animEffect transition="in" filter="fade">
                                      <p:cBhvr>
                                        <p:cTn id="129" dur="500"/>
                                        <p:tgtEl>
                                          <p:spTgt spid="3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500"/>
                                        <p:tgtEl>
                                          <p:spTgt spid="40"/>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500"/>
                                        <p:tgtEl>
                                          <p:spTgt spid="41"/>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2"/>
                                        </p:tgtEl>
                                        <p:attrNameLst>
                                          <p:attrName>style.visibility</p:attrName>
                                        </p:attrNameLst>
                                      </p:cBhvr>
                                      <p:to>
                                        <p:strVal val="visible"/>
                                      </p:to>
                                    </p:set>
                                    <p:animEffect transition="in" filter="fade">
                                      <p:cBhvr>
                                        <p:cTn id="13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Hot Work Permit</a:t>
            </a:r>
            <a:endParaRPr lang="en-US" sz="3200" dirty="0"/>
          </a:p>
        </p:txBody>
      </p:sp>
      <p:sp>
        <p:nvSpPr>
          <p:cNvPr id="3" name="box_490"/>
          <p:cNvSpPr/>
          <p:nvPr/>
        </p:nvSpPr>
        <p:spPr>
          <a:xfrm>
            <a:off x="0" y="1143000"/>
            <a:ext cx="4206240" cy="5166360"/>
          </a:xfrm>
          <a:prstGeom prst="rect">
            <a:avLst/>
          </a:prstGeom>
          <a:solidFill>
            <a:srgbClr val="C0392B"/>
          </a:solidFill>
          <a:ln/>
        </p:spPr>
      </p:sp>
      <p:pic>
        <p:nvPicPr>
          <p:cNvPr id="4" name="icon_491"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492"/>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Heat · Sparks · Flame</a:t>
            </a:r>
            <a:endParaRPr lang="en-US" sz="1800" dirty="0"/>
          </a:p>
        </p:txBody>
      </p:sp>
      <p:sp>
        <p:nvSpPr>
          <p:cNvPr id="6" name="box_493"/>
          <p:cNvSpPr/>
          <p:nvPr/>
        </p:nvSpPr>
        <p:spPr>
          <a:xfrm>
            <a:off x="4526280" y="1280160"/>
            <a:ext cx="3474720" cy="4937760"/>
          </a:xfrm>
          <a:prstGeom prst="roundRect">
            <a:avLst>
              <a:gd name="adj" fmla="val 315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circ_494"/>
          <p:cNvSpPr/>
          <p:nvPr/>
        </p:nvSpPr>
        <p:spPr>
          <a:xfrm>
            <a:off x="4709160" y="1463040"/>
            <a:ext cx="685800" cy="685800"/>
          </a:xfrm>
          <a:prstGeom prst="ellipse">
            <a:avLst/>
          </a:prstGeom>
          <a:solidFill>
            <a:srgbClr val="C0392B"/>
          </a:solidFill>
          <a:ln/>
        </p:spPr>
      </p:sp>
      <p:pic>
        <p:nvPicPr>
          <p:cNvPr id="8" name="icon_495" descr="preencoded.png">    </p:cNvPr>
          <p:cNvPicPr>
            <a:picLocks noChangeAspect="1"/>
          </p:cNvPicPr>
          <p:nvPr/>
        </p:nvPicPr>
        <p:blipFill>
          <a:blip r:embed="rId2"/>
          <a:stretch>
            <a:fillRect/>
          </a:stretch>
        </p:blipFill>
        <p:spPr>
          <a:xfrm>
            <a:off x="4863465" y="1617345"/>
            <a:ext cx="377190" cy="377190"/>
          </a:xfrm>
          <a:prstGeom prst="rect">
            <a:avLst/>
          </a:prstGeom>
        </p:spPr>
      </p:pic>
      <p:sp>
        <p:nvSpPr>
          <p:cNvPr id="9" name="txt_496"/>
          <p:cNvSpPr txBox="1"/>
          <p:nvPr/>
        </p:nvSpPr>
        <p:spPr>
          <a:xfrm>
            <a:off x="5559552" y="1444752"/>
            <a:ext cx="230428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Typical activities</a:t>
            </a:r>
            <a:endParaRPr lang="en-US" sz="2000" dirty="0"/>
          </a:p>
        </p:txBody>
      </p:sp>
      <p:sp>
        <p:nvSpPr>
          <p:cNvPr id="10" name="txt_497"/>
          <p:cNvSpPr txBox="1"/>
          <p:nvPr/>
        </p:nvSpPr>
        <p:spPr>
          <a:xfrm>
            <a:off x="4709160" y="2240280"/>
            <a:ext cx="3154680" cy="384048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Welding, cutting, brazing</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Grinding, abrasive cutting, blasting</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Open-flame torches / heating</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Non-intrinsically-safe electrical tools</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Drilling or chipping that makes heat or sparks</a:t>
            </a:r>
            <a:endParaRPr lang="en-US" sz="1800" dirty="0"/>
          </a:p>
        </p:txBody>
      </p:sp>
      <p:sp>
        <p:nvSpPr>
          <p:cNvPr id="11" name="box_498"/>
          <p:cNvSpPr/>
          <p:nvPr/>
        </p:nvSpPr>
        <p:spPr>
          <a:xfrm>
            <a:off x="8183880" y="1280160"/>
            <a:ext cx="3456432" cy="4937760"/>
          </a:xfrm>
          <a:prstGeom prst="roundRect">
            <a:avLst>
              <a:gd name="adj" fmla="val 317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circ_499"/>
          <p:cNvSpPr/>
          <p:nvPr/>
        </p:nvSpPr>
        <p:spPr>
          <a:xfrm>
            <a:off x="8366760" y="1463040"/>
            <a:ext cx="685800" cy="685800"/>
          </a:xfrm>
          <a:prstGeom prst="ellipse">
            <a:avLst/>
          </a:prstGeom>
          <a:solidFill>
            <a:srgbClr val="E8771E"/>
          </a:solidFill>
          <a:ln/>
        </p:spPr>
      </p:sp>
      <p:pic>
        <p:nvPicPr>
          <p:cNvPr id="13" name="icon_500" descr="preencoded.png">    </p:cNvPr>
          <p:cNvPicPr>
            <a:picLocks noChangeAspect="1"/>
          </p:cNvPicPr>
          <p:nvPr/>
        </p:nvPicPr>
        <p:blipFill>
          <a:blip r:embed="rId3"/>
          <a:stretch>
            <a:fillRect/>
          </a:stretch>
        </p:blipFill>
        <p:spPr>
          <a:xfrm>
            <a:off x="8521065" y="1617345"/>
            <a:ext cx="377190" cy="377190"/>
          </a:xfrm>
          <a:prstGeom prst="rect">
            <a:avLst/>
          </a:prstGeom>
        </p:spPr>
      </p:pic>
      <p:sp>
        <p:nvSpPr>
          <p:cNvPr id="14" name="txt_501"/>
          <p:cNvSpPr txBox="1"/>
          <p:nvPr/>
        </p:nvSpPr>
        <p:spPr>
          <a:xfrm>
            <a:off x="9217152" y="1444752"/>
            <a:ext cx="2286000"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Hazards</a:t>
            </a:r>
            <a:endParaRPr lang="en-US" sz="2000" dirty="0"/>
          </a:p>
        </p:txBody>
      </p:sp>
      <p:sp>
        <p:nvSpPr>
          <p:cNvPr id="15" name="txt_502"/>
          <p:cNvSpPr txBox="1"/>
          <p:nvPr/>
        </p:nvSpPr>
        <p:spPr>
          <a:xfrm>
            <a:off x="8366760" y="2240280"/>
            <a:ext cx="3154680" cy="3931920"/>
          </a:xfrm>
          <a:prstGeom prst="rect">
            <a:avLst/>
          </a:prstGeom>
          <a:noFill/>
          <a:ln/>
        </p:spPr>
        <p:txBody>
          <a:bodyPr wrap="square" lIns="635" tIns="635" rIns="635" bIns="635" rtlCol="0" anchor="t"/>
          <a:lstStyle/>
          <a:p>
            <a:pPr marL="228600" indent="-228600">
              <a:spcAft>
                <a:spcPts val="1000"/>
              </a:spcAft>
              <a:buSzPct val="100000"/>
              <a:buChar char="•"/>
            </a:pPr>
            <a:r>
              <a:rPr lang="en-US" sz="1800" b="1" dirty="0">
                <a:solidFill>
                  <a:srgbClr val="1B2730"/>
                </a:solidFill>
                <a:latin typeface="Calibri" pitchFamily="34" charset="0"/>
                <a:ea typeface="Calibri" pitchFamily="34" charset="-122"/>
                <a:cs typeface="Calibri" pitchFamily="34" charset="-120"/>
              </a:rPr>
              <a:t>Primary: </a:t>
            </a:r>
            <a:pPr indent="0" marL="0">
              <a:buNone/>
            </a:pPr>
            <a:r>
              <a:rPr lang="en-US" sz="1800" dirty="0">
                <a:solidFill>
                  <a:srgbClr val="1B2730"/>
                </a:solidFill>
                <a:latin typeface="Calibri" pitchFamily="34" charset="0"/>
                <a:ea typeface="Calibri" pitchFamily="34" charset="-122"/>
                <a:cs typeface="Calibri" pitchFamily="34" charset="-120"/>
              </a:rPr>
              <a:t>ignition of flammable gas, vapour, liquid or solids</a:t>
            </a:r>
            <a:endParaRPr lang="en-US" sz="1800" dirty="0"/>
          </a:p>
          <a:p>
            <a:pPr marL="228600" indent="-228600">
              <a:spcAft>
                <a:spcPts val="1000"/>
              </a:spcAft>
              <a:buSzPct val="100000"/>
              <a:buChar char="•"/>
            </a:pPr>
            <a:r>
              <a:rPr lang="en-US" sz="1800" b="1" dirty="0">
                <a:solidFill>
                  <a:srgbClr val="1B2730"/>
                </a:solidFill>
                <a:latin typeface="Calibri" pitchFamily="34" charset="0"/>
                <a:ea typeface="Calibri" pitchFamily="34" charset="-122"/>
                <a:cs typeface="Calibri" pitchFamily="34" charset="-120"/>
              </a:rPr>
              <a:t>Secondary: </a:t>
            </a:r>
            <a:pPr indent="0" marL="0">
              <a:buNone/>
            </a:pPr>
            <a:r>
              <a:rPr lang="en-US" sz="1800" dirty="0">
                <a:solidFill>
                  <a:srgbClr val="1B2730"/>
                </a:solidFill>
                <a:latin typeface="Calibri" pitchFamily="34" charset="0"/>
                <a:ea typeface="Calibri" pitchFamily="34" charset="-122"/>
                <a:cs typeface="Calibri" pitchFamily="34" charset="-120"/>
              </a:rPr>
              <a:t>fire spread, explosion, toxic fumes, burns, welder’s flash, shock</a:t>
            </a:r>
            <a:endParaRPr lang="en-US" sz="1800" dirty="0"/>
          </a:p>
          <a:p>
            <a:pPr marL="228600" indent="-228600">
              <a:spcAft>
                <a:spcPts val="1000"/>
              </a:spcAft>
              <a:buSzPct val="100000"/>
              <a:buChar char="•"/>
            </a:pPr>
            <a:r>
              <a:rPr lang="en-US" sz="1800" b="1" dirty="0">
                <a:solidFill>
                  <a:srgbClr val="1B2730"/>
                </a:solidFill>
                <a:latin typeface="Calibri" pitchFamily="34" charset="0"/>
                <a:ea typeface="Calibri" pitchFamily="34" charset="-122"/>
                <a:cs typeface="Calibri" pitchFamily="34" charset="-120"/>
              </a:rPr>
              <a:t>Hidden: </a:t>
            </a:r>
            <a:pPr indent="0" marL="0">
              <a:buNone/>
            </a:pPr>
            <a:r>
              <a:rPr lang="en-US" sz="1800" dirty="0">
                <a:solidFill>
                  <a:srgbClr val="1B2730"/>
                </a:solidFill>
                <a:latin typeface="Calibri" pitchFamily="34" charset="0"/>
                <a:ea typeface="Calibri" pitchFamily="34" charset="-122"/>
                <a:cs typeface="Calibri" pitchFamily="34" charset="-120"/>
              </a:rPr>
              <a:t>pyrophoric (self-igniting) materials, hidden pockets of flammables</a:t>
            </a:r>
            <a:endParaRPr lang="en-US" sz="1800" dirty="0"/>
          </a:p>
        </p:txBody>
      </p:sp>
      <p:sp>
        <p:nvSpPr>
          <p:cNvPr id="16"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Hot Work – Key Controls</a:t>
            </a:r>
            <a:endParaRPr lang="en-US" sz="3200" dirty="0"/>
          </a:p>
        </p:txBody>
      </p:sp>
      <p:sp>
        <p:nvSpPr>
          <p:cNvPr id="3" name="a1_box_503"/>
          <p:cNvSpPr/>
          <p:nvPr/>
        </p:nvSpPr>
        <p:spPr>
          <a:xfrm>
            <a:off x="548640" y="1280160"/>
            <a:ext cx="2651760" cy="1737360"/>
          </a:xfrm>
          <a:prstGeom prst="roundRect">
            <a:avLst>
              <a:gd name="adj" fmla="val 631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txt_504"/>
          <p:cNvSpPr txBox="1"/>
          <p:nvPr/>
        </p:nvSpPr>
        <p:spPr>
          <a:xfrm>
            <a:off x="640080" y="1389888"/>
            <a:ext cx="2468880" cy="868680"/>
          </a:xfrm>
          <a:prstGeom prst="rect">
            <a:avLst/>
          </a:prstGeom>
          <a:noFill/>
          <a:ln/>
        </p:spPr>
        <p:txBody>
          <a:bodyPr wrap="square" lIns="635" tIns="635" rIns="635" bIns="635" rtlCol="0" anchor="ctr"/>
          <a:lstStyle/>
          <a:p>
            <a:pPr algn="ctr" indent="0" marL="0">
              <a:buNone/>
            </a:pPr>
            <a:r>
              <a:rPr lang="en-US" sz="3000" b="1" dirty="0">
                <a:solidFill>
                  <a:srgbClr val="C0392B"/>
                </a:solidFill>
                <a:latin typeface="Arial" pitchFamily="34" charset="0"/>
                <a:ea typeface="Arial" pitchFamily="34" charset="-122"/>
                <a:cs typeface="Arial" pitchFamily="34" charset="-120"/>
              </a:rPr>
              <a:t>≤ 10%</a:t>
            </a:r>
            <a:endParaRPr lang="en-US" sz="3000" dirty="0"/>
          </a:p>
        </p:txBody>
      </p:sp>
      <p:sp>
        <p:nvSpPr>
          <p:cNvPr id="5" name="a1_txt_505"/>
          <p:cNvSpPr txBox="1"/>
          <p:nvPr/>
        </p:nvSpPr>
        <p:spPr>
          <a:xfrm>
            <a:off x="685800" y="2235708"/>
            <a:ext cx="2377440" cy="729691"/>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LEL alarm setting – STOP if readings exceed 10% LEL</a:t>
            </a:r>
            <a:endParaRPr lang="en-US" sz="1600" dirty="0"/>
          </a:p>
        </p:txBody>
      </p:sp>
      <p:sp>
        <p:nvSpPr>
          <p:cNvPr id="6" name="a2_box_506"/>
          <p:cNvSpPr/>
          <p:nvPr/>
        </p:nvSpPr>
        <p:spPr>
          <a:xfrm>
            <a:off x="3364992" y="1280160"/>
            <a:ext cx="2651760" cy="1737360"/>
          </a:xfrm>
          <a:prstGeom prst="roundRect">
            <a:avLst>
              <a:gd name="adj" fmla="val 631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a2_txt_507"/>
          <p:cNvSpPr txBox="1"/>
          <p:nvPr/>
        </p:nvSpPr>
        <p:spPr>
          <a:xfrm>
            <a:off x="3456432" y="1389888"/>
            <a:ext cx="2468880" cy="868680"/>
          </a:xfrm>
          <a:prstGeom prst="rect">
            <a:avLst/>
          </a:prstGeom>
          <a:noFill/>
          <a:ln/>
        </p:spPr>
        <p:txBody>
          <a:bodyPr wrap="square" lIns="635" tIns="635" rIns="635" bIns="635" rtlCol="0" anchor="ctr"/>
          <a:lstStyle/>
          <a:p>
            <a:pPr algn="ctr" indent="0" marL="0">
              <a:buNone/>
            </a:pPr>
            <a:r>
              <a:rPr lang="en-US" sz="3000" b="1" dirty="0">
                <a:solidFill>
                  <a:srgbClr val="0F6E7A"/>
                </a:solidFill>
                <a:latin typeface="Arial" pitchFamily="34" charset="0"/>
                <a:ea typeface="Arial" pitchFamily="34" charset="-122"/>
                <a:cs typeface="Arial" pitchFamily="34" charset="-120"/>
              </a:rPr>
              <a:t>19.5 – 23.5%</a:t>
            </a:r>
            <a:endParaRPr lang="en-US" sz="3000" dirty="0"/>
          </a:p>
        </p:txBody>
      </p:sp>
      <p:sp>
        <p:nvSpPr>
          <p:cNvPr id="8" name="a2_txt_508"/>
          <p:cNvSpPr txBox="1"/>
          <p:nvPr/>
        </p:nvSpPr>
        <p:spPr>
          <a:xfrm>
            <a:off x="3502152" y="2235708"/>
            <a:ext cx="2377440" cy="729691"/>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Oxygen range in confined / poorly ventilated areas</a:t>
            </a:r>
            <a:endParaRPr lang="en-US" sz="1600" dirty="0"/>
          </a:p>
        </p:txBody>
      </p:sp>
      <p:sp>
        <p:nvSpPr>
          <p:cNvPr id="9" name="a3_box_509"/>
          <p:cNvSpPr/>
          <p:nvPr/>
        </p:nvSpPr>
        <p:spPr>
          <a:xfrm>
            <a:off x="6181344" y="1280160"/>
            <a:ext cx="2651760" cy="1737360"/>
          </a:xfrm>
          <a:prstGeom prst="roundRect">
            <a:avLst>
              <a:gd name="adj" fmla="val 631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a3_txt_510"/>
          <p:cNvSpPr txBox="1"/>
          <p:nvPr/>
        </p:nvSpPr>
        <p:spPr>
          <a:xfrm>
            <a:off x="6272784" y="1389888"/>
            <a:ext cx="2468880" cy="868680"/>
          </a:xfrm>
          <a:prstGeom prst="rect">
            <a:avLst/>
          </a:prstGeom>
          <a:noFill/>
          <a:ln/>
        </p:spPr>
        <p:txBody>
          <a:bodyPr wrap="square" lIns="635" tIns="635" rIns="635" bIns="635" rtlCol="0" anchor="ctr"/>
          <a:lstStyle/>
          <a:p>
            <a:pPr algn="ctr" indent="0" marL="0">
              <a:buNone/>
            </a:pPr>
            <a:r>
              <a:rPr lang="en-US" sz="3000" b="1" dirty="0">
                <a:solidFill>
                  <a:srgbClr val="E8771E"/>
                </a:solidFill>
                <a:latin typeface="Arial" pitchFamily="34" charset="0"/>
                <a:ea typeface="Arial" pitchFamily="34" charset="-122"/>
                <a:cs typeface="Arial" pitchFamily="34" charset="-120"/>
              </a:rPr>
              <a:t>15 m</a:t>
            </a:r>
            <a:endParaRPr lang="en-US" sz="3000" dirty="0"/>
          </a:p>
        </p:txBody>
      </p:sp>
      <p:sp>
        <p:nvSpPr>
          <p:cNvPr id="11" name="a3_txt_511"/>
          <p:cNvSpPr txBox="1"/>
          <p:nvPr/>
        </p:nvSpPr>
        <p:spPr>
          <a:xfrm>
            <a:off x="6318504" y="2235708"/>
            <a:ext cx="2377440" cy="729691"/>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Clear combustibles (or cover with flame-retardant blankets)</a:t>
            </a:r>
            <a:endParaRPr lang="en-US" sz="1600" dirty="0"/>
          </a:p>
        </p:txBody>
      </p:sp>
      <p:sp>
        <p:nvSpPr>
          <p:cNvPr id="12" name="a4_box_512"/>
          <p:cNvSpPr/>
          <p:nvPr/>
        </p:nvSpPr>
        <p:spPr>
          <a:xfrm>
            <a:off x="8997696" y="1280160"/>
            <a:ext cx="2651760" cy="1737360"/>
          </a:xfrm>
          <a:prstGeom prst="roundRect">
            <a:avLst>
              <a:gd name="adj" fmla="val 631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4_txt_513"/>
          <p:cNvSpPr txBox="1"/>
          <p:nvPr/>
        </p:nvSpPr>
        <p:spPr>
          <a:xfrm>
            <a:off x="9089136" y="1389888"/>
            <a:ext cx="2468880" cy="868680"/>
          </a:xfrm>
          <a:prstGeom prst="rect">
            <a:avLst/>
          </a:prstGeom>
          <a:noFill/>
          <a:ln/>
        </p:spPr>
        <p:txBody>
          <a:bodyPr wrap="square" lIns="635" tIns="635" rIns="635" bIns="635" rtlCol="0" anchor="ctr"/>
          <a:lstStyle/>
          <a:p>
            <a:pPr algn="ctr" indent="0" marL="0">
              <a:buNone/>
            </a:pPr>
            <a:r>
              <a:rPr lang="en-US" sz="3000" b="1" dirty="0">
                <a:solidFill>
                  <a:srgbClr val="0B2A3C"/>
                </a:solidFill>
                <a:latin typeface="Arial" pitchFamily="34" charset="0"/>
                <a:ea typeface="Arial" pitchFamily="34" charset="-122"/>
                <a:cs typeface="Arial" pitchFamily="34" charset="-120"/>
              </a:rPr>
              <a:t>+ 60 min</a:t>
            </a:r>
            <a:endParaRPr lang="en-US" sz="3000" dirty="0"/>
          </a:p>
        </p:txBody>
      </p:sp>
      <p:sp>
        <p:nvSpPr>
          <p:cNvPr id="14" name="a4_txt_514"/>
          <p:cNvSpPr txBox="1"/>
          <p:nvPr/>
        </p:nvSpPr>
        <p:spPr>
          <a:xfrm>
            <a:off x="9134856" y="2235708"/>
            <a:ext cx="2377440" cy="729691"/>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Fire watch stays at least 60 minutes after hot work ends</a:t>
            </a:r>
            <a:endParaRPr lang="en-US" sz="1600" dirty="0"/>
          </a:p>
        </p:txBody>
      </p:sp>
      <p:sp>
        <p:nvSpPr>
          <p:cNvPr id="15" name="a5_box_515"/>
          <p:cNvSpPr/>
          <p:nvPr/>
        </p:nvSpPr>
        <p:spPr>
          <a:xfrm>
            <a:off x="548640" y="3200400"/>
            <a:ext cx="3564026" cy="3017520"/>
          </a:xfrm>
          <a:prstGeom prst="roundRect">
            <a:avLst>
              <a:gd name="adj" fmla="val 36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6" name="a5_circ_516"/>
          <p:cNvSpPr/>
          <p:nvPr/>
        </p:nvSpPr>
        <p:spPr>
          <a:xfrm>
            <a:off x="731520" y="3383280"/>
            <a:ext cx="685800" cy="685800"/>
          </a:xfrm>
          <a:prstGeom prst="ellipse">
            <a:avLst/>
          </a:prstGeom>
          <a:solidFill>
            <a:srgbClr val="C0392B"/>
          </a:solidFill>
          <a:ln/>
        </p:spPr>
      </p:sp>
      <p:pic>
        <p:nvPicPr>
          <p:cNvPr id="17" name="a5_icon_517" descr="preencoded.png">    </p:cNvPr>
          <p:cNvPicPr>
            <a:picLocks noChangeAspect="1"/>
          </p:cNvPicPr>
          <p:nvPr/>
        </p:nvPicPr>
        <p:blipFill>
          <a:blip r:embed="rId1"/>
          <a:stretch>
            <a:fillRect/>
          </a:stretch>
        </p:blipFill>
        <p:spPr>
          <a:xfrm>
            <a:off x="885825" y="3537585"/>
            <a:ext cx="377190" cy="377190"/>
          </a:xfrm>
          <a:prstGeom prst="rect">
            <a:avLst/>
          </a:prstGeom>
        </p:spPr>
      </p:pic>
      <p:sp>
        <p:nvSpPr>
          <p:cNvPr id="18" name="a5_txt_518"/>
          <p:cNvSpPr txBox="1"/>
          <p:nvPr/>
        </p:nvSpPr>
        <p:spPr>
          <a:xfrm>
            <a:off x="1581912" y="3364992"/>
            <a:ext cx="2393594"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Gas monitoring</a:t>
            </a:r>
            <a:endParaRPr lang="en-US" sz="2000" dirty="0"/>
          </a:p>
        </p:txBody>
      </p:sp>
      <p:sp>
        <p:nvSpPr>
          <p:cNvPr id="19" name="a5_txt_519"/>
          <p:cNvSpPr txBox="1"/>
          <p:nvPr/>
        </p:nvSpPr>
        <p:spPr>
          <a:xfrm>
            <a:off x="777240" y="4142232"/>
            <a:ext cx="3152546" cy="19842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Continuous combustible-gas monitoring before and during hot work. Calibrated &amp; bump-tested daily. Placed where gas may collect (heavier gases settle low).</a:t>
            </a:r>
            <a:endParaRPr lang="en-US" sz="1600" dirty="0"/>
          </a:p>
        </p:txBody>
      </p:sp>
      <p:sp>
        <p:nvSpPr>
          <p:cNvPr id="20" name="a6_box_520"/>
          <p:cNvSpPr/>
          <p:nvPr/>
        </p:nvSpPr>
        <p:spPr>
          <a:xfrm>
            <a:off x="4313834" y="3200400"/>
            <a:ext cx="3564026" cy="3017520"/>
          </a:xfrm>
          <a:prstGeom prst="roundRect">
            <a:avLst>
              <a:gd name="adj" fmla="val 36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6_circ_521"/>
          <p:cNvSpPr/>
          <p:nvPr/>
        </p:nvSpPr>
        <p:spPr>
          <a:xfrm>
            <a:off x="4496714" y="3383280"/>
            <a:ext cx="685800" cy="685800"/>
          </a:xfrm>
          <a:prstGeom prst="ellipse">
            <a:avLst/>
          </a:prstGeom>
          <a:solidFill>
            <a:srgbClr val="E8771E"/>
          </a:solidFill>
          <a:ln/>
        </p:spPr>
      </p:sp>
      <p:pic>
        <p:nvPicPr>
          <p:cNvPr id="22" name="a6_icon_522" descr="preencoded.png">    </p:cNvPr>
          <p:cNvPicPr>
            <a:picLocks noChangeAspect="1"/>
          </p:cNvPicPr>
          <p:nvPr/>
        </p:nvPicPr>
        <p:blipFill>
          <a:blip r:embed="rId2"/>
          <a:stretch>
            <a:fillRect/>
          </a:stretch>
        </p:blipFill>
        <p:spPr>
          <a:xfrm>
            <a:off x="4651019" y="3537585"/>
            <a:ext cx="377190" cy="377190"/>
          </a:xfrm>
          <a:prstGeom prst="rect">
            <a:avLst/>
          </a:prstGeom>
        </p:spPr>
      </p:pic>
      <p:sp>
        <p:nvSpPr>
          <p:cNvPr id="23" name="a6_txt_523"/>
          <p:cNvSpPr txBox="1"/>
          <p:nvPr/>
        </p:nvSpPr>
        <p:spPr>
          <a:xfrm>
            <a:off x="5347106" y="3364992"/>
            <a:ext cx="2393594"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Fire watch &amp; fire readiness</a:t>
            </a:r>
            <a:endParaRPr lang="en-US" sz="2000" dirty="0"/>
          </a:p>
        </p:txBody>
      </p:sp>
      <p:sp>
        <p:nvSpPr>
          <p:cNvPr id="24" name="a6_txt_524"/>
          <p:cNvSpPr txBox="1"/>
          <p:nvPr/>
        </p:nvSpPr>
        <p:spPr>
          <a:xfrm>
            <a:off x="4542434" y="4142232"/>
            <a:ext cx="3152546" cy="19842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Dedicated fire watch – no other duties. Trained, with a charged extinguisher (min. 9 kg dry chemical) and communication. Water supply for larger work.</a:t>
            </a:r>
            <a:endParaRPr lang="en-US" sz="1600" dirty="0"/>
          </a:p>
        </p:txBody>
      </p:sp>
      <p:sp>
        <p:nvSpPr>
          <p:cNvPr id="25" name="a7_box_525"/>
          <p:cNvSpPr/>
          <p:nvPr/>
        </p:nvSpPr>
        <p:spPr>
          <a:xfrm>
            <a:off x="8079029" y="3200400"/>
            <a:ext cx="3564026" cy="3017520"/>
          </a:xfrm>
          <a:prstGeom prst="roundRect">
            <a:avLst>
              <a:gd name="adj" fmla="val 36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6" name="a7_circ_526"/>
          <p:cNvSpPr/>
          <p:nvPr/>
        </p:nvSpPr>
        <p:spPr>
          <a:xfrm>
            <a:off x="8261909" y="3383280"/>
            <a:ext cx="685800" cy="685800"/>
          </a:xfrm>
          <a:prstGeom prst="ellipse">
            <a:avLst/>
          </a:prstGeom>
          <a:solidFill>
            <a:srgbClr val="0B2A3C"/>
          </a:solidFill>
          <a:ln/>
        </p:spPr>
      </p:sp>
      <p:pic>
        <p:nvPicPr>
          <p:cNvPr id="27" name="a7_icon_527" descr="preencoded.png">    </p:cNvPr>
          <p:cNvPicPr>
            <a:picLocks noChangeAspect="1"/>
          </p:cNvPicPr>
          <p:nvPr/>
        </p:nvPicPr>
        <p:blipFill>
          <a:blip r:embed="rId3"/>
          <a:stretch>
            <a:fillRect/>
          </a:stretch>
        </p:blipFill>
        <p:spPr>
          <a:xfrm>
            <a:off x="8416214" y="3537585"/>
            <a:ext cx="377190" cy="377190"/>
          </a:xfrm>
          <a:prstGeom prst="rect">
            <a:avLst/>
          </a:prstGeom>
        </p:spPr>
      </p:pic>
      <p:sp>
        <p:nvSpPr>
          <p:cNvPr id="28" name="a7_txt_528"/>
          <p:cNvSpPr txBox="1"/>
          <p:nvPr/>
        </p:nvSpPr>
        <p:spPr>
          <a:xfrm>
            <a:off x="9112301" y="3364992"/>
            <a:ext cx="2393594"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Validity &amp; prohibitions</a:t>
            </a:r>
            <a:endParaRPr lang="en-US" sz="2000" dirty="0"/>
          </a:p>
        </p:txBody>
      </p:sp>
      <p:sp>
        <p:nvSpPr>
          <p:cNvPr id="29" name="a7_txt_529"/>
          <p:cNvSpPr txBox="1"/>
          <p:nvPr/>
        </p:nvSpPr>
        <p:spPr>
          <a:xfrm>
            <a:off x="8307629" y="4142232"/>
            <a:ext cx="3152546" cy="19842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Valid one shift only (max 12 h). Revalidate after breaks or changes (e.g. wind). FORBIDDEN during hazardous transfers, active hydrocarbon releases or unsafe gas tests.</a:t>
            </a:r>
            <a:endParaRPr lang="en-US" sz="1600" dirty="0"/>
          </a:p>
        </p:txBody>
      </p:sp>
      <p:sp>
        <p:nvSpPr>
          <p:cNvPr id="30"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500"/>
                                        <p:tgtEl>
                                          <p:spTgt spid="2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500"/>
                                        <p:tgtEl>
                                          <p:spTgt spid="2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00"/>
                                        <p:tgtEl>
                                          <p:spTgt spid="2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500"/>
                                        <p:tgtEl>
                                          <p:spTgt spid="2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Cold Work Permit – “Cold” Does Not Mean Low Risk</a:t>
            </a:r>
            <a:endParaRPr lang="en-US" sz="3200" dirty="0"/>
          </a:p>
        </p:txBody>
      </p:sp>
      <p:sp>
        <p:nvSpPr>
          <p:cNvPr id="3" name="box_530"/>
          <p:cNvSpPr/>
          <p:nvPr/>
        </p:nvSpPr>
        <p:spPr>
          <a:xfrm>
            <a:off x="548640" y="1280160"/>
            <a:ext cx="3657600" cy="4937760"/>
          </a:xfrm>
          <a:prstGeom prst="roundRect">
            <a:avLst>
              <a:gd name="adj" fmla="val 3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531"/>
          <p:cNvSpPr/>
          <p:nvPr/>
        </p:nvSpPr>
        <p:spPr>
          <a:xfrm>
            <a:off x="731520" y="1463040"/>
            <a:ext cx="685800" cy="685800"/>
          </a:xfrm>
          <a:prstGeom prst="ellipse">
            <a:avLst/>
          </a:prstGeom>
          <a:solidFill>
            <a:srgbClr val="0F6E7A"/>
          </a:solidFill>
          <a:ln/>
        </p:spPr>
      </p:sp>
      <p:pic>
        <p:nvPicPr>
          <p:cNvPr id="5" name="icon_532"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533"/>
          <p:cNvSpPr txBox="1"/>
          <p:nvPr/>
        </p:nvSpPr>
        <p:spPr>
          <a:xfrm>
            <a:off x="1581912" y="1444752"/>
            <a:ext cx="248716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Typical activities</a:t>
            </a:r>
            <a:endParaRPr lang="en-US" sz="2000" dirty="0"/>
          </a:p>
        </p:txBody>
      </p:sp>
      <p:sp>
        <p:nvSpPr>
          <p:cNvPr id="7" name="txt_534"/>
          <p:cNvSpPr txBox="1"/>
          <p:nvPr/>
        </p:nvSpPr>
        <p:spPr>
          <a:xfrm>
            <a:off x="731520" y="2240280"/>
            <a:ext cx="3337560" cy="39319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Pump overhaul, valve replacement</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Breaking into process piping (non-live)</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Hand tools / non-sparking tools</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NDT (not radiography)</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Cleaning or degassing</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Any task needing LOTO but no hot work</a:t>
            </a:r>
            <a:endParaRPr lang="en-US" sz="1800" dirty="0"/>
          </a:p>
        </p:txBody>
      </p:sp>
      <p:sp>
        <p:nvSpPr>
          <p:cNvPr id="8" name="box_535"/>
          <p:cNvSpPr/>
          <p:nvPr/>
        </p:nvSpPr>
        <p:spPr>
          <a:xfrm>
            <a:off x="4389120" y="1280160"/>
            <a:ext cx="3429000" cy="4937760"/>
          </a:xfrm>
          <a:prstGeom prst="roundRect">
            <a:avLst>
              <a:gd name="adj" fmla="val 32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circ_536"/>
          <p:cNvSpPr/>
          <p:nvPr/>
        </p:nvSpPr>
        <p:spPr>
          <a:xfrm>
            <a:off x="4572000" y="1463040"/>
            <a:ext cx="685800" cy="685800"/>
          </a:xfrm>
          <a:prstGeom prst="ellipse">
            <a:avLst/>
          </a:prstGeom>
          <a:solidFill>
            <a:srgbClr val="E8771E"/>
          </a:solidFill>
          <a:ln/>
        </p:spPr>
      </p:sp>
      <p:pic>
        <p:nvPicPr>
          <p:cNvPr id="10" name="icon_537" descr="preencoded.png">    </p:cNvPr>
          <p:cNvPicPr>
            <a:picLocks noChangeAspect="1"/>
          </p:cNvPicPr>
          <p:nvPr/>
        </p:nvPicPr>
        <p:blipFill>
          <a:blip r:embed="rId2"/>
          <a:stretch>
            <a:fillRect/>
          </a:stretch>
        </p:blipFill>
        <p:spPr>
          <a:xfrm>
            <a:off x="4726305" y="1617345"/>
            <a:ext cx="377190" cy="377190"/>
          </a:xfrm>
          <a:prstGeom prst="rect">
            <a:avLst/>
          </a:prstGeom>
        </p:spPr>
      </p:pic>
      <p:sp>
        <p:nvSpPr>
          <p:cNvPr id="11" name="txt_538"/>
          <p:cNvSpPr txBox="1"/>
          <p:nvPr/>
        </p:nvSpPr>
        <p:spPr>
          <a:xfrm>
            <a:off x="5422392" y="1444752"/>
            <a:ext cx="225856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Hazards</a:t>
            </a:r>
            <a:endParaRPr lang="en-US" sz="2000" dirty="0"/>
          </a:p>
        </p:txBody>
      </p:sp>
      <p:sp>
        <p:nvSpPr>
          <p:cNvPr id="12" name="txt_539"/>
          <p:cNvSpPr txBox="1"/>
          <p:nvPr/>
        </p:nvSpPr>
        <p:spPr>
          <a:xfrm>
            <a:off x="4572000" y="2240280"/>
            <a:ext cx="3108960" cy="39319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Release of hazardous energy (mechanical, hydraulic, pneumatic, chemical)</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Toxic / flammable release when breaking systems</a:t>
            </a:r>
            <a:endParaRPr lang="en-US" sz="1800" dirty="0"/>
          </a:p>
          <a:p>
            <a:pPr marL="228600" indent="-228600">
              <a:spcAft>
                <a:spcPts val="800"/>
              </a:spcAft>
              <a:buSzPct val="100000"/>
              <a:buChar char="•"/>
            </a:pPr>
            <a:r>
              <a:rPr lang="en-US" sz="1800" dirty="0">
                <a:solidFill>
                  <a:srgbClr val="1B2730"/>
                </a:solidFill>
                <a:latin typeface="Calibri" pitchFamily="34" charset="0"/>
                <a:ea typeface="Calibri" pitchFamily="34" charset="-122"/>
                <a:cs typeface="Calibri" pitchFamily="34" charset="-120"/>
              </a:rPr>
              <a:t>Struck-by and caught-between</a:t>
            </a:r>
            <a:endParaRPr lang="en-US" sz="1800" dirty="0"/>
          </a:p>
          <a:p>
            <a:pPr marL="228600" indent="-228600">
              <a:spcAft>
                <a:spcPts val="800"/>
              </a:spcAft>
              <a:buSzPct val="100000"/>
              <a:buChar char="•"/>
            </a:pPr>
            <a:r>
              <a:rPr lang="en-US" sz="1800" b="1" dirty="0">
                <a:solidFill>
                  <a:srgbClr val="1B2730"/>
                </a:solidFill>
                <a:latin typeface="Calibri" pitchFamily="34" charset="0"/>
                <a:ea typeface="Calibri" pitchFamily="34" charset="-122"/>
                <a:cs typeface="Calibri" pitchFamily="34" charset="-120"/>
              </a:rPr>
              <a:t>Key risk: </a:t>
            </a:r>
            <a:pPr indent="0" marL="0">
              <a:buNone/>
            </a:pPr>
            <a:r>
              <a:rPr lang="en-US" sz="1800" dirty="0">
                <a:solidFill>
                  <a:srgbClr val="1B2730"/>
                </a:solidFill>
                <a:latin typeface="Calibri" pitchFamily="34" charset="0"/>
                <a:ea typeface="Calibri" pitchFamily="34" charset="-122"/>
                <a:cs typeface="Calibri" pitchFamily="34" charset="-120"/>
              </a:rPr>
              <a:t>COMPLACENCY</a:t>
            </a:r>
            <a:endParaRPr lang="en-US" sz="1800" dirty="0"/>
          </a:p>
        </p:txBody>
      </p:sp>
      <p:sp>
        <p:nvSpPr>
          <p:cNvPr id="13" name="box_540"/>
          <p:cNvSpPr/>
          <p:nvPr/>
        </p:nvSpPr>
        <p:spPr>
          <a:xfrm>
            <a:off x="8001000" y="1280160"/>
            <a:ext cx="3639312" cy="4937760"/>
          </a:xfrm>
          <a:prstGeom prst="roundRect">
            <a:avLst>
              <a:gd name="adj" fmla="val 30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circ_541"/>
          <p:cNvSpPr/>
          <p:nvPr/>
        </p:nvSpPr>
        <p:spPr>
          <a:xfrm>
            <a:off x="8183880" y="1463040"/>
            <a:ext cx="685800" cy="685800"/>
          </a:xfrm>
          <a:prstGeom prst="ellipse">
            <a:avLst/>
          </a:prstGeom>
          <a:solidFill>
            <a:srgbClr val="2E7D32"/>
          </a:solidFill>
          <a:ln/>
        </p:spPr>
      </p:sp>
      <p:pic>
        <p:nvPicPr>
          <p:cNvPr id="15" name="icon_542" descr="preencoded.png">    </p:cNvPr>
          <p:cNvPicPr>
            <a:picLocks noChangeAspect="1"/>
          </p:cNvPicPr>
          <p:nvPr/>
        </p:nvPicPr>
        <p:blipFill>
          <a:blip r:embed="rId3"/>
          <a:stretch>
            <a:fillRect/>
          </a:stretch>
        </p:blipFill>
        <p:spPr>
          <a:xfrm>
            <a:off x="8338185" y="1617345"/>
            <a:ext cx="377190" cy="377190"/>
          </a:xfrm>
          <a:prstGeom prst="rect">
            <a:avLst/>
          </a:prstGeom>
        </p:spPr>
      </p:pic>
      <p:sp>
        <p:nvSpPr>
          <p:cNvPr id="16" name="txt_543"/>
          <p:cNvSpPr txBox="1"/>
          <p:nvPr/>
        </p:nvSpPr>
        <p:spPr>
          <a:xfrm>
            <a:off x="9034272" y="1444752"/>
            <a:ext cx="2468880"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Key controls</a:t>
            </a:r>
            <a:endParaRPr lang="en-US" sz="2000" dirty="0"/>
          </a:p>
        </p:txBody>
      </p:sp>
      <p:sp>
        <p:nvSpPr>
          <p:cNvPr id="17" name="txt_544"/>
          <p:cNvSpPr txBox="1"/>
          <p:nvPr/>
        </p:nvSpPr>
        <p:spPr>
          <a:xfrm>
            <a:off x="8183880" y="2240280"/>
            <a:ext cx="3337560" cy="3931920"/>
          </a:xfrm>
          <a:prstGeom prst="rect">
            <a:avLst/>
          </a:prstGeom>
          <a:noFill/>
          <a:ln/>
        </p:spPr>
        <p:txBody>
          <a:bodyPr wrap="square" lIns="635" tIns="635" rIns="635" bIns="635" rtlCol="0" anchor="t"/>
          <a:lstStyle/>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Formal isolation plan (LOTO) – the cornerstone</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Double block &amp; bleed or positive isolation (blinds) for process systems</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Every worker applies a personal lock</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Verify zero energy (VOI) before work</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Gas test if breaking into systems</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Barricades, rigging plans, PPE</a:t>
            </a:r>
            <a:endParaRPr lang="en-US" sz="17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Confined Space Entry – What is a Confined Space?</a:t>
            </a:r>
            <a:endParaRPr lang="en-US" sz="3200" dirty="0"/>
          </a:p>
        </p:txBody>
      </p:sp>
      <p:sp>
        <p:nvSpPr>
          <p:cNvPr id="3" name="txt_545"/>
          <p:cNvSpPr txBox="1"/>
          <p:nvPr/>
        </p:nvSpPr>
        <p:spPr>
          <a:xfrm>
            <a:off x="548640" y="1188720"/>
            <a:ext cx="6400800" cy="457200"/>
          </a:xfrm>
          <a:prstGeom prst="rect">
            <a:avLst/>
          </a:prstGeom>
          <a:noFill/>
          <a:ln/>
        </p:spPr>
        <p:txBody>
          <a:bodyPr wrap="square" lIns="635" tIns="635" rIns="635" bIns="635" rtlCol="0" anchor="t"/>
          <a:lstStyle/>
          <a:p>
            <a:pPr indent="0" marL="0">
              <a:buNone/>
            </a:pPr>
            <a:r>
              <a:rPr lang="en-US" sz="2000" b="1" dirty="0">
                <a:solidFill>
                  <a:srgbClr val="0B2A3C"/>
                </a:solidFill>
                <a:latin typeface="Calibri" pitchFamily="34" charset="0"/>
                <a:ea typeface="Calibri" pitchFamily="34" charset="-122"/>
                <a:cs typeface="Calibri" pitchFamily="34" charset="-120"/>
              </a:rPr>
              <a:t>A confined space has ALL THREE features:</a:t>
            </a:r>
            <a:endParaRPr lang="en-US" sz="2000" dirty="0"/>
          </a:p>
        </p:txBody>
      </p:sp>
      <p:sp>
        <p:nvSpPr>
          <p:cNvPr id="4" name="a1_box_546"/>
          <p:cNvSpPr/>
          <p:nvPr/>
        </p:nvSpPr>
        <p:spPr>
          <a:xfrm>
            <a:off x="548640" y="1737360"/>
            <a:ext cx="6675120" cy="1051560"/>
          </a:xfrm>
          <a:prstGeom prst="roundRect">
            <a:avLst>
              <a:gd name="adj" fmla="val 10435"/>
            </a:avLst>
          </a:prstGeom>
          <a:solidFill>
            <a:srgbClr val="FFFFFF"/>
          </a:solidFill>
          <a:ln w="12700">
            <a:solidFill>
              <a:srgbClr val="C9D3D9"/>
            </a:solidFill>
            <a:prstDash val="solid"/>
          </a:ln>
        </p:spPr>
      </p:sp>
      <p:sp>
        <p:nvSpPr>
          <p:cNvPr id="5" name="a1_circ_547"/>
          <p:cNvSpPr/>
          <p:nvPr/>
        </p:nvSpPr>
        <p:spPr>
          <a:xfrm>
            <a:off x="685800" y="1874520"/>
            <a:ext cx="777240" cy="777240"/>
          </a:xfrm>
          <a:prstGeom prst="ellipse">
            <a:avLst/>
          </a:prstGeom>
          <a:solidFill>
            <a:srgbClr val="E8771E"/>
          </a:solidFill>
          <a:ln/>
        </p:spPr>
      </p:sp>
      <p:pic>
        <p:nvPicPr>
          <p:cNvPr id="6" name="a1_icon_548" descr="preencoded.png">    </p:cNvPr>
          <p:cNvPicPr>
            <a:picLocks noChangeAspect="1"/>
          </p:cNvPicPr>
          <p:nvPr/>
        </p:nvPicPr>
        <p:blipFill>
          <a:blip r:embed="rId1"/>
          <a:stretch>
            <a:fillRect/>
          </a:stretch>
        </p:blipFill>
        <p:spPr>
          <a:xfrm>
            <a:off x="860679" y="2049399"/>
            <a:ext cx="427482" cy="427482"/>
          </a:xfrm>
          <a:prstGeom prst="rect">
            <a:avLst/>
          </a:prstGeom>
        </p:spPr>
      </p:pic>
      <p:sp>
        <p:nvSpPr>
          <p:cNvPr id="7" name="a1_txt_549"/>
          <p:cNvSpPr txBox="1"/>
          <p:nvPr/>
        </p:nvSpPr>
        <p:spPr>
          <a:xfrm>
            <a:off x="1600200" y="1783080"/>
            <a:ext cx="5486400" cy="9601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Not designed for continuous occupancy</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e.g. vessel, tank, column, pit, duct</a:t>
            </a:r>
            <a:endParaRPr lang="en-US" sz="1900" dirty="0"/>
          </a:p>
        </p:txBody>
      </p:sp>
      <p:sp>
        <p:nvSpPr>
          <p:cNvPr id="8" name="a2_box_550"/>
          <p:cNvSpPr/>
          <p:nvPr/>
        </p:nvSpPr>
        <p:spPr>
          <a:xfrm>
            <a:off x="548640" y="2926080"/>
            <a:ext cx="6675120" cy="1051560"/>
          </a:xfrm>
          <a:prstGeom prst="roundRect">
            <a:avLst>
              <a:gd name="adj" fmla="val 10435"/>
            </a:avLst>
          </a:prstGeom>
          <a:solidFill>
            <a:srgbClr val="FFFFFF"/>
          </a:solidFill>
          <a:ln w="12700">
            <a:solidFill>
              <a:srgbClr val="C9D3D9"/>
            </a:solidFill>
            <a:prstDash val="solid"/>
          </a:ln>
        </p:spPr>
      </p:sp>
      <p:sp>
        <p:nvSpPr>
          <p:cNvPr id="9" name="a2_circ_551"/>
          <p:cNvSpPr/>
          <p:nvPr/>
        </p:nvSpPr>
        <p:spPr>
          <a:xfrm>
            <a:off x="685800" y="3063240"/>
            <a:ext cx="777240" cy="777240"/>
          </a:xfrm>
          <a:prstGeom prst="ellipse">
            <a:avLst/>
          </a:prstGeom>
          <a:solidFill>
            <a:srgbClr val="E8771E"/>
          </a:solidFill>
          <a:ln/>
        </p:spPr>
      </p:sp>
      <p:pic>
        <p:nvPicPr>
          <p:cNvPr id="10" name="a2_icon_552" descr="preencoded.png">    </p:cNvPr>
          <p:cNvPicPr>
            <a:picLocks noChangeAspect="1"/>
          </p:cNvPicPr>
          <p:nvPr/>
        </p:nvPicPr>
        <p:blipFill>
          <a:blip r:embed="rId2"/>
          <a:stretch>
            <a:fillRect/>
          </a:stretch>
        </p:blipFill>
        <p:spPr>
          <a:xfrm>
            <a:off x="860679" y="3238119"/>
            <a:ext cx="427482" cy="427482"/>
          </a:xfrm>
          <a:prstGeom prst="rect">
            <a:avLst/>
          </a:prstGeom>
        </p:spPr>
      </p:pic>
      <p:sp>
        <p:nvSpPr>
          <p:cNvPr id="11" name="a2_txt_553"/>
          <p:cNvSpPr txBox="1"/>
          <p:nvPr/>
        </p:nvSpPr>
        <p:spPr>
          <a:xfrm>
            <a:off x="1600200" y="2971800"/>
            <a:ext cx="5486400" cy="9601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Limited entry / exit</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Small manway, climbing or crawling needed</a:t>
            </a:r>
            <a:endParaRPr lang="en-US" sz="1900" dirty="0"/>
          </a:p>
        </p:txBody>
      </p:sp>
      <p:sp>
        <p:nvSpPr>
          <p:cNvPr id="12" name="a3_box_554"/>
          <p:cNvSpPr/>
          <p:nvPr/>
        </p:nvSpPr>
        <p:spPr>
          <a:xfrm>
            <a:off x="548640" y="4114800"/>
            <a:ext cx="6675120" cy="1051560"/>
          </a:xfrm>
          <a:prstGeom prst="roundRect">
            <a:avLst>
              <a:gd name="adj" fmla="val 10435"/>
            </a:avLst>
          </a:prstGeom>
          <a:solidFill>
            <a:srgbClr val="FFFFFF"/>
          </a:solidFill>
          <a:ln w="12700">
            <a:solidFill>
              <a:srgbClr val="C9D3D9"/>
            </a:solidFill>
            <a:prstDash val="solid"/>
          </a:ln>
        </p:spPr>
      </p:sp>
      <p:sp>
        <p:nvSpPr>
          <p:cNvPr id="13" name="a3_circ_555"/>
          <p:cNvSpPr/>
          <p:nvPr/>
        </p:nvSpPr>
        <p:spPr>
          <a:xfrm>
            <a:off x="685800" y="4251960"/>
            <a:ext cx="777240" cy="777240"/>
          </a:xfrm>
          <a:prstGeom prst="ellipse">
            <a:avLst/>
          </a:prstGeom>
          <a:solidFill>
            <a:srgbClr val="E8771E"/>
          </a:solidFill>
          <a:ln/>
        </p:spPr>
      </p:sp>
      <p:pic>
        <p:nvPicPr>
          <p:cNvPr id="14" name="a3_icon_556" descr="preencoded.png">    </p:cNvPr>
          <p:cNvPicPr>
            <a:picLocks noChangeAspect="1"/>
          </p:cNvPicPr>
          <p:nvPr/>
        </p:nvPicPr>
        <p:blipFill>
          <a:blip r:embed="rId3"/>
          <a:stretch>
            <a:fillRect/>
          </a:stretch>
        </p:blipFill>
        <p:spPr>
          <a:xfrm>
            <a:off x="860679" y="4426839"/>
            <a:ext cx="427482" cy="427482"/>
          </a:xfrm>
          <a:prstGeom prst="rect">
            <a:avLst/>
          </a:prstGeom>
        </p:spPr>
      </p:pic>
      <p:sp>
        <p:nvSpPr>
          <p:cNvPr id="15" name="a3_txt_557"/>
          <p:cNvSpPr txBox="1"/>
          <p:nvPr/>
        </p:nvSpPr>
        <p:spPr>
          <a:xfrm>
            <a:off x="1600200" y="4160520"/>
            <a:ext cx="5486400" cy="9601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Potential hazardous atmosphere or condition</a:t>
            </a:r>
            <a:endParaRPr lang="en-US" sz="1900" dirty="0"/>
          </a:p>
          <a:p>
            <a:pPr indent="0" marL="0">
              <a:buNone/>
            </a:pPr>
            <a:r>
              <a:rPr lang="en-US" sz="1600" dirty="0">
                <a:solidFill>
                  <a:srgbClr val="5B6B75"/>
                </a:solidFill>
                <a:latin typeface="Calibri" pitchFamily="34" charset="0"/>
                <a:ea typeface="Calibri" pitchFamily="34" charset="-122"/>
                <a:cs typeface="Calibri" pitchFamily="34" charset="-120"/>
              </a:rPr>
              <a:t>Low/high O₂, flammable gas, toxics (H₂S, CO), engulfment</a:t>
            </a:r>
            <a:endParaRPr lang="en-US" sz="1900" dirty="0"/>
          </a:p>
        </p:txBody>
      </p:sp>
      <p:sp>
        <p:nvSpPr>
          <p:cNvPr id="16" name="txt_558"/>
          <p:cNvSpPr txBox="1"/>
          <p:nvPr/>
        </p:nvSpPr>
        <p:spPr>
          <a:xfrm>
            <a:off x="548640" y="5349240"/>
            <a:ext cx="2743200" cy="365760"/>
          </a:xfrm>
          <a:prstGeom prst="rect">
            <a:avLst/>
          </a:prstGeom>
          <a:noFill/>
          <a:ln/>
        </p:spPr>
        <p:txBody>
          <a:bodyPr wrap="square" lIns="635" tIns="635" rIns="635" bIns="635" rtlCol="0" anchor="t"/>
          <a:lstStyle/>
          <a:p>
            <a:pPr indent="0" marL="0">
              <a:buNone/>
            </a:pPr>
            <a:r>
              <a:rPr lang="en-US" sz="1800" b="1" dirty="0">
                <a:solidFill>
                  <a:srgbClr val="0F6E7A"/>
                </a:solidFill>
                <a:latin typeface="Calibri" pitchFamily="34" charset="0"/>
                <a:ea typeface="Calibri" pitchFamily="34" charset="-122"/>
                <a:cs typeface="Calibri" pitchFamily="34" charset="-120"/>
              </a:rPr>
              <a:t>The entry team</a:t>
            </a:r>
            <a:endParaRPr lang="en-US" sz="1800" dirty="0"/>
          </a:p>
        </p:txBody>
      </p:sp>
      <p:sp>
        <p:nvSpPr>
          <p:cNvPr id="17" name="txt_559"/>
          <p:cNvSpPr txBox="1"/>
          <p:nvPr/>
        </p:nvSpPr>
        <p:spPr>
          <a:xfrm>
            <a:off x="548640" y="5669280"/>
            <a:ext cx="6675120" cy="548640"/>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Entrant · Attendant (never enters) · Entry Supervisor · Rescue Team</a:t>
            </a:r>
            <a:endParaRPr lang="en-US" sz="1800" dirty="0"/>
          </a:p>
        </p:txBody>
      </p:sp>
      <p:sp>
        <p:nvSpPr>
          <p:cNvPr id="18" name="box_560"/>
          <p:cNvSpPr/>
          <p:nvPr/>
        </p:nvSpPr>
        <p:spPr>
          <a:xfrm>
            <a:off x="7498080" y="1234440"/>
            <a:ext cx="4142232" cy="4983480"/>
          </a:xfrm>
          <a:prstGeom prst="rect">
            <a:avLst/>
          </a:prstGeom>
          <a:solidFill>
            <a:srgbClr val="E8771E"/>
          </a:solidFill>
          <a:ln/>
        </p:spPr>
      </p:sp>
      <p:pic>
        <p:nvPicPr>
          <p:cNvPr id="19" name="icon_561" descr="preencoded.png">    </p:cNvPr>
          <p:cNvPicPr>
            <a:picLocks noChangeAspect="1"/>
          </p:cNvPicPr>
          <p:nvPr/>
        </p:nvPicPr>
        <p:blipFill>
          <a:blip r:embed="rId4"/>
          <a:stretch>
            <a:fillRect/>
          </a:stretch>
        </p:blipFill>
        <p:spPr>
          <a:xfrm>
            <a:off x="8699327" y="2581991"/>
            <a:ext cx="1739737" cy="1739737"/>
          </a:xfrm>
          <a:prstGeom prst="rect">
            <a:avLst/>
          </a:prstGeom>
        </p:spPr>
      </p:pic>
      <p:sp>
        <p:nvSpPr>
          <p:cNvPr id="20" name="txt_562"/>
          <p:cNvSpPr txBox="1"/>
          <p:nvPr/>
        </p:nvSpPr>
        <p:spPr>
          <a:xfrm>
            <a:off x="7772400" y="4596049"/>
            <a:ext cx="3593592"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Confined space entry</a:t>
            </a:r>
            <a:endParaRPr lang="en-US" sz="1800" dirty="0"/>
          </a:p>
        </p:txBody>
      </p:sp>
      <p:sp>
        <p:nvSpPr>
          <p:cNvPr id="21"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Confined Space Entry – Before &amp; During Entry</a:t>
            </a:r>
            <a:endParaRPr lang="en-US" sz="3200" dirty="0"/>
          </a:p>
        </p:txBody>
      </p:sp>
      <p:sp>
        <p:nvSpPr>
          <p:cNvPr id="3" name="a1w_box_563"/>
          <p:cNvSpPr/>
          <p:nvPr/>
        </p:nvSpPr>
        <p:spPr>
          <a:xfrm>
            <a:off x="548640" y="1280160"/>
            <a:ext cx="1711909" cy="288036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w_box_564"/>
          <p:cNvSpPr/>
          <p:nvPr/>
        </p:nvSpPr>
        <p:spPr>
          <a:xfrm>
            <a:off x="548640" y="1280160"/>
            <a:ext cx="1711909" cy="566928"/>
          </a:xfrm>
          <a:prstGeom prst="rect">
            <a:avLst/>
          </a:prstGeom>
          <a:solidFill>
            <a:srgbClr val="E8771E"/>
          </a:solidFill>
          <a:ln/>
        </p:spPr>
      </p:sp>
      <p:sp>
        <p:nvSpPr>
          <p:cNvPr id="5" name="a1w_txt_565"/>
          <p:cNvSpPr txBox="1"/>
          <p:nvPr/>
        </p:nvSpPr>
        <p:spPr>
          <a:xfrm>
            <a:off x="621792"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Isolate</a:t>
            </a:r>
            <a:endParaRPr lang="en-US" sz="1700" dirty="0"/>
          </a:p>
        </p:txBody>
      </p:sp>
      <p:pic>
        <p:nvPicPr>
          <p:cNvPr id="6" name="a1w_icon_566" descr="preencoded.png">    </p:cNvPr>
          <p:cNvPicPr>
            <a:picLocks noChangeAspect="1"/>
          </p:cNvPicPr>
          <p:nvPr/>
        </p:nvPicPr>
        <p:blipFill>
          <a:blip r:embed="rId1"/>
          <a:stretch>
            <a:fillRect/>
          </a:stretch>
        </p:blipFill>
        <p:spPr>
          <a:xfrm>
            <a:off x="1130275" y="1993392"/>
            <a:ext cx="548640" cy="548640"/>
          </a:xfrm>
          <a:prstGeom prst="rect">
            <a:avLst/>
          </a:prstGeom>
        </p:spPr>
      </p:pic>
      <p:sp>
        <p:nvSpPr>
          <p:cNvPr id="7" name="a1w_txt_567"/>
          <p:cNvSpPr txBox="1"/>
          <p:nvPr/>
        </p:nvSpPr>
        <p:spPr>
          <a:xfrm>
            <a:off x="640080" y="2606040"/>
            <a:ext cx="1529029" cy="150876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Lock out ALL energy; blind or disconnect all piping</a:t>
            </a:r>
            <a:endParaRPr lang="en-US" sz="1600" dirty="0"/>
          </a:p>
        </p:txBody>
      </p:sp>
      <p:sp>
        <p:nvSpPr>
          <p:cNvPr id="8" name="a2w_box_568"/>
          <p:cNvSpPr/>
          <p:nvPr/>
        </p:nvSpPr>
        <p:spPr>
          <a:xfrm>
            <a:off x="2425141" y="1280160"/>
            <a:ext cx="1711909" cy="288036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w_box_569"/>
          <p:cNvSpPr/>
          <p:nvPr/>
        </p:nvSpPr>
        <p:spPr>
          <a:xfrm>
            <a:off x="2425141" y="1280160"/>
            <a:ext cx="1711909" cy="566928"/>
          </a:xfrm>
          <a:prstGeom prst="rect">
            <a:avLst/>
          </a:prstGeom>
          <a:solidFill>
            <a:srgbClr val="E8771E"/>
          </a:solidFill>
          <a:ln/>
        </p:spPr>
      </p:sp>
      <p:sp>
        <p:nvSpPr>
          <p:cNvPr id="10" name="a2w_txt_570"/>
          <p:cNvSpPr txBox="1"/>
          <p:nvPr/>
        </p:nvSpPr>
        <p:spPr>
          <a:xfrm>
            <a:off x="2498293"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  Clean &amp; purge</a:t>
            </a:r>
            <a:endParaRPr lang="en-US" sz="1700" dirty="0"/>
          </a:p>
        </p:txBody>
      </p:sp>
      <p:pic>
        <p:nvPicPr>
          <p:cNvPr id="11" name="a2w_icon_571" descr="preencoded.png">    </p:cNvPr>
          <p:cNvPicPr>
            <a:picLocks noChangeAspect="1"/>
          </p:cNvPicPr>
          <p:nvPr/>
        </p:nvPicPr>
        <p:blipFill>
          <a:blip r:embed="rId2"/>
          <a:stretch>
            <a:fillRect/>
          </a:stretch>
        </p:blipFill>
        <p:spPr>
          <a:xfrm>
            <a:off x="3006776" y="1993392"/>
            <a:ext cx="548640" cy="548640"/>
          </a:xfrm>
          <a:prstGeom prst="rect">
            <a:avLst/>
          </a:prstGeom>
        </p:spPr>
      </p:pic>
      <p:sp>
        <p:nvSpPr>
          <p:cNvPr id="12" name="a2w_txt_572"/>
          <p:cNvSpPr txBox="1"/>
          <p:nvPr/>
        </p:nvSpPr>
        <p:spPr>
          <a:xfrm>
            <a:off x="2516581" y="2606040"/>
            <a:ext cx="1529029" cy="150876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Remove residues; purge with inert gas or air</a:t>
            </a:r>
            <a:endParaRPr lang="en-US" sz="1600" dirty="0"/>
          </a:p>
        </p:txBody>
      </p:sp>
      <p:sp>
        <p:nvSpPr>
          <p:cNvPr id="13" name="a3w_box_573"/>
          <p:cNvSpPr/>
          <p:nvPr/>
        </p:nvSpPr>
        <p:spPr>
          <a:xfrm>
            <a:off x="4301642" y="1280160"/>
            <a:ext cx="1711909" cy="288036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w_box_574"/>
          <p:cNvSpPr/>
          <p:nvPr/>
        </p:nvSpPr>
        <p:spPr>
          <a:xfrm>
            <a:off x="4301642" y="1280160"/>
            <a:ext cx="1711909" cy="566928"/>
          </a:xfrm>
          <a:prstGeom prst="rect">
            <a:avLst/>
          </a:prstGeom>
          <a:solidFill>
            <a:srgbClr val="E8771E"/>
          </a:solidFill>
          <a:ln/>
        </p:spPr>
      </p:sp>
      <p:sp>
        <p:nvSpPr>
          <p:cNvPr id="15" name="a3w_txt_575"/>
          <p:cNvSpPr txBox="1"/>
          <p:nvPr/>
        </p:nvSpPr>
        <p:spPr>
          <a:xfrm>
            <a:off x="4374794"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  Ventilate</a:t>
            </a:r>
            <a:endParaRPr lang="en-US" sz="1700" dirty="0"/>
          </a:p>
        </p:txBody>
      </p:sp>
      <p:pic>
        <p:nvPicPr>
          <p:cNvPr id="16" name="a3w_icon_576" descr="preencoded.png">    </p:cNvPr>
          <p:cNvPicPr>
            <a:picLocks noChangeAspect="1"/>
          </p:cNvPicPr>
          <p:nvPr/>
        </p:nvPicPr>
        <p:blipFill>
          <a:blip r:embed="rId3"/>
          <a:stretch>
            <a:fillRect/>
          </a:stretch>
        </p:blipFill>
        <p:spPr>
          <a:xfrm>
            <a:off x="4883277" y="1993392"/>
            <a:ext cx="548640" cy="548640"/>
          </a:xfrm>
          <a:prstGeom prst="rect">
            <a:avLst/>
          </a:prstGeom>
        </p:spPr>
      </p:pic>
      <p:sp>
        <p:nvSpPr>
          <p:cNvPr id="17" name="a3w_txt_577"/>
          <p:cNvSpPr txBox="1"/>
          <p:nvPr/>
        </p:nvSpPr>
        <p:spPr>
          <a:xfrm>
            <a:off x="4393082" y="2606040"/>
            <a:ext cx="1529029" cy="150876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Continuous forced ventilation – natural is NOT enough</a:t>
            </a:r>
            <a:endParaRPr lang="en-US" sz="1600" dirty="0"/>
          </a:p>
        </p:txBody>
      </p:sp>
      <p:sp>
        <p:nvSpPr>
          <p:cNvPr id="18" name="a4w_box_578"/>
          <p:cNvSpPr/>
          <p:nvPr/>
        </p:nvSpPr>
        <p:spPr>
          <a:xfrm>
            <a:off x="6178144" y="1280160"/>
            <a:ext cx="1711909" cy="288036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w_box_579"/>
          <p:cNvSpPr/>
          <p:nvPr/>
        </p:nvSpPr>
        <p:spPr>
          <a:xfrm>
            <a:off x="6178144" y="1280160"/>
            <a:ext cx="1711909" cy="566928"/>
          </a:xfrm>
          <a:prstGeom prst="rect">
            <a:avLst/>
          </a:prstGeom>
          <a:solidFill>
            <a:srgbClr val="E8771E"/>
          </a:solidFill>
          <a:ln/>
        </p:spPr>
      </p:sp>
      <p:sp>
        <p:nvSpPr>
          <p:cNvPr id="20" name="a4w_txt_580"/>
          <p:cNvSpPr txBox="1"/>
          <p:nvPr/>
        </p:nvSpPr>
        <p:spPr>
          <a:xfrm>
            <a:off x="6251296"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Gas test</a:t>
            </a:r>
            <a:endParaRPr lang="en-US" sz="1700" dirty="0"/>
          </a:p>
        </p:txBody>
      </p:sp>
      <p:pic>
        <p:nvPicPr>
          <p:cNvPr id="21" name="a4w_icon_581" descr="preencoded.png">    </p:cNvPr>
          <p:cNvPicPr>
            <a:picLocks noChangeAspect="1"/>
          </p:cNvPicPr>
          <p:nvPr/>
        </p:nvPicPr>
        <p:blipFill>
          <a:blip r:embed="rId4"/>
          <a:stretch>
            <a:fillRect/>
          </a:stretch>
        </p:blipFill>
        <p:spPr>
          <a:xfrm>
            <a:off x="6759778" y="1993392"/>
            <a:ext cx="548640" cy="548640"/>
          </a:xfrm>
          <a:prstGeom prst="rect">
            <a:avLst/>
          </a:prstGeom>
        </p:spPr>
      </p:pic>
      <p:sp>
        <p:nvSpPr>
          <p:cNvPr id="22" name="a4w_txt_582"/>
          <p:cNvSpPr txBox="1"/>
          <p:nvPr/>
        </p:nvSpPr>
        <p:spPr>
          <a:xfrm>
            <a:off x="6269584" y="2606040"/>
            <a:ext cx="1529029" cy="150876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O₂ → Flammables → Toxics; top, middle, bottom</a:t>
            </a:r>
            <a:endParaRPr lang="en-US" sz="1600" dirty="0"/>
          </a:p>
        </p:txBody>
      </p:sp>
      <p:sp>
        <p:nvSpPr>
          <p:cNvPr id="23" name="a5w_box_583"/>
          <p:cNvSpPr/>
          <p:nvPr/>
        </p:nvSpPr>
        <p:spPr>
          <a:xfrm>
            <a:off x="8054645" y="1280160"/>
            <a:ext cx="1711909" cy="288036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w_box_584"/>
          <p:cNvSpPr/>
          <p:nvPr/>
        </p:nvSpPr>
        <p:spPr>
          <a:xfrm>
            <a:off x="8054645" y="1280160"/>
            <a:ext cx="1711909" cy="566928"/>
          </a:xfrm>
          <a:prstGeom prst="rect">
            <a:avLst/>
          </a:prstGeom>
          <a:solidFill>
            <a:srgbClr val="E8771E"/>
          </a:solidFill>
          <a:ln/>
        </p:spPr>
      </p:sp>
      <p:sp>
        <p:nvSpPr>
          <p:cNvPr id="25" name="a5w_txt_585"/>
          <p:cNvSpPr txBox="1"/>
          <p:nvPr/>
        </p:nvSpPr>
        <p:spPr>
          <a:xfrm>
            <a:off x="8127797"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  Rescue ready</a:t>
            </a:r>
            <a:endParaRPr lang="en-US" sz="1700" dirty="0"/>
          </a:p>
        </p:txBody>
      </p:sp>
      <p:pic>
        <p:nvPicPr>
          <p:cNvPr id="26" name="a5w_icon_586" descr="preencoded.png">    </p:cNvPr>
          <p:cNvPicPr>
            <a:picLocks noChangeAspect="1"/>
          </p:cNvPicPr>
          <p:nvPr/>
        </p:nvPicPr>
        <p:blipFill>
          <a:blip r:embed="rId5"/>
          <a:stretch>
            <a:fillRect/>
          </a:stretch>
        </p:blipFill>
        <p:spPr>
          <a:xfrm>
            <a:off x="8636279" y="1993392"/>
            <a:ext cx="548640" cy="548640"/>
          </a:xfrm>
          <a:prstGeom prst="rect">
            <a:avLst/>
          </a:prstGeom>
        </p:spPr>
      </p:pic>
      <p:sp>
        <p:nvSpPr>
          <p:cNvPr id="27" name="a5w_txt_587"/>
          <p:cNvSpPr txBox="1"/>
          <p:nvPr/>
        </p:nvSpPr>
        <p:spPr>
          <a:xfrm>
            <a:off x="8146085" y="2606040"/>
            <a:ext cx="1529029" cy="150876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Tripod, winch, harness; rescue team on alert</a:t>
            </a:r>
            <a:endParaRPr lang="en-US" sz="1600" dirty="0"/>
          </a:p>
        </p:txBody>
      </p:sp>
      <p:sp>
        <p:nvSpPr>
          <p:cNvPr id="28" name="a6w_box_588"/>
          <p:cNvSpPr/>
          <p:nvPr/>
        </p:nvSpPr>
        <p:spPr>
          <a:xfrm>
            <a:off x="9931146" y="1280160"/>
            <a:ext cx="1711909" cy="288036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w_box_589"/>
          <p:cNvSpPr/>
          <p:nvPr/>
        </p:nvSpPr>
        <p:spPr>
          <a:xfrm>
            <a:off x="9931146" y="1280160"/>
            <a:ext cx="1711909" cy="566928"/>
          </a:xfrm>
          <a:prstGeom prst="rect">
            <a:avLst/>
          </a:prstGeom>
          <a:solidFill>
            <a:srgbClr val="E8771E"/>
          </a:solidFill>
          <a:ln/>
        </p:spPr>
      </p:sp>
      <p:sp>
        <p:nvSpPr>
          <p:cNvPr id="30" name="a6w_txt_590"/>
          <p:cNvSpPr txBox="1"/>
          <p:nvPr/>
        </p:nvSpPr>
        <p:spPr>
          <a:xfrm>
            <a:off x="10004298"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  Enter &amp; monitor</a:t>
            </a:r>
            <a:endParaRPr lang="en-US" sz="1700" dirty="0"/>
          </a:p>
        </p:txBody>
      </p:sp>
      <p:pic>
        <p:nvPicPr>
          <p:cNvPr id="31" name="a6w_icon_591" descr="preencoded.png">    </p:cNvPr>
          <p:cNvPicPr>
            <a:picLocks noChangeAspect="1"/>
          </p:cNvPicPr>
          <p:nvPr/>
        </p:nvPicPr>
        <p:blipFill>
          <a:blip r:embed="rId6"/>
          <a:stretch>
            <a:fillRect/>
          </a:stretch>
        </p:blipFill>
        <p:spPr>
          <a:xfrm>
            <a:off x="10512781" y="1993392"/>
            <a:ext cx="548640" cy="548640"/>
          </a:xfrm>
          <a:prstGeom prst="rect">
            <a:avLst/>
          </a:prstGeom>
        </p:spPr>
      </p:pic>
      <p:sp>
        <p:nvSpPr>
          <p:cNvPr id="32" name="a6w_txt_592"/>
          <p:cNvSpPr txBox="1"/>
          <p:nvPr/>
        </p:nvSpPr>
        <p:spPr>
          <a:xfrm>
            <a:off x="10022586" y="2606040"/>
            <a:ext cx="1529029" cy="150876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Attendant monitors at entrance; constant contact</a:t>
            </a:r>
            <a:endParaRPr lang="en-US" sz="1600" dirty="0"/>
          </a:p>
        </p:txBody>
      </p:sp>
      <p:sp>
        <p:nvSpPr>
          <p:cNvPr id="33" name="a7_box_593"/>
          <p:cNvSpPr/>
          <p:nvPr/>
        </p:nvSpPr>
        <p:spPr>
          <a:xfrm>
            <a:off x="548640" y="4389120"/>
            <a:ext cx="2651760"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4" name="a7_txt_594"/>
          <p:cNvSpPr txBox="1"/>
          <p:nvPr/>
        </p:nvSpPr>
        <p:spPr>
          <a:xfrm>
            <a:off x="640080" y="4498848"/>
            <a:ext cx="2468880" cy="891540"/>
          </a:xfrm>
          <a:prstGeom prst="rect">
            <a:avLst/>
          </a:prstGeom>
          <a:noFill/>
          <a:ln/>
        </p:spPr>
        <p:txBody>
          <a:bodyPr wrap="square" lIns="635" tIns="635" rIns="635" bIns="635" rtlCol="0" anchor="ctr"/>
          <a:lstStyle/>
          <a:p>
            <a:pPr algn="ctr" indent="0" marL="0">
              <a:buNone/>
            </a:pPr>
            <a:r>
              <a:rPr lang="en-US" sz="2400" b="1" dirty="0">
                <a:solidFill>
                  <a:srgbClr val="0F6E7A"/>
                </a:solidFill>
                <a:latin typeface="Arial" pitchFamily="34" charset="0"/>
                <a:ea typeface="Arial" pitchFamily="34" charset="-122"/>
                <a:cs typeface="Arial" pitchFamily="34" charset="-120"/>
              </a:rPr>
              <a:t>O₂ 19.5 – 23.5%</a:t>
            </a:r>
            <a:endParaRPr lang="en-US" sz="2400" dirty="0"/>
          </a:p>
        </p:txBody>
      </p:sp>
      <p:sp>
        <p:nvSpPr>
          <p:cNvPr id="35" name="a7_txt_595"/>
          <p:cNvSpPr txBox="1"/>
          <p:nvPr/>
        </p:nvSpPr>
        <p:spPr>
          <a:xfrm>
            <a:off x="685800" y="5369814"/>
            <a:ext cx="2377440" cy="748894"/>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Oxygen</a:t>
            </a:r>
            <a:endParaRPr lang="en-US" sz="1600" dirty="0"/>
          </a:p>
        </p:txBody>
      </p:sp>
      <p:sp>
        <p:nvSpPr>
          <p:cNvPr id="36" name="a8_box_596"/>
          <p:cNvSpPr/>
          <p:nvPr/>
        </p:nvSpPr>
        <p:spPr>
          <a:xfrm>
            <a:off x="3364992" y="4389120"/>
            <a:ext cx="2651760"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7" name="a8_txt_597"/>
          <p:cNvSpPr txBox="1"/>
          <p:nvPr/>
        </p:nvSpPr>
        <p:spPr>
          <a:xfrm>
            <a:off x="3456432" y="4498848"/>
            <a:ext cx="2468880" cy="891540"/>
          </a:xfrm>
          <a:prstGeom prst="rect">
            <a:avLst/>
          </a:prstGeom>
          <a:noFill/>
          <a:ln/>
        </p:spPr>
        <p:txBody>
          <a:bodyPr wrap="square" lIns="635" tIns="635" rIns="635" bIns="635" rtlCol="0" anchor="ctr"/>
          <a:lstStyle/>
          <a:p>
            <a:pPr algn="ctr" indent="0" marL="0">
              <a:buNone/>
            </a:pPr>
            <a:r>
              <a:rPr lang="en-US" sz="2400" b="1" dirty="0">
                <a:solidFill>
                  <a:srgbClr val="C0392B"/>
                </a:solidFill>
                <a:latin typeface="Arial" pitchFamily="34" charset="0"/>
                <a:ea typeface="Arial" pitchFamily="34" charset="-122"/>
                <a:cs typeface="Arial" pitchFamily="34" charset="-120"/>
              </a:rPr>
              <a:t>LEL &lt; 10%</a:t>
            </a:r>
            <a:endParaRPr lang="en-US" sz="2400" dirty="0"/>
          </a:p>
        </p:txBody>
      </p:sp>
      <p:sp>
        <p:nvSpPr>
          <p:cNvPr id="38" name="a8_txt_598"/>
          <p:cNvSpPr txBox="1"/>
          <p:nvPr/>
        </p:nvSpPr>
        <p:spPr>
          <a:xfrm>
            <a:off x="3502152" y="5369814"/>
            <a:ext cx="2377440" cy="748894"/>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Flammables</a:t>
            </a:r>
            <a:endParaRPr lang="en-US" sz="1600" dirty="0"/>
          </a:p>
        </p:txBody>
      </p:sp>
      <p:sp>
        <p:nvSpPr>
          <p:cNvPr id="39" name="a9_box_599"/>
          <p:cNvSpPr/>
          <p:nvPr/>
        </p:nvSpPr>
        <p:spPr>
          <a:xfrm>
            <a:off x="6181344" y="4389120"/>
            <a:ext cx="2651760"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0" name="a9_txt_600"/>
          <p:cNvSpPr txBox="1"/>
          <p:nvPr/>
        </p:nvSpPr>
        <p:spPr>
          <a:xfrm>
            <a:off x="6272784" y="4498848"/>
            <a:ext cx="2468880" cy="891540"/>
          </a:xfrm>
          <a:prstGeom prst="rect">
            <a:avLst/>
          </a:prstGeom>
          <a:noFill/>
          <a:ln/>
        </p:spPr>
        <p:txBody>
          <a:bodyPr wrap="square" lIns="635" tIns="635" rIns="635" bIns="635" rtlCol="0" anchor="ctr"/>
          <a:lstStyle/>
          <a:p>
            <a:pPr algn="ctr" indent="0" marL="0">
              <a:buNone/>
            </a:pPr>
            <a:r>
              <a:rPr lang="en-US" sz="2400" b="1" dirty="0">
                <a:solidFill>
                  <a:srgbClr val="6A1B9A"/>
                </a:solidFill>
                <a:latin typeface="Arial" pitchFamily="34" charset="0"/>
                <a:ea typeface="Arial" pitchFamily="34" charset="-122"/>
                <a:cs typeface="Arial" pitchFamily="34" charset="-120"/>
              </a:rPr>
              <a:t>H₂S &lt; 10 ppm</a:t>
            </a:r>
            <a:endParaRPr lang="en-US" sz="2400" dirty="0"/>
          </a:p>
        </p:txBody>
      </p:sp>
      <p:sp>
        <p:nvSpPr>
          <p:cNvPr id="41" name="a9_txt_601"/>
          <p:cNvSpPr txBox="1"/>
          <p:nvPr/>
        </p:nvSpPr>
        <p:spPr>
          <a:xfrm>
            <a:off x="6318504" y="5369814"/>
            <a:ext cx="2377440" cy="748894"/>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Example toxic limit</a:t>
            </a:r>
            <a:endParaRPr lang="en-US" sz="1600" dirty="0"/>
          </a:p>
        </p:txBody>
      </p:sp>
      <p:sp>
        <p:nvSpPr>
          <p:cNvPr id="42" name="a10_box_602"/>
          <p:cNvSpPr/>
          <p:nvPr/>
        </p:nvSpPr>
        <p:spPr>
          <a:xfrm>
            <a:off x="8997696" y="4389120"/>
            <a:ext cx="2651760" cy="1783080"/>
          </a:xfrm>
          <a:prstGeom prst="roundRect">
            <a:avLst>
              <a:gd name="adj" fmla="val 615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3" name="a10_txt_603"/>
          <p:cNvSpPr txBox="1"/>
          <p:nvPr/>
        </p:nvSpPr>
        <p:spPr>
          <a:xfrm>
            <a:off x="9089136" y="4498848"/>
            <a:ext cx="2468880" cy="891540"/>
          </a:xfrm>
          <a:prstGeom prst="rect">
            <a:avLst/>
          </a:prstGeom>
          <a:noFill/>
          <a:ln/>
        </p:spPr>
        <p:txBody>
          <a:bodyPr wrap="square" lIns="635" tIns="635" rIns="635" bIns="635" rtlCol="0" anchor="ctr"/>
          <a:lstStyle/>
          <a:p>
            <a:pPr algn="ctr" indent="0" marL="0">
              <a:buNone/>
            </a:pPr>
            <a:r>
              <a:rPr lang="en-US" sz="2400" b="1" dirty="0">
                <a:solidFill>
                  <a:srgbClr val="0B2A3C"/>
                </a:solidFill>
                <a:latin typeface="Arial" pitchFamily="34" charset="0"/>
                <a:ea typeface="Arial" pitchFamily="34" charset="-122"/>
                <a:cs typeface="Arial" pitchFamily="34" charset="-120"/>
              </a:rPr>
              <a:t>1 entry / 4 h</a:t>
            </a:r>
            <a:endParaRPr lang="en-US" sz="2400" dirty="0"/>
          </a:p>
        </p:txBody>
      </p:sp>
      <p:sp>
        <p:nvSpPr>
          <p:cNvPr id="44" name="a10_txt_604"/>
          <p:cNvSpPr txBox="1"/>
          <p:nvPr/>
        </p:nvSpPr>
        <p:spPr>
          <a:xfrm>
            <a:off x="9134856" y="5369814"/>
            <a:ext cx="2377440" cy="748894"/>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Typical max. validity</a:t>
            </a:r>
            <a:endParaRPr lang="en-US" sz="1600" dirty="0"/>
          </a:p>
        </p:txBody>
      </p:sp>
      <p:sp>
        <p:nvSpPr>
          <p:cNvPr id="4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left)">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left)">
                                      <p:cBhvr>
                                        <p:cTn id="75" dur="500"/>
                                        <p:tgtEl>
                                          <p:spTgt spid="2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left)">
                                      <p:cBhvr>
                                        <p:cTn id="78" dur="500"/>
                                        <p:tgtEl>
                                          <p:spTgt spid="24"/>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wipe(left)">
                                      <p:cBhvr>
                                        <p:cTn id="81" dur="500"/>
                                        <p:tgtEl>
                                          <p:spTgt spid="25"/>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ipe(left)">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left)">
                                      <p:cBhvr>
                                        <p:cTn id="92" dur="500"/>
                                        <p:tgtEl>
                                          <p:spTgt spid="28"/>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left)">
                                      <p:cBhvr>
                                        <p:cTn id="95" dur="500"/>
                                        <p:tgtEl>
                                          <p:spTgt spid="29"/>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wipe(left)">
                                      <p:cBhvr>
                                        <p:cTn id="98" dur="500"/>
                                        <p:tgtEl>
                                          <p:spTgt spid="30"/>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wipe(left)">
                                      <p:cBhvr>
                                        <p:cTn id="101" dur="500"/>
                                        <p:tgtEl>
                                          <p:spTgt spid="31"/>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left)">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36"/>
                                        </p:tgtEl>
                                        <p:attrNameLst>
                                          <p:attrName>style.visibility</p:attrName>
                                        </p:attrNameLst>
                                      </p:cBhvr>
                                      <p:to>
                                        <p:strVal val="visible"/>
                                      </p:to>
                                    </p:set>
                                    <p:animEffect transition="in" filter="fade">
                                      <p:cBhvr>
                                        <p:cTn id="120" dur="500"/>
                                        <p:tgtEl>
                                          <p:spTgt spid="36"/>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7"/>
                                        </p:tgtEl>
                                        <p:attrNameLst>
                                          <p:attrName>style.visibility</p:attrName>
                                        </p:attrNameLst>
                                      </p:cBhvr>
                                      <p:to>
                                        <p:strVal val="visible"/>
                                      </p:to>
                                    </p:set>
                                    <p:animEffect transition="in" filter="fade">
                                      <p:cBhvr>
                                        <p:cTn id="123" dur="500"/>
                                        <p:tgtEl>
                                          <p:spTgt spid="37"/>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500"/>
                                        <p:tgtEl>
                                          <p:spTgt spid="38"/>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39"/>
                                        </p:tgtEl>
                                        <p:attrNameLst>
                                          <p:attrName>style.visibility</p:attrName>
                                        </p:attrNameLst>
                                      </p:cBhvr>
                                      <p:to>
                                        <p:strVal val="visible"/>
                                      </p:to>
                                    </p:set>
                                    <p:animEffect transition="in" filter="fade">
                                      <p:cBhvr>
                                        <p:cTn id="131" dur="500"/>
                                        <p:tgtEl>
                                          <p:spTgt spid="3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0"/>
                                        </p:tgtEl>
                                        <p:attrNameLst>
                                          <p:attrName>style.visibility</p:attrName>
                                        </p:attrNameLst>
                                      </p:cBhvr>
                                      <p:to>
                                        <p:strVal val="visible"/>
                                      </p:to>
                                    </p:set>
                                    <p:animEffect transition="in" filter="fade">
                                      <p:cBhvr>
                                        <p:cTn id="134" dur="500"/>
                                        <p:tgtEl>
                                          <p:spTgt spid="40"/>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1"/>
                                        </p:tgtEl>
                                        <p:attrNameLst>
                                          <p:attrName>style.visibility</p:attrName>
                                        </p:attrNameLst>
                                      </p:cBhvr>
                                      <p:to>
                                        <p:strVal val="visible"/>
                                      </p:to>
                                    </p:set>
                                    <p:animEffect transition="in" filter="fade">
                                      <p:cBhvr>
                                        <p:cTn id="137" dur="500"/>
                                        <p:tgtEl>
                                          <p:spTgt spid="41"/>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2"/>
                                        </p:tgtEl>
                                        <p:attrNameLst>
                                          <p:attrName>style.visibility</p:attrName>
                                        </p:attrNameLst>
                                      </p:cBhvr>
                                      <p:to>
                                        <p:strVal val="visible"/>
                                      </p:to>
                                    </p:set>
                                    <p:animEffect transition="in" filter="fade">
                                      <p:cBhvr>
                                        <p:cTn id="142" dur="500"/>
                                        <p:tgtEl>
                                          <p:spTgt spid="42"/>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3"/>
                                        </p:tgtEl>
                                        <p:attrNameLst>
                                          <p:attrName>style.visibility</p:attrName>
                                        </p:attrNameLst>
                                      </p:cBhvr>
                                      <p:to>
                                        <p:strVal val="visible"/>
                                      </p:to>
                                    </p:set>
                                    <p:animEffect transition="in" filter="fade">
                                      <p:cBhvr>
                                        <p:cTn id="145" dur="500"/>
                                        <p:tgtEl>
                                          <p:spTgt spid="4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4"/>
                                        </p:tgtEl>
                                        <p:attrNameLst>
                                          <p:attrName>style.visibility</p:attrName>
                                        </p:attrNameLst>
                                      </p:cBhvr>
                                      <p:to>
                                        <p:strVal val="visible"/>
                                      </p:to>
                                    </p:set>
                                    <p:animEffect transition="in" filter="fade">
                                      <p:cBhvr>
                                        <p:cTn id="14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Electrical Work Permit</a:t>
            </a:r>
            <a:endParaRPr lang="en-US" sz="3200" dirty="0"/>
          </a:p>
        </p:txBody>
      </p:sp>
      <p:sp>
        <p:nvSpPr>
          <p:cNvPr id="3" name="box_605"/>
          <p:cNvSpPr/>
          <p:nvPr/>
        </p:nvSpPr>
        <p:spPr>
          <a:xfrm>
            <a:off x="0" y="1143000"/>
            <a:ext cx="4206240" cy="5166360"/>
          </a:xfrm>
          <a:prstGeom prst="rect">
            <a:avLst/>
          </a:prstGeom>
          <a:solidFill>
            <a:srgbClr val="F2A900"/>
          </a:solidFill>
          <a:ln/>
        </p:spPr>
      </p:sp>
      <p:pic>
        <p:nvPicPr>
          <p:cNvPr id="4" name="icon_606"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607"/>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De-energise first</a:t>
            </a:r>
            <a:endParaRPr lang="en-US" sz="1800" dirty="0"/>
          </a:p>
        </p:txBody>
      </p:sp>
      <p:sp>
        <p:nvSpPr>
          <p:cNvPr id="6" name="box_608"/>
          <p:cNvSpPr/>
          <p:nvPr/>
        </p:nvSpPr>
        <p:spPr>
          <a:xfrm>
            <a:off x="4526280" y="1280160"/>
            <a:ext cx="3474720" cy="1417320"/>
          </a:xfrm>
          <a:prstGeom prst="roundRect">
            <a:avLst>
              <a:gd name="adj" fmla="val 774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txt_609"/>
          <p:cNvSpPr txBox="1"/>
          <p:nvPr/>
        </p:nvSpPr>
        <p:spPr>
          <a:xfrm>
            <a:off x="4617720" y="1389888"/>
            <a:ext cx="3291840" cy="708660"/>
          </a:xfrm>
          <a:prstGeom prst="rect">
            <a:avLst/>
          </a:prstGeom>
          <a:noFill/>
          <a:ln/>
        </p:spPr>
        <p:txBody>
          <a:bodyPr wrap="square" lIns="635" tIns="635" rIns="635" bIns="635" rtlCol="0" anchor="ctr"/>
          <a:lstStyle/>
          <a:p>
            <a:pPr algn="ctr" indent="0" marL="0">
              <a:buNone/>
            </a:pPr>
            <a:r>
              <a:rPr lang="en-US" sz="3000" b="1" dirty="0">
                <a:solidFill>
                  <a:srgbClr val="F2A900"/>
                </a:solidFill>
                <a:latin typeface="Arial" pitchFamily="34" charset="0"/>
                <a:ea typeface="Arial" pitchFamily="34" charset="-122"/>
                <a:cs typeface="Arial" pitchFamily="34" charset="-120"/>
              </a:rPr>
              <a:t>LV ≤ 1000 V AC</a:t>
            </a:r>
            <a:endParaRPr lang="en-US" sz="3000" dirty="0"/>
          </a:p>
        </p:txBody>
      </p:sp>
      <p:sp>
        <p:nvSpPr>
          <p:cNvPr id="8" name="txt_610"/>
          <p:cNvSpPr txBox="1"/>
          <p:nvPr/>
        </p:nvSpPr>
        <p:spPr>
          <a:xfrm>
            <a:off x="4663440" y="2059686"/>
            <a:ext cx="3200400" cy="595274"/>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or ≤ 1500 V DC</a:t>
            </a:r>
            <a:endParaRPr lang="en-US" sz="1600" dirty="0"/>
          </a:p>
        </p:txBody>
      </p:sp>
      <p:sp>
        <p:nvSpPr>
          <p:cNvPr id="9" name="box_611"/>
          <p:cNvSpPr/>
          <p:nvPr/>
        </p:nvSpPr>
        <p:spPr>
          <a:xfrm>
            <a:off x="8183880" y="1280160"/>
            <a:ext cx="3456432" cy="1417320"/>
          </a:xfrm>
          <a:prstGeom prst="roundRect">
            <a:avLst>
              <a:gd name="adj" fmla="val 774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txt_612"/>
          <p:cNvSpPr txBox="1"/>
          <p:nvPr/>
        </p:nvSpPr>
        <p:spPr>
          <a:xfrm>
            <a:off x="8275320" y="1389888"/>
            <a:ext cx="3273552" cy="708660"/>
          </a:xfrm>
          <a:prstGeom prst="rect">
            <a:avLst/>
          </a:prstGeom>
          <a:noFill/>
          <a:ln/>
        </p:spPr>
        <p:txBody>
          <a:bodyPr wrap="square" lIns="635" tIns="635" rIns="635" bIns="635" rtlCol="0" anchor="ctr"/>
          <a:lstStyle/>
          <a:p>
            <a:pPr algn="ctr" indent="0" marL="0">
              <a:buNone/>
            </a:pPr>
            <a:r>
              <a:rPr lang="en-US" sz="3000" b="1" dirty="0">
                <a:solidFill>
                  <a:srgbClr val="C0392B"/>
                </a:solidFill>
                <a:latin typeface="Arial" pitchFamily="34" charset="0"/>
                <a:ea typeface="Arial" pitchFamily="34" charset="-122"/>
                <a:cs typeface="Arial" pitchFamily="34" charset="-120"/>
              </a:rPr>
              <a:t>HV &gt; 1000 V AC</a:t>
            </a:r>
            <a:endParaRPr lang="en-US" sz="3000" dirty="0"/>
          </a:p>
        </p:txBody>
      </p:sp>
      <p:sp>
        <p:nvSpPr>
          <p:cNvPr id="11" name="txt_613"/>
          <p:cNvSpPr txBox="1"/>
          <p:nvPr/>
        </p:nvSpPr>
        <p:spPr>
          <a:xfrm>
            <a:off x="8321040" y="2059686"/>
            <a:ext cx="3182112" cy="595274"/>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Extra procedures &amp; HV-authorised person</a:t>
            </a:r>
            <a:endParaRPr lang="en-US" sz="1600" dirty="0"/>
          </a:p>
        </p:txBody>
      </p:sp>
      <p:sp>
        <p:nvSpPr>
          <p:cNvPr id="12" name="box_614"/>
          <p:cNvSpPr/>
          <p:nvPr/>
        </p:nvSpPr>
        <p:spPr>
          <a:xfrm>
            <a:off x="4526280" y="2880360"/>
            <a:ext cx="3474720" cy="3337560"/>
          </a:xfrm>
          <a:prstGeom prst="roundRect">
            <a:avLst>
              <a:gd name="adj" fmla="val 328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circ_615"/>
          <p:cNvSpPr/>
          <p:nvPr/>
        </p:nvSpPr>
        <p:spPr>
          <a:xfrm>
            <a:off x="4709160" y="3063240"/>
            <a:ext cx="685800" cy="685800"/>
          </a:xfrm>
          <a:prstGeom prst="ellipse">
            <a:avLst/>
          </a:prstGeom>
          <a:solidFill>
            <a:srgbClr val="2E7D32"/>
          </a:solidFill>
          <a:ln/>
        </p:spPr>
      </p:sp>
      <p:pic>
        <p:nvPicPr>
          <p:cNvPr id="14" name="icon_616" descr="preencoded.png">    </p:cNvPr>
          <p:cNvPicPr>
            <a:picLocks noChangeAspect="1"/>
          </p:cNvPicPr>
          <p:nvPr/>
        </p:nvPicPr>
        <p:blipFill>
          <a:blip r:embed="rId2"/>
          <a:stretch>
            <a:fillRect/>
          </a:stretch>
        </p:blipFill>
        <p:spPr>
          <a:xfrm>
            <a:off x="4863465" y="3217545"/>
            <a:ext cx="377190" cy="377190"/>
          </a:xfrm>
          <a:prstGeom prst="rect">
            <a:avLst/>
          </a:prstGeom>
        </p:spPr>
      </p:pic>
      <p:sp>
        <p:nvSpPr>
          <p:cNvPr id="15" name="txt_617"/>
          <p:cNvSpPr txBox="1"/>
          <p:nvPr/>
        </p:nvSpPr>
        <p:spPr>
          <a:xfrm>
            <a:off x="5559552" y="3044952"/>
            <a:ext cx="2304288"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De-energised (preferred)</a:t>
            </a:r>
            <a:endParaRPr lang="en-US" sz="1900" dirty="0"/>
          </a:p>
        </p:txBody>
      </p:sp>
      <p:sp>
        <p:nvSpPr>
          <p:cNvPr id="16" name="txt_618"/>
          <p:cNvSpPr txBox="1"/>
          <p:nvPr/>
        </p:nvSpPr>
        <p:spPr>
          <a:xfrm>
            <a:off x="4709160" y="3794760"/>
            <a:ext cx="3200400" cy="2377440"/>
          </a:xfrm>
          <a:prstGeom prst="rect">
            <a:avLst/>
          </a:prstGeom>
          <a:noFill/>
          <a:ln/>
        </p:spPr>
        <p:txBody>
          <a:bodyPr wrap="square" lIns="635" tIns="635" rIns="635" bIns="635" rtlCol="0" anchor="t"/>
          <a:lstStyle/>
          <a:p>
            <a:pPr marL="342900" indent="-342900">
              <a:spcAft>
                <a:spcPts val="600"/>
              </a:spcAft>
              <a:buSzPct val="100000"/>
              <a:buFont typeface="+mj-lt"/>
              <a:buAutoNum type="arabicPeriod" startAt="1"/>
            </a:pPr>
            <a:r>
              <a:rPr lang="en-US" sz="1700" dirty="0">
                <a:solidFill>
                  <a:srgbClr val="1B2730"/>
                </a:solidFill>
                <a:latin typeface="Calibri" pitchFamily="34" charset="0"/>
                <a:ea typeface="Calibri" pitchFamily="34" charset="-122"/>
                <a:cs typeface="Calibri" pitchFamily="34" charset="-120"/>
              </a:rPr>
              <a:t>Identify the right circuit</a:t>
            </a:r>
            <a:endParaRPr lang="en-US" sz="1700" dirty="0"/>
          </a:p>
          <a:p>
            <a:pPr marL="342900" indent="-342900">
              <a:spcAft>
                <a:spcPts val="600"/>
              </a:spcAft>
              <a:buSzPct val="100000"/>
              <a:buFont typeface="+mj-lt"/>
              <a:buAutoNum type="arabicPeriod" startAt="1"/>
            </a:pPr>
            <a:r>
              <a:rPr lang="en-US" sz="1700" dirty="0">
                <a:solidFill>
                  <a:srgbClr val="1B2730"/>
                </a:solidFill>
                <a:latin typeface="Calibri" pitchFamily="34" charset="0"/>
                <a:ea typeface="Calibri" pitchFamily="34" charset="-122"/>
                <a:cs typeface="Calibri" pitchFamily="34" charset="-120"/>
              </a:rPr>
              <a:t>Isolate, lock &amp; tag</a:t>
            </a:r>
            <a:endParaRPr lang="en-US" sz="1700" dirty="0"/>
          </a:p>
          <a:p>
            <a:pPr marL="342900" indent="-342900">
              <a:spcAft>
                <a:spcPts val="600"/>
              </a:spcAft>
              <a:buSzPct val="100000"/>
              <a:buFont typeface="+mj-lt"/>
              <a:buAutoNum type="arabicPeriod" startAt="1"/>
            </a:pPr>
            <a:r>
              <a:rPr lang="en-US" sz="1700" dirty="0">
                <a:solidFill>
                  <a:srgbClr val="1B2730"/>
                </a:solidFill>
                <a:latin typeface="Calibri" pitchFamily="34" charset="0"/>
                <a:ea typeface="Calibri" pitchFamily="34" charset="-122"/>
                <a:cs typeface="Calibri" pitchFamily="34" charset="-120"/>
              </a:rPr>
              <a:t>Prove dead: live-dead-live test</a:t>
            </a:r>
            <a:endParaRPr lang="en-US" sz="1700" dirty="0"/>
          </a:p>
          <a:p>
            <a:pPr marL="342900" indent="-342900">
              <a:spcAft>
                <a:spcPts val="600"/>
              </a:spcAft>
              <a:buSzPct val="100000"/>
              <a:buFont typeface="+mj-lt"/>
              <a:buAutoNum type="arabicPeriod" startAt="1"/>
            </a:pPr>
            <a:r>
              <a:rPr lang="en-US" sz="1700" dirty="0">
                <a:solidFill>
                  <a:srgbClr val="1B2730"/>
                </a:solidFill>
                <a:latin typeface="Calibri" pitchFamily="34" charset="0"/>
                <a:ea typeface="Calibri" pitchFamily="34" charset="-122"/>
                <a:cs typeface="Calibri" pitchFamily="34" charset="-120"/>
              </a:rPr>
              <a:t>Discharge stored energy</a:t>
            </a:r>
            <a:endParaRPr lang="en-US" sz="1700" dirty="0"/>
          </a:p>
          <a:p>
            <a:pPr marL="342900" indent="-342900">
              <a:spcAft>
                <a:spcPts val="600"/>
              </a:spcAft>
              <a:buSzPct val="100000"/>
              <a:buFont typeface="+mj-lt"/>
              <a:buAutoNum type="arabicPeriod" startAt="1"/>
            </a:pPr>
            <a:r>
              <a:rPr lang="en-US" sz="1700" dirty="0">
                <a:solidFill>
                  <a:srgbClr val="1B2730"/>
                </a:solidFill>
                <a:latin typeface="Calibri" pitchFamily="34" charset="0"/>
                <a:ea typeface="Calibri" pitchFamily="34" charset="-122"/>
                <a:cs typeface="Calibri" pitchFamily="34" charset="-120"/>
              </a:rPr>
              <a:t>Barricade / control access</a:t>
            </a:r>
            <a:endParaRPr lang="en-US" sz="1700" dirty="0"/>
          </a:p>
        </p:txBody>
      </p:sp>
      <p:sp>
        <p:nvSpPr>
          <p:cNvPr id="17" name="box_619"/>
          <p:cNvSpPr/>
          <p:nvPr/>
        </p:nvSpPr>
        <p:spPr>
          <a:xfrm>
            <a:off x="8183880" y="2880360"/>
            <a:ext cx="3456432" cy="3337560"/>
          </a:xfrm>
          <a:prstGeom prst="roundRect">
            <a:avLst>
              <a:gd name="adj" fmla="val 328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8" name="circ_620"/>
          <p:cNvSpPr/>
          <p:nvPr/>
        </p:nvSpPr>
        <p:spPr>
          <a:xfrm>
            <a:off x="8366760" y="3063240"/>
            <a:ext cx="685800" cy="685800"/>
          </a:xfrm>
          <a:prstGeom prst="ellipse">
            <a:avLst/>
          </a:prstGeom>
          <a:solidFill>
            <a:srgbClr val="C0392B"/>
          </a:solidFill>
          <a:ln/>
        </p:spPr>
      </p:sp>
      <p:pic>
        <p:nvPicPr>
          <p:cNvPr id="19" name="icon_621" descr="preencoded.png">    </p:cNvPr>
          <p:cNvPicPr>
            <a:picLocks noChangeAspect="1"/>
          </p:cNvPicPr>
          <p:nvPr/>
        </p:nvPicPr>
        <p:blipFill>
          <a:blip r:embed="rId3"/>
          <a:stretch>
            <a:fillRect/>
          </a:stretch>
        </p:blipFill>
        <p:spPr>
          <a:xfrm>
            <a:off x="8521065" y="3217545"/>
            <a:ext cx="377190" cy="377190"/>
          </a:xfrm>
          <a:prstGeom prst="rect">
            <a:avLst/>
          </a:prstGeom>
        </p:spPr>
      </p:pic>
      <p:sp>
        <p:nvSpPr>
          <p:cNvPr id="20" name="txt_622"/>
          <p:cNvSpPr txBox="1"/>
          <p:nvPr/>
        </p:nvSpPr>
        <p:spPr>
          <a:xfrm>
            <a:off x="9217152" y="3044952"/>
            <a:ext cx="2286000"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Energised (last resort)</a:t>
            </a:r>
            <a:endParaRPr lang="en-US" sz="1900" dirty="0"/>
          </a:p>
        </p:txBody>
      </p:sp>
      <p:sp>
        <p:nvSpPr>
          <p:cNvPr id="21" name="txt_623"/>
          <p:cNvSpPr txBox="1"/>
          <p:nvPr/>
        </p:nvSpPr>
        <p:spPr>
          <a:xfrm>
            <a:off x="8366760" y="3794760"/>
            <a:ext cx="3154680" cy="237744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Only if de-energising is more hazardous or infeasible</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Justification &amp; senior approval</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Specially trained workers</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Arc-flash rated PPE, insulated tools</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Detailed shock &amp; arc-flash briefing</a:t>
            </a:r>
            <a:endParaRPr lang="en-US" sz="1600" dirty="0"/>
          </a:p>
        </p:txBody>
      </p:sp>
      <p:sp>
        <p:nvSpPr>
          <p:cNvPr id="22"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Excavation Permit</a:t>
            </a:r>
            <a:endParaRPr lang="en-US" sz="3200" dirty="0"/>
          </a:p>
        </p:txBody>
      </p:sp>
      <p:sp>
        <p:nvSpPr>
          <p:cNvPr id="3" name="box_624"/>
          <p:cNvSpPr/>
          <p:nvPr/>
        </p:nvSpPr>
        <p:spPr>
          <a:xfrm>
            <a:off x="0" y="1143000"/>
            <a:ext cx="4206240" cy="5166360"/>
          </a:xfrm>
          <a:prstGeom prst="rect">
            <a:avLst/>
          </a:prstGeom>
          <a:solidFill>
            <a:srgbClr val="8D6E63"/>
          </a:solidFill>
          <a:ln/>
        </p:spPr>
      </p:sp>
      <p:pic>
        <p:nvPicPr>
          <p:cNvPr id="4" name="icon_625"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626"/>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Find services before you dig</a:t>
            </a:r>
            <a:endParaRPr lang="en-US" sz="1800" dirty="0"/>
          </a:p>
        </p:txBody>
      </p:sp>
      <p:sp>
        <p:nvSpPr>
          <p:cNvPr id="6" name="box_627"/>
          <p:cNvSpPr/>
          <p:nvPr/>
        </p:nvSpPr>
        <p:spPr>
          <a:xfrm>
            <a:off x="4526280" y="1280160"/>
            <a:ext cx="347472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circ_628"/>
          <p:cNvSpPr/>
          <p:nvPr/>
        </p:nvSpPr>
        <p:spPr>
          <a:xfrm>
            <a:off x="4709160" y="1463040"/>
            <a:ext cx="685800" cy="685800"/>
          </a:xfrm>
          <a:prstGeom prst="ellipse">
            <a:avLst/>
          </a:prstGeom>
          <a:solidFill>
            <a:srgbClr val="8D6E63"/>
          </a:solidFill>
          <a:ln/>
        </p:spPr>
      </p:sp>
      <p:pic>
        <p:nvPicPr>
          <p:cNvPr id="8" name="icon_629" descr="preencoded.png">    </p:cNvPr>
          <p:cNvPicPr>
            <a:picLocks noChangeAspect="1"/>
          </p:cNvPicPr>
          <p:nvPr/>
        </p:nvPicPr>
        <p:blipFill>
          <a:blip r:embed="rId2"/>
          <a:stretch>
            <a:fillRect/>
          </a:stretch>
        </p:blipFill>
        <p:spPr>
          <a:xfrm>
            <a:off x="4863465" y="1617345"/>
            <a:ext cx="377190" cy="377190"/>
          </a:xfrm>
          <a:prstGeom prst="rect">
            <a:avLst/>
          </a:prstGeom>
        </p:spPr>
      </p:pic>
      <p:sp>
        <p:nvSpPr>
          <p:cNvPr id="9" name="txt_630"/>
          <p:cNvSpPr txBox="1"/>
          <p:nvPr/>
        </p:nvSpPr>
        <p:spPr>
          <a:xfrm>
            <a:off x="5559552" y="1444752"/>
            <a:ext cx="230428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Before digging</a:t>
            </a:r>
            <a:endParaRPr lang="en-US" sz="2000" dirty="0"/>
          </a:p>
        </p:txBody>
      </p:sp>
      <p:sp>
        <p:nvSpPr>
          <p:cNvPr id="10" name="txt_631"/>
          <p:cNvSpPr txBox="1"/>
          <p:nvPr/>
        </p:nvSpPr>
        <p:spPr>
          <a:xfrm>
            <a:off x="4754880" y="2221992"/>
            <a:ext cx="3063240" cy="134416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Notify utility owners 24–48 h ahead. Use up-to-date drawings – but never rely on drawings alone. Locate ALL services (cable/pipe locators, potholing) plus 1–2 m buffer.</a:t>
            </a:r>
            <a:endParaRPr lang="en-US" sz="1600" dirty="0"/>
          </a:p>
        </p:txBody>
      </p:sp>
      <p:sp>
        <p:nvSpPr>
          <p:cNvPr id="11" name="box_632"/>
          <p:cNvSpPr/>
          <p:nvPr/>
        </p:nvSpPr>
        <p:spPr>
          <a:xfrm>
            <a:off x="4526280" y="3840480"/>
            <a:ext cx="347472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circ_633"/>
          <p:cNvSpPr/>
          <p:nvPr/>
        </p:nvSpPr>
        <p:spPr>
          <a:xfrm>
            <a:off x="4709160" y="4023360"/>
            <a:ext cx="685800" cy="685800"/>
          </a:xfrm>
          <a:prstGeom prst="ellipse">
            <a:avLst/>
          </a:prstGeom>
          <a:solidFill>
            <a:srgbClr val="0F6E7A"/>
          </a:solidFill>
          <a:ln/>
        </p:spPr>
      </p:sp>
      <p:pic>
        <p:nvPicPr>
          <p:cNvPr id="13" name="icon_634" descr="preencoded.png">    </p:cNvPr>
          <p:cNvPicPr>
            <a:picLocks noChangeAspect="1"/>
          </p:cNvPicPr>
          <p:nvPr/>
        </p:nvPicPr>
        <p:blipFill>
          <a:blip r:embed="rId3"/>
          <a:stretch>
            <a:fillRect/>
          </a:stretch>
        </p:blipFill>
        <p:spPr>
          <a:xfrm>
            <a:off x="4863465" y="4177665"/>
            <a:ext cx="377190" cy="377190"/>
          </a:xfrm>
          <a:prstGeom prst="rect">
            <a:avLst/>
          </a:prstGeom>
        </p:spPr>
      </p:pic>
      <p:sp>
        <p:nvSpPr>
          <p:cNvPr id="14" name="txt_635"/>
          <p:cNvSpPr txBox="1"/>
          <p:nvPr/>
        </p:nvSpPr>
        <p:spPr>
          <a:xfrm>
            <a:off x="5559552" y="4005072"/>
            <a:ext cx="230428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Around the trench</a:t>
            </a:r>
            <a:endParaRPr lang="en-US" sz="2000" dirty="0"/>
          </a:p>
        </p:txBody>
      </p:sp>
      <p:sp>
        <p:nvSpPr>
          <p:cNvPr id="15" name="txt_636"/>
          <p:cNvSpPr txBox="1"/>
          <p:nvPr/>
        </p:nvSpPr>
        <p:spPr>
          <a:xfrm>
            <a:off x="4754880" y="4782312"/>
            <a:ext cx="3063240" cy="134416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Spoil at least 0.6 m from the edge. Ladder or ramp within 7.5 m in trenches &gt; 1.2 m. Test atmosphere before entry. Inspect daily and after rain or vibration.</a:t>
            </a:r>
            <a:endParaRPr lang="en-US" sz="1600" dirty="0"/>
          </a:p>
        </p:txBody>
      </p:sp>
      <p:sp>
        <p:nvSpPr>
          <p:cNvPr id="16" name="txt_637"/>
          <p:cNvSpPr txBox="1"/>
          <p:nvPr/>
        </p:nvSpPr>
        <p:spPr>
          <a:xfrm>
            <a:off x="8183880" y="1280160"/>
            <a:ext cx="3456432" cy="411480"/>
          </a:xfrm>
          <a:prstGeom prst="rect">
            <a:avLst/>
          </a:prstGeom>
          <a:noFill/>
          <a:ln/>
        </p:spPr>
        <p:txBody>
          <a:bodyPr wrap="square" lIns="635" tIns="635" rIns="635" bIns="635" rtlCol="0" anchor="t"/>
          <a:lstStyle/>
          <a:p>
            <a:pPr indent="0" marL="0">
              <a:buNone/>
            </a:pPr>
            <a:r>
              <a:rPr lang="en-US" sz="1900" b="1" dirty="0">
                <a:solidFill>
                  <a:srgbClr val="0B2A3C"/>
                </a:solidFill>
                <a:latin typeface="Calibri" pitchFamily="34" charset="0"/>
                <a:ea typeface="Calibri" pitchFamily="34" charset="-122"/>
                <a:cs typeface="Calibri" pitchFamily="34" charset="-120"/>
              </a:rPr>
              <a:t>Protection by depth</a:t>
            </a:r>
            <a:endParaRPr lang="en-US" sz="1900" dirty="0"/>
          </a:p>
        </p:txBody>
      </p:sp>
      <p:sp>
        <p:nvSpPr>
          <p:cNvPr id="17" name="a1_box_638"/>
          <p:cNvSpPr/>
          <p:nvPr/>
        </p:nvSpPr>
        <p:spPr>
          <a:xfrm>
            <a:off x="8183880" y="1783080"/>
            <a:ext cx="3456432" cy="1371600"/>
          </a:xfrm>
          <a:prstGeom prst="roundRect">
            <a:avLst>
              <a:gd name="adj" fmla="val 8000"/>
            </a:avLst>
          </a:prstGeom>
          <a:solidFill>
            <a:srgbClr val="FFFFFF"/>
          </a:solidFill>
          <a:ln w="12700">
            <a:solidFill>
              <a:srgbClr val="C9D3D9"/>
            </a:solidFill>
            <a:prstDash val="solid"/>
          </a:ln>
        </p:spPr>
      </p:sp>
      <p:sp>
        <p:nvSpPr>
          <p:cNvPr id="18" name="a1_box_639"/>
          <p:cNvSpPr/>
          <p:nvPr/>
        </p:nvSpPr>
        <p:spPr>
          <a:xfrm>
            <a:off x="8183880" y="1783080"/>
            <a:ext cx="1234440" cy="1371600"/>
          </a:xfrm>
          <a:prstGeom prst="rect">
            <a:avLst/>
          </a:prstGeom>
          <a:solidFill>
            <a:srgbClr val="2E7D32"/>
          </a:solidFill>
          <a:ln/>
        </p:spPr>
      </p:sp>
      <p:sp>
        <p:nvSpPr>
          <p:cNvPr id="19" name="a1_txt_640"/>
          <p:cNvSpPr txBox="1"/>
          <p:nvPr/>
        </p:nvSpPr>
        <p:spPr>
          <a:xfrm>
            <a:off x="8202168" y="1783080"/>
            <a:ext cx="1197864" cy="137160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&lt; 1.2 m</a:t>
            </a:r>
            <a:endParaRPr lang="en-US" sz="1700" dirty="0"/>
          </a:p>
        </p:txBody>
      </p:sp>
      <p:sp>
        <p:nvSpPr>
          <p:cNvPr id="20" name="a1_txt_641"/>
          <p:cNvSpPr txBox="1"/>
          <p:nvPr/>
        </p:nvSpPr>
        <p:spPr>
          <a:xfrm>
            <a:off x="9509760" y="1828800"/>
            <a:ext cx="2057400" cy="128016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Basic precautions if competent ground verified</a:t>
            </a:r>
            <a:endParaRPr lang="en-US" sz="1500" dirty="0"/>
          </a:p>
        </p:txBody>
      </p:sp>
      <p:sp>
        <p:nvSpPr>
          <p:cNvPr id="21" name="a2_box_642"/>
          <p:cNvSpPr/>
          <p:nvPr/>
        </p:nvSpPr>
        <p:spPr>
          <a:xfrm>
            <a:off x="8183880" y="3264408"/>
            <a:ext cx="3456432" cy="1371600"/>
          </a:xfrm>
          <a:prstGeom prst="roundRect">
            <a:avLst>
              <a:gd name="adj" fmla="val 8000"/>
            </a:avLst>
          </a:prstGeom>
          <a:solidFill>
            <a:srgbClr val="FFFFFF"/>
          </a:solidFill>
          <a:ln w="12700">
            <a:solidFill>
              <a:srgbClr val="C9D3D9"/>
            </a:solidFill>
            <a:prstDash val="solid"/>
          </a:ln>
        </p:spPr>
      </p:sp>
      <p:sp>
        <p:nvSpPr>
          <p:cNvPr id="22" name="a2_box_643"/>
          <p:cNvSpPr/>
          <p:nvPr/>
        </p:nvSpPr>
        <p:spPr>
          <a:xfrm>
            <a:off x="8183880" y="3264408"/>
            <a:ext cx="1234440" cy="1371600"/>
          </a:xfrm>
          <a:prstGeom prst="rect">
            <a:avLst/>
          </a:prstGeom>
          <a:solidFill>
            <a:srgbClr val="F2A900"/>
          </a:solidFill>
          <a:ln/>
        </p:spPr>
      </p:sp>
      <p:sp>
        <p:nvSpPr>
          <p:cNvPr id="23" name="a2_txt_644"/>
          <p:cNvSpPr txBox="1"/>
          <p:nvPr/>
        </p:nvSpPr>
        <p:spPr>
          <a:xfrm>
            <a:off x="8202168" y="3264408"/>
            <a:ext cx="1197864" cy="137160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 – 4.5 m</a:t>
            </a:r>
            <a:endParaRPr lang="en-US" sz="1700" dirty="0"/>
          </a:p>
        </p:txBody>
      </p:sp>
      <p:sp>
        <p:nvSpPr>
          <p:cNvPr id="24" name="a2_txt_645"/>
          <p:cNvSpPr txBox="1"/>
          <p:nvPr/>
        </p:nvSpPr>
        <p:spPr>
          <a:xfrm>
            <a:off x="9509760" y="3310128"/>
            <a:ext cx="2057400" cy="128016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Protective system: sloping/benching, shoring or trench box</a:t>
            </a:r>
            <a:endParaRPr lang="en-US" sz="1500" dirty="0"/>
          </a:p>
        </p:txBody>
      </p:sp>
      <p:sp>
        <p:nvSpPr>
          <p:cNvPr id="25" name="a3_box_646"/>
          <p:cNvSpPr/>
          <p:nvPr/>
        </p:nvSpPr>
        <p:spPr>
          <a:xfrm>
            <a:off x="8183880" y="4745736"/>
            <a:ext cx="3456432" cy="1371600"/>
          </a:xfrm>
          <a:prstGeom prst="roundRect">
            <a:avLst>
              <a:gd name="adj" fmla="val 8000"/>
            </a:avLst>
          </a:prstGeom>
          <a:solidFill>
            <a:srgbClr val="FFFFFF"/>
          </a:solidFill>
          <a:ln w="12700">
            <a:solidFill>
              <a:srgbClr val="C9D3D9"/>
            </a:solidFill>
            <a:prstDash val="solid"/>
          </a:ln>
        </p:spPr>
      </p:sp>
      <p:sp>
        <p:nvSpPr>
          <p:cNvPr id="26" name="a3_box_647"/>
          <p:cNvSpPr/>
          <p:nvPr/>
        </p:nvSpPr>
        <p:spPr>
          <a:xfrm>
            <a:off x="8183880" y="4745736"/>
            <a:ext cx="1234440" cy="1371600"/>
          </a:xfrm>
          <a:prstGeom prst="rect">
            <a:avLst/>
          </a:prstGeom>
          <a:solidFill>
            <a:srgbClr val="C0392B"/>
          </a:solidFill>
          <a:ln/>
        </p:spPr>
      </p:sp>
      <p:sp>
        <p:nvSpPr>
          <p:cNvPr id="27" name="a3_txt_648"/>
          <p:cNvSpPr txBox="1"/>
          <p:nvPr/>
        </p:nvSpPr>
        <p:spPr>
          <a:xfrm>
            <a:off x="8202168" y="4745736"/>
            <a:ext cx="1197864" cy="137160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&gt; 4.5 m</a:t>
            </a:r>
            <a:endParaRPr lang="en-US" sz="1700" dirty="0"/>
          </a:p>
        </p:txBody>
      </p:sp>
      <p:sp>
        <p:nvSpPr>
          <p:cNvPr id="28" name="a3_txt_649"/>
          <p:cNvSpPr txBox="1"/>
          <p:nvPr/>
        </p:nvSpPr>
        <p:spPr>
          <a:xfrm>
            <a:off x="9509760" y="4791456"/>
            <a:ext cx="2057400" cy="128016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Design approved by a Professional Engineer</a:t>
            </a:r>
            <a:endParaRPr lang="en-US" sz="1500" dirty="0"/>
          </a:p>
        </p:txBody>
      </p:sp>
      <p:sp>
        <p:nvSpPr>
          <p:cNvPr id="2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Work at Height Permit</a:t>
            </a:r>
            <a:endParaRPr lang="en-US" sz="3200" dirty="0"/>
          </a:p>
        </p:txBody>
      </p:sp>
      <p:sp>
        <p:nvSpPr>
          <p:cNvPr id="3" name="box_650"/>
          <p:cNvSpPr/>
          <p:nvPr/>
        </p:nvSpPr>
        <p:spPr>
          <a:xfrm>
            <a:off x="0" y="1143000"/>
            <a:ext cx="4206240" cy="5166360"/>
          </a:xfrm>
          <a:prstGeom prst="rect">
            <a:avLst/>
          </a:prstGeom>
          <a:solidFill>
            <a:srgbClr val="0B2A3C"/>
          </a:solidFill>
          <a:ln/>
        </p:spPr>
      </p:sp>
      <p:pic>
        <p:nvPicPr>
          <p:cNvPr id="4" name="icon_651"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652"/>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Prevent the fall</a:t>
            </a:r>
            <a:endParaRPr lang="en-US" sz="1800" dirty="0"/>
          </a:p>
        </p:txBody>
      </p:sp>
      <p:sp>
        <p:nvSpPr>
          <p:cNvPr id="6" name="txt_653"/>
          <p:cNvSpPr txBox="1"/>
          <p:nvPr/>
        </p:nvSpPr>
        <p:spPr>
          <a:xfrm>
            <a:off x="4526280" y="1234440"/>
            <a:ext cx="7114032" cy="777240"/>
          </a:xfrm>
          <a:prstGeom prst="rect">
            <a:avLst/>
          </a:prstGeom>
          <a:noFill/>
          <a:ln/>
        </p:spPr>
        <p:txBody>
          <a:bodyPr wrap="square" lIns="635" tIns="635" rIns="635" bIns="635" rtlCol="0" anchor="t"/>
          <a:lstStyle/>
          <a:p>
            <a:pPr indent="0" marL="0">
              <a:buNone/>
            </a:pPr>
            <a:r>
              <a:rPr lang="en-US" sz="1800" i="1" dirty="0">
                <a:solidFill>
                  <a:srgbClr val="5B6B75"/>
                </a:solidFill>
                <a:latin typeface="Calibri" pitchFamily="34" charset="0"/>
                <a:ea typeface="Calibri" pitchFamily="34" charset="-122"/>
                <a:cs typeface="Calibri" pitchFamily="34" charset="-120"/>
              </a:rPr>
              <a:t>Any work where a person could fall a distance liable to cause injury – can be 2 m or less. Focus: PREVENT the fall.</a:t>
            </a:r>
            <a:endParaRPr lang="en-US" sz="1800" dirty="0"/>
          </a:p>
        </p:txBody>
      </p:sp>
      <p:sp>
        <p:nvSpPr>
          <p:cNvPr id="7" name="txt_654"/>
          <p:cNvSpPr txBox="1"/>
          <p:nvPr/>
        </p:nvSpPr>
        <p:spPr>
          <a:xfrm>
            <a:off x="4526280" y="2057400"/>
            <a:ext cx="3657600" cy="365760"/>
          </a:xfrm>
          <a:prstGeom prst="rect">
            <a:avLst/>
          </a:prstGeom>
          <a:noFill/>
          <a:ln/>
        </p:spPr>
        <p:txBody>
          <a:bodyPr wrap="square" lIns="635" tIns="635" rIns="635" bIns="635" rtlCol="0" anchor="t"/>
          <a:lstStyle/>
          <a:p>
            <a:pPr indent="0" marL="0">
              <a:buNone/>
            </a:pPr>
            <a:r>
              <a:rPr lang="en-US" sz="1800" b="1" dirty="0">
                <a:solidFill>
                  <a:srgbClr val="0B2A3C"/>
                </a:solidFill>
                <a:latin typeface="Calibri" pitchFamily="34" charset="0"/>
                <a:ea typeface="Calibri" pitchFamily="34" charset="-122"/>
                <a:cs typeface="Calibri" pitchFamily="34" charset="-120"/>
              </a:rPr>
              <a:t>Fall protection hierarchy</a:t>
            </a:r>
            <a:endParaRPr lang="en-US" sz="1800" dirty="0"/>
          </a:p>
        </p:txBody>
      </p:sp>
      <p:sp>
        <p:nvSpPr>
          <p:cNvPr id="8" name="a1w_box_655"/>
          <p:cNvSpPr/>
          <p:nvPr/>
        </p:nvSpPr>
        <p:spPr>
          <a:xfrm>
            <a:off x="4526280" y="2468880"/>
            <a:ext cx="3840480" cy="640080"/>
          </a:xfrm>
          <a:prstGeom prst="roundRect">
            <a:avLst>
              <a:gd name="adj" fmla="val 17143"/>
            </a:avLst>
          </a:prstGeom>
          <a:solidFill>
            <a:srgbClr val="2E7D32"/>
          </a:solidFill>
          <a:ln/>
        </p:spPr>
      </p:sp>
      <p:sp>
        <p:nvSpPr>
          <p:cNvPr id="9" name="a1w_txt_656"/>
          <p:cNvSpPr txBox="1"/>
          <p:nvPr/>
        </p:nvSpPr>
        <p:spPr>
          <a:xfrm>
            <a:off x="4617720" y="2468880"/>
            <a:ext cx="370332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Eliminate – work from the ground</a:t>
            </a:r>
            <a:endParaRPr lang="en-US" sz="1500" dirty="0"/>
          </a:p>
        </p:txBody>
      </p:sp>
      <p:sp>
        <p:nvSpPr>
          <p:cNvPr id="10" name="a2w_box_657"/>
          <p:cNvSpPr/>
          <p:nvPr/>
        </p:nvSpPr>
        <p:spPr>
          <a:xfrm>
            <a:off x="4526280" y="3200400"/>
            <a:ext cx="3675888" cy="640080"/>
          </a:xfrm>
          <a:prstGeom prst="roundRect">
            <a:avLst>
              <a:gd name="adj" fmla="val 17143"/>
            </a:avLst>
          </a:prstGeom>
          <a:solidFill>
            <a:srgbClr val="0F6E7A"/>
          </a:solidFill>
          <a:ln/>
        </p:spPr>
      </p:sp>
      <p:sp>
        <p:nvSpPr>
          <p:cNvPr id="11" name="a2w_txt_658"/>
          <p:cNvSpPr txBox="1"/>
          <p:nvPr/>
        </p:nvSpPr>
        <p:spPr>
          <a:xfrm>
            <a:off x="4617720" y="3200400"/>
            <a:ext cx="3538728"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Passive – guardrails, scaffold with toe-boards</a:t>
            </a:r>
            <a:endParaRPr lang="en-US" sz="1500" dirty="0"/>
          </a:p>
        </p:txBody>
      </p:sp>
      <p:sp>
        <p:nvSpPr>
          <p:cNvPr id="12" name="a3w_box_659"/>
          <p:cNvSpPr/>
          <p:nvPr/>
        </p:nvSpPr>
        <p:spPr>
          <a:xfrm>
            <a:off x="4526280" y="3931920"/>
            <a:ext cx="3511296" cy="640080"/>
          </a:xfrm>
          <a:prstGeom prst="roundRect">
            <a:avLst>
              <a:gd name="adj" fmla="val 17143"/>
            </a:avLst>
          </a:prstGeom>
          <a:solidFill>
            <a:srgbClr val="0F6E7A"/>
          </a:solidFill>
          <a:ln/>
        </p:spPr>
      </p:sp>
      <p:sp>
        <p:nvSpPr>
          <p:cNvPr id="13" name="a3w_txt_660"/>
          <p:cNvSpPr txBox="1"/>
          <p:nvPr/>
        </p:nvSpPr>
        <p:spPr>
          <a:xfrm>
            <a:off x="4617720" y="3931920"/>
            <a:ext cx="3374136"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Collective – safety nets, airbags</a:t>
            </a:r>
            <a:endParaRPr lang="en-US" sz="1500" dirty="0"/>
          </a:p>
        </p:txBody>
      </p:sp>
      <p:sp>
        <p:nvSpPr>
          <p:cNvPr id="14" name="a4w_box_661"/>
          <p:cNvSpPr/>
          <p:nvPr/>
        </p:nvSpPr>
        <p:spPr>
          <a:xfrm>
            <a:off x="4526280" y="4663440"/>
            <a:ext cx="3346704" cy="640080"/>
          </a:xfrm>
          <a:prstGeom prst="roundRect">
            <a:avLst>
              <a:gd name="adj" fmla="val 17143"/>
            </a:avLst>
          </a:prstGeom>
          <a:solidFill>
            <a:srgbClr val="E8771E"/>
          </a:solidFill>
          <a:ln/>
        </p:spPr>
      </p:sp>
      <p:sp>
        <p:nvSpPr>
          <p:cNvPr id="15" name="a4w_txt_662"/>
          <p:cNvSpPr txBox="1"/>
          <p:nvPr/>
        </p:nvSpPr>
        <p:spPr>
          <a:xfrm>
            <a:off x="4617720" y="4663440"/>
            <a:ext cx="3209544"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Personal – restraint preferred over arrest</a:t>
            </a:r>
            <a:endParaRPr lang="en-US" sz="1500" dirty="0"/>
          </a:p>
        </p:txBody>
      </p:sp>
      <p:sp>
        <p:nvSpPr>
          <p:cNvPr id="16" name="a5w_box_663"/>
          <p:cNvSpPr/>
          <p:nvPr/>
        </p:nvSpPr>
        <p:spPr>
          <a:xfrm>
            <a:off x="4526280" y="5394960"/>
            <a:ext cx="3182112" cy="640080"/>
          </a:xfrm>
          <a:prstGeom prst="roundRect">
            <a:avLst>
              <a:gd name="adj" fmla="val 17143"/>
            </a:avLst>
          </a:prstGeom>
          <a:solidFill>
            <a:srgbClr val="C0392B"/>
          </a:solidFill>
          <a:ln/>
        </p:spPr>
      </p:sp>
      <p:sp>
        <p:nvSpPr>
          <p:cNvPr id="17" name="a5w_txt_664"/>
          <p:cNvSpPr txBox="1"/>
          <p:nvPr/>
        </p:nvSpPr>
        <p:spPr>
          <a:xfrm>
            <a:off x="4617720" y="5394960"/>
            <a:ext cx="3044952"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Ladders – short, light work only (3 points of contact)</a:t>
            </a:r>
            <a:endParaRPr lang="en-US" sz="1500" dirty="0"/>
          </a:p>
        </p:txBody>
      </p:sp>
      <p:sp>
        <p:nvSpPr>
          <p:cNvPr id="18" name="txt_665"/>
          <p:cNvSpPr txBox="1"/>
          <p:nvPr/>
        </p:nvSpPr>
        <p:spPr>
          <a:xfrm>
            <a:off x="8641080" y="2057400"/>
            <a:ext cx="3017520" cy="365760"/>
          </a:xfrm>
          <a:prstGeom prst="rect">
            <a:avLst/>
          </a:prstGeom>
          <a:noFill/>
          <a:ln/>
        </p:spPr>
        <p:txBody>
          <a:bodyPr wrap="square" lIns="635" tIns="635" rIns="635" bIns="635" rtlCol="0" anchor="t"/>
          <a:lstStyle/>
          <a:p>
            <a:pPr indent="0" marL="0">
              <a:buNone/>
            </a:pPr>
            <a:r>
              <a:rPr lang="en-US" sz="1800" b="1" dirty="0">
                <a:solidFill>
                  <a:srgbClr val="0B2A3C"/>
                </a:solidFill>
                <a:latin typeface="Calibri" pitchFamily="34" charset="0"/>
                <a:ea typeface="Calibri" pitchFamily="34" charset="-122"/>
                <a:cs typeface="Calibri" pitchFamily="34" charset="-120"/>
              </a:rPr>
              <a:t>Scaffold tags</a:t>
            </a:r>
            <a:endParaRPr lang="en-US" sz="1800" dirty="0"/>
          </a:p>
        </p:txBody>
      </p:sp>
      <p:sp>
        <p:nvSpPr>
          <p:cNvPr id="19" name="a6_box_666"/>
          <p:cNvSpPr/>
          <p:nvPr/>
        </p:nvSpPr>
        <p:spPr>
          <a:xfrm>
            <a:off x="8641080" y="2468880"/>
            <a:ext cx="2999232" cy="530352"/>
          </a:xfrm>
          <a:prstGeom prst="roundRect">
            <a:avLst>
              <a:gd name="adj" fmla="val 20690"/>
            </a:avLst>
          </a:prstGeom>
          <a:solidFill>
            <a:srgbClr val="2E7D32"/>
          </a:solidFill>
          <a:ln/>
        </p:spPr>
      </p:sp>
      <p:sp>
        <p:nvSpPr>
          <p:cNvPr id="20" name="a6_txt_667"/>
          <p:cNvSpPr txBox="1"/>
          <p:nvPr/>
        </p:nvSpPr>
        <p:spPr>
          <a:xfrm>
            <a:off x="8732520" y="2468880"/>
            <a:ext cx="2834640" cy="530352"/>
          </a:xfrm>
          <a:prstGeom prst="rect">
            <a:avLst/>
          </a:prstGeom>
          <a:noFill/>
          <a:ln/>
        </p:spPr>
        <p:txBody>
          <a:bodyPr wrap="square" lIns="635" tIns="635" rIns="635" bIns="635"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GREEN  </a:t>
            </a:r>
            <a:pPr indent="0" marL="0">
              <a:buNone/>
            </a:pPr>
            <a:r>
              <a:rPr lang="en-US" sz="1600" dirty="0">
                <a:solidFill>
                  <a:srgbClr val="FFFFFF"/>
                </a:solidFill>
                <a:latin typeface="Calibri" pitchFamily="34" charset="0"/>
                <a:ea typeface="Calibri" pitchFamily="34" charset="-122"/>
                <a:cs typeface="Calibri" pitchFamily="34" charset="-120"/>
              </a:rPr>
              <a:t>Safe for use</a:t>
            </a:r>
            <a:endParaRPr lang="en-US" sz="1600" dirty="0"/>
          </a:p>
        </p:txBody>
      </p:sp>
      <p:sp>
        <p:nvSpPr>
          <p:cNvPr id="21" name="a6_box_668"/>
          <p:cNvSpPr/>
          <p:nvPr/>
        </p:nvSpPr>
        <p:spPr>
          <a:xfrm>
            <a:off x="8641080" y="3090672"/>
            <a:ext cx="2999232" cy="530352"/>
          </a:xfrm>
          <a:prstGeom prst="roundRect">
            <a:avLst>
              <a:gd name="adj" fmla="val 20690"/>
            </a:avLst>
          </a:prstGeom>
          <a:solidFill>
            <a:srgbClr val="F2A900"/>
          </a:solidFill>
          <a:ln/>
        </p:spPr>
      </p:sp>
      <p:sp>
        <p:nvSpPr>
          <p:cNvPr id="22" name="a6_txt_669"/>
          <p:cNvSpPr txBox="1"/>
          <p:nvPr/>
        </p:nvSpPr>
        <p:spPr>
          <a:xfrm>
            <a:off x="8732520" y="3090672"/>
            <a:ext cx="2834640" cy="530352"/>
          </a:xfrm>
          <a:prstGeom prst="rect">
            <a:avLst/>
          </a:prstGeom>
          <a:noFill/>
          <a:ln/>
        </p:spPr>
        <p:txBody>
          <a:bodyPr wrap="square" lIns="635" tIns="635" rIns="635" bIns="635"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YELLOW  </a:t>
            </a:r>
            <a:pPr indent="0" marL="0">
              <a:buNone/>
            </a:pPr>
            <a:r>
              <a:rPr lang="en-US" sz="1600" dirty="0">
                <a:solidFill>
                  <a:srgbClr val="FFFFFF"/>
                </a:solidFill>
                <a:latin typeface="Calibri" pitchFamily="34" charset="0"/>
                <a:ea typeface="Calibri" pitchFamily="34" charset="-122"/>
                <a:cs typeface="Calibri" pitchFamily="34" charset="-120"/>
              </a:rPr>
              <a:t>Use with caution</a:t>
            </a:r>
            <a:endParaRPr lang="en-US" sz="1600" dirty="0"/>
          </a:p>
        </p:txBody>
      </p:sp>
      <p:sp>
        <p:nvSpPr>
          <p:cNvPr id="23" name="a6_box_670"/>
          <p:cNvSpPr/>
          <p:nvPr/>
        </p:nvSpPr>
        <p:spPr>
          <a:xfrm>
            <a:off x="8641080" y="3712464"/>
            <a:ext cx="2999232" cy="530352"/>
          </a:xfrm>
          <a:prstGeom prst="roundRect">
            <a:avLst>
              <a:gd name="adj" fmla="val 20690"/>
            </a:avLst>
          </a:prstGeom>
          <a:solidFill>
            <a:srgbClr val="C0392B"/>
          </a:solidFill>
          <a:ln/>
        </p:spPr>
      </p:sp>
      <p:sp>
        <p:nvSpPr>
          <p:cNvPr id="24" name="a6_txt_671"/>
          <p:cNvSpPr txBox="1"/>
          <p:nvPr/>
        </p:nvSpPr>
        <p:spPr>
          <a:xfrm>
            <a:off x="8732520" y="3712464"/>
            <a:ext cx="2834640" cy="530352"/>
          </a:xfrm>
          <a:prstGeom prst="rect">
            <a:avLst/>
          </a:prstGeom>
          <a:noFill/>
          <a:ln/>
        </p:spPr>
        <p:txBody>
          <a:bodyPr wrap="square" lIns="635" tIns="635" rIns="635" bIns="635"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RED  </a:t>
            </a:r>
            <a:pPr indent="0" marL="0">
              <a:buNone/>
            </a:pPr>
            <a:r>
              <a:rPr lang="en-US" sz="1600" dirty="0">
                <a:solidFill>
                  <a:srgbClr val="FFFFFF"/>
                </a:solidFill>
                <a:latin typeface="Calibri" pitchFamily="34" charset="0"/>
                <a:ea typeface="Calibri" pitchFamily="34" charset="-122"/>
                <a:cs typeface="Calibri" pitchFamily="34" charset="-120"/>
              </a:rPr>
              <a:t>Do NOT use</a:t>
            </a:r>
            <a:endParaRPr lang="en-US" sz="1600" dirty="0"/>
          </a:p>
        </p:txBody>
      </p:sp>
      <p:sp>
        <p:nvSpPr>
          <p:cNvPr id="25" name="a7_box_672"/>
          <p:cNvSpPr/>
          <p:nvPr/>
        </p:nvSpPr>
        <p:spPr>
          <a:xfrm>
            <a:off x="8641080" y="4434840"/>
            <a:ext cx="2999232" cy="1783080"/>
          </a:xfrm>
          <a:prstGeom prst="roundRect">
            <a:avLst>
              <a:gd name="adj" fmla="val 6154"/>
            </a:avLst>
          </a:prstGeom>
          <a:solidFill>
            <a:srgbClr val="FFFFFF"/>
          </a:solidFill>
          <a:ln w="12700">
            <a:solidFill>
              <a:srgbClr val="C9D3D9"/>
            </a:solidFill>
            <a:prstDash val="solid"/>
          </a:ln>
        </p:spPr>
      </p:sp>
      <p:sp>
        <p:nvSpPr>
          <p:cNvPr id="26" name="a7_txt_673"/>
          <p:cNvSpPr txBox="1"/>
          <p:nvPr/>
        </p:nvSpPr>
        <p:spPr>
          <a:xfrm>
            <a:off x="8732520" y="4480560"/>
            <a:ext cx="2834640" cy="1691640"/>
          </a:xfrm>
          <a:prstGeom prst="rect">
            <a:avLst/>
          </a:prstGeom>
          <a:noFill/>
          <a:ln/>
        </p:spPr>
        <p:txBody>
          <a:bodyPr wrap="square" lIns="635" tIns="635" rIns="635" bIns="635" rtlCol="0" anchor="t"/>
          <a:lstStyle/>
          <a:p>
            <a:pPr marL="228600" indent="-228600">
              <a:spcAft>
                <a:spcPts val="400"/>
              </a:spcAft>
              <a:buSzPct val="100000"/>
              <a:buChar char="•"/>
            </a:pPr>
            <a:r>
              <a:rPr lang="en-US" sz="1500" dirty="0">
                <a:solidFill>
                  <a:srgbClr val="1B2730"/>
                </a:solidFill>
                <a:latin typeface="Calibri" pitchFamily="34" charset="0"/>
                <a:ea typeface="Calibri" pitchFamily="34" charset="-122"/>
                <a:cs typeface="Calibri" pitchFamily="34" charset="-120"/>
              </a:rPr>
              <a:t>Anchor ≥ 22 kN, free fall ≤ 1.8 m</a:t>
            </a:r>
            <a:endParaRPr lang="en-US" sz="1500" dirty="0"/>
          </a:p>
          <a:p>
            <a:pPr marL="228600" indent="-228600">
              <a:spcAft>
                <a:spcPts val="400"/>
              </a:spcAft>
              <a:buSzPct val="100000"/>
              <a:buChar char="•"/>
            </a:pPr>
            <a:r>
              <a:rPr lang="en-US" sz="1500" dirty="0">
                <a:solidFill>
                  <a:srgbClr val="1B2730"/>
                </a:solidFill>
                <a:latin typeface="Calibri" pitchFamily="34" charset="0"/>
                <a:ea typeface="Calibri" pitchFamily="34" charset="-122"/>
                <a:cs typeface="Calibri" pitchFamily="34" charset="-120"/>
              </a:rPr>
              <a:t>Full body harness, dorsal D-ring</a:t>
            </a:r>
            <a:endParaRPr lang="en-US" sz="1500" dirty="0"/>
          </a:p>
          <a:p>
            <a:pPr marL="228600" indent="-228600">
              <a:spcAft>
                <a:spcPts val="400"/>
              </a:spcAft>
              <a:buSzPct val="100000"/>
              <a:buChar char="•"/>
            </a:pPr>
            <a:r>
              <a:rPr lang="en-US" sz="1500" dirty="0">
                <a:solidFill>
                  <a:srgbClr val="1B2730"/>
                </a:solidFill>
                <a:latin typeface="Calibri" pitchFamily="34" charset="0"/>
                <a:ea typeface="Calibri" pitchFamily="34" charset="-122"/>
                <a:cs typeface="Calibri" pitchFamily="34" charset="-120"/>
              </a:rPr>
              <a:t>Rescue plan BEFORE work starts</a:t>
            </a:r>
            <a:endParaRPr lang="en-US" sz="1500" dirty="0"/>
          </a:p>
        </p:txBody>
      </p:sp>
      <p:sp>
        <p:nvSpPr>
          <p:cNvPr id="2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Radiography Permit (Ionising Radiation)</a:t>
            </a:r>
            <a:endParaRPr lang="en-US" sz="3200" dirty="0"/>
          </a:p>
        </p:txBody>
      </p:sp>
      <p:sp>
        <p:nvSpPr>
          <p:cNvPr id="3" name="box_674"/>
          <p:cNvSpPr/>
          <p:nvPr/>
        </p:nvSpPr>
        <p:spPr>
          <a:xfrm>
            <a:off x="0" y="1143000"/>
            <a:ext cx="4206240" cy="5166360"/>
          </a:xfrm>
          <a:prstGeom prst="rect">
            <a:avLst/>
          </a:prstGeom>
          <a:solidFill>
            <a:srgbClr val="6A1B9A"/>
          </a:solidFill>
          <a:ln/>
        </p:spPr>
      </p:sp>
      <p:pic>
        <p:nvPicPr>
          <p:cNvPr id="4" name="icon_675"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676"/>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Invisible hazard</a:t>
            </a:r>
            <a:endParaRPr lang="en-US" sz="1800" dirty="0"/>
          </a:p>
        </p:txBody>
      </p:sp>
      <p:sp>
        <p:nvSpPr>
          <p:cNvPr id="6" name="box_677"/>
          <p:cNvSpPr/>
          <p:nvPr/>
        </p:nvSpPr>
        <p:spPr>
          <a:xfrm>
            <a:off x="4526280" y="1280160"/>
            <a:ext cx="7114032" cy="1005840"/>
          </a:xfrm>
          <a:prstGeom prst="roundRect">
            <a:avLst>
              <a:gd name="adj" fmla="val 10909"/>
            </a:avLst>
          </a:prstGeom>
          <a:solidFill>
            <a:srgbClr val="6A1B9A"/>
          </a:solidFill>
          <a:ln/>
        </p:spPr>
      </p:sp>
      <p:sp>
        <p:nvSpPr>
          <p:cNvPr id="7" name="txt_678"/>
          <p:cNvSpPr txBox="1"/>
          <p:nvPr/>
        </p:nvSpPr>
        <p:spPr>
          <a:xfrm>
            <a:off x="4709160" y="1280160"/>
            <a:ext cx="6766560" cy="1005840"/>
          </a:xfrm>
          <a:prstGeom prst="rect">
            <a:avLst/>
          </a:prstGeom>
          <a:noFill/>
          <a:ln/>
        </p:spPr>
        <p:txBody>
          <a:bodyPr wrap="square" lIns="635" tIns="635" rIns="635" bIns="635" rtlCol="0" anchor="ctr"/>
          <a:lstStyle/>
          <a:p>
            <a:pPr indent="0" marL="0">
              <a:buNone/>
            </a:pPr>
            <a:r>
              <a:rPr lang="en-US" sz="2000" b="1" dirty="0">
                <a:solidFill>
                  <a:srgbClr val="FFD54F"/>
                </a:solidFill>
                <a:latin typeface="Calibri" pitchFamily="34" charset="0"/>
                <a:ea typeface="Calibri" pitchFamily="34" charset="-122"/>
                <a:cs typeface="Calibri" pitchFamily="34" charset="-120"/>
              </a:rPr>
              <a:t>ALARA </a:t>
            </a:r>
            <a:pPr indent="0" marL="0">
              <a:buNone/>
            </a:pPr>
            <a:r>
              <a:rPr lang="en-US" sz="2000" dirty="0">
                <a:solidFill>
                  <a:srgbClr val="FFFFFF"/>
                </a:solidFill>
                <a:latin typeface="Calibri" pitchFamily="34" charset="0"/>
                <a:ea typeface="Calibri" pitchFamily="34" charset="-122"/>
                <a:cs typeface="Calibri" pitchFamily="34" charset="-120"/>
              </a:rPr>
              <a:t>= As Low As Reasonably Achievable. Every action must minimise radiation exposure.</a:t>
            </a:r>
            <a:endParaRPr lang="en-US" sz="2000" dirty="0"/>
          </a:p>
        </p:txBody>
      </p:sp>
      <p:sp>
        <p:nvSpPr>
          <p:cNvPr id="8" name="a1_circ_679"/>
          <p:cNvSpPr/>
          <p:nvPr/>
        </p:nvSpPr>
        <p:spPr>
          <a:xfrm>
            <a:off x="4526280" y="2468880"/>
            <a:ext cx="621792" cy="621792"/>
          </a:xfrm>
          <a:prstGeom prst="ellipse">
            <a:avLst/>
          </a:prstGeom>
          <a:solidFill>
            <a:srgbClr val="6A1B9A"/>
          </a:solidFill>
          <a:ln/>
        </p:spPr>
      </p:sp>
      <p:pic>
        <p:nvPicPr>
          <p:cNvPr id="9" name="a1_icon_680" descr="preencoded.png">    </p:cNvPr>
          <p:cNvPicPr>
            <a:picLocks noChangeAspect="1"/>
          </p:cNvPicPr>
          <p:nvPr/>
        </p:nvPicPr>
        <p:blipFill>
          <a:blip r:embed="rId2"/>
          <a:stretch>
            <a:fillRect/>
          </a:stretch>
        </p:blipFill>
        <p:spPr>
          <a:xfrm>
            <a:off x="4666183" y="2608783"/>
            <a:ext cx="341986" cy="341986"/>
          </a:xfrm>
          <a:prstGeom prst="rect">
            <a:avLst/>
          </a:prstGeom>
        </p:spPr>
      </p:pic>
      <p:sp>
        <p:nvSpPr>
          <p:cNvPr id="10" name="a1_txt_681"/>
          <p:cNvSpPr txBox="1"/>
          <p:nvPr/>
        </p:nvSpPr>
        <p:spPr>
          <a:xfrm>
            <a:off x="5303520" y="2441448"/>
            <a:ext cx="6336792"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Dosimeters: </a:t>
            </a:r>
            <a:pPr indent="0" marL="0">
              <a:buNone/>
            </a:pPr>
            <a:r>
              <a:rPr lang="en-US" sz="1700" dirty="0">
                <a:solidFill>
                  <a:srgbClr val="1B2730"/>
                </a:solidFill>
                <a:latin typeface="Calibri" pitchFamily="34" charset="0"/>
                <a:ea typeface="Calibri" pitchFamily="34" charset="-122"/>
                <a:cs typeface="Calibri" pitchFamily="34" charset="-120"/>
              </a:rPr>
              <a:t>Everyone in controlled areas wears active and passive dosimeters</a:t>
            </a:r>
            <a:endParaRPr lang="en-US" sz="1700" dirty="0"/>
          </a:p>
        </p:txBody>
      </p:sp>
      <p:sp>
        <p:nvSpPr>
          <p:cNvPr id="11" name="a2_circ_682"/>
          <p:cNvSpPr/>
          <p:nvPr/>
        </p:nvSpPr>
        <p:spPr>
          <a:xfrm>
            <a:off x="4526280" y="3227832"/>
            <a:ext cx="621792" cy="621792"/>
          </a:xfrm>
          <a:prstGeom prst="ellipse">
            <a:avLst/>
          </a:prstGeom>
          <a:solidFill>
            <a:srgbClr val="6A1B9A"/>
          </a:solidFill>
          <a:ln/>
        </p:spPr>
      </p:sp>
      <p:pic>
        <p:nvPicPr>
          <p:cNvPr id="12" name="a2_icon_683" descr="preencoded.png">    </p:cNvPr>
          <p:cNvPicPr>
            <a:picLocks noChangeAspect="1"/>
          </p:cNvPicPr>
          <p:nvPr/>
        </p:nvPicPr>
        <p:blipFill>
          <a:blip r:embed="rId3"/>
          <a:stretch>
            <a:fillRect/>
          </a:stretch>
        </p:blipFill>
        <p:spPr>
          <a:xfrm>
            <a:off x="4666183" y="3367735"/>
            <a:ext cx="341986" cy="341986"/>
          </a:xfrm>
          <a:prstGeom prst="rect">
            <a:avLst/>
          </a:prstGeom>
        </p:spPr>
      </p:pic>
      <p:sp>
        <p:nvSpPr>
          <p:cNvPr id="13" name="a2_txt_684"/>
          <p:cNvSpPr txBox="1"/>
          <p:nvPr/>
        </p:nvSpPr>
        <p:spPr>
          <a:xfrm>
            <a:off x="5303520" y="3200400"/>
            <a:ext cx="6336792"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Controlled area: </a:t>
            </a:r>
            <a:pPr indent="0" marL="0">
              <a:buNone/>
            </a:pPr>
            <a:r>
              <a:rPr lang="en-US" sz="1700" dirty="0">
                <a:solidFill>
                  <a:srgbClr val="1B2730"/>
                </a:solidFill>
                <a:latin typeface="Calibri" pitchFamily="34" charset="0"/>
                <a:ea typeface="Calibri" pitchFamily="34" charset="-122"/>
                <a:cs typeface="Calibri" pitchFamily="34" charset="-120"/>
              </a:rPr>
              <a:t>Exclusion zone: tape, signs, flashing lights – no entry during exposure</a:t>
            </a:r>
            <a:endParaRPr lang="en-US" sz="1700" dirty="0"/>
          </a:p>
        </p:txBody>
      </p:sp>
      <p:sp>
        <p:nvSpPr>
          <p:cNvPr id="14" name="a3_circ_685"/>
          <p:cNvSpPr/>
          <p:nvPr/>
        </p:nvSpPr>
        <p:spPr>
          <a:xfrm>
            <a:off x="4526280" y="3986784"/>
            <a:ext cx="621792" cy="621792"/>
          </a:xfrm>
          <a:prstGeom prst="ellipse">
            <a:avLst/>
          </a:prstGeom>
          <a:solidFill>
            <a:srgbClr val="6A1B9A"/>
          </a:solidFill>
          <a:ln/>
        </p:spPr>
      </p:sp>
      <p:pic>
        <p:nvPicPr>
          <p:cNvPr id="15" name="a3_icon_686" descr="preencoded.png">    </p:cNvPr>
          <p:cNvPicPr>
            <a:picLocks noChangeAspect="1"/>
          </p:cNvPicPr>
          <p:nvPr/>
        </p:nvPicPr>
        <p:blipFill>
          <a:blip r:embed="rId4"/>
          <a:stretch>
            <a:fillRect/>
          </a:stretch>
        </p:blipFill>
        <p:spPr>
          <a:xfrm>
            <a:off x="4666183" y="4126687"/>
            <a:ext cx="341986" cy="341986"/>
          </a:xfrm>
          <a:prstGeom prst="rect">
            <a:avLst/>
          </a:prstGeom>
        </p:spPr>
      </p:pic>
      <p:sp>
        <p:nvSpPr>
          <p:cNvPr id="16" name="a3_txt_687"/>
          <p:cNvSpPr txBox="1"/>
          <p:nvPr/>
        </p:nvSpPr>
        <p:spPr>
          <a:xfrm>
            <a:off x="5303520" y="3959352"/>
            <a:ext cx="6336792"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Supervised area &amp; barriers: </a:t>
            </a:r>
            <a:pPr indent="0" marL="0">
              <a:buNone/>
            </a:pPr>
            <a:r>
              <a:rPr lang="en-US" sz="1700" dirty="0">
                <a:solidFill>
                  <a:srgbClr val="1B2730"/>
                </a:solidFill>
                <a:latin typeface="Calibri" pitchFamily="34" charset="0"/>
                <a:ea typeface="Calibri" pitchFamily="34" charset="-122"/>
                <a:cs typeface="Calibri" pitchFamily="34" charset="-120"/>
              </a:rPr>
              <a:t>Surrounding zone monitored; lead screens / shielded enclosures</a:t>
            </a:r>
            <a:endParaRPr lang="en-US" sz="1700" dirty="0"/>
          </a:p>
        </p:txBody>
      </p:sp>
      <p:sp>
        <p:nvSpPr>
          <p:cNvPr id="17" name="a4_circ_688"/>
          <p:cNvSpPr/>
          <p:nvPr/>
        </p:nvSpPr>
        <p:spPr>
          <a:xfrm>
            <a:off x="4526280" y="4745736"/>
            <a:ext cx="621792" cy="621792"/>
          </a:xfrm>
          <a:prstGeom prst="ellipse">
            <a:avLst/>
          </a:prstGeom>
          <a:solidFill>
            <a:srgbClr val="6A1B9A"/>
          </a:solidFill>
          <a:ln/>
        </p:spPr>
      </p:sp>
      <p:pic>
        <p:nvPicPr>
          <p:cNvPr id="18" name="a4_icon_689" descr="preencoded.png">    </p:cNvPr>
          <p:cNvPicPr>
            <a:picLocks noChangeAspect="1"/>
          </p:cNvPicPr>
          <p:nvPr/>
        </p:nvPicPr>
        <p:blipFill>
          <a:blip r:embed="rId5"/>
          <a:stretch>
            <a:fillRect/>
          </a:stretch>
        </p:blipFill>
        <p:spPr>
          <a:xfrm>
            <a:off x="4666183" y="4885639"/>
            <a:ext cx="341986" cy="341986"/>
          </a:xfrm>
          <a:prstGeom prst="rect">
            <a:avLst/>
          </a:prstGeom>
        </p:spPr>
      </p:pic>
      <p:sp>
        <p:nvSpPr>
          <p:cNvPr id="19" name="a4_txt_690"/>
          <p:cNvSpPr txBox="1"/>
          <p:nvPr/>
        </p:nvSpPr>
        <p:spPr>
          <a:xfrm>
            <a:off x="5303520" y="4718304"/>
            <a:ext cx="6336792"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Positive communication: </a:t>
            </a:r>
            <a:pPr indent="0" marL="0">
              <a:buNone/>
            </a:pPr>
            <a:r>
              <a:rPr lang="en-US" sz="1700" dirty="0">
                <a:solidFill>
                  <a:srgbClr val="1B2730"/>
                </a:solidFill>
                <a:latin typeface="Calibri" pitchFamily="34" charset="0"/>
                <a:ea typeface="Calibri" pitchFamily="34" charset="-122"/>
                <a:cs typeface="Calibri" pitchFamily="34" charset="-120"/>
              </a:rPr>
              <a:t>Voice, radio and visual signals (e.g. horn before exposure)</a:t>
            </a:r>
            <a:endParaRPr lang="en-US" sz="1700" dirty="0"/>
          </a:p>
        </p:txBody>
      </p:sp>
      <p:sp>
        <p:nvSpPr>
          <p:cNvPr id="20" name="a5_circ_691"/>
          <p:cNvSpPr/>
          <p:nvPr/>
        </p:nvSpPr>
        <p:spPr>
          <a:xfrm>
            <a:off x="4526280" y="5504688"/>
            <a:ext cx="621792" cy="621792"/>
          </a:xfrm>
          <a:prstGeom prst="ellipse">
            <a:avLst/>
          </a:prstGeom>
          <a:solidFill>
            <a:srgbClr val="6A1B9A"/>
          </a:solidFill>
          <a:ln/>
        </p:spPr>
      </p:sp>
      <p:pic>
        <p:nvPicPr>
          <p:cNvPr id="21" name="a5_icon_692" descr="preencoded.png">    </p:cNvPr>
          <p:cNvPicPr>
            <a:picLocks noChangeAspect="1"/>
          </p:cNvPicPr>
          <p:nvPr/>
        </p:nvPicPr>
        <p:blipFill>
          <a:blip r:embed="rId6"/>
          <a:stretch>
            <a:fillRect/>
          </a:stretch>
        </p:blipFill>
        <p:spPr>
          <a:xfrm>
            <a:off x="4666183" y="5644591"/>
            <a:ext cx="341986" cy="341986"/>
          </a:xfrm>
          <a:prstGeom prst="rect">
            <a:avLst/>
          </a:prstGeom>
        </p:spPr>
      </p:pic>
      <p:sp>
        <p:nvSpPr>
          <p:cNvPr id="22" name="a5_txt_693"/>
          <p:cNvSpPr txBox="1"/>
          <p:nvPr/>
        </p:nvSpPr>
        <p:spPr>
          <a:xfrm>
            <a:off x="5303520" y="5477256"/>
            <a:ext cx="6336792" cy="6858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Source security: </a:t>
            </a:r>
            <a:pPr indent="0" marL="0">
              <a:buNone/>
            </a:pPr>
            <a:r>
              <a:rPr lang="en-US" sz="1700" dirty="0">
                <a:solidFill>
                  <a:srgbClr val="1B2730"/>
                </a:solidFill>
                <a:latin typeface="Calibri" pitchFamily="34" charset="0"/>
                <a:ea typeface="Calibri" pitchFamily="34" charset="-122"/>
                <a:cs typeface="Calibri" pitchFamily="34" charset="-120"/>
              </a:rPr>
              <a:t>Strict handling, transport and storage – prevent loss or theft</a:t>
            </a:r>
            <a:endParaRPr lang="en-US" sz="1700" dirty="0"/>
          </a:p>
        </p:txBody>
      </p:sp>
      <p:sp>
        <p:nvSpPr>
          <p:cNvPr id="2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Combined Permits – The Golden Rule</a:t>
            </a:r>
            <a:endParaRPr lang="en-US" sz="3200" dirty="0"/>
          </a:p>
        </p:txBody>
      </p:sp>
      <p:sp>
        <p:nvSpPr>
          <p:cNvPr id="3" name="txt_694"/>
          <p:cNvSpPr txBox="1"/>
          <p:nvPr/>
        </p:nvSpPr>
        <p:spPr>
          <a:xfrm>
            <a:off x="548640" y="1188720"/>
            <a:ext cx="11094415" cy="457200"/>
          </a:xfrm>
          <a:prstGeom prst="rect">
            <a:avLst/>
          </a:prstGeom>
          <a:noFill/>
          <a:ln/>
        </p:spPr>
        <p:txBody>
          <a:bodyPr wrap="square" lIns="635" tIns="635" rIns="635" bIns="635" rtlCol="0" anchor="t"/>
          <a:lstStyle/>
          <a:p>
            <a:pPr indent="0" marL="0">
              <a:buNone/>
            </a:pPr>
            <a:r>
              <a:rPr lang="en-US" sz="1900" i="1" dirty="0">
                <a:solidFill>
                  <a:srgbClr val="5B6B75"/>
                </a:solidFill>
                <a:latin typeface="Calibri" pitchFamily="34" charset="0"/>
                <a:ea typeface="Calibri" pitchFamily="34" charset="-122"/>
                <a:cs typeface="Calibri" pitchFamily="34" charset="-120"/>
              </a:rPr>
              <a:t>Example from the Course Notes: Vessel entry for catalyst replacement in R-201</a:t>
            </a:r>
            <a:endParaRPr lang="en-US" sz="1900" dirty="0"/>
          </a:p>
        </p:txBody>
      </p:sp>
      <p:sp>
        <p:nvSpPr>
          <p:cNvPr id="4" name="a1_box_695"/>
          <p:cNvSpPr/>
          <p:nvPr/>
        </p:nvSpPr>
        <p:spPr>
          <a:xfrm>
            <a:off x="3566160" y="1783080"/>
            <a:ext cx="5056632" cy="1051560"/>
          </a:xfrm>
          <a:prstGeom prst="roundRect">
            <a:avLst>
              <a:gd name="adj" fmla="val 10435"/>
            </a:avLst>
          </a:prstGeom>
          <a:solidFill>
            <a:srgbClr val="0B2A3C"/>
          </a:solidFill>
          <a:ln/>
        </p:spPr>
      </p:sp>
      <p:sp>
        <p:nvSpPr>
          <p:cNvPr id="5" name="a1_txt_696"/>
          <p:cNvSpPr txBox="1"/>
          <p:nvPr/>
        </p:nvSpPr>
        <p:spPr>
          <a:xfrm>
            <a:off x="3657600" y="1783080"/>
            <a:ext cx="4873752" cy="1051560"/>
          </a:xfrm>
          <a:prstGeom prst="rect">
            <a:avLst/>
          </a:prstGeom>
          <a:noFill/>
          <a:ln/>
        </p:spPr>
        <p:txBody>
          <a:bodyPr wrap="square" lIns="635" tIns="635" rIns="635" bIns="635" rtlCol="0" anchor="ctr"/>
          <a:lstStyle/>
          <a:p>
            <a:pPr algn="ctr" indent="0" marL="0">
              <a:buNone/>
            </a:pPr>
            <a:r>
              <a:rPr lang="en-US" sz="1500" b="1" dirty="0">
                <a:solidFill>
                  <a:srgbClr val="E8771E"/>
                </a:solidFill>
                <a:latin typeface="Calibri" pitchFamily="34" charset="0"/>
                <a:ea typeface="Calibri" pitchFamily="34" charset="-122"/>
                <a:cs typeface="Calibri" pitchFamily="34" charset="-120"/>
              </a:rPr>
              <a:t>MASTER PERMIT</a:t>
            </a:r>
            <a:endParaRPr lang="en-US" sz="2000" dirty="0"/>
          </a:p>
          <a:p>
            <a:pPr algn="ctr" indent="0" marL="0">
              <a:buNone/>
            </a:pPr>
            <a:r>
              <a:rPr lang="en-US" sz="1900" b="1" dirty="0">
                <a:solidFill>
                  <a:srgbClr val="FFFFFF"/>
                </a:solidFill>
                <a:latin typeface="Calibri" pitchFamily="34" charset="0"/>
                <a:ea typeface="Calibri" pitchFamily="34" charset="-122"/>
                <a:cs typeface="Calibri" pitchFamily="34" charset="-120"/>
              </a:rPr>
              <a:t>Cold Work Permit – “Catalyst Replacement in R-201”</a:t>
            </a:r>
            <a:endParaRPr lang="en-US" sz="2000" dirty="0"/>
          </a:p>
        </p:txBody>
      </p:sp>
      <p:sp>
        <p:nvSpPr>
          <p:cNvPr id="6" name="a2_box_697"/>
          <p:cNvSpPr/>
          <p:nvPr/>
        </p:nvSpPr>
        <p:spPr>
          <a:xfrm>
            <a:off x="548640" y="3154680"/>
            <a:ext cx="2622728" cy="1463040"/>
          </a:xfrm>
          <a:prstGeom prst="roundRect">
            <a:avLst>
              <a:gd name="adj" fmla="val 7500"/>
            </a:avLst>
          </a:prstGeom>
          <a:solidFill>
            <a:srgbClr val="FFFFFF"/>
          </a:solidFill>
          <a:ln w="25400">
            <a:solidFill>
              <a:srgbClr val="E8771E"/>
            </a:solidFill>
            <a:prstDash val="solid"/>
          </a:ln>
        </p:spPr>
      </p:sp>
      <p:pic>
        <p:nvPicPr>
          <p:cNvPr id="7" name="a2_icon_698" descr="preencoded.png">    </p:cNvPr>
          <p:cNvPicPr>
            <a:picLocks noChangeAspect="1"/>
          </p:cNvPicPr>
          <p:nvPr/>
        </p:nvPicPr>
        <p:blipFill>
          <a:blip r:embed="rId1"/>
          <a:stretch>
            <a:fillRect/>
          </a:stretch>
        </p:blipFill>
        <p:spPr>
          <a:xfrm>
            <a:off x="731520" y="3310128"/>
            <a:ext cx="502920" cy="502920"/>
          </a:xfrm>
          <a:prstGeom prst="rect">
            <a:avLst/>
          </a:prstGeom>
        </p:spPr>
      </p:pic>
      <p:sp>
        <p:nvSpPr>
          <p:cNvPr id="8" name="a2_txt_699"/>
          <p:cNvSpPr txBox="1"/>
          <p:nvPr/>
        </p:nvSpPr>
        <p:spPr>
          <a:xfrm>
            <a:off x="1325880" y="3200400"/>
            <a:ext cx="1754048" cy="13716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Confined Space Entry Certificate</a:t>
            </a:r>
            <a:endParaRPr lang="en-US" sz="1700" dirty="0"/>
          </a:p>
        </p:txBody>
      </p:sp>
      <p:sp>
        <p:nvSpPr>
          <p:cNvPr id="9" name="a2_box_700"/>
          <p:cNvSpPr/>
          <p:nvPr/>
        </p:nvSpPr>
        <p:spPr>
          <a:xfrm>
            <a:off x="3372536" y="3154680"/>
            <a:ext cx="2622728" cy="1463040"/>
          </a:xfrm>
          <a:prstGeom prst="roundRect">
            <a:avLst>
              <a:gd name="adj" fmla="val 7500"/>
            </a:avLst>
          </a:prstGeom>
          <a:solidFill>
            <a:srgbClr val="FFFFFF"/>
          </a:solidFill>
          <a:ln w="25400">
            <a:solidFill>
              <a:srgbClr val="C0392B"/>
            </a:solidFill>
            <a:prstDash val="solid"/>
          </a:ln>
        </p:spPr>
      </p:sp>
      <p:pic>
        <p:nvPicPr>
          <p:cNvPr id="10" name="a2_icon_701" descr="preencoded.png">    </p:cNvPr>
          <p:cNvPicPr>
            <a:picLocks noChangeAspect="1"/>
          </p:cNvPicPr>
          <p:nvPr/>
        </p:nvPicPr>
        <p:blipFill>
          <a:blip r:embed="rId2"/>
          <a:stretch>
            <a:fillRect/>
          </a:stretch>
        </p:blipFill>
        <p:spPr>
          <a:xfrm>
            <a:off x="3555416" y="3310128"/>
            <a:ext cx="502920" cy="502920"/>
          </a:xfrm>
          <a:prstGeom prst="rect">
            <a:avLst/>
          </a:prstGeom>
        </p:spPr>
      </p:pic>
      <p:sp>
        <p:nvSpPr>
          <p:cNvPr id="11" name="a2_txt_702"/>
          <p:cNvSpPr txBox="1"/>
          <p:nvPr/>
        </p:nvSpPr>
        <p:spPr>
          <a:xfrm>
            <a:off x="4149776" y="3200400"/>
            <a:ext cx="1754048" cy="13716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Hot Work Certificate (if cutting/welding)</a:t>
            </a:r>
            <a:endParaRPr lang="en-US" sz="1700" dirty="0"/>
          </a:p>
        </p:txBody>
      </p:sp>
      <p:sp>
        <p:nvSpPr>
          <p:cNvPr id="12" name="a2_box_703"/>
          <p:cNvSpPr/>
          <p:nvPr/>
        </p:nvSpPr>
        <p:spPr>
          <a:xfrm>
            <a:off x="6196432" y="3154680"/>
            <a:ext cx="2622728" cy="1463040"/>
          </a:xfrm>
          <a:prstGeom prst="roundRect">
            <a:avLst>
              <a:gd name="adj" fmla="val 7500"/>
            </a:avLst>
          </a:prstGeom>
          <a:solidFill>
            <a:srgbClr val="FFFFFF"/>
          </a:solidFill>
          <a:ln w="25400">
            <a:solidFill>
              <a:srgbClr val="0F6E7A"/>
            </a:solidFill>
            <a:prstDash val="solid"/>
          </a:ln>
        </p:spPr>
      </p:sp>
      <p:pic>
        <p:nvPicPr>
          <p:cNvPr id="13" name="a2_icon_704" descr="preencoded.png">    </p:cNvPr>
          <p:cNvPicPr>
            <a:picLocks noChangeAspect="1"/>
          </p:cNvPicPr>
          <p:nvPr/>
        </p:nvPicPr>
        <p:blipFill>
          <a:blip r:embed="rId3"/>
          <a:stretch>
            <a:fillRect/>
          </a:stretch>
        </p:blipFill>
        <p:spPr>
          <a:xfrm>
            <a:off x="6379312" y="3310128"/>
            <a:ext cx="502920" cy="502920"/>
          </a:xfrm>
          <a:prstGeom prst="rect">
            <a:avLst/>
          </a:prstGeom>
        </p:spPr>
      </p:pic>
      <p:sp>
        <p:nvSpPr>
          <p:cNvPr id="14" name="a2_txt_705"/>
          <p:cNvSpPr txBox="1"/>
          <p:nvPr/>
        </p:nvSpPr>
        <p:spPr>
          <a:xfrm>
            <a:off x="6973672" y="3200400"/>
            <a:ext cx="1754048" cy="13716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Isolation Certificate (LOTO, blinds)</a:t>
            </a:r>
            <a:endParaRPr lang="en-US" sz="1700" dirty="0"/>
          </a:p>
        </p:txBody>
      </p:sp>
      <p:sp>
        <p:nvSpPr>
          <p:cNvPr id="15" name="a2_box_706"/>
          <p:cNvSpPr/>
          <p:nvPr/>
        </p:nvSpPr>
        <p:spPr>
          <a:xfrm>
            <a:off x="9020327" y="3154680"/>
            <a:ext cx="2622728" cy="1463040"/>
          </a:xfrm>
          <a:prstGeom prst="roundRect">
            <a:avLst>
              <a:gd name="adj" fmla="val 7500"/>
            </a:avLst>
          </a:prstGeom>
          <a:solidFill>
            <a:srgbClr val="FFFFFF"/>
          </a:solidFill>
          <a:ln w="25400">
            <a:solidFill>
              <a:srgbClr val="0B2A3C"/>
            </a:solidFill>
            <a:prstDash val="solid"/>
          </a:ln>
        </p:spPr>
      </p:sp>
      <p:pic>
        <p:nvPicPr>
          <p:cNvPr id="16" name="a2_icon_707" descr="preencoded.png">    </p:cNvPr>
          <p:cNvPicPr>
            <a:picLocks noChangeAspect="1"/>
          </p:cNvPicPr>
          <p:nvPr/>
        </p:nvPicPr>
        <p:blipFill>
          <a:blip r:embed="rId4"/>
          <a:stretch>
            <a:fillRect/>
          </a:stretch>
        </p:blipFill>
        <p:spPr>
          <a:xfrm>
            <a:off x="9203207" y="3310128"/>
            <a:ext cx="502920" cy="502920"/>
          </a:xfrm>
          <a:prstGeom prst="rect">
            <a:avLst/>
          </a:prstGeom>
        </p:spPr>
      </p:pic>
      <p:sp>
        <p:nvSpPr>
          <p:cNvPr id="17" name="a2_txt_708"/>
          <p:cNvSpPr txBox="1"/>
          <p:nvPr/>
        </p:nvSpPr>
        <p:spPr>
          <a:xfrm>
            <a:off x="9797567" y="3200400"/>
            <a:ext cx="1754048" cy="137160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Scaffold Certificate (internal scaffold)</a:t>
            </a:r>
            <a:endParaRPr lang="en-US" sz="1700" dirty="0"/>
          </a:p>
        </p:txBody>
      </p:sp>
      <p:sp>
        <p:nvSpPr>
          <p:cNvPr id="18" name="a3_box_709"/>
          <p:cNvSpPr/>
          <p:nvPr/>
        </p:nvSpPr>
        <p:spPr>
          <a:xfrm>
            <a:off x="548640" y="4892040"/>
            <a:ext cx="11094415" cy="1325880"/>
          </a:xfrm>
          <a:prstGeom prst="roundRect">
            <a:avLst>
              <a:gd name="adj" fmla="val 8276"/>
            </a:avLst>
          </a:prstGeom>
          <a:solidFill>
            <a:srgbClr val="FDEBDC"/>
          </a:solidFill>
          <a:ln w="12700">
            <a:solidFill>
              <a:srgbClr val="E8771E"/>
            </a:solidFill>
            <a:prstDash val="solid"/>
          </a:ln>
        </p:spPr>
      </p:sp>
      <p:pic>
        <p:nvPicPr>
          <p:cNvPr id="19" name="a3_icon_710" descr="preencoded.png">    </p:cNvPr>
          <p:cNvPicPr>
            <a:picLocks noChangeAspect="1"/>
          </p:cNvPicPr>
          <p:nvPr/>
        </p:nvPicPr>
        <p:blipFill>
          <a:blip r:embed="rId5"/>
          <a:stretch>
            <a:fillRect/>
          </a:stretch>
        </p:blipFill>
        <p:spPr>
          <a:xfrm>
            <a:off x="777240" y="5138928"/>
            <a:ext cx="777240" cy="777240"/>
          </a:xfrm>
          <a:prstGeom prst="rect">
            <a:avLst/>
          </a:prstGeom>
        </p:spPr>
      </p:pic>
      <p:sp>
        <p:nvSpPr>
          <p:cNvPr id="20" name="a3_txt_711"/>
          <p:cNvSpPr txBox="1"/>
          <p:nvPr/>
        </p:nvSpPr>
        <p:spPr>
          <a:xfrm>
            <a:off x="1783080" y="4919472"/>
            <a:ext cx="9631375" cy="1280160"/>
          </a:xfrm>
          <a:prstGeom prst="rect">
            <a:avLst/>
          </a:prstGeom>
          <a:noFill/>
          <a:ln/>
        </p:spPr>
        <p:txBody>
          <a:bodyPr wrap="square" lIns="635" tIns="635" rIns="635" bIns="635" rtlCol="0" anchor="ctr"/>
          <a:lstStyle/>
          <a:p>
            <a:pPr indent="0" marL="0">
              <a:buNone/>
            </a:pPr>
            <a:r>
              <a:rPr lang="en-US" sz="2000" b="1" dirty="0">
                <a:solidFill>
                  <a:srgbClr val="E8771E"/>
                </a:solidFill>
                <a:latin typeface="Calibri" pitchFamily="34" charset="0"/>
                <a:ea typeface="Calibri" pitchFamily="34" charset="-122"/>
                <a:cs typeface="Calibri" pitchFamily="34" charset="-120"/>
              </a:rPr>
              <a:t>GOLDEN RULE: </a:t>
            </a:r>
            <a:pPr indent="0" marL="0">
              <a:buNone/>
            </a:pPr>
            <a:r>
              <a:rPr lang="en-US" sz="2000" dirty="0">
                <a:solidFill>
                  <a:srgbClr val="1B2730"/>
                </a:solidFill>
                <a:latin typeface="Calibri" pitchFamily="34" charset="0"/>
                <a:ea typeface="Calibri" pitchFamily="34" charset="-122"/>
                <a:cs typeface="Calibri" pitchFamily="34" charset="-120"/>
              </a:rPr>
              <a:t>The MOST RESTRICTIVE condition on ANY attached permit or certificate governs the whole job. All conditions must be met at the same time.</a:t>
            </a:r>
            <a:endParaRPr lang="en-US" sz="2000" dirty="0"/>
          </a:p>
        </p:txBody>
      </p:sp>
      <p:sp>
        <p:nvSpPr>
          <p:cNvPr id="21"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Specialised Permits</a:t>
            </a:r>
            <a:endParaRPr lang="en-US" sz="3200" dirty="0"/>
          </a:p>
        </p:txBody>
      </p:sp>
      <p:sp>
        <p:nvSpPr>
          <p:cNvPr id="3" name="a1_box_712"/>
          <p:cNvSpPr/>
          <p:nvPr/>
        </p:nvSpPr>
        <p:spPr>
          <a:xfrm>
            <a:off x="548640" y="1280160"/>
            <a:ext cx="3564026"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713"/>
          <p:cNvSpPr/>
          <p:nvPr/>
        </p:nvSpPr>
        <p:spPr>
          <a:xfrm>
            <a:off x="731520" y="1463040"/>
            <a:ext cx="685800" cy="685800"/>
          </a:xfrm>
          <a:prstGeom prst="ellipse">
            <a:avLst/>
          </a:prstGeom>
          <a:solidFill>
            <a:srgbClr val="E8771E"/>
          </a:solidFill>
          <a:ln/>
        </p:spPr>
      </p:sp>
      <p:pic>
        <p:nvPicPr>
          <p:cNvPr id="5" name="a1_icon_714"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a1_txt_715"/>
          <p:cNvSpPr txBox="1"/>
          <p:nvPr/>
        </p:nvSpPr>
        <p:spPr>
          <a:xfrm>
            <a:off x="1581912" y="144475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SIMOPS</a:t>
            </a:r>
            <a:endParaRPr lang="en-US" sz="1900" dirty="0"/>
          </a:p>
        </p:txBody>
      </p:sp>
      <p:sp>
        <p:nvSpPr>
          <p:cNvPr id="7" name="a1_txt_716"/>
          <p:cNvSpPr txBox="1"/>
          <p:nvPr/>
        </p:nvSpPr>
        <p:spPr>
          <a:xfrm>
            <a:off x="777240" y="2221992"/>
            <a:ext cx="3152546" cy="12984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Two or more potentially conflicting activities close together – coordination meetings, clear boundaries, dedicated SIMOPS coordinator</a:t>
            </a:r>
            <a:endParaRPr lang="en-US" sz="1600" dirty="0"/>
          </a:p>
        </p:txBody>
      </p:sp>
      <p:sp>
        <p:nvSpPr>
          <p:cNvPr id="8" name="a2_box_717"/>
          <p:cNvSpPr/>
          <p:nvPr/>
        </p:nvSpPr>
        <p:spPr>
          <a:xfrm>
            <a:off x="4313834" y="1280160"/>
            <a:ext cx="3564026"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_circ_718"/>
          <p:cNvSpPr/>
          <p:nvPr/>
        </p:nvSpPr>
        <p:spPr>
          <a:xfrm>
            <a:off x="4496714" y="1463040"/>
            <a:ext cx="685800" cy="685800"/>
          </a:xfrm>
          <a:prstGeom prst="ellipse">
            <a:avLst/>
          </a:prstGeom>
          <a:solidFill>
            <a:srgbClr val="E8771E"/>
          </a:solidFill>
          <a:ln/>
        </p:spPr>
      </p:sp>
      <p:pic>
        <p:nvPicPr>
          <p:cNvPr id="10" name="a2_icon_719" descr="preencoded.png">    </p:cNvPr>
          <p:cNvPicPr>
            <a:picLocks noChangeAspect="1"/>
          </p:cNvPicPr>
          <p:nvPr/>
        </p:nvPicPr>
        <p:blipFill>
          <a:blip r:embed="rId2"/>
          <a:stretch>
            <a:fillRect/>
          </a:stretch>
        </p:blipFill>
        <p:spPr>
          <a:xfrm>
            <a:off x="4651019" y="1617345"/>
            <a:ext cx="377190" cy="377190"/>
          </a:xfrm>
          <a:prstGeom prst="rect">
            <a:avLst/>
          </a:prstGeom>
        </p:spPr>
      </p:pic>
      <p:sp>
        <p:nvSpPr>
          <p:cNvPr id="11" name="a2_txt_720"/>
          <p:cNvSpPr txBox="1"/>
          <p:nvPr/>
        </p:nvSpPr>
        <p:spPr>
          <a:xfrm>
            <a:off x="5347106" y="144475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Break of Containment</a:t>
            </a:r>
            <a:endParaRPr lang="en-US" sz="1900" dirty="0"/>
          </a:p>
        </p:txBody>
      </p:sp>
      <p:sp>
        <p:nvSpPr>
          <p:cNvPr id="12" name="a2_txt_721"/>
          <p:cNvSpPr txBox="1"/>
          <p:nvPr/>
        </p:nvSpPr>
        <p:spPr>
          <a:xfrm>
            <a:off x="4542434" y="2221992"/>
            <a:ext cx="3152546" cy="12984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The first break into any process system – often supervision present, leak detection, detailed sequence</a:t>
            </a:r>
            <a:endParaRPr lang="en-US" sz="1600" dirty="0"/>
          </a:p>
        </p:txBody>
      </p:sp>
      <p:sp>
        <p:nvSpPr>
          <p:cNvPr id="13" name="a3_box_722"/>
          <p:cNvSpPr/>
          <p:nvPr/>
        </p:nvSpPr>
        <p:spPr>
          <a:xfrm>
            <a:off x="8079029" y="1280160"/>
            <a:ext cx="3564026"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_circ_723"/>
          <p:cNvSpPr/>
          <p:nvPr/>
        </p:nvSpPr>
        <p:spPr>
          <a:xfrm>
            <a:off x="8261909" y="1463040"/>
            <a:ext cx="685800" cy="685800"/>
          </a:xfrm>
          <a:prstGeom prst="ellipse">
            <a:avLst/>
          </a:prstGeom>
          <a:solidFill>
            <a:srgbClr val="0F6E7A"/>
          </a:solidFill>
          <a:ln/>
        </p:spPr>
      </p:sp>
      <p:pic>
        <p:nvPicPr>
          <p:cNvPr id="15" name="a3_icon_724" descr="preencoded.png">    </p:cNvPr>
          <p:cNvPicPr>
            <a:picLocks noChangeAspect="1"/>
          </p:cNvPicPr>
          <p:nvPr/>
        </p:nvPicPr>
        <p:blipFill>
          <a:blip r:embed="rId3"/>
          <a:stretch>
            <a:fillRect/>
          </a:stretch>
        </p:blipFill>
        <p:spPr>
          <a:xfrm>
            <a:off x="8416214" y="1617345"/>
            <a:ext cx="377190" cy="377190"/>
          </a:xfrm>
          <a:prstGeom prst="rect">
            <a:avLst/>
          </a:prstGeom>
        </p:spPr>
      </p:pic>
      <p:sp>
        <p:nvSpPr>
          <p:cNvPr id="16" name="a3_txt_725"/>
          <p:cNvSpPr txBox="1"/>
          <p:nvPr/>
        </p:nvSpPr>
        <p:spPr>
          <a:xfrm>
            <a:off x="9112301" y="144475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Management of Change (MOC)</a:t>
            </a:r>
            <a:endParaRPr lang="en-US" sz="1900" dirty="0"/>
          </a:p>
        </p:txBody>
      </p:sp>
      <p:sp>
        <p:nvSpPr>
          <p:cNvPr id="17" name="a3_txt_726"/>
          <p:cNvSpPr txBox="1"/>
          <p:nvPr/>
        </p:nvSpPr>
        <p:spPr>
          <a:xfrm>
            <a:off x="8307629" y="2221992"/>
            <a:ext cx="3152546" cy="12984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Work that implements an MOC – permit references the MOC number; all MOC safety actions complete</a:t>
            </a:r>
            <a:endParaRPr lang="en-US" sz="1600" dirty="0"/>
          </a:p>
        </p:txBody>
      </p:sp>
      <p:sp>
        <p:nvSpPr>
          <p:cNvPr id="18" name="a4_box_727"/>
          <p:cNvSpPr/>
          <p:nvPr/>
        </p:nvSpPr>
        <p:spPr>
          <a:xfrm>
            <a:off x="548640" y="3794760"/>
            <a:ext cx="3564026"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_circ_728"/>
          <p:cNvSpPr/>
          <p:nvPr/>
        </p:nvSpPr>
        <p:spPr>
          <a:xfrm>
            <a:off x="731520" y="3977640"/>
            <a:ext cx="685800" cy="685800"/>
          </a:xfrm>
          <a:prstGeom prst="ellipse">
            <a:avLst/>
          </a:prstGeom>
          <a:solidFill>
            <a:srgbClr val="0F6E7A"/>
          </a:solidFill>
          <a:ln/>
        </p:spPr>
      </p:sp>
      <p:pic>
        <p:nvPicPr>
          <p:cNvPr id="20" name="a4_icon_729" descr="preencoded.png">    </p:cNvPr>
          <p:cNvPicPr>
            <a:picLocks noChangeAspect="1"/>
          </p:cNvPicPr>
          <p:nvPr/>
        </p:nvPicPr>
        <p:blipFill>
          <a:blip r:embed="rId4"/>
          <a:stretch>
            <a:fillRect/>
          </a:stretch>
        </p:blipFill>
        <p:spPr>
          <a:xfrm>
            <a:off x="885825" y="4131945"/>
            <a:ext cx="377190" cy="377190"/>
          </a:xfrm>
          <a:prstGeom prst="rect">
            <a:avLst/>
          </a:prstGeom>
        </p:spPr>
      </p:pic>
      <p:sp>
        <p:nvSpPr>
          <p:cNvPr id="21" name="a4_txt_730"/>
          <p:cNvSpPr txBox="1"/>
          <p:nvPr/>
        </p:nvSpPr>
        <p:spPr>
          <a:xfrm>
            <a:off x="1581912" y="395935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High-Pressure / High-Temperature</a:t>
            </a:r>
            <a:endParaRPr lang="en-US" sz="1900" dirty="0"/>
          </a:p>
        </p:txBody>
      </p:sp>
      <p:sp>
        <p:nvSpPr>
          <p:cNvPr id="22" name="a4_txt_731"/>
          <p:cNvSpPr txBox="1"/>
          <p:nvPr/>
        </p:nvSpPr>
        <p:spPr>
          <a:xfrm>
            <a:off x="777240" y="4736592"/>
            <a:ext cx="3152546" cy="12984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Systems outside normal ranges – specialised procedures and materials</a:t>
            </a:r>
            <a:endParaRPr lang="en-US" sz="1600" dirty="0"/>
          </a:p>
        </p:txBody>
      </p:sp>
      <p:sp>
        <p:nvSpPr>
          <p:cNvPr id="23" name="a5_box_732"/>
          <p:cNvSpPr/>
          <p:nvPr/>
        </p:nvSpPr>
        <p:spPr>
          <a:xfrm>
            <a:off x="4313834" y="3794760"/>
            <a:ext cx="3564026"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_circ_733"/>
          <p:cNvSpPr/>
          <p:nvPr/>
        </p:nvSpPr>
        <p:spPr>
          <a:xfrm>
            <a:off x="4496714" y="3977640"/>
            <a:ext cx="685800" cy="685800"/>
          </a:xfrm>
          <a:prstGeom prst="ellipse">
            <a:avLst/>
          </a:prstGeom>
          <a:solidFill>
            <a:srgbClr val="0F6E7A"/>
          </a:solidFill>
          <a:ln/>
        </p:spPr>
      </p:sp>
      <p:pic>
        <p:nvPicPr>
          <p:cNvPr id="25" name="a5_icon_734" descr="preencoded.png">    </p:cNvPr>
          <p:cNvPicPr>
            <a:picLocks noChangeAspect="1"/>
          </p:cNvPicPr>
          <p:nvPr/>
        </p:nvPicPr>
        <p:blipFill>
          <a:blip r:embed="rId5"/>
          <a:stretch>
            <a:fillRect/>
          </a:stretch>
        </p:blipFill>
        <p:spPr>
          <a:xfrm>
            <a:off x="4651019" y="4131945"/>
            <a:ext cx="377190" cy="377190"/>
          </a:xfrm>
          <a:prstGeom prst="rect">
            <a:avLst/>
          </a:prstGeom>
        </p:spPr>
      </p:pic>
      <p:sp>
        <p:nvSpPr>
          <p:cNvPr id="26" name="a5_txt_735"/>
          <p:cNvSpPr txBox="1"/>
          <p:nvPr/>
        </p:nvSpPr>
        <p:spPr>
          <a:xfrm>
            <a:off x="5347106" y="395935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Laboratory Work</a:t>
            </a:r>
            <a:endParaRPr lang="en-US" sz="1900" dirty="0"/>
          </a:p>
        </p:txBody>
      </p:sp>
      <p:sp>
        <p:nvSpPr>
          <p:cNvPr id="27" name="a5_txt_736"/>
          <p:cNvSpPr txBox="1"/>
          <p:nvPr/>
        </p:nvSpPr>
        <p:spPr>
          <a:xfrm>
            <a:off x="4542434" y="4736592"/>
            <a:ext cx="3152546" cy="12984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High-risk chemical synthesis or testing outside standard procedures</a:t>
            </a:r>
            <a:endParaRPr lang="en-US" sz="1600" dirty="0"/>
          </a:p>
        </p:txBody>
      </p:sp>
      <p:sp>
        <p:nvSpPr>
          <p:cNvPr id="28" name="a6_box_737"/>
          <p:cNvSpPr/>
          <p:nvPr/>
        </p:nvSpPr>
        <p:spPr>
          <a:xfrm>
            <a:off x="8079029" y="3794760"/>
            <a:ext cx="3564026"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circ_738"/>
          <p:cNvSpPr/>
          <p:nvPr/>
        </p:nvSpPr>
        <p:spPr>
          <a:xfrm>
            <a:off x="8261909" y="3977640"/>
            <a:ext cx="685800" cy="685800"/>
          </a:xfrm>
          <a:prstGeom prst="ellipse">
            <a:avLst/>
          </a:prstGeom>
          <a:solidFill>
            <a:srgbClr val="0F6E7A"/>
          </a:solidFill>
          <a:ln/>
        </p:spPr>
      </p:sp>
      <p:pic>
        <p:nvPicPr>
          <p:cNvPr id="30" name="a6_icon_739" descr="preencoded.png">    </p:cNvPr>
          <p:cNvPicPr>
            <a:picLocks noChangeAspect="1"/>
          </p:cNvPicPr>
          <p:nvPr/>
        </p:nvPicPr>
        <p:blipFill>
          <a:blip r:embed="rId6"/>
          <a:stretch>
            <a:fillRect/>
          </a:stretch>
        </p:blipFill>
        <p:spPr>
          <a:xfrm>
            <a:off x="8416214" y="4131945"/>
            <a:ext cx="377190" cy="377190"/>
          </a:xfrm>
          <a:prstGeom prst="rect">
            <a:avLst/>
          </a:prstGeom>
        </p:spPr>
      </p:pic>
      <p:sp>
        <p:nvSpPr>
          <p:cNvPr id="31" name="a6_txt_740"/>
          <p:cNvSpPr txBox="1"/>
          <p:nvPr/>
        </p:nvSpPr>
        <p:spPr>
          <a:xfrm>
            <a:off x="9112301" y="3959352"/>
            <a:ext cx="2393594"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Critical Lifting</a:t>
            </a:r>
            <a:endParaRPr lang="en-US" sz="1900" dirty="0"/>
          </a:p>
        </p:txBody>
      </p:sp>
      <p:sp>
        <p:nvSpPr>
          <p:cNvPr id="32" name="a6_txt_741"/>
          <p:cNvSpPr txBox="1"/>
          <p:nvPr/>
        </p:nvSpPr>
        <p:spPr>
          <a:xfrm>
            <a:off x="8307629" y="4736592"/>
            <a:ext cx="3152546" cy="129844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Complex or heavy lifts where load, method or environment present unusual risk</a:t>
            </a:r>
            <a:endParaRPr lang="en-US" sz="1600" dirty="0"/>
          </a:p>
        </p:txBody>
      </p:sp>
      <p:sp>
        <p:nvSpPr>
          <p:cNvPr id="3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Trainer Question: Which Permit?</a:t>
            </a:r>
            <a:endParaRPr lang="en-US" sz="3200" dirty="0"/>
          </a:p>
        </p:txBody>
      </p:sp>
      <p:sp>
        <p:nvSpPr>
          <p:cNvPr id="3" name="box_742"/>
          <p:cNvSpPr/>
          <p:nvPr/>
        </p:nvSpPr>
        <p:spPr>
          <a:xfrm>
            <a:off x="548640" y="1280160"/>
            <a:ext cx="11094415" cy="1234440"/>
          </a:xfrm>
          <a:prstGeom prst="roundRect">
            <a:avLst>
              <a:gd name="adj" fmla="val 8889"/>
            </a:avLst>
          </a:prstGeom>
          <a:solidFill>
            <a:srgbClr val="0B2A3C"/>
          </a:solidFill>
          <a:ln/>
        </p:spPr>
      </p:sp>
      <p:pic>
        <p:nvPicPr>
          <p:cNvPr id="4" name="icon_743"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744"/>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Match each job to the permit(s) needed, based on the Course Notes.</a:t>
            </a:r>
            <a:endParaRPr lang="en-US" sz="1800" dirty="0"/>
          </a:p>
        </p:txBody>
      </p:sp>
      <p:sp>
        <p:nvSpPr>
          <p:cNvPr id="6" name="txt_745"/>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Which permit applies?</a:t>
            </a:r>
            <a:endParaRPr lang="en-US" sz="2400" dirty="0"/>
          </a:p>
        </p:txBody>
      </p:sp>
      <p:sp>
        <p:nvSpPr>
          <p:cNvPr id="7" name="txt_746"/>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747"/>
          <p:cNvSpPr/>
          <p:nvPr/>
        </p:nvSpPr>
        <p:spPr>
          <a:xfrm>
            <a:off x="548640" y="306324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748"/>
          <p:cNvSpPr/>
          <p:nvPr/>
        </p:nvSpPr>
        <p:spPr>
          <a:xfrm>
            <a:off x="548640" y="3063240"/>
            <a:ext cx="685800" cy="628650"/>
          </a:xfrm>
          <a:prstGeom prst="rect">
            <a:avLst/>
          </a:prstGeom>
          <a:solidFill>
            <a:srgbClr val="C0392B"/>
          </a:solidFill>
          <a:ln/>
        </p:spPr>
      </p:sp>
      <p:pic>
        <p:nvPicPr>
          <p:cNvPr id="10" name="a1_icon_749" descr="preencoded.png">    </p:cNvPr>
          <p:cNvPicPr>
            <a:picLocks noChangeAspect="1"/>
          </p:cNvPicPr>
          <p:nvPr/>
        </p:nvPicPr>
        <p:blipFill>
          <a:blip r:embed="rId2"/>
          <a:stretch>
            <a:fillRect/>
          </a:stretch>
        </p:blipFill>
        <p:spPr>
          <a:xfrm>
            <a:off x="704088" y="3185541"/>
            <a:ext cx="384048" cy="384048"/>
          </a:xfrm>
          <a:prstGeom prst="rect">
            <a:avLst/>
          </a:prstGeom>
        </p:spPr>
      </p:pic>
      <p:sp>
        <p:nvSpPr>
          <p:cNvPr id="11" name="a1_txt_750"/>
          <p:cNvSpPr txBox="1"/>
          <p:nvPr/>
        </p:nvSpPr>
        <p:spPr>
          <a:xfrm>
            <a:off x="1371600" y="3108960"/>
            <a:ext cx="10134295" cy="537210"/>
          </a:xfrm>
          <a:prstGeom prst="rect">
            <a:avLst/>
          </a:prstGeom>
          <a:noFill/>
          <a:ln/>
        </p:spPr>
        <p:txBody>
          <a:bodyPr wrap="square" lIns="635" tIns="635" rIns="635" bIns="635"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Grinding a pipe support near a process unit → </a:t>
            </a:r>
            <a:pPr indent="0" marL="0">
              <a:buNone/>
            </a:pPr>
            <a:r>
              <a:rPr lang="en-US" sz="1800" dirty="0">
                <a:solidFill>
                  <a:srgbClr val="1B2730"/>
                </a:solidFill>
                <a:latin typeface="Calibri" pitchFamily="34" charset="0"/>
                <a:ea typeface="Calibri" pitchFamily="34" charset="-122"/>
                <a:cs typeface="Calibri" pitchFamily="34" charset="-120"/>
              </a:rPr>
              <a:t>Hot Work Permit (+ continuous gas monitoring, fire watch)</a:t>
            </a:r>
            <a:endParaRPr lang="en-US" sz="1800" dirty="0"/>
          </a:p>
        </p:txBody>
      </p:sp>
      <p:sp>
        <p:nvSpPr>
          <p:cNvPr id="12" name="a2_box_751"/>
          <p:cNvSpPr/>
          <p:nvPr/>
        </p:nvSpPr>
        <p:spPr>
          <a:xfrm>
            <a:off x="548640" y="392049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752"/>
          <p:cNvSpPr/>
          <p:nvPr/>
        </p:nvSpPr>
        <p:spPr>
          <a:xfrm>
            <a:off x="548640" y="3920490"/>
            <a:ext cx="685800" cy="628650"/>
          </a:xfrm>
          <a:prstGeom prst="rect">
            <a:avLst/>
          </a:prstGeom>
          <a:solidFill>
            <a:srgbClr val="0F6E7A"/>
          </a:solidFill>
          <a:ln/>
        </p:spPr>
      </p:sp>
      <p:pic>
        <p:nvPicPr>
          <p:cNvPr id="14" name="a2_icon_753" descr="preencoded.png">    </p:cNvPr>
          <p:cNvPicPr>
            <a:picLocks noChangeAspect="1"/>
          </p:cNvPicPr>
          <p:nvPr/>
        </p:nvPicPr>
        <p:blipFill>
          <a:blip r:embed="rId3"/>
          <a:stretch>
            <a:fillRect/>
          </a:stretch>
        </p:blipFill>
        <p:spPr>
          <a:xfrm>
            <a:off x="704088" y="4042791"/>
            <a:ext cx="384048" cy="384048"/>
          </a:xfrm>
          <a:prstGeom prst="rect">
            <a:avLst/>
          </a:prstGeom>
        </p:spPr>
      </p:pic>
      <p:sp>
        <p:nvSpPr>
          <p:cNvPr id="15" name="a2_txt_754"/>
          <p:cNvSpPr txBox="1"/>
          <p:nvPr/>
        </p:nvSpPr>
        <p:spPr>
          <a:xfrm>
            <a:off x="1371600" y="3966210"/>
            <a:ext cx="10134295" cy="537210"/>
          </a:xfrm>
          <a:prstGeom prst="rect">
            <a:avLst/>
          </a:prstGeom>
          <a:noFill/>
          <a:ln/>
        </p:spPr>
        <p:txBody>
          <a:bodyPr wrap="square" lIns="635" tIns="635" rIns="635" bIns="635" rtlCol="0" anchor="ctr"/>
          <a:lstStyle/>
          <a:p>
            <a:pPr indent="0" marL="0">
              <a:buNone/>
            </a:pPr>
            <a:r>
              <a:rPr lang="en-US" sz="1800" b="1" dirty="0">
                <a:solidFill>
                  <a:srgbClr val="0F6E7A"/>
                </a:solidFill>
                <a:latin typeface="Calibri" pitchFamily="34" charset="0"/>
                <a:ea typeface="Calibri" pitchFamily="34" charset="-122"/>
                <a:cs typeface="Calibri" pitchFamily="34" charset="-120"/>
              </a:rPr>
              <a:t>Replacing a valve on an isolated process line → </a:t>
            </a:r>
            <a:pPr indent="0" marL="0">
              <a:buNone/>
            </a:pPr>
            <a:r>
              <a:rPr lang="en-US" sz="1800" dirty="0">
                <a:solidFill>
                  <a:srgbClr val="1B2730"/>
                </a:solidFill>
                <a:latin typeface="Calibri" pitchFamily="34" charset="0"/>
                <a:ea typeface="Calibri" pitchFamily="34" charset="-122"/>
                <a:cs typeface="Calibri" pitchFamily="34" charset="-120"/>
              </a:rPr>
              <a:t>Cold Work Permit with isolation (LOTO) – gas test if breaking into the system</a:t>
            </a:r>
            <a:endParaRPr lang="en-US" sz="1800" dirty="0"/>
          </a:p>
        </p:txBody>
      </p:sp>
      <p:sp>
        <p:nvSpPr>
          <p:cNvPr id="16" name="a3_box_755"/>
          <p:cNvSpPr/>
          <p:nvPr/>
        </p:nvSpPr>
        <p:spPr>
          <a:xfrm>
            <a:off x="548640" y="477774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756"/>
          <p:cNvSpPr/>
          <p:nvPr/>
        </p:nvSpPr>
        <p:spPr>
          <a:xfrm>
            <a:off x="548640" y="4777740"/>
            <a:ext cx="685800" cy="628650"/>
          </a:xfrm>
          <a:prstGeom prst="rect">
            <a:avLst/>
          </a:prstGeom>
          <a:solidFill>
            <a:srgbClr val="E8771E"/>
          </a:solidFill>
          <a:ln/>
        </p:spPr>
      </p:sp>
      <p:pic>
        <p:nvPicPr>
          <p:cNvPr id="18" name="a3_icon_757" descr="preencoded.png">    </p:cNvPr>
          <p:cNvPicPr>
            <a:picLocks noChangeAspect="1"/>
          </p:cNvPicPr>
          <p:nvPr/>
        </p:nvPicPr>
        <p:blipFill>
          <a:blip r:embed="rId4"/>
          <a:stretch>
            <a:fillRect/>
          </a:stretch>
        </p:blipFill>
        <p:spPr>
          <a:xfrm>
            <a:off x="704088" y="4900041"/>
            <a:ext cx="384048" cy="384048"/>
          </a:xfrm>
          <a:prstGeom prst="rect">
            <a:avLst/>
          </a:prstGeom>
        </p:spPr>
      </p:pic>
      <p:sp>
        <p:nvSpPr>
          <p:cNvPr id="19" name="a3_txt_758"/>
          <p:cNvSpPr txBox="1"/>
          <p:nvPr/>
        </p:nvSpPr>
        <p:spPr>
          <a:xfrm>
            <a:off x="1371600" y="4823460"/>
            <a:ext cx="10134295" cy="537210"/>
          </a:xfrm>
          <a:prstGeom prst="rect">
            <a:avLst/>
          </a:prstGeom>
          <a:noFill/>
          <a:ln/>
        </p:spPr>
        <p:txBody>
          <a:bodyPr wrap="square" lIns="635" tIns="635" rIns="635" bIns="635" rtlCol="0" anchor="ctr"/>
          <a:lstStyle/>
          <a:p>
            <a:pPr indent="0" marL="0">
              <a:buNone/>
            </a:pPr>
            <a:r>
              <a:rPr lang="en-US" sz="1800" b="1" dirty="0">
                <a:solidFill>
                  <a:srgbClr val="E8771E"/>
                </a:solidFill>
                <a:latin typeface="Calibri" pitchFamily="34" charset="0"/>
                <a:ea typeface="Calibri" pitchFamily="34" charset="-122"/>
                <a:cs typeface="Calibri" pitchFamily="34" charset="-120"/>
              </a:rPr>
              <a:t>Welding inside a vessel → </a:t>
            </a:r>
            <a:pPr indent="0" marL="0">
              <a:buNone/>
            </a:pPr>
            <a:r>
              <a:rPr lang="en-US" sz="1800" dirty="0">
                <a:solidFill>
                  <a:srgbClr val="1B2730"/>
                </a:solidFill>
                <a:latin typeface="Calibri" pitchFamily="34" charset="0"/>
                <a:ea typeface="Calibri" pitchFamily="34" charset="-122"/>
                <a:cs typeface="Calibri" pitchFamily="34" charset="-120"/>
              </a:rPr>
              <a:t>Master permit + Confined Space + Hot Work + Isolation certificates</a:t>
            </a:r>
            <a:endParaRPr lang="en-US" sz="1800" dirty="0"/>
          </a:p>
        </p:txBody>
      </p:sp>
      <p:sp>
        <p:nvSpPr>
          <p:cNvPr id="20" name="a4_box_759"/>
          <p:cNvSpPr/>
          <p:nvPr/>
        </p:nvSpPr>
        <p:spPr>
          <a:xfrm>
            <a:off x="548640" y="563499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760"/>
          <p:cNvSpPr/>
          <p:nvPr/>
        </p:nvSpPr>
        <p:spPr>
          <a:xfrm>
            <a:off x="548640" y="5634990"/>
            <a:ext cx="685800" cy="628650"/>
          </a:xfrm>
          <a:prstGeom prst="rect">
            <a:avLst/>
          </a:prstGeom>
          <a:solidFill>
            <a:srgbClr val="8D6E63"/>
          </a:solidFill>
          <a:ln/>
        </p:spPr>
      </p:sp>
      <p:pic>
        <p:nvPicPr>
          <p:cNvPr id="22" name="a4_icon_761" descr="preencoded.png">    </p:cNvPr>
          <p:cNvPicPr>
            <a:picLocks noChangeAspect="1"/>
          </p:cNvPicPr>
          <p:nvPr/>
        </p:nvPicPr>
        <p:blipFill>
          <a:blip r:embed="rId5"/>
          <a:stretch>
            <a:fillRect/>
          </a:stretch>
        </p:blipFill>
        <p:spPr>
          <a:xfrm>
            <a:off x="704088" y="5757291"/>
            <a:ext cx="384048" cy="384048"/>
          </a:xfrm>
          <a:prstGeom prst="rect">
            <a:avLst/>
          </a:prstGeom>
        </p:spPr>
      </p:pic>
      <p:sp>
        <p:nvSpPr>
          <p:cNvPr id="23" name="a4_txt_762"/>
          <p:cNvSpPr txBox="1"/>
          <p:nvPr/>
        </p:nvSpPr>
        <p:spPr>
          <a:xfrm>
            <a:off x="1371600" y="5680710"/>
            <a:ext cx="10134295" cy="537210"/>
          </a:xfrm>
          <a:prstGeom prst="rect">
            <a:avLst/>
          </a:prstGeom>
          <a:noFill/>
          <a:ln/>
        </p:spPr>
        <p:txBody>
          <a:bodyPr wrap="square" lIns="635" tIns="635" rIns="635" bIns="635" rtlCol="0" anchor="ctr"/>
          <a:lstStyle/>
          <a:p>
            <a:pPr indent="0" marL="0">
              <a:buNone/>
            </a:pPr>
            <a:r>
              <a:rPr lang="en-US" sz="1800" b="1" dirty="0">
                <a:solidFill>
                  <a:srgbClr val="8D6E63"/>
                </a:solidFill>
                <a:latin typeface="Calibri" pitchFamily="34" charset="0"/>
                <a:ea typeface="Calibri" pitchFamily="34" charset="-122"/>
                <a:cs typeface="Calibri" pitchFamily="34" charset="-120"/>
              </a:rPr>
              <a:t>Digging a trench for a new cable → </a:t>
            </a:r>
            <a:pPr indent="0" marL="0">
              <a:buNone/>
            </a:pPr>
            <a:r>
              <a:rPr lang="en-US" sz="1800" dirty="0">
                <a:solidFill>
                  <a:srgbClr val="1B2730"/>
                </a:solidFill>
                <a:latin typeface="Calibri" pitchFamily="34" charset="0"/>
                <a:ea typeface="Calibri" pitchFamily="34" charset="-122"/>
                <a:cs typeface="Calibri" pitchFamily="34" charset="-120"/>
              </a:rPr>
              <a:t>Excavation Permit (locate all services first)</a:t>
            </a:r>
            <a:endParaRPr lang="en-US" sz="1800" dirty="0"/>
          </a:p>
        </p:txBody>
      </p:sp>
      <p:sp>
        <p:nvSpPr>
          <p:cNvPr id="2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irc_763"/>
          <p:cNvSpPr/>
          <p:nvPr/>
        </p:nvSpPr>
        <p:spPr>
          <a:xfrm>
            <a:off x="548640" y="2011680"/>
            <a:ext cx="1371600" cy="1371600"/>
          </a:xfrm>
          <a:prstGeom prst="ellipse">
            <a:avLst/>
          </a:prstGeom>
          <a:solidFill>
            <a:srgbClr val="E8771E"/>
          </a:solidFill>
          <a:ln/>
        </p:spPr>
      </p:sp>
      <p:pic>
        <p:nvPicPr>
          <p:cNvPr id="3" name="icon_764"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765"/>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4</a:t>
            </a:r>
            <a:endParaRPr lang="en-US" sz="1800" dirty="0"/>
          </a:p>
        </p:txBody>
      </p:sp>
      <p:sp>
        <p:nvSpPr>
          <p:cNvPr id="5" name="txt_766"/>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Roles &amp; Responsibilities</a:t>
            </a:r>
            <a:endParaRPr lang="en-US" sz="4000" dirty="0"/>
          </a:p>
        </p:txBody>
      </p:sp>
      <p:sp>
        <p:nvSpPr>
          <p:cNvPr id="6" name="txt_767"/>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Who does what – and what each role must NOT do</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The PTW Team – Who is Who?</a:t>
            </a:r>
            <a:endParaRPr lang="en-US" sz="3200" dirty="0"/>
          </a:p>
        </p:txBody>
      </p:sp>
      <p:sp>
        <p:nvSpPr>
          <p:cNvPr id="3" name="a1_box_768"/>
          <p:cNvSpPr/>
          <p:nvPr/>
        </p:nvSpPr>
        <p:spPr>
          <a:xfrm>
            <a:off x="548640"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769"/>
          <p:cNvSpPr/>
          <p:nvPr/>
        </p:nvSpPr>
        <p:spPr>
          <a:xfrm>
            <a:off x="731520" y="1463040"/>
            <a:ext cx="685800" cy="685800"/>
          </a:xfrm>
          <a:prstGeom prst="ellipse">
            <a:avLst/>
          </a:prstGeom>
          <a:solidFill>
            <a:srgbClr val="0B2A3C"/>
          </a:solidFill>
          <a:ln/>
        </p:spPr>
      </p:sp>
      <p:pic>
        <p:nvPicPr>
          <p:cNvPr id="5" name="a1_icon_770"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a1_txt_771"/>
          <p:cNvSpPr txBox="1"/>
          <p:nvPr/>
        </p:nvSpPr>
        <p:spPr>
          <a:xfrm>
            <a:off x="1581912" y="14447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Project / Operations Manager</a:t>
            </a:r>
            <a:endParaRPr lang="en-US" sz="1700" dirty="0"/>
          </a:p>
        </p:txBody>
      </p:sp>
      <p:sp>
        <p:nvSpPr>
          <p:cNvPr id="7" name="a1_txt_772"/>
          <p:cNvSpPr txBox="1"/>
          <p:nvPr/>
        </p:nvSpPr>
        <p:spPr>
          <a:xfrm>
            <a:off x="777240" y="22677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Owns the system &amp; culture; provides resources</a:t>
            </a:r>
            <a:endParaRPr lang="en-US" sz="1600" dirty="0"/>
          </a:p>
        </p:txBody>
      </p:sp>
      <p:sp>
        <p:nvSpPr>
          <p:cNvPr id="8" name="a2_box_773"/>
          <p:cNvSpPr/>
          <p:nvPr/>
        </p:nvSpPr>
        <p:spPr>
          <a:xfrm>
            <a:off x="3372536"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_circ_774"/>
          <p:cNvSpPr/>
          <p:nvPr/>
        </p:nvSpPr>
        <p:spPr>
          <a:xfrm>
            <a:off x="3555416" y="1463040"/>
            <a:ext cx="685800" cy="685800"/>
          </a:xfrm>
          <a:prstGeom prst="ellipse">
            <a:avLst/>
          </a:prstGeom>
          <a:solidFill>
            <a:srgbClr val="5B6B75"/>
          </a:solidFill>
          <a:ln/>
        </p:spPr>
      </p:sp>
      <p:pic>
        <p:nvPicPr>
          <p:cNvPr id="10" name="a2_icon_775" descr="preencoded.png">    </p:cNvPr>
          <p:cNvPicPr>
            <a:picLocks noChangeAspect="1"/>
          </p:cNvPicPr>
          <p:nvPr/>
        </p:nvPicPr>
        <p:blipFill>
          <a:blip r:embed="rId2"/>
          <a:stretch>
            <a:fillRect/>
          </a:stretch>
        </p:blipFill>
        <p:spPr>
          <a:xfrm>
            <a:off x="3709721" y="1617345"/>
            <a:ext cx="377190" cy="377190"/>
          </a:xfrm>
          <a:prstGeom prst="rect">
            <a:avLst/>
          </a:prstGeom>
        </p:spPr>
      </p:pic>
      <p:sp>
        <p:nvSpPr>
          <p:cNvPr id="11" name="a2_txt_776"/>
          <p:cNvSpPr txBox="1"/>
          <p:nvPr/>
        </p:nvSpPr>
        <p:spPr>
          <a:xfrm>
            <a:off x="4405808" y="14447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Permit Coordinator</a:t>
            </a:r>
            <a:endParaRPr lang="en-US" sz="1700" dirty="0"/>
          </a:p>
        </p:txBody>
      </p:sp>
      <p:sp>
        <p:nvSpPr>
          <p:cNvPr id="12" name="a2_txt_777"/>
          <p:cNvSpPr txBox="1"/>
          <p:nvPr/>
        </p:nvSpPr>
        <p:spPr>
          <a:xfrm>
            <a:off x="3601136" y="22677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Runs the permit log; screens requests; spots clashes</a:t>
            </a:r>
            <a:endParaRPr lang="en-US" sz="1600" dirty="0"/>
          </a:p>
        </p:txBody>
      </p:sp>
      <p:sp>
        <p:nvSpPr>
          <p:cNvPr id="13" name="a3_box_778"/>
          <p:cNvSpPr/>
          <p:nvPr/>
        </p:nvSpPr>
        <p:spPr>
          <a:xfrm>
            <a:off x="6196432"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_circ_779"/>
          <p:cNvSpPr/>
          <p:nvPr/>
        </p:nvSpPr>
        <p:spPr>
          <a:xfrm>
            <a:off x="6379312" y="1463040"/>
            <a:ext cx="685800" cy="685800"/>
          </a:xfrm>
          <a:prstGeom prst="ellipse">
            <a:avLst/>
          </a:prstGeom>
          <a:solidFill>
            <a:srgbClr val="0F6E7A"/>
          </a:solidFill>
          <a:ln/>
        </p:spPr>
      </p:sp>
      <p:pic>
        <p:nvPicPr>
          <p:cNvPr id="15" name="a3_icon_780" descr="preencoded.png">    </p:cNvPr>
          <p:cNvPicPr>
            <a:picLocks noChangeAspect="1"/>
          </p:cNvPicPr>
          <p:nvPr/>
        </p:nvPicPr>
        <p:blipFill>
          <a:blip r:embed="rId3"/>
          <a:stretch>
            <a:fillRect/>
          </a:stretch>
        </p:blipFill>
        <p:spPr>
          <a:xfrm>
            <a:off x="6533617" y="1617345"/>
            <a:ext cx="377190" cy="377190"/>
          </a:xfrm>
          <a:prstGeom prst="rect">
            <a:avLst/>
          </a:prstGeom>
        </p:spPr>
      </p:pic>
      <p:sp>
        <p:nvSpPr>
          <p:cNvPr id="16" name="a3_txt_781"/>
          <p:cNvSpPr txBox="1"/>
          <p:nvPr/>
        </p:nvSpPr>
        <p:spPr>
          <a:xfrm>
            <a:off x="7229704" y="14447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Permit Issuer</a:t>
            </a:r>
            <a:endParaRPr lang="en-US" sz="1700" dirty="0"/>
          </a:p>
        </p:txBody>
      </p:sp>
      <p:sp>
        <p:nvSpPr>
          <p:cNvPr id="17" name="a3_txt_782"/>
          <p:cNvSpPr txBox="1"/>
          <p:nvPr/>
        </p:nvSpPr>
        <p:spPr>
          <a:xfrm>
            <a:off x="6425032" y="22677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Owns workplace safety; verifies &amp; authorises</a:t>
            </a:r>
            <a:endParaRPr lang="en-US" sz="1600" dirty="0"/>
          </a:p>
        </p:txBody>
      </p:sp>
      <p:sp>
        <p:nvSpPr>
          <p:cNvPr id="18" name="a4_box_783"/>
          <p:cNvSpPr/>
          <p:nvPr/>
        </p:nvSpPr>
        <p:spPr>
          <a:xfrm>
            <a:off x="9020327" y="12801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_circ_784"/>
          <p:cNvSpPr/>
          <p:nvPr/>
        </p:nvSpPr>
        <p:spPr>
          <a:xfrm>
            <a:off x="9203207" y="1463040"/>
            <a:ext cx="685800" cy="685800"/>
          </a:xfrm>
          <a:prstGeom prst="ellipse">
            <a:avLst/>
          </a:prstGeom>
          <a:solidFill>
            <a:srgbClr val="E8771E"/>
          </a:solidFill>
          <a:ln/>
        </p:spPr>
      </p:sp>
      <p:pic>
        <p:nvPicPr>
          <p:cNvPr id="20" name="a4_icon_785" descr="preencoded.png">    </p:cNvPr>
          <p:cNvPicPr>
            <a:picLocks noChangeAspect="1"/>
          </p:cNvPicPr>
          <p:nvPr/>
        </p:nvPicPr>
        <p:blipFill>
          <a:blip r:embed="rId4"/>
          <a:stretch>
            <a:fillRect/>
          </a:stretch>
        </p:blipFill>
        <p:spPr>
          <a:xfrm>
            <a:off x="9357512" y="1617345"/>
            <a:ext cx="377190" cy="377190"/>
          </a:xfrm>
          <a:prstGeom prst="rect">
            <a:avLst/>
          </a:prstGeom>
        </p:spPr>
      </p:pic>
      <p:sp>
        <p:nvSpPr>
          <p:cNvPr id="21" name="a4_txt_786"/>
          <p:cNvSpPr txBox="1"/>
          <p:nvPr/>
        </p:nvSpPr>
        <p:spPr>
          <a:xfrm>
            <a:off x="10053599" y="14447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Permit Receiver</a:t>
            </a:r>
            <a:endParaRPr lang="en-US" sz="1700" dirty="0"/>
          </a:p>
        </p:txBody>
      </p:sp>
      <p:sp>
        <p:nvSpPr>
          <p:cNvPr id="22" name="a4_txt_787"/>
          <p:cNvSpPr txBox="1"/>
          <p:nvPr/>
        </p:nvSpPr>
        <p:spPr>
          <a:xfrm>
            <a:off x="9248927" y="22677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Owns safe execution; briefs &amp; supervises crew</a:t>
            </a:r>
            <a:endParaRPr lang="en-US" sz="1600" dirty="0"/>
          </a:p>
        </p:txBody>
      </p:sp>
      <p:sp>
        <p:nvSpPr>
          <p:cNvPr id="23" name="a5_box_788"/>
          <p:cNvSpPr/>
          <p:nvPr/>
        </p:nvSpPr>
        <p:spPr>
          <a:xfrm>
            <a:off x="548640"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_circ_789"/>
          <p:cNvSpPr/>
          <p:nvPr/>
        </p:nvSpPr>
        <p:spPr>
          <a:xfrm>
            <a:off x="731520" y="3977640"/>
            <a:ext cx="685800" cy="685800"/>
          </a:xfrm>
          <a:prstGeom prst="ellipse">
            <a:avLst/>
          </a:prstGeom>
          <a:solidFill>
            <a:srgbClr val="0F6E7A"/>
          </a:solidFill>
          <a:ln/>
        </p:spPr>
      </p:sp>
      <p:pic>
        <p:nvPicPr>
          <p:cNvPr id="25" name="a5_icon_790" descr="preencoded.png">    </p:cNvPr>
          <p:cNvPicPr>
            <a:picLocks noChangeAspect="1"/>
          </p:cNvPicPr>
          <p:nvPr/>
        </p:nvPicPr>
        <p:blipFill>
          <a:blip r:embed="rId5"/>
          <a:stretch>
            <a:fillRect/>
          </a:stretch>
        </p:blipFill>
        <p:spPr>
          <a:xfrm>
            <a:off x="885825" y="4131945"/>
            <a:ext cx="377190" cy="377190"/>
          </a:xfrm>
          <a:prstGeom prst="rect">
            <a:avLst/>
          </a:prstGeom>
        </p:spPr>
      </p:pic>
      <p:sp>
        <p:nvSpPr>
          <p:cNvPr id="26" name="a5_txt_791"/>
          <p:cNvSpPr txBox="1"/>
          <p:nvPr/>
        </p:nvSpPr>
        <p:spPr>
          <a:xfrm>
            <a:off x="1581912" y="39593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Area Authority</a:t>
            </a:r>
            <a:endParaRPr lang="en-US" sz="1700" dirty="0"/>
          </a:p>
        </p:txBody>
      </p:sp>
      <p:sp>
        <p:nvSpPr>
          <p:cNvPr id="27" name="a5_txt_792"/>
          <p:cNvSpPr txBox="1"/>
          <p:nvPr/>
        </p:nvSpPr>
        <p:spPr>
          <a:xfrm>
            <a:off x="777240" y="47823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Local “eyes &amp; ears”; performs isolations as directed</a:t>
            </a:r>
            <a:endParaRPr lang="en-US" sz="1600" dirty="0"/>
          </a:p>
        </p:txBody>
      </p:sp>
      <p:sp>
        <p:nvSpPr>
          <p:cNvPr id="28" name="a6_box_793"/>
          <p:cNvSpPr/>
          <p:nvPr/>
        </p:nvSpPr>
        <p:spPr>
          <a:xfrm>
            <a:off x="3372536"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circ_794"/>
          <p:cNvSpPr/>
          <p:nvPr/>
        </p:nvSpPr>
        <p:spPr>
          <a:xfrm>
            <a:off x="3555416" y="3977640"/>
            <a:ext cx="685800" cy="685800"/>
          </a:xfrm>
          <a:prstGeom prst="ellipse">
            <a:avLst/>
          </a:prstGeom>
          <a:solidFill>
            <a:srgbClr val="0F6E7A"/>
          </a:solidFill>
          <a:ln/>
        </p:spPr>
      </p:sp>
      <p:pic>
        <p:nvPicPr>
          <p:cNvPr id="30" name="a6_icon_795" descr="preencoded.png">    </p:cNvPr>
          <p:cNvPicPr>
            <a:picLocks noChangeAspect="1"/>
          </p:cNvPicPr>
          <p:nvPr/>
        </p:nvPicPr>
        <p:blipFill>
          <a:blip r:embed="rId6"/>
          <a:stretch>
            <a:fillRect/>
          </a:stretch>
        </p:blipFill>
        <p:spPr>
          <a:xfrm>
            <a:off x="3709721" y="4131945"/>
            <a:ext cx="377190" cy="377190"/>
          </a:xfrm>
          <a:prstGeom prst="rect">
            <a:avLst/>
          </a:prstGeom>
        </p:spPr>
      </p:pic>
      <p:sp>
        <p:nvSpPr>
          <p:cNvPr id="31" name="a6_txt_796"/>
          <p:cNvSpPr txBox="1"/>
          <p:nvPr/>
        </p:nvSpPr>
        <p:spPr>
          <a:xfrm>
            <a:off x="4405808" y="39593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Isolating Authority</a:t>
            </a:r>
            <a:endParaRPr lang="en-US" sz="1700" dirty="0"/>
          </a:p>
        </p:txBody>
      </p:sp>
      <p:sp>
        <p:nvSpPr>
          <p:cNvPr id="32" name="a6_txt_797"/>
          <p:cNvSpPr txBox="1"/>
          <p:nvPr/>
        </p:nvSpPr>
        <p:spPr>
          <a:xfrm>
            <a:off x="3601136" y="47823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Plans, performs &amp; verifies isolations; signs Isolation Cert.</a:t>
            </a:r>
            <a:endParaRPr lang="en-US" sz="1600" dirty="0"/>
          </a:p>
        </p:txBody>
      </p:sp>
      <p:sp>
        <p:nvSpPr>
          <p:cNvPr id="33" name="a7_box_798"/>
          <p:cNvSpPr/>
          <p:nvPr/>
        </p:nvSpPr>
        <p:spPr>
          <a:xfrm>
            <a:off x="6196432"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4" name="a7_circ_799"/>
          <p:cNvSpPr/>
          <p:nvPr/>
        </p:nvSpPr>
        <p:spPr>
          <a:xfrm>
            <a:off x="6379312" y="3977640"/>
            <a:ext cx="685800" cy="685800"/>
          </a:xfrm>
          <a:prstGeom prst="ellipse">
            <a:avLst/>
          </a:prstGeom>
          <a:solidFill>
            <a:srgbClr val="2E7D32"/>
          </a:solidFill>
          <a:ln/>
        </p:spPr>
      </p:sp>
      <p:pic>
        <p:nvPicPr>
          <p:cNvPr id="35" name="a7_icon_800" descr="preencoded.png">    </p:cNvPr>
          <p:cNvPicPr>
            <a:picLocks noChangeAspect="1"/>
          </p:cNvPicPr>
          <p:nvPr/>
        </p:nvPicPr>
        <p:blipFill>
          <a:blip r:embed="rId7"/>
          <a:stretch>
            <a:fillRect/>
          </a:stretch>
        </p:blipFill>
        <p:spPr>
          <a:xfrm>
            <a:off x="6533617" y="4131945"/>
            <a:ext cx="377190" cy="377190"/>
          </a:xfrm>
          <a:prstGeom prst="rect">
            <a:avLst/>
          </a:prstGeom>
        </p:spPr>
      </p:pic>
      <p:sp>
        <p:nvSpPr>
          <p:cNvPr id="36" name="a7_txt_801"/>
          <p:cNvSpPr txBox="1"/>
          <p:nvPr/>
        </p:nvSpPr>
        <p:spPr>
          <a:xfrm>
            <a:off x="7229704" y="39593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Safety Officer (HSE)</a:t>
            </a:r>
            <a:endParaRPr lang="en-US" sz="1700" dirty="0"/>
          </a:p>
        </p:txBody>
      </p:sp>
      <p:sp>
        <p:nvSpPr>
          <p:cNvPr id="37" name="a7_txt_802"/>
          <p:cNvSpPr txBox="1"/>
          <p:nvPr/>
        </p:nvSpPr>
        <p:spPr>
          <a:xfrm>
            <a:off x="6425032" y="47823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Independent advice &amp; audits; can recommend suspension</a:t>
            </a:r>
            <a:endParaRPr lang="en-US" sz="1600" dirty="0"/>
          </a:p>
        </p:txBody>
      </p:sp>
      <p:sp>
        <p:nvSpPr>
          <p:cNvPr id="38" name="a8_box_803"/>
          <p:cNvSpPr/>
          <p:nvPr/>
        </p:nvSpPr>
        <p:spPr>
          <a:xfrm>
            <a:off x="9020327" y="3794760"/>
            <a:ext cx="2622728"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9" name="a8_circ_804"/>
          <p:cNvSpPr/>
          <p:nvPr/>
        </p:nvSpPr>
        <p:spPr>
          <a:xfrm>
            <a:off x="9203207" y="3977640"/>
            <a:ext cx="685800" cy="685800"/>
          </a:xfrm>
          <a:prstGeom prst="ellipse">
            <a:avLst/>
          </a:prstGeom>
          <a:solidFill>
            <a:srgbClr val="E8771E"/>
          </a:solidFill>
          <a:ln/>
        </p:spPr>
      </p:sp>
      <p:pic>
        <p:nvPicPr>
          <p:cNvPr id="40" name="a8_icon_805" descr="preencoded.png">    </p:cNvPr>
          <p:cNvPicPr>
            <a:picLocks noChangeAspect="1"/>
          </p:cNvPicPr>
          <p:nvPr/>
        </p:nvPicPr>
        <p:blipFill>
          <a:blip r:embed="rId8"/>
          <a:stretch>
            <a:fillRect/>
          </a:stretch>
        </p:blipFill>
        <p:spPr>
          <a:xfrm>
            <a:off x="9357512" y="4131945"/>
            <a:ext cx="377190" cy="377190"/>
          </a:xfrm>
          <a:prstGeom prst="rect">
            <a:avLst/>
          </a:prstGeom>
        </p:spPr>
      </p:pic>
      <p:sp>
        <p:nvSpPr>
          <p:cNvPr id="41" name="a8_txt_806"/>
          <p:cNvSpPr txBox="1"/>
          <p:nvPr/>
        </p:nvSpPr>
        <p:spPr>
          <a:xfrm>
            <a:off x="10053599" y="3959352"/>
            <a:ext cx="1452296" cy="731520"/>
          </a:xfrm>
          <a:prstGeom prst="rect">
            <a:avLst/>
          </a:prstGeom>
          <a:noFill/>
          <a:ln/>
        </p:spPr>
        <p:txBody>
          <a:bodyPr wrap="square" lIns="635" tIns="635" rIns="635" bIns="635" rtlCol="0" anchor="ctr"/>
          <a:lstStyle/>
          <a:p>
            <a:pPr indent="0" marL="0">
              <a:buNone/>
            </a:pPr>
            <a:r>
              <a:rPr lang="en-US" sz="1700" b="1" dirty="0">
                <a:solidFill>
                  <a:srgbClr val="0B2A3C"/>
                </a:solidFill>
                <a:latin typeface="Calibri" pitchFamily="34" charset="0"/>
                <a:ea typeface="Calibri" pitchFamily="34" charset="-122"/>
                <a:cs typeface="Calibri" pitchFamily="34" charset="-120"/>
              </a:rPr>
              <a:t>Work Team &amp; Attendants</a:t>
            </a:r>
            <a:endParaRPr lang="en-US" sz="1700" dirty="0"/>
          </a:p>
        </p:txBody>
      </p:sp>
      <p:sp>
        <p:nvSpPr>
          <p:cNvPr id="42" name="a8_txt_807"/>
          <p:cNvSpPr txBox="1"/>
          <p:nvPr/>
        </p:nvSpPr>
        <p:spPr>
          <a:xfrm>
            <a:off x="9248927" y="4782312"/>
            <a:ext cx="2211248" cy="125272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Follow the permit; Fire Watch, CS Attendant, Radiography Watch</a:t>
            </a:r>
            <a:endParaRPr lang="en-US" sz="1600" dirty="0"/>
          </a:p>
        </p:txBody>
      </p:sp>
      <p:sp>
        <p:nvSpPr>
          <p:cNvPr id="4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fade">
                                      <p:cBhvr>
                                        <p:cTn id="118" dur="500"/>
                                        <p:tgtEl>
                                          <p:spTgt spid="3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500"/>
                                        <p:tgtEl>
                                          <p:spTgt spid="37"/>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500"/>
                                        <p:tgtEl>
                                          <p:spTgt spid="38"/>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9"/>
                                        </p:tgtEl>
                                        <p:attrNameLst>
                                          <p:attrName>style.visibility</p:attrName>
                                        </p:attrNameLst>
                                      </p:cBhvr>
                                      <p:to>
                                        <p:strVal val="visible"/>
                                      </p:to>
                                    </p:set>
                                    <p:animEffect transition="in" filter="fade">
                                      <p:cBhvr>
                                        <p:cTn id="129" dur="500"/>
                                        <p:tgtEl>
                                          <p:spTgt spid="3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500"/>
                                        <p:tgtEl>
                                          <p:spTgt spid="40"/>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500"/>
                                        <p:tgtEl>
                                          <p:spTgt spid="41"/>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2"/>
                                        </p:tgtEl>
                                        <p:attrNameLst>
                                          <p:attrName>style.visibility</p:attrName>
                                        </p:attrNameLst>
                                      </p:cBhvr>
                                      <p:to>
                                        <p:strVal val="visible"/>
                                      </p:to>
                                    </p:set>
                                    <p:animEffect transition="in" filter="fade">
                                      <p:cBhvr>
                                        <p:cTn id="13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Permit Issuer vs. Permit Receiver</a:t>
            </a:r>
            <a:endParaRPr lang="en-US" sz="3200" dirty="0"/>
          </a:p>
        </p:txBody>
      </p:sp>
      <p:sp>
        <p:nvSpPr>
          <p:cNvPr id="3" name="a1_box_808"/>
          <p:cNvSpPr/>
          <p:nvPr/>
        </p:nvSpPr>
        <p:spPr>
          <a:xfrm>
            <a:off x="548640" y="1280160"/>
            <a:ext cx="544068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box_809"/>
          <p:cNvSpPr/>
          <p:nvPr/>
        </p:nvSpPr>
        <p:spPr>
          <a:xfrm>
            <a:off x="548640" y="1280160"/>
            <a:ext cx="5440680" cy="1051560"/>
          </a:xfrm>
          <a:prstGeom prst="rect">
            <a:avLst/>
          </a:prstGeom>
          <a:solidFill>
            <a:srgbClr val="0F6E7A"/>
          </a:solidFill>
          <a:ln/>
        </p:spPr>
      </p:sp>
      <p:pic>
        <p:nvPicPr>
          <p:cNvPr id="5" name="a1_icon_810" descr="preencoded.png">    </p:cNvPr>
          <p:cNvPicPr>
            <a:picLocks noChangeAspect="1"/>
          </p:cNvPicPr>
          <p:nvPr/>
        </p:nvPicPr>
        <p:blipFill>
          <a:blip r:embed="rId1"/>
          <a:stretch>
            <a:fillRect/>
          </a:stretch>
        </p:blipFill>
        <p:spPr>
          <a:xfrm>
            <a:off x="731520" y="1417320"/>
            <a:ext cx="731520" cy="731520"/>
          </a:xfrm>
          <a:prstGeom prst="rect">
            <a:avLst/>
          </a:prstGeom>
        </p:spPr>
      </p:pic>
      <p:sp>
        <p:nvSpPr>
          <p:cNvPr id="6" name="a1_txt_811"/>
          <p:cNvSpPr txBox="1"/>
          <p:nvPr/>
        </p:nvSpPr>
        <p:spPr>
          <a:xfrm>
            <a:off x="1600200" y="1298448"/>
            <a:ext cx="4251960" cy="10058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PERMIT ISSUER</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“Guardian of the Workplace” – e.g. Operations Shift Supervisor</a:t>
            </a:r>
            <a:endParaRPr lang="en-US" sz="2000" dirty="0"/>
          </a:p>
        </p:txBody>
      </p:sp>
      <p:sp>
        <p:nvSpPr>
          <p:cNvPr id="7" name="a1_txt_812"/>
          <p:cNvSpPr txBox="1"/>
          <p:nvPr/>
        </p:nvSpPr>
        <p:spPr>
          <a:xfrm>
            <a:off x="731520" y="2468880"/>
            <a:ext cx="5074920" cy="2743200"/>
          </a:xfrm>
          <a:prstGeom prst="rect">
            <a:avLst/>
          </a:prstGeom>
          <a:noFill/>
          <a:ln/>
        </p:spPr>
        <p:txBody>
          <a:bodyPr wrap="square" lIns="635" tIns="635" rIns="635" bIns="635" rtlCol="0" anchor="t"/>
          <a:lstStyle/>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Reviews the request, method statement and JSA – challenges assumptions</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Specifies isolations &amp; controls (Isolation Plan)</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Joint site walkdown – NOT optional</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Personally verifies controls, then signs FIRST</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Revalidates, monitors, suspends and closes</a:t>
            </a:r>
            <a:endParaRPr lang="en-US" sz="1900" dirty="0"/>
          </a:p>
        </p:txBody>
      </p:sp>
      <p:sp>
        <p:nvSpPr>
          <p:cNvPr id="8" name="a1_box_813"/>
          <p:cNvSpPr/>
          <p:nvPr/>
        </p:nvSpPr>
        <p:spPr>
          <a:xfrm>
            <a:off x="731520" y="5257800"/>
            <a:ext cx="5074920" cy="822960"/>
          </a:xfrm>
          <a:prstGeom prst="roundRect">
            <a:avLst>
              <a:gd name="adj" fmla="val 13333"/>
            </a:avLst>
          </a:prstGeom>
          <a:solidFill>
            <a:srgbClr val="F8E0DD"/>
          </a:solidFill>
          <a:ln/>
        </p:spPr>
      </p:sp>
      <p:sp>
        <p:nvSpPr>
          <p:cNvPr id="9" name="a1_txt_814"/>
          <p:cNvSpPr txBox="1"/>
          <p:nvPr/>
        </p:nvSpPr>
        <p:spPr>
          <a:xfrm>
            <a:off x="822960" y="5257800"/>
            <a:ext cx="4892040" cy="822960"/>
          </a:xfrm>
          <a:prstGeom prst="rect">
            <a:avLst/>
          </a:prstGeom>
          <a:noFill/>
          <a:ln/>
        </p:spPr>
        <p:txBody>
          <a:bodyPr wrap="square" lIns="635" tIns="635" rIns="635" bIns="635"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LIMIT: </a:t>
            </a:r>
            <a:pPr indent="0" marL="0">
              <a:buNone/>
            </a:pPr>
            <a:r>
              <a:rPr lang="en-US" sz="1500" dirty="0">
                <a:solidFill>
                  <a:srgbClr val="1B2730"/>
                </a:solidFill>
                <a:latin typeface="Calibri" pitchFamily="34" charset="0"/>
                <a:ea typeface="Calibri" pitchFamily="34" charset="-122"/>
                <a:cs typeface="Calibri" pitchFamily="34" charset="-120"/>
              </a:rPr>
              <a:t>Cannot authorise work outside their area or on systems they are not competent in</a:t>
            </a:r>
            <a:endParaRPr lang="en-US" sz="1500" dirty="0"/>
          </a:p>
        </p:txBody>
      </p:sp>
      <p:sp>
        <p:nvSpPr>
          <p:cNvPr id="10" name="a2_box_815"/>
          <p:cNvSpPr/>
          <p:nvPr/>
        </p:nvSpPr>
        <p:spPr>
          <a:xfrm>
            <a:off x="6199632" y="1280160"/>
            <a:ext cx="544068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1" name="a2_box_816"/>
          <p:cNvSpPr/>
          <p:nvPr/>
        </p:nvSpPr>
        <p:spPr>
          <a:xfrm>
            <a:off x="6199632" y="1280160"/>
            <a:ext cx="5440680" cy="1051560"/>
          </a:xfrm>
          <a:prstGeom prst="rect">
            <a:avLst/>
          </a:prstGeom>
          <a:solidFill>
            <a:srgbClr val="E8771E"/>
          </a:solidFill>
          <a:ln/>
        </p:spPr>
      </p:sp>
      <p:pic>
        <p:nvPicPr>
          <p:cNvPr id="12" name="a2_icon_817" descr="preencoded.png">    </p:cNvPr>
          <p:cNvPicPr>
            <a:picLocks noChangeAspect="1"/>
          </p:cNvPicPr>
          <p:nvPr/>
        </p:nvPicPr>
        <p:blipFill>
          <a:blip r:embed="rId2"/>
          <a:stretch>
            <a:fillRect/>
          </a:stretch>
        </p:blipFill>
        <p:spPr>
          <a:xfrm>
            <a:off x="6382512" y="1417320"/>
            <a:ext cx="731520" cy="731520"/>
          </a:xfrm>
          <a:prstGeom prst="rect">
            <a:avLst/>
          </a:prstGeom>
        </p:spPr>
      </p:pic>
      <p:sp>
        <p:nvSpPr>
          <p:cNvPr id="13" name="a2_txt_818"/>
          <p:cNvSpPr txBox="1"/>
          <p:nvPr/>
        </p:nvSpPr>
        <p:spPr>
          <a:xfrm>
            <a:off x="7251192" y="1298448"/>
            <a:ext cx="4251960" cy="100584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PERMIT RECEIVER</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“Guardian of the Work” – e.g. Maintenance Supervisor / Foreman</a:t>
            </a:r>
            <a:endParaRPr lang="en-US" sz="2000" dirty="0"/>
          </a:p>
        </p:txBody>
      </p:sp>
      <p:sp>
        <p:nvSpPr>
          <p:cNvPr id="14" name="a2_txt_819"/>
          <p:cNvSpPr txBox="1"/>
          <p:nvPr/>
        </p:nvSpPr>
        <p:spPr>
          <a:xfrm>
            <a:off x="6382512" y="2468880"/>
            <a:ext cx="5074920" cy="2743200"/>
          </a:xfrm>
          <a:prstGeom prst="rect">
            <a:avLst/>
          </a:prstGeom>
          <a:noFill/>
          <a:ln/>
        </p:spPr>
        <p:txBody>
          <a:bodyPr wrap="square" lIns="635" tIns="635" rIns="635" bIns="635" rtlCol="0" anchor="t"/>
          <a:lstStyle/>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Independently checks scope, hazards &amp; controls – may challenge the Issuer</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Accepts and signs; briefs EVERY team member</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Continuous direct supervision of the work</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Stops work if conditions change; informs Issuer</a:t>
            </a:r>
            <a:endParaRPr lang="en-US" sz="1900" dirty="0"/>
          </a:p>
          <a:p>
            <a:pPr marL="228600" indent="-228600">
              <a:spcAft>
                <a:spcPts val="800"/>
              </a:spcAft>
              <a:buSzPct val="100000"/>
              <a:buChar char="•"/>
            </a:pPr>
            <a:r>
              <a:rPr lang="en-US" sz="1900" dirty="0">
                <a:solidFill>
                  <a:srgbClr val="1B2730"/>
                </a:solidFill>
                <a:latin typeface="Calibri" pitchFamily="34" charset="0"/>
                <a:ea typeface="Calibri" pitchFamily="34" charset="-122"/>
                <a:cs typeface="Calibri" pitchFamily="34" charset="-120"/>
              </a:rPr>
              <a:t>Shift handover, site restoration, returns permit</a:t>
            </a:r>
            <a:endParaRPr lang="en-US" sz="1900" dirty="0"/>
          </a:p>
        </p:txBody>
      </p:sp>
      <p:sp>
        <p:nvSpPr>
          <p:cNvPr id="15" name="a2_box_820"/>
          <p:cNvSpPr/>
          <p:nvPr/>
        </p:nvSpPr>
        <p:spPr>
          <a:xfrm>
            <a:off x="6382512" y="5257800"/>
            <a:ext cx="5074920" cy="822960"/>
          </a:xfrm>
          <a:prstGeom prst="roundRect">
            <a:avLst>
              <a:gd name="adj" fmla="val 13333"/>
            </a:avLst>
          </a:prstGeom>
          <a:solidFill>
            <a:srgbClr val="F8E0DD"/>
          </a:solidFill>
          <a:ln/>
        </p:spPr>
      </p:sp>
      <p:sp>
        <p:nvSpPr>
          <p:cNvPr id="16" name="a2_txt_821"/>
          <p:cNvSpPr txBox="1"/>
          <p:nvPr/>
        </p:nvSpPr>
        <p:spPr>
          <a:xfrm>
            <a:off x="6473952" y="5257800"/>
            <a:ext cx="4892040" cy="822960"/>
          </a:xfrm>
          <a:prstGeom prst="rect">
            <a:avLst/>
          </a:prstGeom>
          <a:noFill/>
          <a:ln/>
        </p:spPr>
        <p:txBody>
          <a:bodyPr wrap="square" lIns="635" tIns="635" rIns="635" bIns="635"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LIMIT: </a:t>
            </a:r>
            <a:pPr indent="0" marL="0">
              <a:buNone/>
            </a:pPr>
            <a:r>
              <a:rPr lang="en-US" sz="1500" dirty="0">
                <a:solidFill>
                  <a:srgbClr val="1B2730"/>
                </a:solidFill>
                <a:latin typeface="Calibri" pitchFamily="34" charset="0"/>
                <a:ea typeface="Calibri" pitchFamily="34" charset="-122"/>
                <a:cs typeface="Calibri" pitchFamily="34" charset="-120"/>
              </a:rPr>
              <a:t>Cannot alter permit conditions or accept a permit they do not fully understand</a:t>
            </a:r>
            <a:endParaRPr lang="en-US" sz="1500" dirty="0"/>
          </a:p>
        </p:txBody>
      </p:sp>
      <p:sp>
        <p:nvSpPr>
          <p:cNvPr id="1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Supporting Roles – Duties and Limits</a:t>
            </a:r>
            <a:endParaRPr lang="en-US" sz="3200" dirty="0"/>
          </a:p>
        </p:txBody>
      </p:sp>
      <p:graphicFrame>
        <p:nvGraphicFramePr>
          <p:cNvPr id="3" name="tbl_roles"/>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651760"/>
                <a:gridCol w="4937760"/>
                <a:gridCol w="350489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Role</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0B2A3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Main duties</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0B2A3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Must NOT…</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C0392B"/>
                    </a:solidFill>
                  </a:tcPr>
                </a:tc>
              </a:tr>
              <a:tr h="914400">
                <a:tc>
                  <a:txBody>
                    <a:bodyPr/>
                    <a:lstStyle/>
                    <a:p>
                      <a:pPr indent="0" marL="0">
                        <a:buNone/>
                      </a:pPr>
                      <a:r>
                        <a:rPr lang="en-US" sz="1600" b="1" dirty="0">
                          <a:solidFill>
                            <a:srgbClr val="0B2A3C"/>
                          </a:solidFill>
                          <a:latin typeface="Calibri" pitchFamily="34" charset="0"/>
                          <a:ea typeface="Calibri" pitchFamily="34" charset="-122"/>
                          <a:cs typeface="Calibri" pitchFamily="34" charset="-120"/>
                        </a:rPr>
                        <a:t>Project / Operations Manager</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Owns the PTW system; provides resources; enforces Life Saving Rules; leads by example (VFL)</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C0392B"/>
                          </a:solidFill>
                          <a:latin typeface="Calibri" pitchFamily="34" charset="0"/>
                          <a:ea typeface="Calibri" pitchFamily="34" charset="-122"/>
                          <a:cs typeface="Calibri" pitchFamily="34" charset="-120"/>
                        </a:rPr>
                        <a:t>Cannot authorise a specific permit or order PTW steps to be bypassed</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914400">
                <a:tc>
                  <a:txBody>
                    <a:bodyPr/>
                    <a:lstStyle/>
                    <a:p>
                      <a:pPr indent="0" marL="0">
                        <a:buNone/>
                      </a:pPr>
                      <a:r>
                        <a:rPr lang="en-US" sz="1600" b="1" dirty="0">
                          <a:solidFill>
                            <a:srgbClr val="0B2A3C"/>
                          </a:solidFill>
                          <a:latin typeface="Calibri" pitchFamily="34" charset="0"/>
                          <a:ea typeface="Calibri" pitchFamily="34" charset="-122"/>
                          <a:cs typeface="Calibri" pitchFamily="34" charset="-120"/>
                        </a:rPr>
                        <a:t>Permit Coordinator</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Keeps the master Permit Log; screens applications; flags SIMOPS conflicts; tracks expiry</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C0392B"/>
                          </a:solidFill>
                          <a:latin typeface="Calibri" pitchFamily="34" charset="0"/>
                          <a:ea typeface="Calibri" pitchFamily="34" charset="-122"/>
                          <a:cs typeface="Calibri" pitchFamily="34" charset="-120"/>
                        </a:rPr>
                        <a:t>Administrative only – cannot authorise work or approve controls</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914400">
                <a:tc>
                  <a:txBody>
                    <a:bodyPr/>
                    <a:lstStyle/>
                    <a:p>
                      <a:pPr indent="0" marL="0">
                        <a:buNone/>
                      </a:pPr>
                      <a:r>
                        <a:rPr lang="en-US" sz="1600" b="1" dirty="0">
                          <a:solidFill>
                            <a:srgbClr val="0B2A3C"/>
                          </a:solidFill>
                          <a:latin typeface="Calibri" pitchFamily="34" charset="0"/>
                          <a:ea typeface="Calibri" pitchFamily="34" charset="-122"/>
                          <a:cs typeface="Calibri" pitchFamily="34" charset="-120"/>
                        </a:rPr>
                        <a:t>Area Authority</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Local knowledge; performs isolations as directed; monitors area operations</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C0392B"/>
                          </a:solidFill>
                          <a:latin typeface="Calibri" pitchFamily="34" charset="0"/>
                          <a:ea typeface="Calibri" pitchFamily="34" charset="-122"/>
                          <a:cs typeface="Calibri" pitchFamily="34" charset="-120"/>
                        </a:rPr>
                        <a:t>Does not issue permits; acts on Issuer / Isolating Authority instructions</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914400">
                <a:tc>
                  <a:txBody>
                    <a:bodyPr/>
                    <a:lstStyle/>
                    <a:p>
                      <a:pPr indent="0" marL="0">
                        <a:buNone/>
                      </a:pPr>
                      <a:r>
                        <a:rPr lang="en-US" sz="1600" b="1" dirty="0">
                          <a:solidFill>
                            <a:srgbClr val="0B2A3C"/>
                          </a:solidFill>
                          <a:latin typeface="Calibri" pitchFamily="34" charset="0"/>
                          <a:ea typeface="Calibri" pitchFamily="34" charset="-122"/>
                          <a:cs typeface="Calibri" pitchFamily="34" charset="-120"/>
                        </a:rPr>
                        <a:t>Isolating Authority</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Develops isolation plan; supervises isolation; performs VOI; signs Isolation Certificate</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C0392B"/>
                          </a:solidFill>
                          <a:latin typeface="Calibri" pitchFamily="34" charset="0"/>
                          <a:ea typeface="Calibri" pitchFamily="34" charset="-122"/>
                          <a:cs typeface="Calibri" pitchFamily="34" charset="-120"/>
                        </a:rPr>
                        <a:t>Focuses only on isolation – does not authorise the permit</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914400">
                <a:tc>
                  <a:txBody>
                    <a:bodyPr/>
                    <a:lstStyle/>
                    <a:p>
                      <a:pPr indent="0" marL="0">
                        <a:buNone/>
                      </a:pPr>
                      <a:r>
                        <a:rPr lang="en-US" sz="1600" b="1" dirty="0">
                          <a:solidFill>
                            <a:srgbClr val="0B2A3C"/>
                          </a:solidFill>
                          <a:latin typeface="Calibri" pitchFamily="34" charset="0"/>
                          <a:ea typeface="Calibri" pitchFamily="34" charset="-122"/>
                          <a:cs typeface="Calibri" pitchFamily="34" charset="-120"/>
                        </a:rPr>
                        <a:t>Safety Officer (HSE)</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Custodian of procedure; trains; unannounced audits; technical advice; investigations</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C0392B"/>
                          </a:solidFill>
                          <a:latin typeface="Calibri" pitchFamily="34" charset="0"/>
                          <a:ea typeface="Calibri" pitchFamily="34" charset="-122"/>
                          <a:cs typeface="Calibri" pitchFamily="34" charset="-120"/>
                        </a:rPr>
                        <a:t>Cannot issue permits – advisory role; may recommend suspension</a:t>
                      </a:r>
                      <a:endParaRPr lang="en-US" sz="1600" dirty="0">
                        <a:latin typeface="Calibri" charset="0"/>
                        <a:ea typeface="Calibri" charset="0"/>
                        <a:cs typeface="Calibri" charset="0"/>
                      </a:endParaRPr>
                    </a:p>
                  </a:txBody>
                  <a:tcPr marL="91440" marR="91440" marT="54864" marB="54864"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bl>
          </a:graphicData>
        </a:graphic>
      </p:graphicFrame>
      <p:sp>
        <p:nvSpPr>
          <p:cNvPr id="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The Work Team &amp; Attendants</a:t>
            </a:r>
            <a:endParaRPr lang="en-US" sz="3200" dirty="0"/>
          </a:p>
        </p:txBody>
      </p:sp>
      <p:sp>
        <p:nvSpPr>
          <p:cNvPr id="3" name="box_822"/>
          <p:cNvSpPr/>
          <p:nvPr/>
        </p:nvSpPr>
        <p:spPr>
          <a:xfrm>
            <a:off x="548640" y="1280160"/>
            <a:ext cx="539496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823"/>
          <p:cNvSpPr/>
          <p:nvPr/>
        </p:nvSpPr>
        <p:spPr>
          <a:xfrm>
            <a:off x="731520" y="1463040"/>
            <a:ext cx="685800" cy="685800"/>
          </a:xfrm>
          <a:prstGeom prst="ellipse">
            <a:avLst/>
          </a:prstGeom>
          <a:solidFill>
            <a:srgbClr val="E8771E"/>
          </a:solidFill>
          <a:ln/>
        </p:spPr>
      </p:sp>
      <p:pic>
        <p:nvPicPr>
          <p:cNvPr id="5" name="icon_824"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825"/>
          <p:cNvSpPr txBox="1"/>
          <p:nvPr/>
        </p:nvSpPr>
        <p:spPr>
          <a:xfrm>
            <a:off x="1581912" y="1444752"/>
            <a:ext cx="4224528" cy="685800"/>
          </a:xfrm>
          <a:prstGeom prst="rect">
            <a:avLst/>
          </a:prstGeom>
          <a:noFill/>
          <a:ln/>
        </p:spPr>
        <p:txBody>
          <a:bodyPr wrap="square" lIns="635" tIns="635" rIns="635" bIns="635" rtlCol="0" anchor="ctr"/>
          <a:lstStyle/>
          <a:p>
            <a:pPr indent="0" marL="0">
              <a:buNone/>
            </a:pPr>
            <a:r>
              <a:rPr lang="en-US" sz="2100" b="1" dirty="0">
                <a:solidFill>
                  <a:srgbClr val="0B2A3C"/>
                </a:solidFill>
                <a:latin typeface="Calibri" pitchFamily="34" charset="0"/>
                <a:ea typeface="Calibri" pitchFamily="34" charset="-122"/>
                <a:cs typeface="Calibri" pitchFamily="34" charset="-120"/>
              </a:rPr>
              <a:t>Every worker must…</a:t>
            </a:r>
            <a:endParaRPr lang="en-US" sz="2100" dirty="0"/>
          </a:p>
        </p:txBody>
      </p:sp>
      <p:sp>
        <p:nvSpPr>
          <p:cNvPr id="7" name="txt_826"/>
          <p:cNvSpPr txBox="1"/>
          <p:nvPr/>
        </p:nvSpPr>
        <p:spPr>
          <a:xfrm>
            <a:off x="777240" y="2286000"/>
            <a:ext cx="4983480" cy="3840480"/>
          </a:xfrm>
          <a:prstGeom prst="rect">
            <a:avLst/>
          </a:prstGeom>
          <a:noFill/>
          <a:ln/>
        </p:spPr>
        <p:txBody>
          <a:bodyPr wrap="square" lIns="635" tIns="635" rIns="635" bIns="635" rtlCol="0" anchor="t"/>
          <a:lstStyle/>
          <a:p>
            <a:pPr marL="228600" indent="-228600">
              <a:spcAft>
                <a:spcPts val="1200"/>
              </a:spcAft>
              <a:buSzPct val="100000"/>
              <a:buChar char="•"/>
            </a:pPr>
            <a:r>
              <a:rPr lang="en-US" sz="1900" b="1" dirty="0">
                <a:solidFill>
                  <a:srgbClr val="1B2730"/>
                </a:solidFill>
                <a:latin typeface="Calibri" pitchFamily="34" charset="0"/>
                <a:ea typeface="Calibri" pitchFamily="34" charset="-122"/>
                <a:cs typeface="Calibri" pitchFamily="34" charset="-120"/>
              </a:rPr>
              <a:t>Attend the briefing </a:t>
            </a:r>
            <a:pPr indent="0" marL="0">
              <a:buNone/>
            </a:pPr>
            <a:r>
              <a:rPr lang="en-US" sz="1900" dirty="0">
                <a:solidFill>
                  <a:srgbClr val="1B2730"/>
                </a:solidFill>
                <a:latin typeface="Calibri" pitchFamily="34" charset="0"/>
                <a:ea typeface="Calibri" pitchFamily="34" charset="-122"/>
                <a:cs typeface="Calibri" pitchFamily="34" charset="-120"/>
              </a:rPr>
              <a:t>– and ask if anything is unclear</a:t>
            </a:r>
            <a:endParaRPr lang="en-US" sz="1900" dirty="0"/>
          </a:p>
          <a:p>
            <a:pPr marL="228600" indent="-228600">
              <a:spcAft>
                <a:spcPts val="1200"/>
              </a:spcAft>
              <a:buSzPct val="100000"/>
              <a:buChar char="•"/>
            </a:pPr>
            <a:r>
              <a:rPr lang="en-US" sz="1900" b="1" dirty="0">
                <a:solidFill>
                  <a:srgbClr val="1B2730"/>
                </a:solidFill>
                <a:latin typeface="Calibri" pitchFamily="34" charset="0"/>
                <a:ea typeface="Calibri" pitchFamily="34" charset="-122"/>
                <a:cs typeface="Calibri" pitchFamily="34" charset="-120"/>
              </a:rPr>
              <a:t>Understand the permit </a:t>
            </a:r>
            <a:pPr indent="0" marL="0">
              <a:buNone/>
            </a:pPr>
            <a:r>
              <a:rPr lang="en-US" sz="1900" dirty="0">
                <a:solidFill>
                  <a:srgbClr val="1B2730"/>
                </a:solidFill>
                <a:latin typeface="Calibri" pitchFamily="34" charset="0"/>
                <a:ea typeface="Calibri" pitchFamily="34" charset="-122"/>
                <a:cs typeface="Calibri" pitchFamily="34" charset="-120"/>
              </a:rPr>
              <a:t>– hazards, controls, emergency actions</a:t>
            </a:r>
            <a:endParaRPr lang="en-US" sz="1900" dirty="0"/>
          </a:p>
          <a:p>
            <a:pPr marL="228600" indent="-228600">
              <a:spcAft>
                <a:spcPts val="1200"/>
              </a:spcAft>
              <a:buSzPct val="100000"/>
              <a:buChar char="•"/>
            </a:pPr>
            <a:r>
              <a:rPr lang="en-US" sz="1900" b="1" dirty="0">
                <a:solidFill>
                  <a:srgbClr val="1B2730"/>
                </a:solidFill>
                <a:latin typeface="Calibri" pitchFamily="34" charset="0"/>
                <a:ea typeface="Calibri" pitchFamily="34" charset="-122"/>
                <a:cs typeface="Calibri" pitchFamily="34" charset="-120"/>
              </a:rPr>
              <a:t>Comply </a:t>
            </a:r>
            <a:pPr indent="0" marL="0">
              <a:buNone/>
            </a:pPr>
            <a:r>
              <a:rPr lang="en-US" sz="1900" dirty="0">
                <a:solidFill>
                  <a:srgbClr val="1B2730"/>
                </a:solidFill>
                <a:latin typeface="Calibri" pitchFamily="34" charset="0"/>
                <a:ea typeface="Calibri" pitchFamily="34" charset="-122"/>
                <a:cs typeface="Calibri" pitchFamily="34" charset="-120"/>
              </a:rPr>
              <a:t>– permit conditions, isolation boundaries, PPE</a:t>
            </a:r>
            <a:endParaRPr lang="en-US" sz="1900" dirty="0"/>
          </a:p>
          <a:p>
            <a:pPr marL="228600" indent="-228600">
              <a:spcAft>
                <a:spcPts val="1200"/>
              </a:spcAft>
              <a:buSzPct val="100000"/>
              <a:buChar char="•"/>
            </a:pPr>
            <a:r>
              <a:rPr lang="en-US" sz="1900" b="1" dirty="0">
                <a:solidFill>
                  <a:srgbClr val="1B2730"/>
                </a:solidFill>
                <a:latin typeface="Calibri" pitchFamily="34" charset="0"/>
                <a:ea typeface="Calibri" pitchFamily="34" charset="-122"/>
                <a:cs typeface="Calibri" pitchFamily="34" charset="-120"/>
              </a:rPr>
              <a:t>Stay aware </a:t>
            </a:r>
            <a:pPr indent="0" marL="0">
              <a:buNone/>
            </a:pPr>
            <a:r>
              <a:rPr lang="en-US" sz="1900" dirty="0">
                <a:solidFill>
                  <a:srgbClr val="1B2730"/>
                </a:solidFill>
                <a:latin typeface="Calibri" pitchFamily="34" charset="0"/>
                <a:ea typeface="Calibri" pitchFamily="34" charset="-122"/>
                <a:cs typeface="Calibri" pitchFamily="34" charset="-120"/>
              </a:rPr>
              <a:t>– report changes or unsafe conditions at once</a:t>
            </a:r>
            <a:endParaRPr lang="en-US" sz="1900" dirty="0"/>
          </a:p>
          <a:p>
            <a:pPr marL="228600" indent="-228600">
              <a:spcAft>
                <a:spcPts val="1200"/>
              </a:spcAft>
              <a:buSzPct val="100000"/>
              <a:buChar char="•"/>
            </a:pPr>
            <a:r>
              <a:rPr lang="en-US" sz="1900" b="1" dirty="0">
                <a:solidFill>
                  <a:srgbClr val="1B2730"/>
                </a:solidFill>
                <a:latin typeface="Calibri" pitchFamily="34" charset="0"/>
                <a:ea typeface="Calibri" pitchFamily="34" charset="-122"/>
                <a:cs typeface="Calibri" pitchFamily="34" charset="-120"/>
              </a:rPr>
              <a:t>Use Stop Work Authority </a:t>
            </a:r>
            <a:pPr indent="0" marL="0">
              <a:buNone/>
            </a:pPr>
            <a:r>
              <a:rPr lang="en-US" sz="1900" dirty="0">
                <a:solidFill>
                  <a:srgbClr val="1B2730"/>
                </a:solidFill>
                <a:latin typeface="Calibri" pitchFamily="34" charset="0"/>
                <a:ea typeface="Calibri" pitchFamily="34" charset="-122"/>
                <a:cs typeface="Calibri" pitchFamily="34" charset="-120"/>
              </a:rPr>
              <a:t>– without fear of reprisal</a:t>
            </a:r>
            <a:endParaRPr lang="en-US" sz="1900" dirty="0"/>
          </a:p>
        </p:txBody>
      </p:sp>
      <p:sp>
        <p:nvSpPr>
          <p:cNvPr id="8" name="a1_box_827"/>
          <p:cNvSpPr/>
          <p:nvPr/>
        </p:nvSpPr>
        <p:spPr>
          <a:xfrm>
            <a:off x="6172200" y="1280160"/>
            <a:ext cx="5468112" cy="1554480"/>
          </a:xfrm>
          <a:prstGeom prst="roundRect">
            <a:avLst>
              <a:gd name="adj" fmla="val 705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circ_828"/>
          <p:cNvSpPr/>
          <p:nvPr/>
        </p:nvSpPr>
        <p:spPr>
          <a:xfrm>
            <a:off x="6336792" y="1691640"/>
            <a:ext cx="731520" cy="731520"/>
          </a:xfrm>
          <a:prstGeom prst="ellipse">
            <a:avLst/>
          </a:prstGeom>
          <a:solidFill>
            <a:srgbClr val="C0392B"/>
          </a:solidFill>
          <a:ln/>
        </p:spPr>
      </p:sp>
      <p:pic>
        <p:nvPicPr>
          <p:cNvPr id="10" name="a1_icon_829" descr="preencoded.png">    </p:cNvPr>
          <p:cNvPicPr>
            <a:picLocks noChangeAspect="1"/>
          </p:cNvPicPr>
          <p:nvPr/>
        </p:nvPicPr>
        <p:blipFill>
          <a:blip r:embed="rId2"/>
          <a:stretch>
            <a:fillRect/>
          </a:stretch>
        </p:blipFill>
        <p:spPr>
          <a:xfrm>
            <a:off x="6501384" y="1856232"/>
            <a:ext cx="402336" cy="402336"/>
          </a:xfrm>
          <a:prstGeom prst="rect">
            <a:avLst/>
          </a:prstGeom>
        </p:spPr>
      </p:pic>
      <p:sp>
        <p:nvSpPr>
          <p:cNvPr id="11" name="a1_txt_830"/>
          <p:cNvSpPr txBox="1"/>
          <p:nvPr/>
        </p:nvSpPr>
        <p:spPr>
          <a:xfrm>
            <a:off x="7223760" y="1325880"/>
            <a:ext cx="4279392" cy="146304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Fire Watch</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Sole duty: watch for fire. Trained. Charged extinguisher + radio. Stays ≥ 60 min after hot work.</a:t>
            </a:r>
            <a:endParaRPr lang="en-US" sz="2000" dirty="0"/>
          </a:p>
        </p:txBody>
      </p:sp>
      <p:sp>
        <p:nvSpPr>
          <p:cNvPr id="12" name="a2_box_831"/>
          <p:cNvSpPr/>
          <p:nvPr/>
        </p:nvSpPr>
        <p:spPr>
          <a:xfrm>
            <a:off x="6172200" y="2962656"/>
            <a:ext cx="5468112" cy="1554480"/>
          </a:xfrm>
          <a:prstGeom prst="roundRect">
            <a:avLst>
              <a:gd name="adj" fmla="val 705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circ_832"/>
          <p:cNvSpPr/>
          <p:nvPr/>
        </p:nvSpPr>
        <p:spPr>
          <a:xfrm>
            <a:off x="6336792" y="3374136"/>
            <a:ext cx="731520" cy="731520"/>
          </a:xfrm>
          <a:prstGeom prst="ellipse">
            <a:avLst/>
          </a:prstGeom>
          <a:solidFill>
            <a:srgbClr val="E8771E"/>
          </a:solidFill>
          <a:ln/>
        </p:spPr>
      </p:sp>
      <p:pic>
        <p:nvPicPr>
          <p:cNvPr id="14" name="a2_icon_833" descr="preencoded.png">    </p:cNvPr>
          <p:cNvPicPr>
            <a:picLocks noChangeAspect="1"/>
          </p:cNvPicPr>
          <p:nvPr/>
        </p:nvPicPr>
        <p:blipFill>
          <a:blip r:embed="rId3"/>
          <a:stretch>
            <a:fillRect/>
          </a:stretch>
        </p:blipFill>
        <p:spPr>
          <a:xfrm>
            <a:off x="6501384" y="3538728"/>
            <a:ext cx="402336" cy="402336"/>
          </a:xfrm>
          <a:prstGeom prst="rect">
            <a:avLst/>
          </a:prstGeom>
        </p:spPr>
      </p:pic>
      <p:sp>
        <p:nvSpPr>
          <p:cNvPr id="15" name="a2_txt_834"/>
          <p:cNvSpPr txBox="1"/>
          <p:nvPr/>
        </p:nvSpPr>
        <p:spPr>
          <a:xfrm>
            <a:off x="7223760" y="3008376"/>
            <a:ext cx="4279392" cy="146304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Confined Space Attendant</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Counts entrants, constant contact, monitors at entrance, summons rescue. NEVER enters.</a:t>
            </a:r>
            <a:endParaRPr lang="en-US" sz="2000" dirty="0"/>
          </a:p>
        </p:txBody>
      </p:sp>
      <p:sp>
        <p:nvSpPr>
          <p:cNvPr id="16" name="a3_box_835"/>
          <p:cNvSpPr/>
          <p:nvPr/>
        </p:nvSpPr>
        <p:spPr>
          <a:xfrm>
            <a:off x="6172200" y="4645152"/>
            <a:ext cx="5468112" cy="1554480"/>
          </a:xfrm>
          <a:prstGeom prst="roundRect">
            <a:avLst>
              <a:gd name="adj" fmla="val 705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circ_836"/>
          <p:cNvSpPr/>
          <p:nvPr/>
        </p:nvSpPr>
        <p:spPr>
          <a:xfrm>
            <a:off x="6336792" y="5056632"/>
            <a:ext cx="731520" cy="731520"/>
          </a:xfrm>
          <a:prstGeom prst="ellipse">
            <a:avLst/>
          </a:prstGeom>
          <a:solidFill>
            <a:srgbClr val="6A1B9A"/>
          </a:solidFill>
          <a:ln/>
        </p:spPr>
      </p:sp>
      <p:pic>
        <p:nvPicPr>
          <p:cNvPr id="18" name="a3_icon_837" descr="preencoded.png">    </p:cNvPr>
          <p:cNvPicPr>
            <a:picLocks noChangeAspect="1"/>
          </p:cNvPicPr>
          <p:nvPr/>
        </p:nvPicPr>
        <p:blipFill>
          <a:blip r:embed="rId4"/>
          <a:stretch>
            <a:fillRect/>
          </a:stretch>
        </p:blipFill>
        <p:spPr>
          <a:xfrm>
            <a:off x="6501384" y="5221224"/>
            <a:ext cx="402336" cy="402336"/>
          </a:xfrm>
          <a:prstGeom prst="rect">
            <a:avLst/>
          </a:prstGeom>
        </p:spPr>
      </p:pic>
      <p:sp>
        <p:nvSpPr>
          <p:cNvPr id="19" name="a3_txt_838"/>
          <p:cNvSpPr txBox="1"/>
          <p:nvPr/>
        </p:nvSpPr>
        <p:spPr>
          <a:xfrm>
            <a:off x="7223760" y="4690872"/>
            <a:ext cx="4279392" cy="146304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Radiography Safety Watch</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Keeps people out of the controlled zone; survey meter; contact with radiographer.</a:t>
            </a:r>
            <a:endParaRPr lang="en-US" sz="2000" dirty="0"/>
          </a:p>
        </p:txBody>
      </p:sp>
      <p:sp>
        <p:nvSpPr>
          <p:cNvPr id="20"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Trainer Question: Who Does What?</a:t>
            </a:r>
            <a:endParaRPr lang="en-US" sz="3200" dirty="0"/>
          </a:p>
        </p:txBody>
      </p:sp>
      <p:sp>
        <p:nvSpPr>
          <p:cNvPr id="3" name="box_839"/>
          <p:cNvSpPr/>
          <p:nvPr/>
        </p:nvSpPr>
        <p:spPr>
          <a:xfrm>
            <a:off x="548640" y="1280160"/>
            <a:ext cx="11094415" cy="1234440"/>
          </a:xfrm>
          <a:prstGeom prst="roundRect">
            <a:avLst>
              <a:gd name="adj" fmla="val 8889"/>
            </a:avLst>
          </a:prstGeom>
          <a:solidFill>
            <a:srgbClr val="0B2A3C"/>
          </a:solidFill>
          <a:ln/>
        </p:spPr>
      </p:sp>
      <p:pic>
        <p:nvPicPr>
          <p:cNvPr id="4" name="icon_840"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841"/>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Quick-fire quiz – answer out loud before each click.</a:t>
            </a:r>
            <a:endParaRPr lang="en-US" sz="1800" dirty="0"/>
          </a:p>
        </p:txBody>
      </p:sp>
      <p:sp>
        <p:nvSpPr>
          <p:cNvPr id="6" name="txt_842"/>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Who is responsible?</a:t>
            </a:r>
            <a:endParaRPr lang="en-US" sz="2400" dirty="0"/>
          </a:p>
        </p:txBody>
      </p:sp>
      <p:sp>
        <p:nvSpPr>
          <p:cNvPr id="7" name="txt_843"/>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844"/>
          <p:cNvSpPr/>
          <p:nvPr/>
        </p:nvSpPr>
        <p:spPr>
          <a:xfrm>
            <a:off x="548640"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845"/>
          <p:cNvSpPr/>
          <p:nvPr/>
        </p:nvSpPr>
        <p:spPr>
          <a:xfrm>
            <a:off x="548640" y="3063240"/>
            <a:ext cx="685800" cy="914400"/>
          </a:xfrm>
          <a:prstGeom prst="rect">
            <a:avLst/>
          </a:prstGeom>
          <a:solidFill>
            <a:srgbClr val="0F6E7A"/>
          </a:solidFill>
          <a:ln/>
        </p:spPr>
      </p:sp>
      <p:pic>
        <p:nvPicPr>
          <p:cNvPr id="10" name="a1_icon_846" descr="preencoded.png">    </p:cNvPr>
          <p:cNvPicPr>
            <a:picLocks noChangeAspect="1"/>
          </p:cNvPicPr>
          <p:nvPr/>
        </p:nvPicPr>
        <p:blipFill>
          <a:blip r:embed="rId2"/>
          <a:stretch>
            <a:fillRect/>
          </a:stretch>
        </p:blipFill>
        <p:spPr>
          <a:xfrm>
            <a:off x="704088" y="3328416"/>
            <a:ext cx="384048" cy="384048"/>
          </a:xfrm>
          <a:prstGeom prst="rect">
            <a:avLst/>
          </a:prstGeom>
        </p:spPr>
      </p:pic>
      <p:sp>
        <p:nvSpPr>
          <p:cNvPr id="11" name="a1_txt_847"/>
          <p:cNvSpPr txBox="1"/>
          <p:nvPr/>
        </p:nvSpPr>
        <p:spPr>
          <a:xfrm>
            <a:off x="1371600" y="3108960"/>
            <a:ext cx="4472788" cy="822960"/>
          </a:xfrm>
          <a:prstGeom prst="rect">
            <a:avLst/>
          </a:prstGeom>
          <a:noFill/>
          <a:ln/>
        </p:spPr>
        <p:txBody>
          <a:bodyPr wrap="square" lIns="635" tIns="635" rIns="635" bIns="635" rtlCol="0" anchor="ctr"/>
          <a:lstStyle/>
          <a:p>
            <a:pPr indent="0" marL="0">
              <a:buNone/>
            </a:pPr>
            <a:r>
              <a:rPr lang="en-US" sz="1700" b="1" dirty="0">
                <a:solidFill>
                  <a:srgbClr val="0F6E7A"/>
                </a:solidFill>
                <a:latin typeface="Calibri" pitchFamily="34" charset="0"/>
                <a:ea typeface="Calibri" pitchFamily="34" charset="-122"/>
                <a:cs typeface="Calibri" pitchFamily="34" charset="-120"/>
              </a:rPr>
              <a:t>Who signs FIRST to authorise the work? </a:t>
            </a:r>
            <a:pPr indent="0" marL="0">
              <a:buNone/>
            </a:pPr>
            <a:r>
              <a:rPr lang="en-US" sz="1700" dirty="0">
                <a:solidFill>
                  <a:srgbClr val="1B2730"/>
                </a:solidFill>
                <a:latin typeface="Calibri" pitchFamily="34" charset="0"/>
                <a:ea typeface="Calibri" pitchFamily="34" charset="-122"/>
                <a:cs typeface="Calibri" pitchFamily="34" charset="-120"/>
              </a:rPr>
              <a:t>The Permit Issuer (after verifying the site)</a:t>
            </a:r>
            <a:endParaRPr lang="en-US" sz="1700" dirty="0"/>
          </a:p>
        </p:txBody>
      </p:sp>
      <p:sp>
        <p:nvSpPr>
          <p:cNvPr id="12" name="a2_box_848"/>
          <p:cNvSpPr/>
          <p:nvPr/>
        </p:nvSpPr>
        <p:spPr>
          <a:xfrm>
            <a:off x="6210148"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849"/>
          <p:cNvSpPr/>
          <p:nvPr/>
        </p:nvSpPr>
        <p:spPr>
          <a:xfrm>
            <a:off x="6210148" y="3063240"/>
            <a:ext cx="685800" cy="914400"/>
          </a:xfrm>
          <a:prstGeom prst="rect">
            <a:avLst/>
          </a:prstGeom>
          <a:solidFill>
            <a:srgbClr val="E8771E"/>
          </a:solidFill>
          <a:ln/>
        </p:spPr>
      </p:sp>
      <p:pic>
        <p:nvPicPr>
          <p:cNvPr id="14" name="a2_icon_850" descr="preencoded.png">    </p:cNvPr>
          <p:cNvPicPr>
            <a:picLocks noChangeAspect="1"/>
          </p:cNvPicPr>
          <p:nvPr/>
        </p:nvPicPr>
        <p:blipFill>
          <a:blip r:embed="rId3"/>
          <a:stretch>
            <a:fillRect/>
          </a:stretch>
        </p:blipFill>
        <p:spPr>
          <a:xfrm>
            <a:off x="6365596" y="3328416"/>
            <a:ext cx="384048" cy="384048"/>
          </a:xfrm>
          <a:prstGeom prst="rect">
            <a:avLst/>
          </a:prstGeom>
        </p:spPr>
      </p:pic>
      <p:sp>
        <p:nvSpPr>
          <p:cNvPr id="15" name="a2_txt_851"/>
          <p:cNvSpPr txBox="1"/>
          <p:nvPr/>
        </p:nvSpPr>
        <p:spPr>
          <a:xfrm>
            <a:off x="7033108" y="3108960"/>
            <a:ext cx="4472788" cy="822960"/>
          </a:xfrm>
          <a:prstGeom prst="rect">
            <a:avLst/>
          </a:prstGeom>
          <a:noFill/>
          <a:ln/>
        </p:spPr>
        <p:txBody>
          <a:bodyPr wrap="square" lIns="635" tIns="635" rIns="635" bIns="635" rtlCol="0" anchor="ctr"/>
          <a:lstStyle/>
          <a:p>
            <a:pPr indent="0" marL="0">
              <a:buNone/>
            </a:pPr>
            <a:r>
              <a:rPr lang="en-US" sz="1700" b="1" dirty="0">
                <a:solidFill>
                  <a:srgbClr val="E8771E"/>
                </a:solidFill>
                <a:latin typeface="Calibri" pitchFamily="34" charset="0"/>
                <a:ea typeface="Calibri" pitchFamily="34" charset="-122"/>
                <a:cs typeface="Calibri" pitchFamily="34" charset="-120"/>
              </a:rPr>
              <a:t>Who briefs the work crew? </a:t>
            </a:r>
            <a:pPr indent="0" marL="0">
              <a:buNone/>
            </a:pPr>
            <a:r>
              <a:rPr lang="en-US" sz="1700" dirty="0">
                <a:solidFill>
                  <a:srgbClr val="1B2730"/>
                </a:solidFill>
                <a:latin typeface="Calibri" pitchFamily="34" charset="0"/>
                <a:ea typeface="Calibri" pitchFamily="34" charset="-122"/>
                <a:cs typeface="Calibri" pitchFamily="34" charset="-120"/>
              </a:rPr>
              <a:t>The Permit Receiver – toolbox talk using the permit</a:t>
            </a:r>
            <a:endParaRPr lang="en-US" sz="1700" dirty="0"/>
          </a:p>
        </p:txBody>
      </p:sp>
      <p:sp>
        <p:nvSpPr>
          <p:cNvPr id="16" name="a3_box_852"/>
          <p:cNvSpPr/>
          <p:nvPr/>
        </p:nvSpPr>
        <p:spPr>
          <a:xfrm>
            <a:off x="548640"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853"/>
          <p:cNvSpPr/>
          <p:nvPr/>
        </p:nvSpPr>
        <p:spPr>
          <a:xfrm>
            <a:off x="548640" y="4206240"/>
            <a:ext cx="685800" cy="914400"/>
          </a:xfrm>
          <a:prstGeom prst="rect">
            <a:avLst/>
          </a:prstGeom>
          <a:solidFill>
            <a:srgbClr val="C0392B"/>
          </a:solidFill>
          <a:ln/>
        </p:spPr>
      </p:sp>
      <p:pic>
        <p:nvPicPr>
          <p:cNvPr id="18" name="a3_icon_854" descr="preencoded.png">    </p:cNvPr>
          <p:cNvPicPr>
            <a:picLocks noChangeAspect="1"/>
          </p:cNvPicPr>
          <p:nvPr/>
        </p:nvPicPr>
        <p:blipFill>
          <a:blip r:embed="rId4"/>
          <a:stretch>
            <a:fillRect/>
          </a:stretch>
        </p:blipFill>
        <p:spPr>
          <a:xfrm>
            <a:off x="704088" y="4471416"/>
            <a:ext cx="384048" cy="384048"/>
          </a:xfrm>
          <a:prstGeom prst="rect">
            <a:avLst/>
          </a:prstGeom>
        </p:spPr>
      </p:pic>
      <p:sp>
        <p:nvSpPr>
          <p:cNvPr id="19" name="a3_txt_855"/>
          <p:cNvSpPr txBox="1"/>
          <p:nvPr/>
        </p:nvSpPr>
        <p:spPr>
          <a:xfrm>
            <a:off x="1371600" y="4251960"/>
            <a:ext cx="4472788" cy="82296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Who must NEVER enter the confined space? </a:t>
            </a:r>
            <a:pPr indent="0" marL="0">
              <a:buNone/>
            </a:pPr>
            <a:r>
              <a:rPr lang="en-US" sz="1700" dirty="0">
                <a:solidFill>
                  <a:srgbClr val="1B2730"/>
                </a:solidFill>
                <a:latin typeface="Calibri" pitchFamily="34" charset="0"/>
                <a:ea typeface="Calibri" pitchFamily="34" charset="-122"/>
                <a:cs typeface="Calibri" pitchFamily="34" charset="-120"/>
              </a:rPr>
              <a:t>The Confined Space Attendant</a:t>
            </a:r>
            <a:endParaRPr lang="en-US" sz="1700" dirty="0"/>
          </a:p>
        </p:txBody>
      </p:sp>
      <p:sp>
        <p:nvSpPr>
          <p:cNvPr id="20" name="a4_box_856"/>
          <p:cNvSpPr/>
          <p:nvPr/>
        </p:nvSpPr>
        <p:spPr>
          <a:xfrm>
            <a:off x="6210148"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857"/>
          <p:cNvSpPr/>
          <p:nvPr/>
        </p:nvSpPr>
        <p:spPr>
          <a:xfrm>
            <a:off x="6210148" y="4206240"/>
            <a:ext cx="685800" cy="914400"/>
          </a:xfrm>
          <a:prstGeom prst="rect">
            <a:avLst/>
          </a:prstGeom>
          <a:solidFill>
            <a:srgbClr val="C0392B"/>
          </a:solidFill>
          <a:ln/>
        </p:spPr>
      </p:sp>
      <p:pic>
        <p:nvPicPr>
          <p:cNvPr id="22" name="a4_icon_858" descr="preencoded.png">    </p:cNvPr>
          <p:cNvPicPr>
            <a:picLocks noChangeAspect="1"/>
          </p:cNvPicPr>
          <p:nvPr/>
        </p:nvPicPr>
        <p:blipFill>
          <a:blip r:embed="rId5"/>
          <a:stretch>
            <a:fillRect/>
          </a:stretch>
        </p:blipFill>
        <p:spPr>
          <a:xfrm>
            <a:off x="6365596" y="4471416"/>
            <a:ext cx="384048" cy="384048"/>
          </a:xfrm>
          <a:prstGeom prst="rect">
            <a:avLst/>
          </a:prstGeom>
        </p:spPr>
      </p:pic>
      <p:sp>
        <p:nvSpPr>
          <p:cNvPr id="23" name="a4_txt_859"/>
          <p:cNvSpPr txBox="1"/>
          <p:nvPr/>
        </p:nvSpPr>
        <p:spPr>
          <a:xfrm>
            <a:off x="7033108" y="4251960"/>
            <a:ext cx="4472788" cy="82296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Can the Safety Officer issue a permit? </a:t>
            </a:r>
            <a:pPr indent="0" marL="0">
              <a:buNone/>
            </a:pPr>
            <a:r>
              <a:rPr lang="en-US" sz="1700" dirty="0">
                <a:solidFill>
                  <a:srgbClr val="1B2730"/>
                </a:solidFill>
                <a:latin typeface="Calibri" pitchFamily="34" charset="0"/>
                <a:ea typeface="Calibri" pitchFamily="34" charset="-122"/>
                <a:cs typeface="Calibri" pitchFamily="34" charset="-120"/>
              </a:rPr>
              <a:t>No – advisory and assurance role only</a:t>
            </a:r>
            <a:endParaRPr lang="en-US" sz="1700" dirty="0"/>
          </a:p>
        </p:txBody>
      </p:sp>
      <p:sp>
        <p:nvSpPr>
          <p:cNvPr id="24" name="a5_box_860"/>
          <p:cNvSpPr/>
          <p:nvPr/>
        </p:nvSpPr>
        <p:spPr>
          <a:xfrm>
            <a:off x="548640"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5" name="a5_box_861"/>
          <p:cNvSpPr/>
          <p:nvPr/>
        </p:nvSpPr>
        <p:spPr>
          <a:xfrm>
            <a:off x="548640" y="5349240"/>
            <a:ext cx="685800" cy="914400"/>
          </a:xfrm>
          <a:prstGeom prst="rect">
            <a:avLst/>
          </a:prstGeom>
          <a:solidFill>
            <a:srgbClr val="2E7D32"/>
          </a:solidFill>
          <a:ln/>
        </p:spPr>
      </p:sp>
      <p:pic>
        <p:nvPicPr>
          <p:cNvPr id="26" name="a5_icon_862" descr="preencoded.png">    </p:cNvPr>
          <p:cNvPicPr>
            <a:picLocks noChangeAspect="1"/>
          </p:cNvPicPr>
          <p:nvPr/>
        </p:nvPicPr>
        <p:blipFill>
          <a:blip r:embed="rId6"/>
          <a:stretch>
            <a:fillRect/>
          </a:stretch>
        </p:blipFill>
        <p:spPr>
          <a:xfrm>
            <a:off x="704088" y="5614416"/>
            <a:ext cx="384048" cy="384048"/>
          </a:xfrm>
          <a:prstGeom prst="rect">
            <a:avLst/>
          </a:prstGeom>
        </p:spPr>
      </p:pic>
      <p:sp>
        <p:nvSpPr>
          <p:cNvPr id="27" name="a5_txt_863"/>
          <p:cNvSpPr txBox="1"/>
          <p:nvPr/>
        </p:nvSpPr>
        <p:spPr>
          <a:xfrm>
            <a:off x="1371600" y="5394960"/>
            <a:ext cx="4472788" cy="822960"/>
          </a:xfrm>
          <a:prstGeom prst="rect">
            <a:avLst/>
          </a:prstGeom>
          <a:noFill/>
          <a:ln/>
        </p:spPr>
        <p:txBody>
          <a:bodyPr wrap="square" lIns="635" tIns="635" rIns="635" bIns="635" rtlCol="0" anchor="ctr"/>
          <a:lstStyle/>
          <a:p>
            <a:pPr indent="0" marL="0">
              <a:buNone/>
            </a:pPr>
            <a:r>
              <a:rPr lang="en-US" sz="1700" b="1" dirty="0">
                <a:solidFill>
                  <a:srgbClr val="2E7D32"/>
                </a:solidFill>
                <a:latin typeface="Calibri" pitchFamily="34" charset="0"/>
                <a:ea typeface="Calibri" pitchFamily="34" charset="-122"/>
                <a:cs typeface="Calibri" pitchFamily="34" charset="-120"/>
              </a:rPr>
              <a:t>Who can STOP unsafe work? </a:t>
            </a:r>
            <a:pPr indent="0" marL="0">
              <a:buNone/>
            </a:pPr>
            <a:r>
              <a:rPr lang="en-US" sz="1700" dirty="0">
                <a:solidFill>
                  <a:srgbClr val="1B2730"/>
                </a:solidFill>
                <a:latin typeface="Calibri" pitchFamily="34" charset="0"/>
                <a:ea typeface="Calibri" pitchFamily="34" charset="-122"/>
                <a:cs typeface="Calibri" pitchFamily="34" charset="-120"/>
              </a:rPr>
              <a:t>EVERYONE on site – any time</a:t>
            </a:r>
            <a:endParaRPr lang="en-US" sz="1700" dirty="0"/>
          </a:p>
        </p:txBody>
      </p:sp>
      <p:sp>
        <p:nvSpPr>
          <p:cNvPr id="28" name="a6_box_864"/>
          <p:cNvSpPr/>
          <p:nvPr/>
        </p:nvSpPr>
        <p:spPr>
          <a:xfrm>
            <a:off x="6210148"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box_865"/>
          <p:cNvSpPr/>
          <p:nvPr/>
        </p:nvSpPr>
        <p:spPr>
          <a:xfrm>
            <a:off x="6210148" y="5349240"/>
            <a:ext cx="685800" cy="914400"/>
          </a:xfrm>
          <a:prstGeom prst="rect">
            <a:avLst/>
          </a:prstGeom>
          <a:solidFill>
            <a:srgbClr val="0F6E7A"/>
          </a:solidFill>
          <a:ln/>
        </p:spPr>
      </p:sp>
      <p:pic>
        <p:nvPicPr>
          <p:cNvPr id="30" name="a6_icon_866" descr="preencoded.png">    </p:cNvPr>
          <p:cNvPicPr>
            <a:picLocks noChangeAspect="1"/>
          </p:cNvPicPr>
          <p:nvPr/>
        </p:nvPicPr>
        <p:blipFill>
          <a:blip r:embed="rId7"/>
          <a:stretch>
            <a:fillRect/>
          </a:stretch>
        </p:blipFill>
        <p:spPr>
          <a:xfrm>
            <a:off x="6365596" y="5614416"/>
            <a:ext cx="384048" cy="384048"/>
          </a:xfrm>
          <a:prstGeom prst="rect">
            <a:avLst/>
          </a:prstGeom>
        </p:spPr>
      </p:pic>
      <p:sp>
        <p:nvSpPr>
          <p:cNvPr id="31" name="a6_txt_867"/>
          <p:cNvSpPr txBox="1"/>
          <p:nvPr/>
        </p:nvSpPr>
        <p:spPr>
          <a:xfrm>
            <a:off x="7033108" y="5394960"/>
            <a:ext cx="4472788" cy="822960"/>
          </a:xfrm>
          <a:prstGeom prst="rect">
            <a:avLst/>
          </a:prstGeom>
          <a:noFill/>
          <a:ln/>
        </p:spPr>
        <p:txBody>
          <a:bodyPr wrap="square" lIns="635" tIns="635" rIns="635" bIns="635" rtlCol="0" anchor="ctr"/>
          <a:lstStyle/>
          <a:p>
            <a:pPr indent="0" marL="0">
              <a:buNone/>
            </a:pPr>
            <a:r>
              <a:rPr lang="en-US" sz="1700" b="1" dirty="0">
                <a:solidFill>
                  <a:srgbClr val="0F6E7A"/>
                </a:solidFill>
                <a:latin typeface="Calibri" pitchFamily="34" charset="0"/>
                <a:ea typeface="Calibri" pitchFamily="34" charset="-122"/>
                <a:cs typeface="Calibri" pitchFamily="34" charset="-120"/>
              </a:rPr>
              <a:t>Who certifies the isolation? </a:t>
            </a:r>
            <a:pPr indent="0" marL="0">
              <a:buNone/>
            </a:pPr>
            <a:r>
              <a:rPr lang="en-US" sz="1700" dirty="0">
                <a:solidFill>
                  <a:srgbClr val="1B2730"/>
                </a:solidFill>
                <a:latin typeface="Calibri" pitchFamily="34" charset="0"/>
                <a:ea typeface="Calibri" pitchFamily="34" charset="-122"/>
                <a:cs typeface="Calibri" pitchFamily="34" charset="-120"/>
              </a:rPr>
              <a:t>The Isolating Authority (Isolation Certificate)</a:t>
            </a:r>
            <a:endParaRPr lang="en-US" sz="1700" dirty="0"/>
          </a:p>
        </p:txBody>
      </p:sp>
      <p:sp>
        <p:nvSpPr>
          <p:cNvPr id="32"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circ_868"/>
          <p:cNvSpPr/>
          <p:nvPr/>
        </p:nvSpPr>
        <p:spPr>
          <a:xfrm>
            <a:off x="548640" y="2011680"/>
            <a:ext cx="1371600" cy="1371600"/>
          </a:xfrm>
          <a:prstGeom prst="ellipse">
            <a:avLst/>
          </a:prstGeom>
          <a:solidFill>
            <a:srgbClr val="E8771E"/>
          </a:solidFill>
          <a:ln/>
        </p:spPr>
      </p:sp>
      <p:pic>
        <p:nvPicPr>
          <p:cNvPr id="3" name="icon_869"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870"/>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5</a:t>
            </a:r>
            <a:endParaRPr lang="en-US" sz="1800" dirty="0"/>
          </a:p>
        </p:txBody>
      </p:sp>
      <p:sp>
        <p:nvSpPr>
          <p:cNvPr id="5" name="txt_871"/>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PTW Process – From Request to Closure</a:t>
            </a:r>
            <a:endParaRPr lang="en-US" sz="4000" dirty="0"/>
          </a:p>
        </p:txBody>
      </p:sp>
      <p:sp>
        <p:nvSpPr>
          <p:cNvPr id="6" name="txt_872"/>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Seven stages, each with clear owners and handovers</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The PTW Lifecycle – 7 Stages</a:t>
            </a:r>
            <a:endParaRPr lang="en-US" sz="3200" dirty="0"/>
          </a:p>
        </p:txBody>
      </p:sp>
      <p:sp>
        <p:nvSpPr>
          <p:cNvPr id="3" name="a1w_box_873"/>
          <p:cNvSpPr/>
          <p:nvPr/>
        </p:nvSpPr>
        <p:spPr>
          <a:xfrm>
            <a:off x="548640" y="1280160"/>
            <a:ext cx="2650160"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w_box_874"/>
          <p:cNvSpPr/>
          <p:nvPr/>
        </p:nvSpPr>
        <p:spPr>
          <a:xfrm>
            <a:off x="548640" y="1280160"/>
            <a:ext cx="2650160" cy="566928"/>
          </a:xfrm>
          <a:prstGeom prst="rect">
            <a:avLst/>
          </a:prstGeom>
          <a:solidFill>
            <a:srgbClr val="0F6E7A"/>
          </a:solidFill>
          <a:ln/>
        </p:spPr>
      </p:sp>
      <p:sp>
        <p:nvSpPr>
          <p:cNvPr id="5" name="a1w_txt_875"/>
          <p:cNvSpPr txBox="1"/>
          <p:nvPr/>
        </p:nvSpPr>
        <p:spPr>
          <a:xfrm>
            <a:off x="621792" y="1298448"/>
            <a:ext cx="250385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Apply &amp; plan</a:t>
            </a:r>
            <a:endParaRPr lang="en-US" sz="1700" dirty="0"/>
          </a:p>
        </p:txBody>
      </p:sp>
      <p:pic>
        <p:nvPicPr>
          <p:cNvPr id="6" name="a1w_icon_876" descr="preencoded.png">    </p:cNvPr>
          <p:cNvPicPr>
            <a:picLocks noChangeAspect="1"/>
          </p:cNvPicPr>
          <p:nvPr/>
        </p:nvPicPr>
        <p:blipFill>
          <a:blip r:embed="rId1"/>
          <a:stretch>
            <a:fillRect/>
          </a:stretch>
        </p:blipFill>
        <p:spPr>
          <a:xfrm>
            <a:off x="1599400" y="1993392"/>
            <a:ext cx="548640" cy="548640"/>
          </a:xfrm>
          <a:prstGeom prst="rect">
            <a:avLst/>
          </a:prstGeom>
        </p:spPr>
      </p:pic>
      <p:sp>
        <p:nvSpPr>
          <p:cNvPr id="7" name="a1w_txt_877"/>
          <p:cNvSpPr txBox="1"/>
          <p:nvPr/>
        </p:nvSpPr>
        <p:spPr>
          <a:xfrm>
            <a:off x="640080" y="2606040"/>
            <a:ext cx="2467280" cy="9601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Requestor completes application + JSA</a:t>
            </a:r>
            <a:endParaRPr lang="en-US" sz="1700" dirty="0"/>
          </a:p>
        </p:txBody>
      </p:sp>
      <p:sp>
        <p:nvSpPr>
          <p:cNvPr id="8" name="a2w_box_878"/>
          <p:cNvSpPr/>
          <p:nvPr/>
        </p:nvSpPr>
        <p:spPr>
          <a:xfrm>
            <a:off x="3363392" y="1280160"/>
            <a:ext cx="2650160"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w_box_879"/>
          <p:cNvSpPr/>
          <p:nvPr/>
        </p:nvSpPr>
        <p:spPr>
          <a:xfrm>
            <a:off x="3363392" y="1280160"/>
            <a:ext cx="2650160" cy="566928"/>
          </a:xfrm>
          <a:prstGeom prst="rect">
            <a:avLst/>
          </a:prstGeom>
          <a:solidFill>
            <a:srgbClr val="0F6E7A"/>
          </a:solidFill>
          <a:ln/>
        </p:spPr>
      </p:sp>
      <p:sp>
        <p:nvSpPr>
          <p:cNvPr id="10" name="a2w_txt_880"/>
          <p:cNvSpPr txBox="1"/>
          <p:nvPr/>
        </p:nvSpPr>
        <p:spPr>
          <a:xfrm>
            <a:off x="3436544" y="1298448"/>
            <a:ext cx="250385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  Review risk</a:t>
            </a:r>
            <a:endParaRPr lang="en-US" sz="1700" dirty="0"/>
          </a:p>
        </p:txBody>
      </p:sp>
      <p:pic>
        <p:nvPicPr>
          <p:cNvPr id="11" name="a2w_icon_881" descr="preencoded.png">    </p:cNvPr>
          <p:cNvPicPr>
            <a:picLocks noChangeAspect="1"/>
          </p:cNvPicPr>
          <p:nvPr/>
        </p:nvPicPr>
        <p:blipFill>
          <a:blip r:embed="rId2"/>
          <a:stretch>
            <a:fillRect/>
          </a:stretch>
        </p:blipFill>
        <p:spPr>
          <a:xfrm>
            <a:off x="4414152" y="1993392"/>
            <a:ext cx="548640" cy="548640"/>
          </a:xfrm>
          <a:prstGeom prst="rect">
            <a:avLst/>
          </a:prstGeom>
        </p:spPr>
      </p:pic>
      <p:sp>
        <p:nvSpPr>
          <p:cNvPr id="12" name="a2w_txt_882"/>
          <p:cNvSpPr txBox="1"/>
          <p:nvPr/>
        </p:nvSpPr>
        <p:spPr>
          <a:xfrm>
            <a:off x="3454832" y="2606040"/>
            <a:ext cx="2467280" cy="9601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Issuer reviews JSA; isolation plan; controls</a:t>
            </a:r>
            <a:endParaRPr lang="en-US" sz="1700" dirty="0"/>
          </a:p>
        </p:txBody>
      </p:sp>
      <p:sp>
        <p:nvSpPr>
          <p:cNvPr id="13" name="a3w_box_883"/>
          <p:cNvSpPr/>
          <p:nvPr/>
        </p:nvSpPr>
        <p:spPr>
          <a:xfrm>
            <a:off x="6178144" y="1280160"/>
            <a:ext cx="2650160"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w_box_884"/>
          <p:cNvSpPr/>
          <p:nvPr/>
        </p:nvSpPr>
        <p:spPr>
          <a:xfrm>
            <a:off x="6178144" y="1280160"/>
            <a:ext cx="2650160" cy="566928"/>
          </a:xfrm>
          <a:prstGeom prst="rect">
            <a:avLst/>
          </a:prstGeom>
          <a:solidFill>
            <a:srgbClr val="0F6E7A"/>
          </a:solidFill>
          <a:ln/>
        </p:spPr>
      </p:sp>
      <p:sp>
        <p:nvSpPr>
          <p:cNvPr id="15" name="a3w_txt_885"/>
          <p:cNvSpPr txBox="1"/>
          <p:nvPr/>
        </p:nvSpPr>
        <p:spPr>
          <a:xfrm>
            <a:off x="6251296" y="1298448"/>
            <a:ext cx="250385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  Issue</a:t>
            </a:r>
            <a:endParaRPr lang="en-US" sz="1700" dirty="0"/>
          </a:p>
        </p:txBody>
      </p:sp>
      <p:pic>
        <p:nvPicPr>
          <p:cNvPr id="16" name="a3w_icon_886" descr="preencoded.png">    </p:cNvPr>
          <p:cNvPicPr>
            <a:picLocks noChangeAspect="1"/>
          </p:cNvPicPr>
          <p:nvPr/>
        </p:nvPicPr>
        <p:blipFill>
          <a:blip r:embed="rId3"/>
          <a:stretch>
            <a:fillRect/>
          </a:stretch>
        </p:blipFill>
        <p:spPr>
          <a:xfrm>
            <a:off x="7228904" y="1993392"/>
            <a:ext cx="548640" cy="548640"/>
          </a:xfrm>
          <a:prstGeom prst="rect">
            <a:avLst/>
          </a:prstGeom>
        </p:spPr>
      </p:pic>
      <p:sp>
        <p:nvSpPr>
          <p:cNvPr id="17" name="a3w_txt_887"/>
          <p:cNvSpPr txBox="1"/>
          <p:nvPr/>
        </p:nvSpPr>
        <p:spPr>
          <a:xfrm>
            <a:off x="6269584" y="2606040"/>
            <a:ext cx="2467280" cy="9601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Joint walkdown, verify, sign</a:t>
            </a:r>
            <a:endParaRPr lang="en-US" sz="1700" dirty="0"/>
          </a:p>
        </p:txBody>
      </p:sp>
      <p:sp>
        <p:nvSpPr>
          <p:cNvPr id="18" name="a4w_box_888"/>
          <p:cNvSpPr/>
          <p:nvPr/>
        </p:nvSpPr>
        <p:spPr>
          <a:xfrm>
            <a:off x="8992895" y="1280160"/>
            <a:ext cx="2650160" cy="2331720"/>
          </a:xfrm>
          <a:prstGeom prst="roundRect">
            <a:avLst>
              <a:gd name="adj" fmla="val 47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w_box_889"/>
          <p:cNvSpPr/>
          <p:nvPr/>
        </p:nvSpPr>
        <p:spPr>
          <a:xfrm>
            <a:off x="8992895" y="1280160"/>
            <a:ext cx="2650160" cy="566928"/>
          </a:xfrm>
          <a:prstGeom prst="rect">
            <a:avLst/>
          </a:prstGeom>
          <a:solidFill>
            <a:srgbClr val="0F6E7A"/>
          </a:solidFill>
          <a:ln/>
        </p:spPr>
      </p:sp>
      <p:sp>
        <p:nvSpPr>
          <p:cNvPr id="20" name="a4w_txt_890"/>
          <p:cNvSpPr txBox="1"/>
          <p:nvPr/>
        </p:nvSpPr>
        <p:spPr>
          <a:xfrm>
            <a:off x="9066047" y="1298448"/>
            <a:ext cx="250385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Brief</a:t>
            </a:r>
            <a:endParaRPr lang="en-US" sz="1700" dirty="0"/>
          </a:p>
        </p:txBody>
      </p:sp>
      <p:pic>
        <p:nvPicPr>
          <p:cNvPr id="21" name="a4w_icon_891" descr="preencoded.png">    </p:cNvPr>
          <p:cNvPicPr>
            <a:picLocks noChangeAspect="1"/>
          </p:cNvPicPr>
          <p:nvPr/>
        </p:nvPicPr>
        <p:blipFill>
          <a:blip r:embed="rId4"/>
          <a:stretch>
            <a:fillRect/>
          </a:stretch>
        </p:blipFill>
        <p:spPr>
          <a:xfrm>
            <a:off x="10043655" y="1993392"/>
            <a:ext cx="548640" cy="548640"/>
          </a:xfrm>
          <a:prstGeom prst="rect">
            <a:avLst/>
          </a:prstGeom>
        </p:spPr>
      </p:pic>
      <p:sp>
        <p:nvSpPr>
          <p:cNvPr id="22" name="a4w_txt_892"/>
          <p:cNvSpPr txBox="1"/>
          <p:nvPr/>
        </p:nvSpPr>
        <p:spPr>
          <a:xfrm>
            <a:off x="9084335" y="2606040"/>
            <a:ext cx="2467280" cy="96012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Receiver’s toolbox talk with crew</a:t>
            </a:r>
            <a:endParaRPr lang="en-US" sz="1700" dirty="0"/>
          </a:p>
        </p:txBody>
      </p:sp>
      <p:sp>
        <p:nvSpPr>
          <p:cNvPr id="23" name="a5w_box_893"/>
          <p:cNvSpPr/>
          <p:nvPr/>
        </p:nvSpPr>
        <p:spPr>
          <a:xfrm>
            <a:off x="2011680" y="3840480"/>
            <a:ext cx="261305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w_box_894"/>
          <p:cNvSpPr/>
          <p:nvPr/>
        </p:nvSpPr>
        <p:spPr>
          <a:xfrm>
            <a:off x="2011680" y="3840480"/>
            <a:ext cx="2613050" cy="566928"/>
          </a:xfrm>
          <a:prstGeom prst="rect">
            <a:avLst/>
          </a:prstGeom>
          <a:solidFill>
            <a:srgbClr val="E8771E"/>
          </a:solidFill>
          <a:ln/>
        </p:spPr>
      </p:sp>
      <p:sp>
        <p:nvSpPr>
          <p:cNvPr id="25" name="a5w_txt_895"/>
          <p:cNvSpPr txBox="1"/>
          <p:nvPr/>
        </p:nvSpPr>
        <p:spPr>
          <a:xfrm>
            <a:off x="2084832" y="3858768"/>
            <a:ext cx="246674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  Work &amp; monitor</a:t>
            </a:r>
            <a:endParaRPr lang="en-US" sz="1700" dirty="0"/>
          </a:p>
        </p:txBody>
      </p:sp>
      <p:pic>
        <p:nvPicPr>
          <p:cNvPr id="26" name="a5w_icon_896" descr="preencoded.png">    </p:cNvPr>
          <p:cNvPicPr>
            <a:picLocks noChangeAspect="1"/>
          </p:cNvPicPr>
          <p:nvPr/>
        </p:nvPicPr>
        <p:blipFill>
          <a:blip r:embed="rId5"/>
          <a:stretch>
            <a:fillRect/>
          </a:stretch>
        </p:blipFill>
        <p:spPr>
          <a:xfrm>
            <a:off x="3043885" y="4553712"/>
            <a:ext cx="548640" cy="548640"/>
          </a:xfrm>
          <a:prstGeom prst="rect">
            <a:avLst/>
          </a:prstGeom>
        </p:spPr>
      </p:pic>
      <p:sp>
        <p:nvSpPr>
          <p:cNvPr id="27" name="a5w_txt_897"/>
          <p:cNvSpPr txBox="1"/>
          <p:nvPr/>
        </p:nvSpPr>
        <p:spPr>
          <a:xfrm>
            <a:off x="2103120" y="5166360"/>
            <a:ext cx="2430170" cy="100584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Stay inside the permit; watch for change</a:t>
            </a:r>
            <a:endParaRPr lang="en-US" sz="1700" dirty="0"/>
          </a:p>
        </p:txBody>
      </p:sp>
      <p:sp>
        <p:nvSpPr>
          <p:cNvPr id="28" name="a6w_box_898"/>
          <p:cNvSpPr/>
          <p:nvPr/>
        </p:nvSpPr>
        <p:spPr>
          <a:xfrm>
            <a:off x="4789322" y="3840480"/>
            <a:ext cx="261305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w_box_899"/>
          <p:cNvSpPr/>
          <p:nvPr/>
        </p:nvSpPr>
        <p:spPr>
          <a:xfrm>
            <a:off x="4789322" y="3840480"/>
            <a:ext cx="2613050" cy="566928"/>
          </a:xfrm>
          <a:prstGeom prst="rect">
            <a:avLst/>
          </a:prstGeom>
          <a:solidFill>
            <a:srgbClr val="E8771E"/>
          </a:solidFill>
          <a:ln/>
        </p:spPr>
      </p:sp>
      <p:sp>
        <p:nvSpPr>
          <p:cNvPr id="30" name="a6w_txt_900"/>
          <p:cNvSpPr txBox="1"/>
          <p:nvPr/>
        </p:nvSpPr>
        <p:spPr>
          <a:xfrm>
            <a:off x="4862474" y="3858768"/>
            <a:ext cx="246674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  Complete</a:t>
            </a:r>
            <a:endParaRPr lang="en-US" sz="1700" dirty="0"/>
          </a:p>
        </p:txBody>
      </p:sp>
      <p:pic>
        <p:nvPicPr>
          <p:cNvPr id="31" name="a6w_icon_901" descr="preencoded.png">    </p:cNvPr>
          <p:cNvPicPr>
            <a:picLocks noChangeAspect="1"/>
          </p:cNvPicPr>
          <p:nvPr/>
        </p:nvPicPr>
        <p:blipFill>
          <a:blip r:embed="rId6"/>
          <a:stretch>
            <a:fillRect/>
          </a:stretch>
        </p:blipFill>
        <p:spPr>
          <a:xfrm>
            <a:off x="5821528" y="4553712"/>
            <a:ext cx="548640" cy="548640"/>
          </a:xfrm>
          <a:prstGeom prst="rect">
            <a:avLst/>
          </a:prstGeom>
        </p:spPr>
      </p:pic>
      <p:sp>
        <p:nvSpPr>
          <p:cNvPr id="32" name="a6w_txt_902"/>
          <p:cNvSpPr txBox="1"/>
          <p:nvPr/>
        </p:nvSpPr>
        <p:spPr>
          <a:xfrm>
            <a:off x="4880762" y="5166360"/>
            <a:ext cx="2430170" cy="100584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Finish, clean up; locks stay ON</a:t>
            </a:r>
            <a:endParaRPr lang="en-US" sz="1700" dirty="0"/>
          </a:p>
        </p:txBody>
      </p:sp>
      <p:sp>
        <p:nvSpPr>
          <p:cNvPr id="33" name="a7w_box_903"/>
          <p:cNvSpPr/>
          <p:nvPr/>
        </p:nvSpPr>
        <p:spPr>
          <a:xfrm>
            <a:off x="7566965" y="3840480"/>
            <a:ext cx="261305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4" name="a7w_box_904"/>
          <p:cNvSpPr/>
          <p:nvPr/>
        </p:nvSpPr>
        <p:spPr>
          <a:xfrm>
            <a:off x="7566965" y="3840480"/>
            <a:ext cx="2613050" cy="566928"/>
          </a:xfrm>
          <a:prstGeom prst="rect">
            <a:avLst/>
          </a:prstGeom>
          <a:solidFill>
            <a:srgbClr val="E8771E"/>
          </a:solidFill>
          <a:ln/>
        </p:spPr>
      </p:sp>
      <p:sp>
        <p:nvSpPr>
          <p:cNvPr id="35" name="a7w_txt_905"/>
          <p:cNvSpPr txBox="1"/>
          <p:nvPr/>
        </p:nvSpPr>
        <p:spPr>
          <a:xfrm>
            <a:off x="7640117" y="3858768"/>
            <a:ext cx="2466746"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7  Close / extend / cancel</a:t>
            </a:r>
            <a:endParaRPr lang="en-US" sz="1700" dirty="0"/>
          </a:p>
        </p:txBody>
      </p:sp>
      <p:pic>
        <p:nvPicPr>
          <p:cNvPr id="36" name="a7w_icon_906" descr="preencoded.png">    </p:cNvPr>
          <p:cNvPicPr>
            <a:picLocks noChangeAspect="1"/>
          </p:cNvPicPr>
          <p:nvPr/>
        </p:nvPicPr>
        <p:blipFill>
          <a:blip r:embed="rId7"/>
          <a:stretch>
            <a:fillRect/>
          </a:stretch>
        </p:blipFill>
        <p:spPr>
          <a:xfrm>
            <a:off x="8599170" y="4553712"/>
            <a:ext cx="548640" cy="548640"/>
          </a:xfrm>
          <a:prstGeom prst="rect">
            <a:avLst/>
          </a:prstGeom>
        </p:spPr>
      </p:pic>
      <p:sp>
        <p:nvSpPr>
          <p:cNvPr id="37" name="a7w_txt_907"/>
          <p:cNvSpPr txBox="1"/>
          <p:nvPr/>
        </p:nvSpPr>
        <p:spPr>
          <a:xfrm>
            <a:off x="7658405" y="5166360"/>
            <a:ext cx="2430170" cy="1005840"/>
          </a:xfrm>
          <a:prstGeom prst="rect">
            <a:avLst/>
          </a:prstGeom>
          <a:noFill/>
          <a:ln/>
        </p:spPr>
        <p:txBody>
          <a:bodyPr wrap="square" lIns="635" tIns="635" rIns="635" bIns="635" rtlCol="0" anchor="t"/>
          <a:lstStyle/>
          <a:p>
            <a:pPr algn="ctr" indent="0" marL="0">
              <a:buNone/>
            </a:pPr>
            <a:r>
              <a:rPr lang="en-US" sz="1700" dirty="0">
                <a:solidFill>
                  <a:srgbClr val="1B2730"/>
                </a:solidFill>
                <a:latin typeface="Calibri" pitchFamily="34" charset="0"/>
                <a:ea typeface="Calibri" pitchFamily="34" charset="-122"/>
                <a:cs typeface="Calibri" pitchFamily="34" charset="-120"/>
              </a:rPr>
              <a:t>Final walkdown, sign-off, archive</a:t>
            </a:r>
            <a:endParaRPr lang="en-US" sz="1700" dirty="0"/>
          </a:p>
        </p:txBody>
      </p:sp>
      <p:sp>
        <p:nvSpPr>
          <p:cNvPr id="3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left)">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left)">
                                      <p:cBhvr>
                                        <p:cTn id="75" dur="500"/>
                                        <p:tgtEl>
                                          <p:spTgt spid="2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left)">
                                      <p:cBhvr>
                                        <p:cTn id="78" dur="500"/>
                                        <p:tgtEl>
                                          <p:spTgt spid="24"/>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wipe(left)">
                                      <p:cBhvr>
                                        <p:cTn id="81" dur="500"/>
                                        <p:tgtEl>
                                          <p:spTgt spid="25"/>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ipe(left)">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left)">
                                      <p:cBhvr>
                                        <p:cTn id="92" dur="500"/>
                                        <p:tgtEl>
                                          <p:spTgt spid="28"/>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left)">
                                      <p:cBhvr>
                                        <p:cTn id="95" dur="500"/>
                                        <p:tgtEl>
                                          <p:spTgt spid="29"/>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wipe(left)">
                                      <p:cBhvr>
                                        <p:cTn id="98" dur="500"/>
                                        <p:tgtEl>
                                          <p:spTgt spid="30"/>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wipe(left)">
                                      <p:cBhvr>
                                        <p:cTn id="101" dur="500"/>
                                        <p:tgtEl>
                                          <p:spTgt spid="31"/>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left)">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wipe(left)">
                                      <p:cBhvr>
                                        <p:cTn id="109" dur="500"/>
                                        <p:tgtEl>
                                          <p:spTgt spid="33"/>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wipe(left)">
                                      <p:cBhvr>
                                        <p:cTn id="112" dur="500"/>
                                        <p:tgtEl>
                                          <p:spTgt spid="34"/>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wipe(left)">
                                      <p:cBhvr>
                                        <p:cTn id="115" dur="500"/>
                                        <p:tgtEl>
                                          <p:spTgt spid="35"/>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wipe(left)">
                                      <p:cBhvr>
                                        <p:cTn id="118" dur="500"/>
                                        <p:tgtEl>
                                          <p:spTgt spid="36"/>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wipe(left)">
                                      <p:cBhvr>
                                        <p:cTn id="12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Stages 1–2: Apply, Plan and Review the Risk</a:t>
            </a:r>
            <a:endParaRPr lang="en-US" sz="3200" dirty="0"/>
          </a:p>
        </p:txBody>
      </p:sp>
      <p:sp>
        <p:nvSpPr>
          <p:cNvPr id="3" name="box_908"/>
          <p:cNvSpPr/>
          <p:nvPr/>
        </p:nvSpPr>
        <p:spPr>
          <a:xfrm>
            <a:off x="548640" y="1280160"/>
            <a:ext cx="544068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909"/>
          <p:cNvSpPr/>
          <p:nvPr/>
        </p:nvSpPr>
        <p:spPr>
          <a:xfrm>
            <a:off x="731520" y="1463040"/>
            <a:ext cx="685800" cy="685800"/>
          </a:xfrm>
          <a:prstGeom prst="ellipse">
            <a:avLst/>
          </a:prstGeom>
          <a:solidFill>
            <a:srgbClr val="0F6E7A"/>
          </a:solidFill>
          <a:ln/>
        </p:spPr>
      </p:sp>
      <p:pic>
        <p:nvPicPr>
          <p:cNvPr id="5" name="icon_910"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911"/>
          <p:cNvSpPr txBox="1"/>
          <p:nvPr/>
        </p:nvSpPr>
        <p:spPr>
          <a:xfrm>
            <a:off x="1581912" y="1444752"/>
            <a:ext cx="427024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1 · The application must include</a:t>
            </a:r>
            <a:endParaRPr lang="en-US" sz="2000" dirty="0"/>
          </a:p>
        </p:txBody>
      </p:sp>
      <p:sp>
        <p:nvSpPr>
          <p:cNvPr id="7" name="txt_912"/>
          <p:cNvSpPr txBox="1"/>
          <p:nvPr/>
        </p:nvSpPr>
        <p:spPr>
          <a:xfrm>
            <a:off x="777240" y="2240280"/>
            <a:ext cx="5029200" cy="3383280"/>
          </a:xfrm>
          <a:prstGeom prst="rect">
            <a:avLst/>
          </a:prstGeom>
          <a:noFill/>
          <a:ln/>
        </p:spPr>
        <p:txBody>
          <a:bodyPr wrap="square" lIns="635" tIns="635" rIns="635" bIns="635" rtlCol="0" anchor="t"/>
          <a:lstStyle/>
          <a:p>
            <a:pPr marL="228600" indent="-228600">
              <a:spcAft>
                <a:spcPts val="600"/>
              </a:spcAft>
              <a:buSzPct val="100000"/>
              <a:buChar char="•"/>
            </a:pPr>
            <a:r>
              <a:rPr lang="en-US" sz="1700" b="1" dirty="0">
                <a:solidFill>
                  <a:srgbClr val="1B2730"/>
                </a:solidFill>
                <a:latin typeface="Calibri" pitchFamily="34" charset="0"/>
                <a:ea typeface="Calibri" pitchFamily="34" charset="-122"/>
                <a:cs typeface="Calibri" pitchFamily="34" charset="-120"/>
              </a:rPr>
              <a:t>Precise work description </a:t>
            </a:r>
            <a:pPr indent="0" marL="0">
              <a:buNone/>
            </a:pPr>
            <a:r>
              <a:rPr lang="en-US" sz="1700" dirty="0">
                <a:solidFill>
                  <a:srgbClr val="1B2730"/>
                </a:solidFill>
                <a:latin typeface="Calibri" pitchFamily="34" charset="0"/>
                <a:ea typeface="Calibri" pitchFamily="34" charset="-122"/>
                <a:cs typeface="Calibri" pitchFamily="34" charset="-120"/>
              </a:rPr>
              <a:t>– “Replace mechanical seal on Pump P-101A”, not “fix the pump”</a:t>
            </a:r>
            <a:endParaRPr lang="en-US" sz="1700" dirty="0"/>
          </a:p>
          <a:p>
            <a:pPr marL="228600" indent="-228600">
              <a:spcAft>
                <a:spcPts val="600"/>
              </a:spcAft>
              <a:buSzPct val="100000"/>
              <a:buChar char="•"/>
            </a:pPr>
            <a:r>
              <a:rPr lang="en-US" sz="1700" b="1" dirty="0">
                <a:solidFill>
                  <a:srgbClr val="1B2730"/>
                </a:solidFill>
                <a:latin typeface="Calibri" pitchFamily="34" charset="0"/>
                <a:ea typeface="Calibri" pitchFamily="34" charset="-122"/>
                <a:cs typeface="Calibri" pitchFamily="34" charset="-120"/>
              </a:rPr>
              <a:t>Exact location </a:t>
            </a:r>
            <a:pPr indent="0" marL="0">
              <a:buNone/>
            </a:pPr>
            <a:r>
              <a:rPr lang="en-US" sz="1700" dirty="0">
                <a:solidFill>
                  <a:srgbClr val="1B2730"/>
                </a:solidFill>
                <a:latin typeface="Calibri" pitchFamily="34" charset="0"/>
                <a:ea typeface="Calibri" pitchFamily="34" charset="-122"/>
                <a:cs typeface="Calibri" pitchFamily="34" charset="-120"/>
              </a:rPr>
              <a:t>– plant, unit, tag numbers (P&amp;ID mark-up)</a:t>
            </a:r>
            <a:endParaRPr lang="en-US" sz="1700" dirty="0"/>
          </a:p>
          <a:p>
            <a:pPr marL="228600" indent="-228600">
              <a:spcAft>
                <a:spcPts val="600"/>
              </a:spcAft>
              <a:buSzPct val="100000"/>
              <a:buChar char="•"/>
            </a:pPr>
            <a:r>
              <a:rPr lang="en-US" sz="1700" b="1" dirty="0">
                <a:solidFill>
                  <a:srgbClr val="1B2730"/>
                </a:solidFill>
                <a:latin typeface="Calibri" pitchFamily="34" charset="0"/>
                <a:ea typeface="Calibri" pitchFamily="34" charset="-122"/>
                <a:cs typeface="Calibri" pitchFamily="34" charset="-120"/>
              </a:rPr>
              <a:t>Planned start / end </a:t>
            </a:r>
            <a:pPr indent="0" marL="0">
              <a:buNone/>
            </a:pPr>
            <a:r>
              <a:rPr lang="en-US" sz="1700" dirty="0">
                <a:solidFill>
                  <a:srgbClr val="1B2730"/>
                </a:solidFill>
                <a:latin typeface="Calibri" pitchFamily="34" charset="0"/>
                <a:ea typeface="Calibri" pitchFamily="34" charset="-122"/>
                <a:cs typeface="Calibri" pitchFamily="34" charset="-120"/>
              </a:rPr>
              <a:t>date &amp; time</a:t>
            </a:r>
            <a:endParaRPr lang="en-US" sz="1700" dirty="0"/>
          </a:p>
          <a:p>
            <a:pPr marL="228600" indent="-228600">
              <a:spcAft>
                <a:spcPts val="600"/>
              </a:spcAft>
              <a:buSzPct val="100000"/>
              <a:buChar char="•"/>
            </a:pPr>
            <a:r>
              <a:rPr lang="en-US" sz="1700" b="1" dirty="0">
                <a:solidFill>
                  <a:srgbClr val="1B2730"/>
                </a:solidFill>
                <a:latin typeface="Calibri" pitchFamily="34" charset="0"/>
                <a:ea typeface="Calibri" pitchFamily="34" charset="-122"/>
                <a:cs typeface="Calibri" pitchFamily="34" charset="-120"/>
              </a:rPr>
              <a:t>People </a:t>
            </a:r>
            <a:pPr indent="0" marL="0">
              <a:buNone/>
            </a:pPr>
            <a:r>
              <a:rPr lang="en-US" sz="1700" dirty="0">
                <a:solidFill>
                  <a:srgbClr val="1B2730"/>
                </a:solidFill>
                <a:latin typeface="Calibri" pitchFamily="34" charset="0"/>
                <a:ea typeface="Calibri" pitchFamily="34" charset="-122"/>
                <a:cs typeface="Calibri" pitchFamily="34" charset="-120"/>
              </a:rPr>
              <a:t>– Receiver name and crew size</a:t>
            </a:r>
            <a:endParaRPr lang="en-US" sz="1700" dirty="0"/>
          </a:p>
          <a:p>
            <a:pPr marL="228600" indent="-228600">
              <a:spcAft>
                <a:spcPts val="600"/>
              </a:spcAft>
              <a:buSzPct val="100000"/>
              <a:buChar char="•"/>
            </a:pPr>
            <a:r>
              <a:rPr lang="en-US" sz="1700" b="1" dirty="0">
                <a:solidFill>
                  <a:srgbClr val="1B2730"/>
                </a:solidFill>
                <a:latin typeface="Calibri" pitchFamily="34" charset="0"/>
                <a:ea typeface="Calibri" pitchFamily="34" charset="-122"/>
                <a:cs typeface="Calibri" pitchFamily="34" charset="-120"/>
              </a:rPr>
              <a:t>Attachments </a:t>
            </a:r>
            <a:pPr indent="0" marL="0">
              <a:buNone/>
            </a:pPr>
            <a:r>
              <a:rPr lang="en-US" sz="1700" dirty="0">
                <a:solidFill>
                  <a:srgbClr val="1B2730"/>
                </a:solidFill>
                <a:latin typeface="Calibri" pitchFamily="34" charset="0"/>
                <a:ea typeface="Calibri" pitchFamily="34" charset="-122"/>
                <a:cs typeface="Calibri" pitchFamily="34" charset="-120"/>
              </a:rPr>
              <a:t>– JSA / TRA, method statement, drawings, MOC number</a:t>
            </a:r>
            <a:endParaRPr lang="en-US" sz="1700" dirty="0"/>
          </a:p>
          <a:p>
            <a:pPr marL="228600" indent="-228600">
              <a:spcAft>
                <a:spcPts val="600"/>
              </a:spcAft>
              <a:buSzPct val="100000"/>
              <a:buChar char="•"/>
            </a:pPr>
            <a:r>
              <a:rPr lang="en-US" sz="1700" b="1" dirty="0">
                <a:solidFill>
                  <a:srgbClr val="1B2730"/>
                </a:solidFill>
                <a:latin typeface="Calibri" pitchFamily="34" charset="0"/>
                <a:ea typeface="Calibri" pitchFamily="34" charset="-122"/>
                <a:cs typeface="Calibri" pitchFamily="34" charset="-120"/>
              </a:rPr>
              <a:t>Permit types </a:t>
            </a:r>
            <a:pPr indent="0" marL="0">
              <a:buNone/>
            </a:pPr>
            <a:r>
              <a:rPr lang="en-US" sz="1700" dirty="0">
                <a:solidFill>
                  <a:srgbClr val="1B2730"/>
                </a:solidFill>
                <a:latin typeface="Calibri" pitchFamily="34" charset="0"/>
                <a:ea typeface="Calibri" pitchFamily="34" charset="-122"/>
                <a:cs typeface="Calibri" pitchFamily="34" charset="-120"/>
              </a:rPr>
              <a:t>expected (e.g. Hot Work, Confined Space)</a:t>
            </a:r>
            <a:endParaRPr lang="en-US" sz="1700" dirty="0"/>
          </a:p>
        </p:txBody>
      </p:sp>
      <p:sp>
        <p:nvSpPr>
          <p:cNvPr id="8" name="txt_913"/>
          <p:cNvSpPr txBox="1"/>
          <p:nvPr/>
        </p:nvSpPr>
        <p:spPr>
          <a:xfrm>
            <a:off x="777240" y="5623560"/>
            <a:ext cx="5029200" cy="548640"/>
          </a:xfrm>
          <a:prstGeom prst="rect">
            <a:avLst/>
          </a:prstGeom>
          <a:noFill/>
          <a:ln/>
        </p:spPr>
        <p:txBody>
          <a:bodyPr wrap="square" lIns="635" tIns="635" rIns="635" bIns="635" rtlCol="0" anchor="t"/>
          <a:lstStyle/>
          <a:p>
            <a:pPr indent="0" marL="0">
              <a:buNone/>
            </a:pPr>
            <a:r>
              <a:rPr lang="en-US" sz="1600" b="1" dirty="0">
                <a:solidFill>
                  <a:srgbClr val="0F6E7A"/>
                </a:solidFill>
                <a:latin typeface="Calibri" pitchFamily="34" charset="0"/>
                <a:ea typeface="Calibri" pitchFamily="34" charset="-122"/>
                <a:cs typeface="Calibri" pitchFamily="34" charset="-120"/>
              </a:rPr>
              <a:t>→ Coordinator checks completeness, logs it, sends to the Issuer</a:t>
            </a:r>
            <a:endParaRPr lang="en-US" sz="1600" dirty="0"/>
          </a:p>
        </p:txBody>
      </p:sp>
      <p:sp>
        <p:nvSpPr>
          <p:cNvPr id="9" name="a1_box_914"/>
          <p:cNvSpPr/>
          <p:nvPr/>
        </p:nvSpPr>
        <p:spPr>
          <a:xfrm>
            <a:off x="6199632" y="1280160"/>
            <a:ext cx="544068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a1_circ_915"/>
          <p:cNvSpPr/>
          <p:nvPr/>
        </p:nvSpPr>
        <p:spPr>
          <a:xfrm>
            <a:off x="6382512" y="1463040"/>
            <a:ext cx="685800" cy="685800"/>
          </a:xfrm>
          <a:prstGeom prst="ellipse">
            <a:avLst/>
          </a:prstGeom>
          <a:solidFill>
            <a:srgbClr val="E8771E"/>
          </a:solidFill>
          <a:ln/>
        </p:spPr>
      </p:sp>
      <p:pic>
        <p:nvPicPr>
          <p:cNvPr id="11" name="a1_icon_916" descr="preencoded.png">    </p:cNvPr>
          <p:cNvPicPr>
            <a:picLocks noChangeAspect="1"/>
          </p:cNvPicPr>
          <p:nvPr/>
        </p:nvPicPr>
        <p:blipFill>
          <a:blip r:embed="rId2"/>
          <a:stretch>
            <a:fillRect/>
          </a:stretch>
        </p:blipFill>
        <p:spPr>
          <a:xfrm>
            <a:off x="6536817" y="1617345"/>
            <a:ext cx="377190" cy="377190"/>
          </a:xfrm>
          <a:prstGeom prst="rect">
            <a:avLst/>
          </a:prstGeom>
        </p:spPr>
      </p:pic>
      <p:sp>
        <p:nvSpPr>
          <p:cNvPr id="12" name="a1_txt_917"/>
          <p:cNvSpPr txBox="1"/>
          <p:nvPr/>
        </p:nvSpPr>
        <p:spPr>
          <a:xfrm>
            <a:off x="7232904" y="1444752"/>
            <a:ext cx="427024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2 · Issuer’s review</a:t>
            </a:r>
            <a:endParaRPr lang="en-US" sz="2000" dirty="0"/>
          </a:p>
        </p:txBody>
      </p:sp>
      <p:sp>
        <p:nvSpPr>
          <p:cNvPr id="13" name="a1_txt_918"/>
          <p:cNvSpPr txBox="1"/>
          <p:nvPr/>
        </p:nvSpPr>
        <p:spPr>
          <a:xfrm>
            <a:off x="6428232" y="2240280"/>
            <a:ext cx="5029200" cy="33832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rgbClr val="1B2730"/>
                </a:solidFill>
                <a:latin typeface="Calibri" pitchFamily="34" charset="0"/>
                <a:ea typeface="Calibri" pitchFamily="34" charset="-122"/>
                <a:cs typeface="Calibri" pitchFamily="34" charset="-120"/>
              </a:rPr>
              <a:t>Challenge the JSA </a:t>
            </a:r>
            <a:pPr indent="0" marL="0">
              <a:buNone/>
            </a:pPr>
            <a:r>
              <a:rPr lang="en-US" sz="1700" dirty="0">
                <a:solidFill>
                  <a:srgbClr val="1B2730"/>
                </a:solidFill>
                <a:latin typeface="Calibri" pitchFamily="34" charset="0"/>
                <a:ea typeface="Calibri" pitchFamily="34" charset="-122"/>
                <a:cs typeface="Calibri" pitchFamily="34" charset="-120"/>
              </a:rPr>
              <a:t>– are all hazards found? controls enough?</a:t>
            </a:r>
            <a:endParaRPr lang="en-US" sz="1700" dirty="0"/>
          </a:p>
          <a:p>
            <a:pPr marL="228600" indent="-228600">
              <a:spcAft>
                <a:spcPts val="800"/>
              </a:spcAft>
              <a:buSzPct val="100000"/>
              <a:buChar char="•"/>
            </a:pPr>
            <a:r>
              <a:rPr lang="en-US" sz="1700" b="1" dirty="0">
                <a:solidFill>
                  <a:srgbClr val="1B2730"/>
                </a:solidFill>
                <a:latin typeface="Calibri" pitchFamily="34" charset="0"/>
                <a:ea typeface="Calibri" pitchFamily="34" charset="-122"/>
                <a:cs typeface="Calibri" pitchFamily="34" charset="-120"/>
              </a:rPr>
              <a:t>Interface hazards: </a:t>
            </a:r>
            <a:pPr indent="0" marL="0">
              <a:buNone/>
            </a:pPr>
            <a:r>
              <a:rPr lang="en-US" sz="1700" dirty="0">
                <a:solidFill>
                  <a:srgbClr val="1B2730"/>
                </a:solidFill>
                <a:latin typeface="Calibri" pitchFamily="34" charset="0"/>
                <a:ea typeface="Calibri" pitchFamily="34" charset="-122"/>
                <a:cs typeface="Calibri" pitchFamily="34" charset="-120"/>
              </a:rPr>
              <a:t>adjacent operations, live utilities, wind/rain, SIMOPS</a:t>
            </a:r>
            <a:endParaRPr lang="en-US" sz="1700" dirty="0"/>
          </a:p>
          <a:p>
            <a:pPr marL="228600" indent="-228600">
              <a:spcAft>
                <a:spcPts val="800"/>
              </a:spcAft>
              <a:buSzPct val="100000"/>
              <a:buChar char="•"/>
            </a:pPr>
            <a:r>
              <a:rPr lang="en-US" sz="1700" b="1" dirty="0">
                <a:solidFill>
                  <a:srgbClr val="1B2730"/>
                </a:solidFill>
                <a:latin typeface="Calibri" pitchFamily="34" charset="0"/>
                <a:ea typeface="Calibri" pitchFamily="34" charset="-122"/>
                <a:cs typeface="Calibri" pitchFamily="34" charset="-120"/>
              </a:rPr>
              <a:t>Isolation Plan: </a:t>
            </a:r>
            <a:pPr indent="0" marL="0">
              <a:buNone/>
            </a:pPr>
            <a:r>
              <a:rPr lang="en-US" sz="1700" dirty="0">
                <a:solidFill>
                  <a:srgbClr val="1B2730"/>
                </a:solidFill>
                <a:latin typeface="Calibri" pitchFamily="34" charset="0"/>
                <a:ea typeface="Calibri" pitchFamily="34" charset="-122"/>
                <a:cs typeface="Calibri" pitchFamily="34" charset="-120"/>
              </a:rPr>
              <a:t>valves to lock, blinds, DBB, electrical points, VOI method</a:t>
            </a:r>
            <a:endParaRPr lang="en-US" sz="1700" dirty="0"/>
          </a:p>
          <a:p>
            <a:pPr marL="228600" indent="-228600">
              <a:spcAft>
                <a:spcPts val="800"/>
              </a:spcAft>
              <a:buSzPct val="100000"/>
              <a:buChar char="•"/>
            </a:pPr>
            <a:r>
              <a:rPr lang="en-US" sz="1700" b="1" dirty="0">
                <a:solidFill>
                  <a:srgbClr val="1B2730"/>
                </a:solidFill>
                <a:latin typeface="Calibri" pitchFamily="34" charset="0"/>
                <a:ea typeface="Calibri" pitchFamily="34" charset="-122"/>
                <a:cs typeface="Calibri" pitchFamily="34" charset="-120"/>
              </a:rPr>
              <a:t>Specify controls: </a:t>
            </a:r>
            <a:pPr indent="0" marL="0">
              <a:buNone/>
            </a:pPr>
            <a:r>
              <a:rPr lang="en-US" sz="1700" dirty="0">
                <a:solidFill>
                  <a:srgbClr val="1B2730"/>
                </a:solidFill>
                <a:latin typeface="Calibri" pitchFamily="34" charset="0"/>
                <a:ea typeface="Calibri" pitchFamily="34" charset="-122"/>
                <a:cs typeface="Calibri" pitchFamily="34" charset="-120"/>
              </a:rPr>
              <a:t>gas testing, fire prevention, PPE, barriers, emergency plan</a:t>
            </a:r>
            <a:endParaRPr lang="en-US" sz="1700" dirty="0"/>
          </a:p>
        </p:txBody>
      </p:sp>
      <p:sp>
        <p:nvSpPr>
          <p:cNvPr id="14" name="a1_txt_919"/>
          <p:cNvSpPr txBox="1"/>
          <p:nvPr/>
        </p:nvSpPr>
        <p:spPr>
          <a:xfrm>
            <a:off x="6428232" y="5623560"/>
            <a:ext cx="5029200" cy="548640"/>
          </a:xfrm>
          <a:prstGeom prst="rect">
            <a:avLst/>
          </a:prstGeom>
          <a:noFill/>
          <a:ln/>
        </p:spPr>
        <p:txBody>
          <a:bodyPr wrap="square" lIns="635" tIns="635" rIns="635" bIns="635" rtlCol="0" anchor="t"/>
          <a:lstStyle/>
          <a:p>
            <a:pPr indent="0" marL="0">
              <a:buNone/>
            </a:pPr>
            <a:r>
              <a:rPr lang="en-US" sz="1600" b="1" dirty="0">
                <a:solidFill>
                  <a:srgbClr val="E8771E"/>
                </a:solidFill>
                <a:latin typeface="Calibri" pitchFamily="34" charset="0"/>
                <a:ea typeface="Calibri" pitchFamily="34" charset="-122"/>
                <a:cs typeface="Calibri" pitchFamily="34" charset="-120"/>
              </a:rPr>
              <a:t>→ Output: permit draft + isolation plan = the “safe envelope”</a:t>
            </a:r>
            <a:endParaRPr lang="en-US" sz="1600" dirty="0"/>
          </a:p>
        </p:txBody>
      </p:sp>
      <p:sp>
        <p:nvSpPr>
          <p:cNvPr id="1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Stage 3: Walkdown, Verify and Sign</a:t>
            </a:r>
            <a:endParaRPr lang="en-US" sz="3200" dirty="0"/>
          </a:p>
        </p:txBody>
      </p:sp>
      <p:sp>
        <p:nvSpPr>
          <p:cNvPr id="3" name="box_920"/>
          <p:cNvSpPr/>
          <p:nvPr/>
        </p:nvSpPr>
        <p:spPr>
          <a:xfrm>
            <a:off x="0" y="1143000"/>
            <a:ext cx="4206240" cy="5166360"/>
          </a:xfrm>
          <a:prstGeom prst="rect">
            <a:avLst/>
          </a:prstGeom>
          <a:solidFill>
            <a:srgbClr val="0F6E7A"/>
          </a:solidFill>
          <a:ln/>
        </p:spPr>
      </p:sp>
      <p:pic>
        <p:nvPicPr>
          <p:cNvPr id="4" name="icon_921"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922"/>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Walk · Check · Sign</a:t>
            </a:r>
            <a:endParaRPr lang="en-US" sz="1800" dirty="0"/>
          </a:p>
        </p:txBody>
      </p:sp>
      <p:sp>
        <p:nvSpPr>
          <p:cNvPr id="6" name="a1w_box_923"/>
          <p:cNvSpPr/>
          <p:nvPr/>
        </p:nvSpPr>
        <p:spPr>
          <a:xfrm>
            <a:off x="4526280" y="1280160"/>
            <a:ext cx="1655064" cy="333756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a1w_box_924"/>
          <p:cNvSpPr/>
          <p:nvPr/>
        </p:nvSpPr>
        <p:spPr>
          <a:xfrm>
            <a:off x="4526280" y="1280160"/>
            <a:ext cx="1655064" cy="566928"/>
          </a:xfrm>
          <a:prstGeom prst="rect">
            <a:avLst/>
          </a:prstGeom>
          <a:solidFill>
            <a:srgbClr val="0F6E7A"/>
          </a:solidFill>
          <a:ln/>
        </p:spPr>
      </p:sp>
      <p:sp>
        <p:nvSpPr>
          <p:cNvPr id="8" name="a1w_txt_925"/>
          <p:cNvSpPr txBox="1"/>
          <p:nvPr/>
        </p:nvSpPr>
        <p:spPr>
          <a:xfrm>
            <a:off x="4599432"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Meet on site</a:t>
            </a:r>
            <a:endParaRPr lang="en-US" sz="1700" dirty="0"/>
          </a:p>
        </p:txBody>
      </p:sp>
      <p:sp>
        <p:nvSpPr>
          <p:cNvPr id="9" name="a1w_txt_926"/>
          <p:cNvSpPr txBox="1"/>
          <p:nvPr/>
        </p:nvSpPr>
        <p:spPr>
          <a:xfrm>
            <a:off x="4617720" y="1965960"/>
            <a:ext cx="1472184" cy="26060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Issuer + Receiver at the job with the draft permit</a:t>
            </a:r>
            <a:endParaRPr lang="en-US" sz="1600" dirty="0"/>
          </a:p>
        </p:txBody>
      </p:sp>
      <p:sp>
        <p:nvSpPr>
          <p:cNvPr id="10" name="a2w_box_927"/>
          <p:cNvSpPr/>
          <p:nvPr/>
        </p:nvSpPr>
        <p:spPr>
          <a:xfrm>
            <a:off x="6345936" y="1280160"/>
            <a:ext cx="1655064" cy="333756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1" name="a2w_box_928"/>
          <p:cNvSpPr/>
          <p:nvPr/>
        </p:nvSpPr>
        <p:spPr>
          <a:xfrm>
            <a:off x="6345936" y="1280160"/>
            <a:ext cx="1655064" cy="566928"/>
          </a:xfrm>
          <a:prstGeom prst="rect">
            <a:avLst/>
          </a:prstGeom>
          <a:solidFill>
            <a:srgbClr val="0F6E7A"/>
          </a:solidFill>
          <a:ln/>
        </p:spPr>
      </p:sp>
      <p:sp>
        <p:nvSpPr>
          <p:cNvPr id="12" name="a2w_txt_929"/>
          <p:cNvSpPr txBox="1"/>
          <p:nvPr/>
        </p:nvSpPr>
        <p:spPr>
          <a:xfrm>
            <a:off x="6419088"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  Check line by line</a:t>
            </a:r>
            <a:endParaRPr lang="en-US" sz="1700" dirty="0"/>
          </a:p>
        </p:txBody>
      </p:sp>
      <p:sp>
        <p:nvSpPr>
          <p:cNvPr id="13" name="a2w_txt_930"/>
          <p:cNvSpPr txBox="1"/>
          <p:nvPr/>
        </p:nvSpPr>
        <p:spPr>
          <a:xfrm>
            <a:off x="6437376" y="1965960"/>
            <a:ext cx="1472184" cy="26060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Sight every lock, tag &amp; blind; review gas tests; check equipment &amp; area</a:t>
            </a:r>
            <a:endParaRPr lang="en-US" sz="1600" dirty="0"/>
          </a:p>
        </p:txBody>
      </p:sp>
      <p:sp>
        <p:nvSpPr>
          <p:cNvPr id="14" name="a3w_box_931"/>
          <p:cNvSpPr/>
          <p:nvPr/>
        </p:nvSpPr>
        <p:spPr>
          <a:xfrm>
            <a:off x="8165592" y="1280160"/>
            <a:ext cx="1655064" cy="333756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5" name="a3w_box_932"/>
          <p:cNvSpPr/>
          <p:nvPr/>
        </p:nvSpPr>
        <p:spPr>
          <a:xfrm>
            <a:off x="8165592" y="1280160"/>
            <a:ext cx="1655064" cy="566928"/>
          </a:xfrm>
          <a:prstGeom prst="rect">
            <a:avLst/>
          </a:prstGeom>
          <a:solidFill>
            <a:srgbClr val="E8771E"/>
          </a:solidFill>
          <a:ln/>
        </p:spPr>
      </p:sp>
      <p:sp>
        <p:nvSpPr>
          <p:cNvPr id="16" name="a3w_txt_933"/>
          <p:cNvSpPr txBox="1"/>
          <p:nvPr/>
        </p:nvSpPr>
        <p:spPr>
          <a:xfrm>
            <a:off x="8238744"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  Witness VOI</a:t>
            </a:r>
            <a:endParaRPr lang="en-US" sz="1700" dirty="0"/>
          </a:p>
        </p:txBody>
      </p:sp>
      <p:sp>
        <p:nvSpPr>
          <p:cNvPr id="17" name="a3w_txt_934"/>
          <p:cNvSpPr txBox="1"/>
          <p:nvPr/>
        </p:nvSpPr>
        <p:spPr>
          <a:xfrm>
            <a:off x="8257032" y="1965960"/>
            <a:ext cx="1472184" cy="26060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Positive test – try-start / zero pressure – Receiver watches</a:t>
            </a:r>
            <a:endParaRPr lang="en-US" sz="1600" dirty="0"/>
          </a:p>
        </p:txBody>
      </p:sp>
      <p:sp>
        <p:nvSpPr>
          <p:cNvPr id="18" name="a4w_box_935"/>
          <p:cNvSpPr/>
          <p:nvPr/>
        </p:nvSpPr>
        <p:spPr>
          <a:xfrm>
            <a:off x="9985248" y="1280160"/>
            <a:ext cx="1655064" cy="333756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w_box_936"/>
          <p:cNvSpPr/>
          <p:nvPr/>
        </p:nvSpPr>
        <p:spPr>
          <a:xfrm>
            <a:off x="9985248" y="1280160"/>
            <a:ext cx="1655064" cy="566928"/>
          </a:xfrm>
          <a:prstGeom prst="rect">
            <a:avLst/>
          </a:prstGeom>
          <a:solidFill>
            <a:srgbClr val="2E7D32"/>
          </a:solidFill>
          <a:ln/>
        </p:spPr>
      </p:sp>
      <p:sp>
        <p:nvSpPr>
          <p:cNvPr id="20" name="a4w_txt_937"/>
          <p:cNvSpPr txBox="1"/>
          <p:nvPr/>
        </p:nvSpPr>
        <p:spPr>
          <a:xfrm>
            <a:off x="10058400"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Sign &amp; post</a:t>
            </a:r>
            <a:endParaRPr lang="en-US" sz="1700" dirty="0"/>
          </a:p>
        </p:txBody>
      </p:sp>
      <p:sp>
        <p:nvSpPr>
          <p:cNvPr id="21" name="a4w_txt_938"/>
          <p:cNvSpPr txBox="1"/>
          <p:nvPr/>
        </p:nvSpPr>
        <p:spPr>
          <a:xfrm>
            <a:off x="10076688" y="1965960"/>
            <a:ext cx="1472184" cy="26060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Issuer signs first, then Receiver; time recorded; permit posted; log = ACTIVE</a:t>
            </a:r>
            <a:endParaRPr lang="en-US" sz="1600" dirty="0"/>
          </a:p>
        </p:txBody>
      </p:sp>
      <p:sp>
        <p:nvSpPr>
          <p:cNvPr id="22" name="a5_box_939"/>
          <p:cNvSpPr/>
          <p:nvPr/>
        </p:nvSpPr>
        <p:spPr>
          <a:xfrm>
            <a:off x="4526280" y="4846320"/>
            <a:ext cx="7114032" cy="1371600"/>
          </a:xfrm>
          <a:prstGeom prst="roundRect">
            <a:avLst>
              <a:gd name="adj" fmla="val 8000"/>
            </a:avLst>
          </a:prstGeom>
          <a:solidFill>
            <a:srgbClr val="0B2A3C"/>
          </a:solidFill>
          <a:ln/>
        </p:spPr>
      </p:sp>
      <p:sp>
        <p:nvSpPr>
          <p:cNvPr id="23" name="a5_txt_940"/>
          <p:cNvSpPr txBox="1"/>
          <p:nvPr/>
        </p:nvSpPr>
        <p:spPr>
          <a:xfrm>
            <a:off x="4709160" y="4846320"/>
            <a:ext cx="6766560" cy="1371600"/>
          </a:xfrm>
          <a:prstGeom prst="rect">
            <a:avLst/>
          </a:prstGeom>
          <a:noFill/>
          <a:ln/>
        </p:spPr>
        <p:txBody>
          <a:bodyPr wrap="square" lIns="635" tIns="635" rIns="635" bIns="635" rtlCol="0" anchor="ctr"/>
          <a:lstStyle/>
          <a:p>
            <a:pPr indent="0" marL="0">
              <a:buNone/>
            </a:pPr>
            <a:r>
              <a:rPr lang="en-US" sz="1700" b="1" dirty="0">
                <a:solidFill>
                  <a:srgbClr val="E8771E"/>
                </a:solidFill>
                <a:latin typeface="Calibri" pitchFamily="34" charset="0"/>
                <a:ea typeface="Calibri" pitchFamily="34" charset="-122"/>
                <a:cs typeface="Calibri" pitchFamily="34" charset="-120"/>
              </a:rPr>
              <a:t>Issuer: </a:t>
            </a:r>
            <a:pPr indent="0" marL="0">
              <a:buNone/>
            </a:pPr>
            <a:r>
              <a:rPr lang="en-US" sz="1700" dirty="0">
                <a:solidFill>
                  <a:srgbClr val="FFFFFF"/>
                </a:solidFill>
                <a:latin typeface="Calibri" pitchFamily="34" charset="0"/>
                <a:ea typeface="Calibri" pitchFamily="34" charset="-122"/>
                <a:cs typeface="Calibri" pitchFamily="34" charset="-120"/>
              </a:rPr>
              <a:t>“I have verified the area is safe for work to commence.”</a:t>
            </a:r>
            <a:endParaRPr lang="en-US" sz="1700" dirty="0"/>
          </a:p>
          <a:p>
            <a:pPr indent="0" marL="0">
              <a:buNone/>
            </a:pPr>
            <a:r>
              <a:rPr lang="en-US" sz="1700" b="1" dirty="0">
                <a:solidFill>
                  <a:srgbClr val="E8771E"/>
                </a:solidFill>
                <a:latin typeface="Calibri" pitchFamily="34" charset="0"/>
                <a:ea typeface="Calibri" pitchFamily="34" charset="-122"/>
                <a:cs typeface="Calibri" pitchFamily="34" charset="-120"/>
              </a:rPr>
              <a:t>Receiver: </a:t>
            </a:r>
            <a:pPr indent="0" marL="0">
              <a:buNone/>
            </a:pPr>
            <a:r>
              <a:rPr lang="en-US" sz="1700" dirty="0">
                <a:solidFill>
                  <a:srgbClr val="FFFFFF"/>
                </a:solidFill>
                <a:latin typeface="Calibri" pitchFamily="34" charset="0"/>
                <a:ea typeface="Calibri" pitchFamily="34" charset="-122"/>
                <a:cs typeface="Calibri" pitchFamily="34" charset="-120"/>
              </a:rPr>
              <a:t>“I accept responsibility for performing the work within these conditions.”</a:t>
            </a:r>
            <a:endParaRPr lang="en-US" sz="1700" dirty="0"/>
          </a:p>
        </p:txBody>
      </p:sp>
      <p:sp>
        <p:nvSpPr>
          <p:cNvPr id="2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500"/>
                                        <p:tgtEl>
                                          <p:spTgt spid="15"/>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Stage 4: The Toolbox Talk (Pre-Job Briefing)</a:t>
            </a:r>
            <a:endParaRPr lang="en-US" sz="3200" dirty="0"/>
          </a:p>
        </p:txBody>
      </p:sp>
      <p:sp>
        <p:nvSpPr>
          <p:cNvPr id="3" name="box_941"/>
          <p:cNvSpPr/>
          <p:nvPr/>
        </p:nvSpPr>
        <p:spPr>
          <a:xfrm>
            <a:off x="548640" y="1280160"/>
            <a:ext cx="4572000" cy="2788920"/>
          </a:xfrm>
          <a:prstGeom prst="rect">
            <a:avLst/>
          </a:prstGeom>
          <a:solidFill>
            <a:srgbClr val="E8771E"/>
          </a:solidFill>
          <a:ln/>
        </p:spPr>
      </p:sp>
      <p:pic>
        <p:nvPicPr>
          <p:cNvPr id="4" name="icon_942" descr="preencoded.png">    </p:cNvPr>
          <p:cNvPicPr>
            <a:picLocks noChangeAspect="1"/>
          </p:cNvPicPr>
          <p:nvPr/>
        </p:nvPicPr>
        <p:blipFill>
          <a:blip r:embed="rId1"/>
          <a:stretch>
            <a:fillRect/>
          </a:stretch>
        </p:blipFill>
        <p:spPr>
          <a:xfrm>
            <a:off x="2248967" y="1814627"/>
            <a:ext cx="1171346" cy="1171346"/>
          </a:xfrm>
          <a:prstGeom prst="rect">
            <a:avLst/>
          </a:prstGeom>
        </p:spPr>
      </p:pic>
      <p:sp>
        <p:nvSpPr>
          <p:cNvPr id="5" name="txt_943"/>
          <p:cNvSpPr txBox="1"/>
          <p:nvPr/>
        </p:nvSpPr>
        <p:spPr>
          <a:xfrm>
            <a:off x="822960" y="3260293"/>
            <a:ext cx="402336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Brief every worker</a:t>
            </a:r>
            <a:endParaRPr lang="en-US" sz="1800" dirty="0"/>
          </a:p>
        </p:txBody>
      </p:sp>
      <p:sp>
        <p:nvSpPr>
          <p:cNvPr id="6" name="txt_944"/>
          <p:cNvSpPr txBox="1"/>
          <p:nvPr/>
        </p:nvSpPr>
        <p:spPr>
          <a:xfrm>
            <a:off x="548640" y="4206240"/>
            <a:ext cx="4572000" cy="457200"/>
          </a:xfrm>
          <a:prstGeom prst="rect">
            <a:avLst/>
          </a:prstGeom>
          <a:noFill/>
          <a:ln/>
        </p:spPr>
        <p:txBody>
          <a:bodyPr wrap="square" lIns="635" tIns="635" rIns="635" bIns="635" rtlCol="0" anchor="t"/>
          <a:lstStyle/>
          <a:p>
            <a:pPr indent="0" marL="0">
              <a:buNone/>
            </a:pPr>
            <a:r>
              <a:rPr lang="en-US" sz="1800" b="1" dirty="0">
                <a:solidFill>
                  <a:srgbClr val="0F6E7A"/>
                </a:solidFill>
                <a:latin typeface="Calibri" pitchFamily="34" charset="0"/>
                <a:ea typeface="Calibri" pitchFamily="34" charset="-122"/>
                <a:cs typeface="Calibri" pitchFamily="34" charset="-120"/>
              </a:rPr>
              <a:t>Use the posted permit as the agenda</a:t>
            </a:r>
            <a:endParaRPr lang="en-US" sz="1800" dirty="0"/>
          </a:p>
        </p:txBody>
      </p:sp>
      <p:sp>
        <p:nvSpPr>
          <p:cNvPr id="7" name="txt_945"/>
          <p:cNvSpPr txBox="1"/>
          <p:nvPr/>
        </p:nvSpPr>
        <p:spPr>
          <a:xfrm>
            <a:off x="548640" y="4663440"/>
            <a:ext cx="4572000" cy="1554480"/>
          </a:xfrm>
          <a:prstGeom prst="rect">
            <a:avLst/>
          </a:prstGeom>
          <a:noFill/>
          <a:ln/>
        </p:spPr>
        <p:txBody>
          <a:bodyPr wrap="square" lIns="635" tIns="635" rIns="635" bIns="635" rtlCol="0" anchor="t"/>
          <a:lstStyle/>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Ask questions to check understanding</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Visual PPE check</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Workers sign the permit / attendance sheet</a:t>
            </a:r>
            <a:endParaRPr lang="en-US" sz="1800" dirty="0"/>
          </a:p>
        </p:txBody>
      </p:sp>
      <p:sp>
        <p:nvSpPr>
          <p:cNvPr id="8" name="a1w_box_946"/>
          <p:cNvSpPr/>
          <p:nvPr/>
        </p:nvSpPr>
        <p:spPr>
          <a:xfrm>
            <a:off x="5440680" y="1280160"/>
            <a:ext cx="6199632" cy="877824"/>
          </a:xfrm>
          <a:prstGeom prst="roundRect">
            <a:avLst>
              <a:gd name="adj" fmla="val 12500"/>
            </a:avLst>
          </a:prstGeom>
          <a:solidFill>
            <a:srgbClr val="FFFFFF"/>
          </a:solidFill>
          <a:ln w="12700">
            <a:solidFill>
              <a:srgbClr val="C9D3D9"/>
            </a:solidFill>
            <a:prstDash val="solid"/>
          </a:ln>
        </p:spPr>
      </p:sp>
      <p:sp>
        <p:nvSpPr>
          <p:cNvPr id="9" name="a1w_box_947"/>
          <p:cNvSpPr/>
          <p:nvPr/>
        </p:nvSpPr>
        <p:spPr>
          <a:xfrm>
            <a:off x="5440680" y="1280160"/>
            <a:ext cx="877824" cy="877824"/>
          </a:xfrm>
          <a:prstGeom prst="rect">
            <a:avLst/>
          </a:prstGeom>
          <a:solidFill>
            <a:srgbClr val="E8771E"/>
          </a:solidFill>
          <a:ln/>
        </p:spPr>
      </p:sp>
      <p:sp>
        <p:nvSpPr>
          <p:cNvPr id="10" name="a1w_txt_948"/>
          <p:cNvSpPr txBox="1"/>
          <p:nvPr/>
        </p:nvSpPr>
        <p:spPr>
          <a:xfrm>
            <a:off x="5440680" y="1280160"/>
            <a:ext cx="877824" cy="877824"/>
          </a:xfrm>
          <a:prstGeom prst="rect">
            <a:avLst/>
          </a:prstGeom>
          <a:noFill/>
          <a:ln/>
        </p:spPr>
        <p:txBody>
          <a:bodyPr wrap="square" lIns="635" tIns="635" rIns="635" bIns="635"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T</a:t>
            </a:r>
            <a:endParaRPr lang="en-US" sz="3200" dirty="0"/>
          </a:p>
        </p:txBody>
      </p:sp>
      <p:sp>
        <p:nvSpPr>
          <p:cNvPr id="11" name="a1w_txt_949"/>
          <p:cNvSpPr txBox="1"/>
          <p:nvPr/>
        </p:nvSpPr>
        <p:spPr>
          <a:xfrm>
            <a:off x="6446520" y="1298448"/>
            <a:ext cx="5120640" cy="841248"/>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TASK</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What will we do, step by step?</a:t>
            </a:r>
            <a:endParaRPr lang="en-US" sz="1800" dirty="0"/>
          </a:p>
        </p:txBody>
      </p:sp>
      <p:sp>
        <p:nvSpPr>
          <p:cNvPr id="12" name="a2w_box_950"/>
          <p:cNvSpPr/>
          <p:nvPr/>
        </p:nvSpPr>
        <p:spPr>
          <a:xfrm>
            <a:off x="5440680" y="2267712"/>
            <a:ext cx="6199632" cy="877824"/>
          </a:xfrm>
          <a:prstGeom prst="roundRect">
            <a:avLst>
              <a:gd name="adj" fmla="val 12500"/>
            </a:avLst>
          </a:prstGeom>
          <a:solidFill>
            <a:srgbClr val="FFFFFF"/>
          </a:solidFill>
          <a:ln w="12700">
            <a:solidFill>
              <a:srgbClr val="C9D3D9"/>
            </a:solidFill>
            <a:prstDash val="solid"/>
          </a:ln>
        </p:spPr>
      </p:sp>
      <p:sp>
        <p:nvSpPr>
          <p:cNvPr id="13" name="a2w_box_951"/>
          <p:cNvSpPr/>
          <p:nvPr/>
        </p:nvSpPr>
        <p:spPr>
          <a:xfrm>
            <a:off x="5440680" y="2267712"/>
            <a:ext cx="877824" cy="877824"/>
          </a:xfrm>
          <a:prstGeom prst="rect">
            <a:avLst/>
          </a:prstGeom>
          <a:solidFill>
            <a:srgbClr val="E8771E"/>
          </a:solidFill>
          <a:ln/>
        </p:spPr>
      </p:sp>
      <p:sp>
        <p:nvSpPr>
          <p:cNvPr id="14" name="a2w_txt_952"/>
          <p:cNvSpPr txBox="1"/>
          <p:nvPr/>
        </p:nvSpPr>
        <p:spPr>
          <a:xfrm>
            <a:off x="5440680" y="2267712"/>
            <a:ext cx="877824" cy="877824"/>
          </a:xfrm>
          <a:prstGeom prst="rect">
            <a:avLst/>
          </a:prstGeom>
          <a:noFill/>
          <a:ln/>
        </p:spPr>
        <p:txBody>
          <a:bodyPr wrap="square" lIns="635" tIns="635" rIns="635" bIns="635"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R</a:t>
            </a:r>
            <a:endParaRPr lang="en-US" sz="3200" dirty="0"/>
          </a:p>
        </p:txBody>
      </p:sp>
      <p:sp>
        <p:nvSpPr>
          <p:cNvPr id="15" name="a2w_txt_953"/>
          <p:cNvSpPr txBox="1"/>
          <p:nvPr/>
        </p:nvSpPr>
        <p:spPr>
          <a:xfrm>
            <a:off x="6446520" y="2286000"/>
            <a:ext cx="5120640" cy="841248"/>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RISKS</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What are the specific hazards here?</a:t>
            </a:r>
            <a:endParaRPr lang="en-US" sz="1800" dirty="0"/>
          </a:p>
        </p:txBody>
      </p:sp>
      <p:sp>
        <p:nvSpPr>
          <p:cNvPr id="16" name="a3w_box_954"/>
          <p:cNvSpPr/>
          <p:nvPr/>
        </p:nvSpPr>
        <p:spPr>
          <a:xfrm>
            <a:off x="5440680" y="3255264"/>
            <a:ext cx="6199632" cy="877824"/>
          </a:xfrm>
          <a:prstGeom prst="roundRect">
            <a:avLst>
              <a:gd name="adj" fmla="val 12500"/>
            </a:avLst>
          </a:prstGeom>
          <a:solidFill>
            <a:srgbClr val="FFFFFF"/>
          </a:solidFill>
          <a:ln w="12700">
            <a:solidFill>
              <a:srgbClr val="C9D3D9"/>
            </a:solidFill>
            <a:prstDash val="solid"/>
          </a:ln>
        </p:spPr>
      </p:sp>
      <p:sp>
        <p:nvSpPr>
          <p:cNvPr id="17" name="a3w_box_955"/>
          <p:cNvSpPr/>
          <p:nvPr/>
        </p:nvSpPr>
        <p:spPr>
          <a:xfrm>
            <a:off x="5440680" y="3255264"/>
            <a:ext cx="877824" cy="877824"/>
          </a:xfrm>
          <a:prstGeom prst="rect">
            <a:avLst/>
          </a:prstGeom>
          <a:solidFill>
            <a:srgbClr val="E8771E"/>
          </a:solidFill>
          <a:ln/>
        </p:spPr>
      </p:sp>
      <p:sp>
        <p:nvSpPr>
          <p:cNvPr id="18" name="a3w_txt_956"/>
          <p:cNvSpPr txBox="1"/>
          <p:nvPr/>
        </p:nvSpPr>
        <p:spPr>
          <a:xfrm>
            <a:off x="5440680" y="3255264"/>
            <a:ext cx="877824" cy="877824"/>
          </a:xfrm>
          <a:prstGeom prst="rect">
            <a:avLst/>
          </a:prstGeom>
          <a:noFill/>
          <a:ln/>
        </p:spPr>
        <p:txBody>
          <a:bodyPr wrap="square" lIns="635" tIns="635" rIns="635" bIns="635"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A</a:t>
            </a:r>
            <a:endParaRPr lang="en-US" sz="3200" dirty="0"/>
          </a:p>
        </p:txBody>
      </p:sp>
      <p:sp>
        <p:nvSpPr>
          <p:cNvPr id="19" name="a3w_txt_957"/>
          <p:cNvSpPr txBox="1"/>
          <p:nvPr/>
        </p:nvSpPr>
        <p:spPr>
          <a:xfrm>
            <a:off x="6446520" y="3273552"/>
            <a:ext cx="5120640" cy="841248"/>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ACTIONS</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What protects us? Show isolations, gas monitor, extinguisher</a:t>
            </a:r>
            <a:endParaRPr lang="en-US" sz="1800" dirty="0"/>
          </a:p>
        </p:txBody>
      </p:sp>
      <p:sp>
        <p:nvSpPr>
          <p:cNvPr id="20" name="a4w_box_958"/>
          <p:cNvSpPr/>
          <p:nvPr/>
        </p:nvSpPr>
        <p:spPr>
          <a:xfrm>
            <a:off x="5440680" y="4242816"/>
            <a:ext cx="6199632" cy="877824"/>
          </a:xfrm>
          <a:prstGeom prst="roundRect">
            <a:avLst>
              <a:gd name="adj" fmla="val 12500"/>
            </a:avLst>
          </a:prstGeom>
          <a:solidFill>
            <a:srgbClr val="FFFFFF"/>
          </a:solidFill>
          <a:ln w="12700">
            <a:solidFill>
              <a:srgbClr val="C9D3D9"/>
            </a:solidFill>
            <a:prstDash val="solid"/>
          </a:ln>
        </p:spPr>
      </p:sp>
      <p:sp>
        <p:nvSpPr>
          <p:cNvPr id="21" name="a4w_box_959"/>
          <p:cNvSpPr/>
          <p:nvPr/>
        </p:nvSpPr>
        <p:spPr>
          <a:xfrm>
            <a:off x="5440680" y="4242816"/>
            <a:ext cx="877824" cy="877824"/>
          </a:xfrm>
          <a:prstGeom prst="rect">
            <a:avLst/>
          </a:prstGeom>
          <a:solidFill>
            <a:srgbClr val="E8771E"/>
          </a:solidFill>
          <a:ln/>
        </p:spPr>
      </p:sp>
      <p:sp>
        <p:nvSpPr>
          <p:cNvPr id="22" name="a4w_txt_960"/>
          <p:cNvSpPr txBox="1"/>
          <p:nvPr/>
        </p:nvSpPr>
        <p:spPr>
          <a:xfrm>
            <a:off x="5440680" y="4242816"/>
            <a:ext cx="877824" cy="877824"/>
          </a:xfrm>
          <a:prstGeom prst="rect">
            <a:avLst/>
          </a:prstGeom>
          <a:noFill/>
          <a:ln/>
        </p:spPr>
        <p:txBody>
          <a:bodyPr wrap="square" lIns="635" tIns="635" rIns="635" bIns="635"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H</a:t>
            </a:r>
            <a:endParaRPr lang="en-US" sz="3200" dirty="0"/>
          </a:p>
        </p:txBody>
      </p:sp>
      <p:sp>
        <p:nvSpPr>
          <p:cNvPr id="23" name="a4w_txt_961"/>
          <p:cNvSpPr txBox="1"/>
          <p:nvPr/>
        </p:nvSpPr>
        <p:spPr>
          <a:xfrm>
            <a:off x="6446520" y="4261104"/>
            <a:ext cx="5120640" cy="841248"/>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HELP</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If it goes wrong: escape route, Attendant, how to call for help</a:t>
            </a:r>
            <a:endParaRPr lang="en-US" sz="1800" dirty="0"/>
          </a:p>
        </p:txBody>
      </p:sp>
      <p:sp>
        <p:nvSpPr>
          <p:cNvPr id="24" name="a5w_box_962"/>
          <p:cNvSpPr/>
          <p:nvPr/>
        </p:nvSpPr>
        <p:spPr>
          <a:xfrm>
            <a:off x="5440680" y="5230368"/>
            <a:ext cx="6199632" cy="877824"/>
          </a:xfrm>
          <a:prstGeom prst="roundRect">
            <a:avLst>
              <a:gd name="adj" fmla="val 12500"/>
            </a:avLst>
          </a:prstGeom>
          <a:solidFill>
            <a:srgbClr val="FFFFFF"/>
          </a:solidFill>
          <a:ln w="12700">
            <a:solidFill>
              <a:srgbClr val="C9D3D9"/>
            </a:solidFill>
            <a:prstDash val="solid"/>
          </a:ln>
        </p:spPr>
      </p:sp>
      <p:sp>
        <p:nvSpPr>
          <p:cNvPr id="25" name="a5w_box_963"/>
          <p:cNvSpPr/>
          <p:nvPr/>
        </p:nvSpPr>
        <p:spPr>
          <a:xfrm>
            <a:off x="5440680" y="5230368"/>
            <a:ext cx="877824" cy="877824"/>
          </a:xfrm>
          <a:prstGeom prst="rect">
            <a:avLst/>
          </a:prstGeom>
          <a:solidFill>
            <a:srgbClr val="E8771E"/>
          </a:solidFill>
          <a:ln/>
        </p:spPr>
      </p:sp>
      <p:sp>
        <p:nvSpPr>
          <p:cNvPr id="26" name="a5w_txt_964"/>
          <p:cNvSpPr txBox="1"/>
          <p:nvPr/>
        </p:nvSpPr>
        <p:spPr>
          <a:xfrm>
            <a:off x="5440680" y="5230368"/>
            <a:ext cx="877824" cy="877824"/>
          </a:xfrm>
          <a:prstGeom prst="rect">
            <a:avLst/>
          </a:prstGeom>
          <a:noFill/>
          <a:ln/>
        </p:spPr>
        <p:txBody>
          <a:bodyPr wrap="square" lIns="635" tIns="635" rIns="635" bIns="635"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a:t>
            </a:r>
            <a:endParaRPr lang="en-US" sz="3200" dirty="0"/>
          </a:p>
        </p:txBody>
      </p:sp>
      <p:sp>
        <p:nvSpPr>
          <p:cNvPr id="27" name="a5w_txt_965"/>
          <p:cNvSpPr txBox="1"/>
          <p:nvPr/>
        </p:nvSpPr>
        <p:spPr>
          <a:xfrm>
            <a:off x="6446520" y="5248656"/>
            <a:ext cx="5120640" cy="841248"/>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COMMUNICATION</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How do we talk during the work? Stop signals?</a:t>
            </a:r>
            <a:endParaRPr lang="en-US" sz="1800" dirty="0"/>
          </a:p>
        </p:txBody>
      </p:sp>
      <p:sp>
        <p:nvSpPr>
          <p:cNvPr id="2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500"/>
                                        <p:tgtEl>
                                          <p:spTgt spid="20"/>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left)">
                                      <p:cBhvr>
                                        <p:cTn id="63" dur="500"/>
                                        <p:tgtEl>
                                          <p:spTgt spid="24"/>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wipe(left)">
                                      <p:cBhvr>
                                        <p:cTn id="69" dur="500"/>
                                        <p:tgtEl>
                                          <p:spTgt spid="26"/>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Stage 5: Doing the Work Safely</a:t>
            </a:r>
            <a:endParaRPr lang="en-US" sz="3200" dirty="0"/>
          </a:p>
        </p:txBody>
      </p:sp>
      <p:sp>
        <p:nvSpPr>
          <p:cNvPr id="3" name="box_966"/>
          <p:cNvSpPr/>
          <p:nvPr/>
        </p:nvSpPr>
        <p:spPr>
          <a:xfrm>
            <a:off x="548640" y="1280160"/>
            <a:ext cx="544068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967"/>
          <p:cNvSpPr/>
          <p:nvPr/>
        </p:nvSpPr>
        <p:spPr>
          <a:xfrm>
            <a:off x="731520" y="1463040"/>
            <a:ext cx="685800" cy="685800"/>
          </a:xfrm>
          <a:prstGeom prst="ellipse">
            <a:avLst/>
          </a:prstGeom>
          <a:solidFill>
            <a:srgbClr val="0F6E7A"/>
          </a:solidFill>
          <a:ln/>
        </p:spPr>
      </p:sp>
      <p:pic>
        <p:nvPicPr>
          <p:cNvPr id="5" name="icon_968"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969"/>
          <p:cNvSpPr txBox="1"/>
          <p:nvPr/>
        </p:nvSpPr>
        <p:spPr>
          <a:xfrm>
            <a:off x="1581912" y="1444752"/>
            <a:ext cx="427024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Stay inside the permit</a:t>
            </a:r>
            <a:endParaRPr lang="en-US" sz="2000" dirty="0"/>
          </a:p>
        </p:txBody>
      </p:sp>
      <p:sp>
        <p:nvSpPr>
          <p:cNvPr id="7" name="txt_970"/>
          <p:cNvSpPr txBox="1"/>
          <p:nvPr/>
        </p:nvSpPr>
        <p:spPr>
          <a:xfrm>
            <a:off x="777240" y="2194560"/>
            <a:ext cx="5029200" cy="1417320"/>
          </a:xfrm>
          <a:prstGeom prst="rect">
            <a:avLst/>
          </a:prstGeom>
          <a:noFill/>
          <a:ln/>
        </p:spPr>
        <p:txBody>
          <a:bodyPr wrap="square" lIns="635" tIns="635" rIns="635" bIns="635" rtlCol="0" anchor="t"/>
          <a:lstStyle/>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Only the task described, at the location stated</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Only the tools and methods assessed</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Never remove or bypass a lock, tag, barrier or monitor</a:t>
            </a:r>
            <a:endParaRPr lang="en-US" sz="1700" dirty="0"/>
          </a:p>
        </p:txBody>
      </p:sp>
      <p:sp>
        <p:nvSpPr>
          <p:cNvPr id="8" name="box_971"/>
          <p:cNvSpPr/>
          <p:nvPr/>
        </p:nvSpPr>
        <p:spPr>
          <a:xfrm>
            <a:off x="548640" y="3840480"/>
            <a:ext cx="5440680" cy="2377440"/>
          </a:xfrm>
          <a:prstGeom prst="roundRect">
            <a:avLst>
              <a:gd name="adj" fmla="val 461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circ_972"/>
          <p:cNvSpPr/>
          <p:nvPr/>
        </p:nvSpPr>
        <p:spPr>
          <a:xfrm>
            <a:off x="731520" y="4023360"/>
            <a:ext cx="685800" cy="685800"/>
          </a:xfrm>
          <a:prstGeom prst="ellipse">
            <a:avLst/>
          </a:prstGeom>
          <a:solidFill>
            <a:srgbClr val="C0392B"/>
          </a:solidFill>
          <a:ln/>
        </p:spPr>
      </p:sp>
      <p:pic>
        <p:nvPicPr>
          <p:cNvPr id="10" name="icon_973" descr="preencoded.png">    </p:cNvPr>
          <p:cNvPicPr>
            <a:picLocks noChangeAspect="1"/>
          </p:cNvPicPr>
          <p:nvPr/>
        </p:nvPicPr>
        <p:blipFill>
          <a:blip r:embed="rId2"/>
          <a:stretch>
            <a:fillRect/>
          </a:stretch>
        </p:blipFill>
        <p:spPr>
          <a:xfrm>
            <a:off x="885825" y="4177665"/>
            <a:ext cx="377190" cy="377190"/>
          </a:xfrm>
          <a:prstGeom prst="rect">
            <a:avLst/>
          </a:prstGeom>
        </p:spPr>
      </p:pic>
      <p:sp>
        <p:nvSpPr>
          <p:cNvPr id="11" name="txt_974"/>
          <p:cNvSpPr txBox="1"/>
          <p:nvPr/>
        </p:nvSpPr>
        <p:spPr>
          <a:xfrm>
            <a:off x="1581912" y="4005072"/>
            <a:ext cx="427024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If anything changes</a:t>
            </a:r>
            <a:endParaRPr lang="en-US" sz="2000" dirty="0"/>
          </a:p>
        </p:txBody>
      </p:sp>
      <p:sp>
        <p:nvSpPr>
          <p:cNvPr id="12" name="txt_975"/>
          <p:cNvSpPr txBox="1"/>
          <p:nvPr/>
        </p:nvSpPr>
        <p:spPr>
          <a:xfrm>
            <a:off x="777240" y="4754880"/>
            <a:ext cx="5029200" cy="1417320"/>
          </a:xfrm>
          <a:prstGeom prst="rect">
            <a:avLst/>
          </a:prstGeom>
          <a:noFill/>
          <a:ln/>
        </p:spPr>
        <p:txBody>
          <a:bodyPr wrap="square" lIns="635" tIns="635" rIns="635" bIns="635" rtlCol="0" anchor="t"/>
          <a:lstStyle/>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Receiver STOPS the work immediately</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Notify the Issuer – permit is suspended</a:t>
            </a:r>
            <a:endParaRPr lang="en-US" sz="1700" dirty="0"/>
          </a:p>
          <a:p>
            <a:pPr marL="228600" indent="-228600">
              <a:spcAft>
                <a:spcPts val="600"/>
              </a:spcAft>
              <a:buSzPct val="100000"/>
              <a:buChar char="•"/>
            </a:pPr>
            <a:r>
              <a:rPr lang="en-US" sz="1700" dirty="0">
                <a:solidFill>
                  <a:srgbClr val="1B2730"/>
                </a:solidFill>
                <a:latin typeface="Calibri" pitchFamily="34" charset="0"/>
                <a:ea typeface="Calibri" pitchFamily="34" charset="-122"/>
                <a:cs typeface="Calibri" pitchFamily="34" charset="-120"/>
              </a:rPr>
              <a:t>Resume only after re-assessment (or new permit)</a:t>
            </a:r>
            <a:endParaRPr lang="en-US" sz="1700" dirty="0"/>
          </a:p>
        </p:txBody>
      </p:sp>
      <p:sp>
        <p:nvSpPr>
          <p:cNvPr id="13" name="txt_976"/>
          <p:cNvSpPr txBox="1"/>
          <p:nvPr/>
        </p:nvSpPr>
        <p:spPr>
          <a:xfrm>
            <a:off x="6199632" y="1280160"/>
            <a:ext cx="5440680" cy="457200"/>
          </a:xfrm>
          <a:prstGeom prst="rect">
            <a:avLst/>
          </a:prstGeom>
          <a:noFill/>
          <a:ln/>
        </p:spPr>
        <p:txBody>
          <a:bodyPr wrap="square" lIns="635" tIns="635" rIns="635" bIns="635" rtlCol="0" anchor="t"/>
          <a:lstStyle/>
          <a:p>
            <a:pPr indent="0" marL="0">
              <a:buNone/>
            </a:pPr>
            <a:r>
              <a:rPr lang="en-US" sz="2000" b="1" dirty="0">
                <a:solidFill>
                  <a:srgbClr val="0B2A3C"/>
                </a:solidFill>
                <a:latin typeface="Calibri" pitchFamily="34" charset="0"/>
                <a:ea typeface="Calibri" pitchFamily="34" charset="-122"/>
                <a:cs typeface="Calibri" pitchFamily="34" charset="-120"/>
              </a:rPr>
              <a:t>Who watches during the work?</a:t>
            </a:r>
            <a:endParaRPr lang="en-US" sz="2000" dirty="0"/>
          </a:p>
        </p:txBody>
      </p:sp>
      <p:sp>
        <p:nvSpPr>
          <p:cNvPr id="14" name="a1_circ_977"/>
          <p:cNvSpPr/>
          <p:nvPr/>
        </p:nvSpPr>
        <p:spPr>
          <a:xfrm>
            <a:off x="6199632" y="1828800"/>
            <a:ext cx="685800" cy="685800"/>
          </a:xfrm>
          <a:prstGeom prst="ellipse">
            <a:avLst/>
          </a:prstGeom>
          <a:solidFill>
            <a:srgbClr val="0F6E7A"/>
          </a:solidFill>
          <a:ln/>
        </p:spPr>
      </p:sp>
      <p:pic>
        <p:nvPicPr>
          <p:cNvPr id="15" name="a1_icon_978" descr="preencoded.png">    </p:cNvPr>
          <p:cNvPicPr>
            <a:picLocks noChangeAspect="1"/>
          </p:cNvPicPr>
          <p:nvPr/>
        </p:nvPicPr>
        <p:blipFill>
          <a:blip r:embed="rId3"/>
          <a:stretch>
            <a:fillRect/>
          </a:stretch>
        </p:blipFill>
        <p:spPr>
          <a:xfrm>
            <a:off x="6353937" y="1983105"/>
            <a:ext cx="377190" cy="377190"/>
          </a:xfrm>
          <a:prstGeom prst="rect">
            <a:avLst/>
          </a:prstGeom>
        </p:spPr>
      </p:pic>
      <p:sp>
        <p:nvSpPr>
          <p:cNvPr id="16" name="a1_txt_979"/>
          <p:cNvSpPr txBox="1"/>
          <p:nvPr/>
        </p:nvSpPr>
        <p:spPr>
          <a:xfrm>
            <a:off x="7040880" y="1783080"/>
            <a:ext cx="4572000" cy="7772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All workers</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Leaks, smells, weather, equipment faults</a:t>
            </a:r>
            <a:endParaRPr lang="en-US" sz="1800" dirty="0"/>
          </a:p>
        </p:txBody>
      </p:sp>
      <p:sp>
        <p:nvSpPr>
          <p:cNvPr id="17" name="a2_circ_980"/>
          <p:cNvSpPr/>
          <p:nvPr/>
        </p:nvSpPr>
        <p:spPr>
          <a:xfrm>
            <a:off x="6199632" y="2715768"/>
            <a:ext cx="685800" cy="685800"/>
          </a:xfrm>
          <a:prstGeom prst="ellipse">
            <a:avLst/>
          </a:prstGeom>
          <a:solidFill>
            <a:srgbClr val="E8771E"/>
          </a:solidFill>
          <a:ln/>
        </p:spPr>
      </p:sp>
      <p:pic>
        <p:nvPicPr>
          <p:cNvPr id="18" name="a2_icon_981" descr="preencoded.png">    </p:cNvPr>
          <p:cNvPicPr>
            <a:picLocks noChangeAspect="1"/>
          </p:cNvPicPr>
          <p:nvPr/>
        </p:nvPicPr>
        <p:blipFill>
          <a:blip r:embed="rId4"/>
          <a:stretch>
            <a:fillRect/>
          </a:stretch>
        </p:blipFill>
        <p:spPr>
          <a:xfrm>
            <a:off x="6353937" y="2870073"/>
            <a:ext cx="377190" cy="377190"/>
          </a:xfrm>
          <a:prstGeom prst="rect">
            <a:avLst/>
          </a:prstGeom>
        </p:spPr>
      </p:pic>
      <p:sp>
        <p:nvSpPr>
          <p:cNvPr id="19" name="a2_txt_982"/>
          <p:cNvSpPr txBox="1"/>
          <p:nvPr/>
        </p:nvSpPr>
        <p:spPr>
          <a:xfrm>
            <a:off x="7040880" y="2670048"/>
            <a:ext cx="4572000" cy="7772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Permit Receiver</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Continuous supervision of work &amp; environment</a:t>
            </a:r>
            <a:endParaRPr lang="en-US" sz="1800" dirty="0"/>
          </a:p>
        </p:txBody>
      </p:sp>
      <p:sp>
        <p:nvSpPr>
          <p:cNvPr id="20" name="a3_circ_983"/>
          <p:cNvSpPr/>
          <p:nvPr/>
        </p:nvSpPr>
        <p:spPr>
          <a:xfrm>
            <a:off x="6199632" y="3602736"/>
            <a:ext cx="685800" cy="685800"/>
          </a:xfrm>
          <a:prstGeom prst="ellipse">
            <a:avLst/>
          </a:prstGeom>
          <a:solidFill>
            <a:srgbClr val="0F6E7A"/>
          </a:solidFill>
          <a:ln/>
        </p:spPr>
      </p:sp>
      <p:pic>
        <p:nvPicPr>
          <p:cNvPr id="21" name="a3_icon_984" descr="preencoded.png">    </p:cNvPr>
          <p:cNvPicPr>
            <a:picLocks noChangeAspect="1"/>
          </p:cNvPicPr>
          <p:nvPr/>
        </p:nvPicPr>
        <p:blipFill>
          <a:blip r:embed="rId5"/>
          <a:stretch>
            <a:fillRect/>
          </a:stretch>
        </p:blipFill>
        <p:spPr>
          <a:xfrm>
            <a:off x="6353937" y="3757041"/>
            <a:ext cx="377190" cy="377190"/>
          </a:xfrm>
          <a:prstGeom prst="rect">
            <a:avLst/>
          </a:prstGeom>
        </p:spPr>
      </p:pic>
      <p:sp>
        <p:nvSpPr>
          <p:cNvPr id="22" name="a3_txt_985"/>
          <p:cNvSpPr txBox="1"/>
          <p:nvPr/>
        </p:nvSpPr>
        <p:spPr>
          <a:xfrm>
            <a:off x="7040880" y="3557016"/>
            <a:ext cx="4572000" cy="7772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Attendants</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Fire watch / confined space duties</a:t>
            </a:r>
            <a:endParaRPr lang="en-US" sz="1800" dirty="0"/>
          </a:p>
        </p:txBody>
      </p:sp>
      <p:sp>
        <p:nvSpPr>
          <p:cNvPr id="23" name="a4_circ_986"/>
          <p:cNvSpPr/>
          <p:nvPr/>
        </p:nvSpPr>
        <p:spPr>
          <a:xfrm>
            <a:off x="6199632" y="4489704"/>
            <a:ext cx="685800" cy="685800"/>
          </a:xfrm>
          <a:prstGeom prst="ellipse">
            <a:avLst/>
          </a:prstGeom>
          <a:solidFill>
            <a:srgbClr val="0F6E7A"/>
          </a:solidFill>
          <a:ln/>
        </p:spPr>
      </p:sp>
      <p:pic>
        <p:nvPicPr>
          <p:cNvPr id="24" name="a4_icon_987" descr="preencoded.png">    </p:cNvPr>
          <p:cNvPicPr>
            <a:picLocks noChangeAspect="1"/>
          </p:cNvPicPr>
          <p:nvPr/>
        </p:nvPicPr>
        <p:blipFill>
          <a:blip r:embed="rId6"/>
          <a:stretch>
            <a:fillRect/>
          </a:stretch>
        </p:blipFill>
        <p:spPr>
          <a:xfrm>
            <a:off x="6353937" y="4644009"/>
            <a:ext cx="377190" cy="377190"/>
          </a:xfrm>
          <a:prstGeom prst="rect">
            <a:avLst/>
          </a:prstGeom>
        </p:spPr>
      </p:pic>
      <p:sp>
        <p:nvSpPr>
          <p:cNvPr id="25" name="a4_txt_988"/>
          <p:cNvSpPr txBox="1"/>
          <p:nvPr/>
        </p:nvSpPr>
        <p:spPr>
          <a:xfrm>
            <a:off x="7040880" y="4443984"/>
            <a:ext cx="4572000" cy="7772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Issuer / Area Operator</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Periodic spot checks</a:t>
            </a:r>
            <a:endParaRPr lang="en-US" sz="1800" dirty="0"/>
          </a:p>
        </p:txBody>
      </p:sp>
      <p:sp>
        <p:nvSpPr>
          <p:cNvPr id="26" name="a5_circ_989"/>
          <p:cNvSpPr/>
          <p:nvPr/>
        </p:nvSpPr>
        <p:spPr>
          <a:xfrm>
            <a:off x="6199632" y="5376672"/>
            <a:ext cx="685800" cy="685800"/>
          </a:xfrm>
          <a:prstGeom prst="ellipse">
            <a:avLst/>
          </a:prstGeom>
          <a:solidFill>
            <a:srgbClr val="0F6E7A"/>
          </a:solidFill>
          <a:ln/>
        </p:spPr>
      </p:sp>
      <p:pic>
        <p:nvPicPr>
          <p:cNvPr id="27" name="a5_icon_990" descr="preencoded.png">    </p:cNvPr>
          <p:cNvPicPr>
            <a:picLocks noChangeAspect="1"/>
          </p:cNvPicPr>
          <p:nvPr/>
        </p:nvPicPr>
        <p:blipFill>
          <a:blip r:embed="rId7"/>
          <a:stretch>
            <a:fillRect/>
          </a:stretch>
        </p:blipFill>
        <p:spPr>
          <a:xfrm>
            <a:off x="6353937" y="5530977"/>
            <a:ext cx="377190" cy="377190"/>
          </a:xfrm>
          <a:prstGeom prst="rect">
            <a:avLst/>
          </a:prstGeom>
        </p:spPr>
      </p:pic>
      <p:sp>
        <p:nvSpPr>
          <p:cNvPr id="28" name="a5_txt_991"/>
          <p:cNvSpPr txBox="1"/>
          <p:nvPr/>
        </p:nvSpPr>
        <p:spPr>
          <a:xfrm>
            <a:off x="7040880" y="5330952"/>
            <a:ext cx="4572000" cy="7772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Safety Officer</a:t>
            </a:r>
            <a:endParaRPr lang="en-US" sz="1800" dirty="0"/>
          </a:p>
          <a:p>
            <a:pPr indent="0" marL="0">
              <a:buNone/>
            </a:pPr>
            <a:r>
              <a:rPr lang="en-US" sz="1600" dirty="0">
                <a:solidFill>
                  <a:srgbClr val="1B2730"/>
                </a:solidFill>
                <a:latin typeface="Calibri" pitchFamily="34" charset="0"/>
                <a:ea typeface="Calibri" pitchFamily="34" charset="-122"/>
                <a:cs typeface="Calibri" pitchFamily="34" charset="-120"/>
              </a:rPr>
              <a:t>Independent compliance audits</a:t>
            </a:r>
            <a:endParaRPr lang="en-US" sz="1800" dirty="0"/>
          </a:p>
        </p:txBody>
      </p:sp>
      <p:sp>
        <p:nvSpPr>
          <p:cNvPr id="2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Plant Example: Pump Seal Replacement Step by Step</a:t>
            </a:r>
            <a:endParaRPr lang="en-US" sz="3200" dirty="0"/>
          </a:p>
        </p:txBody>
      </p:sp>
      <p:sp>
        <p:nvSpPr>
          <p:cNvPr id="3" name="txt_992"/>
          <p:cNvSpPr txBox="1"/>
          <p:nvPr/>
        </p:nvSpPr>
        <p:spPr>
          <a:xfrm>
            <a:off x="548640" y="1188720"/>
            <a:ext cx="11094415" cy="411480"/>
          </a:xfrm>
          <a:prstGeom prst="rect">
            <a:avLst/>
          </a:prstGeom>
          <a:noFill/>
          <a:ln/>
        </p:spPr>
        <p:txBody>
          <a:bodyPr wrap="square" lIns="635" tIns="635" rIns="635" bIns="635" rtlCol="0" anchor="t"/>
          <a:lstStyle/>
          <a:p>
            <a:pPr indent="0" marL="0">
              <a:buNone/>
            </a:pPr>
            <a:r>
              <a:rPr lang="en-US" sz="1700" i="1" dirty="0">
                <a:solidFill>
                  <a:srgbClr val="5B6B75"/>
                </a:solidFill>
                <a:latin typeface="Calibri" pitchFamily="34" charset="0"/>
                <a:ea typeface="Calibri" pitchFamily="34" charset="-122"/>
                <a:cs typeface="Calibri" pitchFamily="34" charset="-120"/>
              </a:rPr>
              <a:t>All details below are taken from examples in the Course Notes</a:t>
            </a:r>
            <a:endParaRPr lang="en-US" sz="1700" dirty="0"/>
          </a:p>
        </p:txBody>
      </p:sp>
      <p:sp>
        <p:nvSpPr>
          <p:cNvPr id="4" name="a1w_box_993"/>
          <p:cNvSpPr/>
          <p:nvPr/>
        </p:nvSpPr>
        <p:spPr>
          <a:xfrm>
            <a:off x="548640" y="1737360"/>
            <a:ext cx="3564026" cy="2103120"/>
          </a:xfrm>
          <a:prstGeom prst="roundRect">
            <a:avLst>
              <a:gd name="adj" fmla="val 5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5" name="a1w_circ_994"/>
          <p:cNvSpPr/>
          <p:nvPr/>
        </p:nvSpPr>
        <p:spPr>
          <a:xfrm>
            <a:off x="731520" y="1920240"/>
            <a:ext cx="640080" cy="640080"/>
          </a:xfrm>
          <a:prstGeom prst="ellipse">
            <a:avLst/>
          </a:prstGeom>
          <a:solidFill>
            <a:srgbClr val="0F6E7A"/>
          </a:solidFill>
          <a:ln/>
        </p:spPr>
      </p:sp>
      <p:pic>
        <p:nvPicPr>
          <p:cNvPr id="6" name="a1w_icon_995" descr="preencoded.png">    </p:cNvPr>
          <p:cNvPicPr>
            <a:picLocks noChangeAspect="1"/>
          </p:cNvPicPr>
          <p:nvPr/>
        </p:nvPicPr>
        <p:blipFill>
          <a:blip r:embed="rId1"/>
          <a:stretch>
            <a:fillRect/>
          </a:stretch>
        </p:blipFill>
        <p:spPr>
          <a:xfrm>
            <a:off x="875538" y="2064258"/>
            <a:ext cx="352044" cy="352044"/>
          </a:xfrm>
          <a:prstGeom prst="rect">
            <a:avLst/>
          </a:prstGeom>
        </p:spPr>
      </p:pic>
      <p:sp>
        <p:nvSpPr>
          <p:cNvPr id="7" name="a1w_txt_996"/>
          <p:cNvSpPr txBox="1"/>
          <p:nvPr/>
        </p:nvSpPr>
        <p:spPr>
          <a:xfrm>
            <a:off x="1508760" y="1920240"/>
            <a:ext cx="2466746" cy="64008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1. Request</a:t>
            </a:r>
            <a:endParaRPr lang="en-US" sz="2000" dirty="0"/>
          </a:p>
        </p:txBody>
      </p:sp>
      <p:sp>
        <p:nvSpPr>
          <p:cNvPr id="8" name="a1w_txt_997"/>
          <p:cNvSpPr txBox="1"/>
          <p:nvPr/>
        </p:nvSpPr>
        <p:spPr>
          <a:xfrm>
            <a:off x="731520" y="2651760"/>
            <a:ext cx="3198266" cy="1143000"/>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“Replace mechanical seal on Pump P-101A, Pump Alley 1, Cell 3. NO work on motor or coupling.” + JSA</a:t>
            </a:r>
            <a:endParaRPr lang="en-US" sz="1600" dirty="0"/>
          </a:p>
        </p:txBody>
      </p:sp>
      <p:sp>
        <p:nvSpPr>
          <p:cNvPr id="9" name="a2w_box_998"/>
          <p:cNvSpPr/>
          <p:nvPr/>
        </p:nvSpPr>
        <p:spPr>
          <a:xfrm>
            <a:off x="4313834" y="1737360"/>
            <a:ext cx="3564026" cy="2103120"/>
          </a:xfrm>
          <a:prstGeom prst="roundRect">
            <a:avLst>
              <a:gd name="adj" fmla="val 5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a2w_circ_999"/>
          <p:cNvSpPr/>
          <p:nvPr/>
        </p:nvSpPr>
        <p:spPr>
          <a:xfrm>
            <a:off x="4496714" y="1920240"/>
            <a:ext cx="640080" cy="640080"/>
          </a:xfrm>
          <a:prstGeom prst="ellipse">
            <a:avLst/>
          </a:prstGeom>
          <a:solidFill>
            <a:srgbClr val="0F6E7A"/>
          </a:solidFill>
          <a:ln/>
        </p:spPr>
      </p:sp>
      <p:pic>
        <p:nvPicPr>
          <p:cNvPr id="11" name="a2w_icon_1000" descr="preencoded.png">    </p:cNvPr>
          <p:cNvPicPr>
            <a:picLocks noChangeAspect="1"/>
          </p:cNvPicPr>
          <p:nvPr/>
        </p:nvPicPr>
        <p:blipFill>
          <a:blip r:embed="rId2"/>
          <a:stretch>
            <a:fillRect/>
          </a:stretch>
        </p:blipFill>
        <p:spPr>
          <a:xfrm>
            <a:off x="4640732" y="2064258"/>
            <a:ext cx="352044" cy="352044"/>
          </a:xfrm>
          <a:prstGeom prst="rect">
            <a:avLst/>
          </a:prstGeom>
        </p:spPr>
      </p:pic>
      <p:sp>
        <p:nvSpPr>
          <p:cNvPr id="12" name="a2w_txt_1001"/>
          <p:cNvSpPr txBox="1"/>
          <p:nvPr/>
        </p:nvSpPr>
        <p:spPr>
          <a:xfrm>
            <a:off x="5273954" y="1920240"/>
            <a:ext cx="2466746" cy="64008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2. Issuer review</a:t>
            </a:r>
            <a:endParaRPr lang="en-US" sz="2000" dirty="0"/>
          </a:p>
        </p:txBody>
      </p:sp>
      <p:sp>
        <p:nvSpPr>
          <p:cNvPr id="13" name="a2w_txt_1002"/>
          <p:cNvSpPr txBox="1"/>
          <p:nvPr/>
        </p:nvSpPr>
        <p:spPr>
          <a:xfrm>
            <a:off x="4496714" y="2651760"/>
            <a:ext cx="3198266" cy="1143000"/>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Adds: “Bypass line from P-101B remains live.”</a:t>
            </a:r>
            <a:endParaRPr lang="en-US" sz="1600" dirty="0"/>
          </a:p>
        </p:txBody>
      </p:sp>
      <p:sp>
        <p:nvSpPr>
          <p:cNvPr id="14" name="a3w_box_1003"/>
          <p:cNvSpPr/>
          <p:nvPr/>
        </p:nvSpPr>
        <p:spPr>
          <a:xfrm>
            <a:off x="8079029" y="1737360"/>
            <a:ext cx="3564026" cy="2103120"/>
          </a:xfrm>
          <a:prstGeom prst="roundRect">
            <a:avLst>
              <a:gd name="adj" fmla="val 5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5" name="a3w_circ_1004"/>
          <p:cNvSpPr/>
          <p:nvPr/>
        </p:nvSpPr>
        <p:spPr>
          <a:xfrm>
            <a:off x="8261909" y="1920240"/>
            <a:ext cx="640080" cy="640080"/>
          </a:xfrm>
          <a:prstGeom prst="ellipse">
            <a:avLst/>
          </a:prstGeom>
          <a:solidFill>
            <a:srgbClr val="0F6E7A"/>
          </a:solidFill>
          <a:ln/>
        </p:spPr>
      </p:sp>
      <p:pic>
        <p:nvPicPr>
          <p:cNvPr id="16" name="a3w_icon_1005" descr="preencoded.png">    </p:cNvPr>
          <p:cNvPicPr>
            <a:picLocks noChangeAspect="1"/>
          </p:cNvPicPr>
          <p:nvPr/>
        </p:nvPicPr>
        <p:blipFill>
          <a:blip r:embed="rId3"/>
          <a:stretch>
            <a:fillRect/>
          </a:stretch>
        </p:blipFill>
        <p:spPr>
          <a:xfrm>
            <a:off x="8405927" y="2064258"/>
            <a:ext cx="352044" cy="352044"/>
          </a:xfrm>
          <a:prstGeom prst="rect">
            <a:avLst/>
          </a:prstGeom>
        </p:spPr>
      </p:pic>
      <p:sp>
        <p:nvSpPr>
          <p:cNvPr id="17" name="a3w_txt_1006"/>
          <p:cNvSpPr txBox="1"/>
          <p:nvPr/>
        </p:nvSpPr>
        <p:spPr>
          <a:xfrm>
            <a:off x="9039149" y="1920240"/>
            <a:ext cx="2466746" cy="64008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3. Isolation plan</a:t>
            </a:r>
            <a:endParaRPr lang="en-US" sz="2000" dirty="0"/>
          </a:p>
        </p:txBody>
      </p:sp>
      <p:sp>
        <p:nvSpPr>
          <p:cNvPr id="18" name="a3w_txt_1007"/>
          <p:cNvSpPr txBox="1"/>
          <p:nvPr/>
        </p:nvSpPr>
        <p:spPr>
          <a:xfrm>
            <a:off x="8261909" y="2651760"/>
            <a:ext cx="3198266" cy="1143000"/>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Close &amp; lock XV-101A and XV-101B; blind at Flange F-101 (drawing SK-101)</a:t>
            </a:r>
            <a:endParaRPr lang="en-US" sz="1600" dirty="0"/>
          </a:p>
        </p:txBody>
      </p:sp>
      <p:sp>
        <p:nvSpPr>
          <p:cNvPr id="19" name="a4w_box_1008"/>
          <p:cNvSpPr/>
          <p:nvPr/>
        </p:nvSpPr>
        <p:spPr>
          <a:xfrm>
            <a:off x="548640" y="4023360"/>
            <a:ext cx="3564026" cy="2103120"/>
          </a:xfrm>
          <a:prstGeom prst="roundRect">
            <a:avLst>
              <a:gd name="adj" fmla="val 5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0" name="a4w_circ_1009"/>
          <p:cNvSpPr/>
          <p:nvPr/>
        </p:nvSpPr>
        <p:spPr>
          <a:xfrm>
            <a:off x="731520" y="4206240"/>
            <a:ext cx="640080" cy="640080"/>
          </a:xfrm>
          <a:prstGeom prst="ellipse">
            <a:avLst/>
          </a:prstGeom>
          <a:solidFill>
            <a:srgbClr val="E8771E"/>
          </a:solidFill>
          <a:ln/>
        </p:spPr>
      </p:sp>
      <p:pic>
        <p:nvPicPr>
          <p:cNvPr id="21" name="a4w_icon_1010" descr="preencoded.png">    </p:cNvPr>
          <p:cNvPicPr>
            <a:picLocks noChangeAspect="1"/>
          </p:cNvPicPr>
          <p:nvPr/>
        </p:nvPicPr>
        <p:blipFill>
          <a:blip r:embed="rId4"/>
          <a:stretch>
            <a:fillRect/>
          </a:stretch>
        </p:blipFill>
        <p:spPr>
          <a:xfrm>
            <a:off x="875538" y="4350258"/>
            <a:ext cx="352044" cy="352044"/>
          </a:xfrm>
          <a:prstGeom prst="rect">
            <a:avLst/>
          </a:prstGeom>
        </p:spPr>
      </p:pic>
      <p:sp>
        <p:nvSpPr>
          <p:cNvPr id="22" name="a4w_txt_1011"/>
          <p:cNvSpPr txBox="1"/>
          <p:nvPr/>
        </p:nvSpPr>
        <p:spPr>
          <a:xfrm>
            <a:off x="1508760" y="4206240"/>
            <a:ext cx="2466746" cy="64008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4. Walkdown &amp; VOI</a:t>
            </a:r>
            <a:endParaRPr lang="en-US" sz="2000" dirty="0"/>
          </a:p>
        </p:txBody>
      </p:sp>
      <p:sp>
        <p:nvSpPr>
          <p:cNvPr id="23" name="a4w_txt_1012"/>
          <p:cNvSpPr txBox="1"/>
          <p:nvPr/>
        </p:nvSpPr>
        <p:spPr>
          <a:xfrm>
            <a:off x="731520" y="4937760"/>
            <a:ext cx="3198266" cy="1143000"/>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Sight every lock &amp; blind; confirm zero pressure; Issuer then Receiver sign</a:t>
            </a:r>
            <a:endParaRPr lang="en-US" sz="1600" dirty="0"/>
          </a:p>
        </p:txBody>
      </p:sp>
      <p:sp>
        <p:nvSpPr>
          <p:cNvPr id="24" name="a5w_box_1013"/>
          <p:cNvSpPr/>
          <p:nvPr/>
        </p:nvSpPr>
        <p:spPr>
          <a:xfrm>
            <a:off x="4313834" y="4023360"/>
            <a:ext cx="3564026" cy="2103120"/>
          </a:xfrm>
          <a:prstGeom prst="roundRect">
            <a:avLst>
              <a:gd name="adj" fmla="val 5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5" name="a5w_circ_1014"/>
          <p:cNvSpPr/>
          <p:nvPr/>
        </p:nvSpPr>
        <p:spPr>
          <a:xfrm>
            <a:off x="4496714" y="4206240"/>
            <a:ext cx="640080" cy="640080"/>
          </a:xfrm>
          <a:prstGeom prst="ellipse">
            <a:avLst/>
          </a:prstGeom>
          <a:solidFill>
            <a:srgbClr val="E8771E"/>
          </a:solidFill>
          <a:ln/>
        </p:spPr>
      </p:sp>
      <p:pic>
        <p:nvPicPr>
          <p:cNvPr id="26" name="a5w_icon_1015" descr="preencoded.png">    </p:cNvPr>
          <p:cNvPicPr>
            <a:picLocks noChangeAspect="1"/>
          </p:cNvPicPr>
          <p:nvPr/>
        </p:nvPicPr>
        <p:blipFill>
          <a:blip r:embed="rId5"/>
          <a:stretch>
            <a:fillRect/>
          </a:stretch>
        </p:blipFill>
        <p:spPr>
          <a:xfrm>
            <a:off x="4640732" y="4350258"/>
            <a:ext cx="352044" cy="352044"/>
          </a:xfrm>
          <a:prstGeom prst="rect">
            <a:avLst/>
          </a:prstGeom>
        </p:spPr>
      </p:pic>
      <p:sp>
        <p:nvSpPr>
          <p:cNvPr id="27" name="a5w_txt_1016"/>
          <p:cNvSpPr txBox="1"/>
          <p:nvPr/>
        </p:nvSpPr>
        <p:spPr>
          <a:xfrm>
            <a:off x="5273954" y="4206240"/>
            <a:ext cx="2466746" cy="64008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5. Brief &amp; work</a:t>
            </a:r>
            <a:endParaRPr lang="en-US" sz="2000" dirty="0"/>
          </a:p>
        </p:txBody>
      </p:sp>
      <p:sp>
        <p:nvSpPr>
          <p:cNvPr id="28" name="a5w_txt_1017"/>
          <p:cNvSpPr txBox="1"/>
          <p:nvPr/>
        </p:nvSpPr>
        <p:spPr>
          <a:xfrm>
            <a:off x="4496714" y="4937760"/>
            <a:ext cx="3198266" cy="1143000"/>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TRAHC toolbox talk; hand / air tools as permitted; continuous supervision</a:t>
            </a:r>
            <a:endParaRPr lang="en-US" sz="1600" dirty="0"/>
          </a:p>
        </p:txBody>
      </p:sp>
      <p:sp>
        <p:nvSpPr>
          <p:cNvPr id="29" name="a6w_box_1018"/>
          <p:cNvSpPr/>
          <p:nvPr/>
        </p:nvSpPr>
        <p:spPr>
          <a:xfrm>
            <a:off x="8079029" y="4023360"/>
            <a:ext cx="3564026" cy="2103120"/>
          </a:xfrm>
          <a:prstGeom prst="roundRect">
            <a:avLst>
              <a:gd name="adj" fmla="val 5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30" name="a6w_circ_1019"/>
          <p:cNvSpPr/>
          <p:nvPr/>
        </p:nvSpPr>
        <p:spPr>
          <a:xfrm>
            <a:off x="8261909" y="4206240"/>
            <a:ext cx="640080" cy="640080"/>
          </a:xfrm>
          <a:prstGeom prst="ellipse">
            <a:avLst/>
          </a:prstGeom>
          <a:solidFill>
            <a:srgbClr val="E8771E"/>
          </a:solidFill>
          <a:ln/>
        </p:spPr>
      </p:sp>
      <p:pic>
        <p:nvPicPr>
          <p:cNvPr id="31" name="a6w_icon_1020" descr="preencoded.png">    </p:cNvPr>
          <p:cNvPicPr>
            <a:picLocks noChangeAspect="1"/>
          </p:cNvPicPr>
          <p:nvPr/>
        </p:nvPicPr>
        <p:blipFill>
          <a:blip r:embed="rId6"/>
          <a:stretch>
            <a:fillRect/>
          </a:stretch>
        </p:blipFill>
        <p:spPr>
          <a:xfrm>
            <a:off x="8405927" y="4350258"/>
            <a:ext cx="352044" cy="352044"/>
          </a:xfrm>
          <a:prstGeom prst="rect">
            <a:avLst/>
          </a:prstGeom>
        </p:spPr>
      </p:pic>
      <p:sp>
        <p:nvSpPr>
          <p:cNvPr id="32" name="a6w_txt_1021"/>
          <p:cNvSpPr txBox="1"/>
          <p:nvPr/>
        </p:nvSpPr>
        <p:spPr>
          <a:xfrm>
            <a:off x="9039149" y="4206240"/>
            <a:ext cx="2466746" cy="64008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6. Complete &amp; close</a:t>
            </a:r>
            <a:endParaRPr lang="en-US" sz="2000" dirty="0"/>
          </a:p>
        </p:txBody>
      </p:sp>
      <p:sp>
        <p:nvSpPr>
          <p:cNvPr id="33" name="a6w_txt_1022"/>
          <p:cNvSpPr txBox="1"/>
          <p:nvPr/>
        </p:nvSpPr>
        <p:spPr>
          <a:xfrm>
            <a:off x="8261909" y="4937760"/>
            <a:ext cx="3198266" cy="1143000"/>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Clean up; locks stay on until Issuer’s final walkdown; sign closure</a:t>
            </a:r>
            <a:endParaRPr lang="en-US" sz="1600" dirty="0"/>
          </a:p>
        </p:txBody>
      </p:sp>
      <p:sp>
        <p:nvSpPr>
          <p:cNvPr id="3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500"/>
                                        <p:tgtEl>
                                          <p:spTgt spid="20"/>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500"/>
                                        <p:tgtEl>
                                          <p:spTgt spid="21"/>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500"/>
                                        <p:tgtEl>
                                          <p:spTgt spid="24"/>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500"/>
                                        <p:tgtEl>
                                          <p:spTgt spid="25"/>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500"/>
                                        <p:tgtEl>
                                          <p:spTgt spid="26"/>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500"/>
                                        <p:tgtEl>
                                          <p:spTgt spid="27"/>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wipe(left)">
                                      <p:cBhvr>
                                        <p:cTn id="92" dur="500"/>
                                        <p:tgtEl>
                                          <p:spTgt spid="29"/>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500"/>
                                        <p:tgtEl>
                                          <p:spTgt spid="30"/>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left)">
                                      <p:cBhvr>
                                        <p:cTn id="98" dur="500"/>
                                        <p:tgtEl>
                                          <p:spTgt spid="31"/>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wipe(left)">
                                      <p:cBhvr>
                                        <p:cTn id="101" dur="500"/>
                                        <p:tgtEl>
                                          <p:spTgt spid="32"/>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wipe(left)">
                                      <p:cBhvr>
                                        <p:cTn id="10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circ_1023"/>
          <p:cNvSpPr/>
          <p:nvPr/>
        </p:nvSpPr>
        <p:spPr>
          <a:xfrm>
            <a:off x="5547208" y="640080"/>
            <a:ext cx="1097280" cy="1097280"/>
          </a:xfrm>
          <a:prstGeom prst="ellipse">
            <a:avLst/>
          </a:prstGeom>
          <a:solidFill>
            <a:srgbClr val="E8771E"/>
          </a:solidFill>
          <a:ln/>
        </p:spPr>
      </p:sp>
      <p:pic>
        <p:nvPicPr>
          <p:cNvPr id="3" name="icon_1024" descr="preencoded.png">    </p:cNvPr>
          <p:cNvPicPr>
            <a:picLocks noChangeAspect="1"/>
          </p:cNvPicPr>
          <p:nvPr/>
        </p:nvPicPr>
        <p:blipFill>
          <a:blip r:embed="rId1"/>
          <a:stretch>
            <a:fillRect/>
          </a:stretch>
        </p:blipFill>
        <p:spPr>
          <a:xfrm>
            <a:off x="5794096" y="886968"/>
            <a:ext cx="603504" cy="603504"/>
          </a:xfrm>
          <a:prstGeom prst="rect">
            <a:avLst/>
          </a:prstGeom>
        </p:spPr>
      </p:pic>
      <p:sp>
        <p:nvSpPr>
          <p:cNvPr id="4" name="txt_1025"/>
          <p:cNvSpPr txBox="1"/>
          <p:nvPr/>
        </p:nvSpPr>
        <p:spPr>
          <a:xfrm>
            <a:off x="548640" y="1874520"/>
            <a:ext cx="11094415" cy="411480"/>
          </a:xfrm>
          <a:prstGeom prst="rect">
            <a:avLst/>
          </a:prstGeom>
          <a:noFill/>
          <a:ln/>
        </p:spPr>
        <p:txBody>
          <a:bodyPr wrap="square" lIns="635" tIns="635" rIns="635" bIns="635" rtlCol="0" anchor="t"/>
          <a:lstStyle/>
          <a:p>
            <a:pPr algn="ctr" indent="0" marL="0">
              <a:buNone/>
            </a:pPr>
            <a:r>
              <a:rPr lang="en-US" sz="1800" b="1" spc="400" kern="0" dirty="0">
                <a:solidFill>
                  <a:srgbClr val="E8771E"/>
                </a:solidFill>
                <a:latin typeface="Calibri" pitchFamily="34" charset="0"/>
                <a:ea typeface="Calibri" pitchFamily="34" charset="-122"/>
                <a:cs typeface="Calibri" pitchFamily="34" charset="-120"/>
              </a:rPr>
              <a:t>KEY MESSAGE</a:t>
            </a:r>
            <a:endParaRPr lang="en-US" sz="1800" dirty="0"/>
          </a:p>
        </p:txBody>
      </p:sp>
      <p:sp>
        <p:nvSpPr>
          <p:cNvPr id="5" name="txt_1026"/>
          <p:cNvSpPr txBox="1"/>
          <p:nvPr/>
        </p:nvSpPr>
        <p:spPr>
          <a:xfrm>
            <a:off x="548640" y="2286000"/>
            <a:ext cx="11094415" cy="109728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No signature without verification</a:t>
            </a:r>
            <a:endParaRPr lang="en-US" sz="3400" dirty="0"/>
          </a:p>
        </p:txBody>
      </p:sp>
      <p:sp>
        <p:nvSpPr>
          <p:cNvPr id="6" name="a1_box_1027"/>
          <p:cNvSpPr/>
          <p:nvPr/>
        </p:nvSpPr>
        <p:spPr>
          <a:xfrm>
            <a:off x="548640" y="3794760"/>
            <a:ext cx="1658569" cy="1463040"/>
          </a:xfrm>
          <a:prstGeom prst="roundRect">
            <a:avLst>
              <a:gd name="adj" fmla="val 7500"/>
            </a:avLst>
          </a:prstGeom>
          <a:solidFill>
            <a:srgbClr val="123B52"/>
          </a:solidFill>
          <a:ln w="12700">
            <a:solidFill>
              <a:srgbClr val="2C5873"/>
            </a:solidFill>
            <a:prstDash val="solid"/>
          </a:ln>
        </p:spPr>
      </p:sp>
      <p:sp>
        <p:nvSpPr>
          <p:cNvPr id="7" name="a1_txt_1028"/>
          <p:cNvSpPr txBox="1"/>
          <p:nvPr/>
        </p:nvSpPr>
        <p:spPr>
          <a:xfrm>
            <a:off x="658368" y="3840480"/>
            <a:ext cx="1439113"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PLAN</a:t>
            </a:r>
            <a:endParaRPr lang="en-US" sz="2000" dirty="0"/>
          </a:p>
        </p:txBody>
      </p:sp>
      <p:sp>
        <p:nvSpPr>
          <p:cNvPr id="8" name="a2_box_1029"/>
          <p:cNvSpPr/>
          <p:nvPr/>
        </p:nvSpPr>
        <p:spPr>
          <a:xfrm>
            <a:off x="2435809" y="3794760"/>
            <a:ext cx="1658569" cy="1463040"/>
          </a:xfrm>
          <a:prstGeom prst="roundRect">
            <a:avLst>
              <a:gd name="adj" fmla="val 7500"/>
            </a:avLst>
          </a:prstGeom>
          <a:solidFill>
            <a:srgbClr val="123B52"/>
          </a:solidFill>
          <a:ln w="12700">
            <a:solidFill>
              <a:srgbClr val="2C5873"/>
            </a:solidFill>
            <a:prstDash val="solid"/>
          </a:ln>
        </p:spPr>
      </p:sp>
      <p:sp>
        <p:nvSpPr>
          <p:cNvPr id="9" name="a2_txt_1030"/>
          <p:cNvSpPr txBox="1"/>
          <p:nvPr/>
        </p:nvSpPr>
        <p:spPr>
          <a:xfrm>
            <a:off x="2545537" y="3840480"/>
            <a:ext cx="1439113"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VERIFY on site</a:t>
            </a:r>
            <a:endParaRPr lang="en-US" sz="2000" dirty="0"/>
          </a:p>
        </p:txBody>
      </p:sp>
      <p:sp>
        <p:nvSpPr>
          <p:cNvPr id="10" name="a3_box_1031"/>
          <p:cNvSpPr/>
          <p:nvPr/>
        </p:nvSpPr>
        <p:spPr>
          <a:xfrm>
            <a:off x="4322978" y="3794760"/>
            <a:ext cx="1658569" cy="1463040"/>
          </a:xfrm>
          <a:prstGeom prst="roundRect">
            <a:avLst>
              <a:gd name="adj" fmla="val 7500"/>
            </a:avLst>
          </a:prstGeom>
          <a:solidFill>
            <a:srgbClr val="123B52"/>
          </a:solidFill>
          <a:ln w="12700">
            <a:solidFill>
              <a:srgbClr val="2C5873"/>
            </a:solidFill>
            <a:prstDash val="solid"/>
          </a:ln>
        </p:spPr>
      </p:sp>
      <p:sp>
        <p:nvSpPr>
          <p:cNvPr id="11" name="a3_txt_1032"/>
          <p:cNvSpPr txBox="1"/>
          <p:nvPr/>
        </p:nvSpPr>
        <p:spPr>
          <a:xfrm>
            <a:off x="4432706" y="3840480"/>
            <a:ext cx="1439113"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SIGN</a:t>
            </a:r>
            <a:endParaRPr lang="en-US" sz="2000" dirty="0"/>
          </a:p>
        </p:txBody>
      </p:sp>
      <p:sp>
        <p:nvSpPr>
          <p:cNvPr id="12" name="a4_box_1033"/>
          <p:cNvSpPr/>
          <p:nvPr/>
        </p:nvSpPr>
        <p:spPr>
          <a:xfrm>
            <a:off x="6210148" y="3794760"/>
            <a:ext cx="1658569" cy="1463040"/>
          </a:xfrm>
          <a:prstGeom prst="roundRect">
            <a:avLst>
              <a:gd name="adj" fmla="val 7500"/>
            </a:avLst>
          </a:prstGeom>
          <a:solidFill>
            <a:srgbClr val="123B52"/>
          </a:solidFill>
          <a:ln w="12700">
            <a:solidFill>
              <a:srgbClr val="2C5873"/>
            </a:solidFill>
            <a:prstDash val="solid"/>
          </a:ln>
        </p:spPr>
      </p:sp>
      <p:sp>
        <p:nvSpPr>
          <p:cNvPr id="13" name="a4_txt_1034"/>
          <p:cNvSpPr txBox="1"/>
          <p:nvPr/>
        </p:nvSpPr>
        <p:spPr>
          <a:xfrm>
            <a:off x="6319876" y="3840480"/>
            <a:ext cx="1439113"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BRIEF</a:t>
            </a:r>
            <a:endParaRPr lang="en-US" sz="2000" dirty="0"/>
          </a:p>
        </p:txBody>
      </p:sp>
      <p:sp>
        <p:nvSpPr>
          <p:cNvPr id="14" name="a5_box_1035"/>
          <p:cNvSpPr/>
          <p:nvPr/>
        </p:nvSpPr>
        <p:spPr>
          <a:xfrm>
            <a:off x="8097317" y="3794760"/>
            <a:ext cx="1658569" cy="1463040"/>
          </a:xfrm>
          <a:prstGeom prst="roundRect">
            <a:avLst>
              <a:gd name="adj" fmla="val 7500"/>
            </a:avLst>
          </a:prstGeom>
          <a:solidFill>
            <a:srgbClr val="123B52"/>
          </a:solidFill>
          <a:ln w="12700">
            <a:solidFill>
              <a:srgbClr val="2C5873"/>
            </a:solidFill>
            <a:prstDash val="solid"/>
          </a:ln>
        </p:spPr>
      </p:sp>
      <p:sp>
        <p:nvSpPr>
          <p:cNvPr id="15" name="a5_txt_1036"/>
          <p:cNvSpPr txBox="1"/>
          <p:nvPr/>
        </p:nvSpPr>
        <p:spPr>
          <a:xfrm>
            <a:off x="8207045" y="3840480"/>
            <a:ext cx="1439113"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MONITOR</a:t>
            </a:r>
            <a:endParaRPr lang="en-US" sz="2000" dirty="0"/>
          </a:p>
        </p:txBody>
      </p:sp>
      <p:sp>
        <p:nvSpPr>
          <p:cNvPr id="16" name="a6_box_1037"/>
          <p:cNvSpPr/>
          <p:nvPr/>
        </p:nvSpPr>
        <p:spPr>
          <a:xfrm>
            <a:off x="9984486" y="3794760"/>
            <a:ext cx="1658569" cy="1463040"/>
          </a:xfrm>
          <a:prstGeom prst="roundRect">
            <a:avLst>
              <a:gd name="adj" fmla="val 7500"/>
            </a:avLst>
          </a:prstGeom>
          <a:solidFill>
            <a:srgbClr val="123B52"/>
          </a:solidFill>
          <a:ln w="12700">
            <a:solidFill>
              <a:srgbClr val="2C5873"/>
            </a:solidFill>
            <a:prstDash val="solid"/>
          </a:ln>
        </p:spPr>
      </p:sp>
      <p:sp>
        <p:nvSpPr>
          <p:cNvPr id="17" name="a6_txt_1038"/>
          <p:cNvSpPr txBox="1"/>
          <p:nvPr/>
        </p:nvSpPr>
        <p:spPr>
          <a:xfrm>
            <a:off x="10094214" y="3840480"/>
            <a:ext cx="1439113" cy="13716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CLOSE</a:t>
            </a:r>
            <a:endParaRPr lang="en-US" sz="20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circ_1039"/>
          <p:cNvSpPr/>
          <p:nvPr/>
        </p:nvSpPr>
        <p:spPr>
          <a:xfrm>
            <a:off x="548640" y="2011680"/>
            <a:ext cx="1371600" cy="1371600"/>
          </a:xfrm>
          <a:prstGeom prst="ellipse">
            <a:avLst/>
          </a:prstGeom>
          <a:solidFill>
            <a:srgbClr val="E8771E"/>
          </a:solidFill>
          <a:ln/>
        </p:spPr>
      </p:sp>
      <p:pic>
        <p:nvPicPr>
          <p:cNvPr id="3" name="icon_1040"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041"/>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6</a:t>
            </a:r>
            <a:endParaRPr lang="en-US" sz="1800" dirty="0"/>
          </a:p>
        </p:txBody>
      </p:sp>
      <p:sp>
        <p:nvSpPr>
          <p:cNvPr id="5" name="txt_1042"/>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Risk Assessment within PTW</a:t>
            </a:r>
            <a:endParaRPr lang="en-US" sz="4000" dirty="0"/>
          </a:p>
        </p:txBody>
      </p:sp>
      <p:sp>
        <p:nvSpPr>
          <p:cNvPr id="6" name="txt_1043"/>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Find the hazards, rate the risk, choose the right controls</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How We Find Hazards – 5 Techniques</a:t>
            </a:r>
            <a:endParaRPr lang="en-US" sz="3200" dirty="0"/>
          </a:p>
        </p:txBody>
      </p:sp>
      <p:sp>
        <p:nvSpPr>
          <p:cNvPr id="3" name="a1_box_1044"/>
          <p:cNvSpPr/>
          <p:nvPr/>
        </p:nvSpPr>
        <p:spPr>
          <a:xfrm>
            <a:off x="548640" y="1280160"/>
            <a:ext cx="11094415" cy="877824"/>
          </a:xfrm>
          <a:prstGeom prst="roundRect">
            <a:avLst>
              <a:gd name="adj" fmla="val 12500"/>
            </a:avLst>
          </a:prstGeom>
          <a:solidFill>
            <a:srgbClr val="FFFFFF"/>
          </a:solidFill>
          <a:ln w="12700">
            <a:solidFill>
              <a:srgbClr val="C9D3D9"/>
            </a:solidFill>
            <a:prstDash val="solid"/>
          </a:ln>
        </p:spPr>
      </p:sp>
      <p:sp>
        <p:nvSpPr>
          <p:cNvPr id="4" name="a1_circ_1045"/>
          <p:cNvSpPr/>
          <p:nvPr/>
        </p:nvSpPr>
        <p:spPr>
          <a:xfrm>
            <a:off x="658368" y="1371600"/>
            <a:ext cx="694944" cy="694944"/>
          </a:xfrm>
          <a:prstGeom prst="ellipse">
            <a:avLst/>
          </a:prstGeom>
          <a:solidFill>
            <a:srgbClr val="0F6E7A"/>
          </a:solidFill>
          <a:ln/>
        </p:spPr>
      </p:sp>
      <p:pic>
        <p:nvPicPr>
          <p:cNvPr id="5" name="a1_icon_1046" descr="preencoded.png">    </p:cNvPr>
          <p:cNvPicPr>
            <a:picLocks noChangeAspect="1"/>
          </p:cNvPicPr>
          <p:nvPr/>
        </p:nvPicPr>
        <p:blipFill>
          <a:blip r:embed="rId1"/>
          <a:stretch>
            <a:fillRect/>
          </a:stretch>
        </p:blipFill>
        <p:spPr>
          <a:xfrm>
            <a:off x="814730" y="1527962"/>
            <a:ext cx="382219" cy="382219"/>
          </a:xfrm>
          <a:prstGeom prst="rect">
            <a:avLst/>
          </a:prstGeom>
        </p:spPr>
      </p:pic>
      <p:sp>
        <p:nvSpPr>
          <p:cNvPr id="6" name="a1_txt_1047"/>
          <p:cNvSpPr txBox="1"/>
          <p:nvPr/>
        </p:nvSpPr>
        <p:spPr>
          <a:xfrm>
            <a:off x="1508760" y="1280160"/>
            <a:ext cx="2103120" cy="87782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JSA / TRA</a:t>
            </a:r>
            <a:endParaRPr lang="en-US" sz="1900" dirty="0"/>
          </a:p>
        </p:txBody>
      </p:sp>
      <p:sp>
        <p:nvSpPr>
          <p:cNvPr id="7" name="a1_txt_1048"/>
          <p:cNvSpPr txBox="1"/>
          <p:nvPr/>
        </p:nvSpPr>
        <p:spPr>
          <a:xfrm>
            <a:off x="3657600" y="1280160"/>
            <a:ext cx="548640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Break the job into steps. For each: What can go wrong? Consequences? Existing controls? More needed?</a:t>
            </a:r>
            <a:endParaRPr lang="en-US" sz="1600" dirty="0"/>
          </a:p>
        </p:txBody>
      </p:sp>
      <p:sp>
        <p:nvSpPr>
          <p:cNvPr id="8" name="a1_txt_1049"/>
          <p:cNvSpPr txBox="1"/>
          <p:nvPr/>
        </p:nvSpPr>
        <p:spPr>
          <a:xfrm>
            <a:off x="9235440" y="1280160"/>
            <a:ext cx="2331720" cy="877824"/>
          </a:xfrm>
          <a:prstGeom prst="rect">
            <a:avLst/>
          </a:prstGeom>
          <a:noFill/>
          <a:ln/>
        </p:spPr>
        <p:txBody>
          <a:bodyPr wrap="square" lIns="635" tIns="635" rIns="635" bIns="635" rtlCol="0" anchor="ctr"/>
          <a:lstStyle/>
          <a:p>
            <a:pPr indent="0" marL="0">
              <a:buNone/>
            </a:pPr>
            <a:r>
              <a:rPr lang="en-US" sz="1500" b="1" i="1" dirty="0">
                <a:solidFill>
                  <a:srgbClr val="0F6E7A"/>
                </a:solidFill>
                <a:latin typeface="Calibri" pitchFamily="34" charset="0"/>
                <a:ea typeface="Calibri" pitchFamily="34" charset="-122"/>
                <a:cs typeface="Calibri" pitchFamily="34" charset="-120"/>
              </a:rPr>
              <a:t>The foundation tool</a:t>
            </a:r>
            <a:endParaRPr lang="en-US" sz="1500" dirty="0"/>
          </a:p>
        </p:txBody>
      </p:sp>
      <p:sp>
        <p:nvSpPr>
          <p:cNvPr id="9" name="a2_box_1050"/>
          <p:cNvSpPr/>
          <p:nvPr/>
        </p:nvSpPr>
        <p:spPr>
          <a:xfrm>
            <a:off x="548640" y="2267712"/>
            <a:ext cx="11094415" cy="877824"/>
          </a:xfrm>
          <a:prstGeom prst="roundRect">
            <a:avLst>
              <a:gd name="adj" fmla="val 12500"/>
            </a:avLst>
          </a:prstGeom>
          <a:solidFill>
            <a:srgbClr val="FFFFFF"/>
          </a:solidFill>
          <a:ln w="12700">
            <a:solidFill>
              <a:srgbClr val="C9D3D9"/>
            </a:solidFill>
            <a:prstDash val="solid"/>
          </a:ln>
        </p:spPr>
      </p:sp>
      <p:sp>
        <p:nvSpPr>
          <p:cNvPr id="10" name="a2_circ_1051"/>
          <p:cNvSpPr/>
          <p:nvPr/>
        </p:nvSpPr>
        <p:spPr>
          <a:xfrm>
            <a:off x="658368" y="2359152"/>
            <a:ext cx="694944" cy="694944"/>
          </a:xfrm>
          <a:prstGeom prst="ellipse">
            <a:avLst/>
          </a:prstGeom>
          <a:solidFill>
            <a:srgbClr val="0F6E7A"/>
          </a:solidFill>
          <a:ln/>
        </p:spPr>
      </p:sp>
      <p:pic>
        <p:nvPicPr>
          <p:cNvPr id="11" name="a2_icon_1052" descr="preencoded.png">    </p:cNvPr>
          <p:cNvPicPr>
            <a:picLocks noChangeAspect="1"/>
          </p:cNvPicPr>
          <p:nvPr/>
        </p:nvPicPr>
        <p:blipFill>
          <a:blip r:embed="rId2"/>
          <a:stretch>
            <a:fillRect/>
          </a:stretch>
        </p:blipFill>
        <p:spPr>
          <a:xfrm>
            <a:off x="814730" y="2515514"/>
            <a:ext cx="382219" cy="382219"/>
          </a:xfrm>
          <a:prstGeom prst="rect">
            <a:avLst/>
          </a:prstGeom>
        </p:spPr>
      </p:pic>
      <p:sp>
        <p:nvSpPr>
          <p:cNvPr id="12" name="a2_txt_1053"/>
          <p:cNvSpPr txBox="1"/>
          <p:nvPr/>
        </p:nvSpPr>
        <p:spPr>
          <a:xfrm>
            <a:off x="1508760" y="2267712"/>
            <a:ext cx="2103120" cy="87782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“What-If?”</a:t>
            </a:r>
            <a:endParaRPr lang="en-US" sz="1900" dirty="0"/>
          </a:p>
        </p:txBody>
      </p:sp>
      <p:sp>
        <p:nvSpPr>
          <p:cNvPr id="13" name="a2_txt_1054"/>
          <p:cNvSpPr txBox="1"/>
          <p:nvPr/>
        </p:nvSpPr>
        <p:spPr>
          <a:xfrm>
            <a:off x="3657600" y="2267712"/>
            <a:ext cx="548640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Team asks “What if the blind gasket fails? What if the wind shifts during hot work?”</a:t>
            </a:r>
            <a:endParaRPr lang="en-US" sz="1600" dirty="0"/>
          </a:p>
        </p:txBody>
      </p:sp>
      <p:sp>
        <p:nvSpPr>
          <p:cNvPr id="14" name="a2_txt_1055"/>
          <p:cNvSpPr txBox="1"/>
          <p:nvPr/>
        </p:nvSpPr>
        <p:spPr>
          <a:xfrm>
            <a:off x="9235440" y="2267712"/>
            <a:ext cx="2331720" cy="877824"/>
          </a:xfrm>
          <a:prstGeom prst="rect">
            <a:avLst/>
          </a:prstGeom>
          <a:noFill/>
          <a:ln/>
        </p:spPr>
        <p:txBody>
          <a:bodyPr wrap="square" lIns="635" tIns="635" rIns="635" bIns="635" rtlCol="0" anchor="ctr"/>
          <a:lstStyle/>
          <a:p>
            <a:pPr indent="0" marL="0">
              <a:buNone/>
            </a:pPr>
            <a:r>
              <a:rPr lang="en-US" sz="1500" b="1" i="1" dirty="0">
                <a:solidFill>
                  <a:srgbClr val="0F6E7A"/>
                </a:solidFill>
                <a:latin typeface="Calibri" pitchFamily="34" charset="0"/>
                <a:ea typeface="Calibri" pitchFamily="34" charset="-122"/>
                <a:cs typeface="Calibri" pitchFamily="34" charset="-120"/>
              </a:rPr>
              <a:t>Complex / novel tasks, SIMOPS</a:t>
            </a:r>
            <a:endParaRPr lang="en-US" sz="1500" dirty="0"/>
          </a:p>
        </p:txBody>
      </p:sp>
      <p:sp>
        <p:nvSpPr>
          <p:cNvPr id="15" name="a3_box_1056"/>
          <p:cNvSpPr/>
          <p:nvPr/>
        </p:nvSpPr>
        <p:spPr>
          <a:xfrm>
            <a:off x="548640" y="3255264"/>
            <a:ext cx="11094415" cy="877824"/>
          </a:xfrm>
          <a:prstGeom prst="roundRect">
            <a:avLst>
              <a:gd name="adj" fmla="val 12500"/>
            </a:avLst>
          </a:prstGeom>
          <a:solidFill>
            <a:srgbClr val="FFFFFF"/>
          </a:solidFill>
          <a:ln w="12700">
            <a:solidFill>
              <a:srgbClr val="C9D3D9"/>
            </a:solidFill>
            <a:prstDash val="solid"/>
          </a:ln>
        </p:spPr>
      </p:sp>
      <p:sp>
        <p:nvSpPr>
          <p:cNvPr id="16" name="a3_circ_1057"/>
          <p:cNvSpPr/>
          <p:nvPr/>
        </p:nvSpPr>
        <p:spPr>
          <a:xfrm>
            <a:off x="658368" y="3346704"/>
            <a:ext cx="694944" cy="694944"/>
          </a:xfrm>
          <a:prstGeom prst="ellipse">
            <a:avLst/>
          </a:prstGeom>
          <a:solidFill>
            <a:srgbClr val="0F6E7A"/>
          </a:solidFill>
          <a:ln/>
        </p:spPr>
      </p:sp>
      <p:pic>
        <p:nvPicPr>
          <p:cNvPr id="17" name="a3_icon_1058" descr="preencoded.png">    </p:cNvPr>
          <p:cNvPicPr>
            <a:picLocks noChangeAspect="1"/>
          </p:cNvPicPr>
          <p:nvPr/>
        </p:nvPicPr>
        <p:blipFill>
          <a:blip r:embed="rId3"/>
          <a:stretch>
            <a:fillRect/>
          </a:stretch>
        </p:blipFill>
        <p:spPr>
          <a:xfrm>
            <a:off x="814730" y="3503066"/>
            <a:ext cx="382219" cy="382219"/>
          </a:xfrm>
          <a:prstGeom prst="rect">
            <a:avLst/>
          </a:prstGeom>
        </p:spPr>
      </p:pic>
      <p:sp>
        <p:nvSpPr>
          <p:cNvPr id="18" name="a3_txt_1059"/>
          <p:cNvSpPr txBox="1"/>
          <p:nvPr/>
        </p:nvSpPr>
        <p:spPr>
          <a:xfrm>
            <a:off x="1508760" y="3255264"/>
            <a:ext cx="2103120" cy="87782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HAZOP mindset</a:t>
            </a:r>
            <a:endParaRPr lang="en-US" sz="1900" dirty="0"/>
          </a:p>
        </p:txBody>
      </p:sp>
      <p:sp>
        <p:nvSpPr>
          <p:cNvPr id="19" name="a3_txt_1060"/>
          <p:cNvSpPr txBox="1"/>
          <p:nvPr/>
        </p:nvSpPr>
        <p:spPr>
          <a:xfrm>
            <a:off x="3657600" y="3255264"/>
            <a:ext cx="548640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Guide words (NO, MORE, LESS, REVERSE, OTHER THAN…): could product still reach the worksite?</a:t>
            </a:r>
            <a:endParaRPr lang="en-US" sz="1600" dirty="0"/>
          </a:p>
        </p:txBody>
      </p:sp>
      <p:sp>
        <p:nvSpPr>
          <p:cNvPr id="20" name="a3_txt_1061"/>
          <p:cNvSpPr txBox="1"/>
          <p:nvPr/>
        </p:nvSpPr>
        <p:spPr>
          <a:xfrm>
            <a:off x="9235440" y="3255264"/>
            <a:ext cx="2331720" cy="877824"/>
          </a:xfrm>
          <a:prstGeom prst="rect">
            <a:avLst/>
          </a:prstGeom>
          <a:noFill/>
          <a:ln/>
        </p:spPr>
        <p:txBody>
          <a:bodyPr wrap="square" lIns="635" tIns="635" rIns="635" bIns="635" rtlCol="0" anchor="ctr"/>
          <a:lstStyle/>
          <a:p>
            <a:pPr indent="0" marL="0">
              <a:buNone/>
            </a:pPr>
            <a:r>
              <a:rPr lang="en-US" sz="1500" b="1" i="1" dirty="0">
                <a:solidFill>
                  <a:srgbClr val="0F6E7A"/>
                </a:solidFill>
                <a:latin typeface="Calibri" pitchFamily="34" charset="0"/>
                <a:ea typeface="Calibri" pitchFamily="34" charset="-122"/>
                <a:cs typeface="Calibri" pitchFamily="34" charset="-120"/>
              </a:rPr>
              <a:t>Issuer’s core skill</a:t>
            </a:r>
            <a:endParaRPr lang="en-US" sz="1500" dirty="0"/>
          </a:p>
        </p:txBody>
      </p:sp>
      <p:sp>
        <p:nvSpPr>
          <p:cNvPr id="21" name="a4_box_1062"/>
          <p:cNvSpPr/>
          <p:nvPr/>
        </p:nvSpPr>
        <p:spPr>
          <a:xfrm>
            <a:off x="548640" y="4242816"/>
            <a:ext cx="11094415" cy="877824"/>
          </a:xfrm>
          <a:prstGeom prst="roundRect">
            <a:avLst>
              <a:gd name="adj" fmla="val 12500"/>
            </a:avLst>
          </a:prstGeom>
          <a:solidFill>
            <a:srgbClr val="FFFFFF"/>
          </a:solidFill>
          <a:ln w="12700">
            <a:solidFill>
              <a:srgbClr val="C9D3D9"/>
            </a:solidFill>
            <a:prstDash val="solid"/>
          </a:ln>
        </p:spPr>
      </p:sp>
      <p:sp>
        <p:nvSpPr>
          <p:cNvPr id="22" name="a4_circ_1063"/>
          <p:cNvSpPr/>
          <p:nvPr/>
        </p:nvSpPr>
        <p:spPr>
          <a:xfrm>
            <a:off x="658368" y="4334256"/>
            <a:ext cx="694944" cy="694944"/>
          </a:xfrm>
          <a:prstGeom prst="ellipse">
            <a:avLst/>
          </a:prstGeom>
          <a:solidFill>
            <a:srgbClr val="E8771E"/>
          </a:solidFill>
          <a:ln/>
        </p:spPr>
      </p:sp>
      <p:pic>
        <p:nvPicPr>
          <p:cNvPr id="23" name="a4_icon_1064" descr="preencoded.png">    </p:cNvPr>
          <p:cNvPicPr>
            <a:picLocks noChangeAspect="1"/>
          </p:cNvPicPr>
          <p:nvPr/>
        </p:nvPicPr>
        <p:blipFill>
          <a:blip r:embed="rId4"/>
          <a:stretch>
            <a:fillRect/>
          </a:stretch>
        </p:blipFill>
        <p:spPr>
          <a:xfrm>
            <a:off x="814730" y="4490618"/>
            <a:ext cx="382219" cy="382219"/>
          </a:xfrm>
          <a:prstGeom prst="rect">
            <a:avLst/>
          </a:prstGeom>
        </p:spPr>
      </p:pic>
      <p:sp>
        <p:nvSpPr>
          <p:cNvPr id="24" name="a4_txt_1065"/>
          <p:cNvSpPr txBox="1"/>
          <p:nvPr/>
        </p:nvSpPr>
        <p:spPr>
          <a:xfrm>
            <a:off x="1508760" y="4242816"/>
            <a:ext cx="2103120" cy="87782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Site walkdown</a:t>
            </a:r>
            <a:endParaRPr lang="en-US" sz="1900" dirty="0"/>
          </a:p>
        </p:txBody>
      </p:sp>
      <p:sp>
        <p:nvSpPr>
          <p:cNvPr id="25" name="a4_txt_1066"/>
          <p:cNvSpPr txBox="1"/>
          <p:nvPr/>
        </p:nvSpPr>
        <p:spPr>
          <a:xfrm>
            <a:off x="3657600" y="4242816"/>
            <a:ext cx="548640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Look for corrosion, leaks, odours, staining, congestion, overhead hazards, weather</a:t>
            </a:r>
            <a:endParaRPr lang="en-US" sz="1600" dirty="0"/>
          </a:p>
        </p:txBody>
      </p:sp>
      <p:sp>
        <p:nvSpPr>
          <p:cNvPr id="26" name="a4_txt_1067"/>
          <p:cNvSpPr txBox="1"/>
          <p:nvPr/>
        </p:nvSpPr>
        <p:spPr>
          <a:xfrm>
            <a:off x="9235440" y="4242816"/>
            <a:ext cx="2331720" cy="877824"/>
          </a:xfrm>
          <a:prstGeom prst="rect">
            <a:avLst/>
          </a:prstGeom>
          <a:noFill/>
          <a:ln/>
        </p:spPr>
        <p:txBody>
          <a:bodyPr wrap="square" lIns="635" tIns="635" rIns="635" bIns="635" rtlCol="0" anchor="ctr"/>
          <a:lstStyle/>
          <a:p>
            <a:pPr indent="0" marL="0">
              <a:buNone/>
            </a:pPr>
            <a:r>
              <a:rPr lang="en-US" sz="1500" b="1" i="1" dirty="0">
                <a:solidFill>
                  <a:srgbClr val="E8771E"/>
                </a:solidFill>
                <a:latin typeface="Calibri" pitchFamily="34" charset="0"/>
                <a:ea typeface="Calibri" pitchFamily="34" charset="-122"/>
                <a:cs typeface="Calibri" pitchFamily="34" charset="-120"/>
              </a:rPr>
              <a:t>MANDATORY reality check</a:t>
            </a:r>
            <a:endParaRPr lang="en-US" sz="1500" dirty="0"/>
          </a:p>
        </p:txBody>
      </p:sp>
      <p:sp>
        <p:nvSpPr>
          <p:cNvPr id="27" name="a5_box_1068"/>
          <p:cNvSpPr/>
          <p:nvPr/>
        </p:nvSpPr>
        <p:spPr>
          <a:xfrm>
            <a:off x="548640" y="5230368"/>
            <a:ext cx="11094415" cy="877824"/>
          </a:xfrm>
          <a:prstGeom prst="roundRect">
            <a:avLst>
              <a:gd name="adj" fmla="val 12500"/>
            </a:avLst>
          </a:prstGeom>
          <a:solidFill>
            <a:srgbClr val="FFFFFF"/>
          </a:solidFill>
          <a:ln w="12700">
            <a:solidFill>
              <a:srgbClr val="C9D3D9"/>
            </a:solidFill>
            <a:prstDash val="solid"/>
          </a:ln>
        </p:spPr>
      </p:sp>
      <p:sp>
        <p:nvSpPr>
          <p:cNvPr id="28" name="a5_circ_1069"/>
          <p:cNvSpPr/>
          <p:nvPr/>
        </p:nvSpPr>
        <p:spPr>
          <a:xfrm>
            <a:off x="658368" y="5321808"/>
            <a:ext cx="694944" cy="694944"/>
          </a:xfrm>
          <a:prstGeom prst="ellipse">
            <a:avLst/>
          </a:prstGeom>
          <a:solidFill>
            <a:srgbClr val="0F6E7A"/>
          </a:solidFill>
          <a:ln/>
        </p:spPr>
      </p:sp>
      <p:pic>
        <p:nvPicPr>
          <p:cNvPr id="29" name="a5_icon_1070" descr="preencoded.png">    </p:cNvPr>
          <p:cNvPicPr>
            <a:picLocks noChangeAspect="1"/>
          </p:cNvPicPr>
          <p:nvPr/>
        </p:nvPicPr>
        <p:blipFill>
          <a:blip r:embed="rId5"/>
          <a:stretch>
            <a:fillRect/>
          </a:stretch>
        </p:blipFill>
        <p:spPr>
          <a:xfrm>
            <a:off x="814730" y="5478170"/>
            <a:ext cx="382219" cy="382219"/>
          </a:xfrm>
          <a:prstGeom prst="rect">
            <a:avLst/>
          </a:prstGeom>
        </p:spPr>
      </p:pic>
      <p:sp>
        <p:nvSpPr>
          <p:cNvPr id="30" name="a5_txt_1071"/>
          <p:cNvSpPr txBox="1"/>
          <p:nvPr/>
        </p:nvSpPr>
        <p:spPr>
          <a:xfrm>
            <a:off x="1508760" y="5230368"/>
            <a:ext cx="2103120" cy="87782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Past data</a:t>
            </a:r>
            <a:endParaRPr lang="en-US" sz="1900" dirty="0"/>
          </a:p>
        </p:txBody>
      </p:sp>
      <p:sp>
        <p:nvSpPr>
          <p:cNvPr id="31" name="a5_txt_1072"/>
          <p:cNvSpPr txBox="1"/>
          <p:nvPr/>
        </p:nvSpPr>
        <p:spPr>
          <a:xfrm>
            <a:off x="3657600" y="5230368"/>
            <a:ext cx="548640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Previous permits, incident reports, maintenance history</a:t>
            </a:r>
            <a:endParaRPr lang="en-US" sz="1600" dirty="0"/>
          </a:p>
        </p:txBody>
      </p:sp>
      <p:sp>
        <p:nvSpPr>
          <p:cNvPr id="32" name="a5_txt_1073"/>
          <p:cNvSpPr txBox="1"/>
          <p:nvPr/>
        </p:nvSpPr>
        <p:spPr>
          <a:xfrm>
            <a:off x="9235440" y="5230368"/>
            <a:ext cx="2331720" cy="877824"/>
          </a:xfrm>
          <a:prstGeom prst="rect">
            <a:avLst/>
          </a:prstGeom>
          <a:noFill/>
          <a:ln/>
        </p:spPr>
        <p:txBody>
          <a:bodyPr wrap="square" lIns="635" tIns="635" rIns="635" bIns="635" rtlCol="0" anchor="ctr"/>
          <a:lstStyle/>
          <a:p>
            <a:pPr indent="0" marL="0">
              <a:buNone/>
            </a:pPr>
            <a:r>
              <a:rPr lang="en-US" sz="1500" b="1" i="1" dirty="0">
                <a:solidFill>
                  <a:srgbClr val="0F6E7A"/>
                </a:solidFill>
                <a:latin typeface="Calibri" pitchFamily="34" charset="0"/>
                <a:ea typeface="Calibri" pitchFamily="34" charset="-122"/>
                <a:cs typeface="Calibri" pitchFamily="34" charset="-120"/>
              </a:rPr>
              <a:t>“Last time we found H₂S scale…”</a:t>
            </a:r>
            <a:endParaRPr lang="en-US" sz="1500" dirty="0"/>
          </a:p>
        </p:txBody>
      </p:sp>
      <p:sp>
        <p:nvSpPr>
          <p:cNvPr id="3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500"/>
                                        <p:tgtEl>
                                          <p:spTgt spid="2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5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5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Rating the Risk: Severity × Likelihood</a:t>
            </a:r>
            <a:endParaRPr lang="en-US" sz="3200" dirty="0"/>
          </a:p>
        </p:txBody>
      </p:sp>
      <p:sp>
        <p:nvSpPr>
          <p:cNvPr id="3" name="box_1074"/>
          <p:cNvSpPr/>
          <p:nvPr/>
        </p:nvSpPr>
        <p:spPr>
          <a:xfrm>
            <a:off x="548640" y="1280160"/>
            <a:ext cx="11094415" cy="731520"/>
          </a:xfrm>
          <a:prstGeom prst="roundRect">
            <a:avLst>
              <a:gd name="adj" fmla="val 15000"/>
            </a:avLst>
          </a:prstGeom>
          <a:solidFill>
            <a:srgbClr val="0B2A3C"/>
          </a:solidFill>
          <a:ln/>
        </p:spPr>
      </p:sp>
      <p:sp>
        <p:nvSpPr>
          <p:cNvPr id="4" name="txt_1075"/>
          <p:cNvSpPr txBox="1"/>
          <p:nvPr/>
        </p:nvSpPr>
        <p:spPr>
          <a:xfrm>
            <a:off x="548640" y="1280160"/>
            <a:ext cx="11094415"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RISK  =  SEVERITY (how bad?)  ×  LIKELIHOOD (how likely during THIS job?)</a:t>
            </a:r>
            <a:endParaRPr lang="en-US" sz="2200" dirty="0"/>
          </a:p>
        </p:txBody>
      </p:sp>
      <p:sp>
        <p:nvSpPr>
          <p:cNvPr id="5" name="txt_1076"/>
          <p:cNvSpPr txBox="1"/>
          <p:nvPr/>
        </p:nvSpPr>
        <p:spPr>
          <a:xfrm>
            <a:off x="548640" y="2148840"/>
            <a:ext cx="3657600" cy="365760"/>
          </a:xfrm>
          <a:prstGeom prst="rect">
            <a:avLst/>
          </a:prstGeom>
          <a:noFill/>
          <a:ln/>
        </p:spPr>
        <p:txBody>
          <a:bodyPr wrap="square" lIns="635" tIns="635" rIns="635" bIns="635" rtlCol="0" anchor="t"/>
          <a:lstStyle/>
          <a:p>
            <a:pPr indent="0" marL="0">
              <a:buNone/>
            </a:pPr>
            <a:r>
              <a:rPr lang="en-US" sz="1800" b="1" dirty="0">
                <a:solidFill>
                  <a:srgbClr val="0B2A3C"/>
                </a:solidFill>
                <a:latin typeface="Calibri" pitchFamily="34" charset="0"/>
                <a:ea typeface="Calibri" pitchFamily="34" charset="-122"/>
                <a:cs typeface="Calibri" pitchFamily="34" charset="-120"/>
              </a:rPr>
              <a:t>Severity</a:t>
            </a:r>
            <a:endParaRPr lang="en-US" sz="1800" dirty="0"/>
          </a:p>
        </p:txBody>
      </p:sp>
      <p:sp>
        <p:nvSpPr>
          <p:cNvPr id="6" name="txt_1077"/>
          <p:cNvSpPr txBox="1"/>
          <p:nvPr/>
        </p:nvSpPr>
        <p:spPr>
          <a:xfrm>
            <a:off x="4251960" y="2148840"/>
            <a:ext cx="3657600" cy="365760"/>
          </a:xfrm>
          <a:prstGeom prst="rect">
            <a:avLst/>
          </a:prstGeom>
          <a:noFill/>
          <a:ln/>
        </p:spPr>
        <p:txBody>
          <a:bodyPr wrap="square" lIns="635" tIns="635" rIns="635" bIns="635" rtlCol="0" anchor="t"/>
          <a:lstStyle/>
          <a:p>
            <a:pPr indent="0" marL="0">
              <a:buNone/>
            </a:pPr>
            <a:r>
              <a:rPr lang="en-US" sz="1800" b="1" dirty="0">
                <a:solidFill>
                  <a:srgbClr val="0B2A3C"/>
                </a:solidFill>
                <a:latin typeface="Calibri" pitchFamily="34" charset="0"/>
                <a:ea typeface="Calibri" pitchFamily="34" charset="-122"/>
                <a:cs typeface="Calibri" pitchFamily="34" charset="-120"/>
              </a:rPr>
              <a:t>Likelihood</a:t>
            </a:r>
            <a:endParaRPr lang="en-US" sz="1800" dirty="0"/>
          </a:p>
        </p:txBody>
      </p:sp>
      <p:sp>
        <p:nvSpPr>
          <p:cNvPr id="7" name="a1_box_1078"/>
          <p:cNvSpPr/>
          <p:nvPr/>
        </p:nvSpPr>
        <p:spPr>
          <a:xfrm>
            <a:off x="548640" y="2560320"/>
            <a:ext cx="3520440" cy="640080"/>
          </a:xfrm>
          <a:prstGeom prst="roundRect">
            <a:avLst>
              <a:gd name="adj" fmla="val 17143"/>
            </a:avLst>
          </a:prstGeom>
          <a:solidFill>
            <a:srgbClr val="C0392B"/>
          </a:solidFill>
          <a:ln/>
        </p:spPr>
      </p:sp>
      <p:sp>
        <p:nvSpPr>
          <p:cNvPr id="8" name="a1_txt_1079"/>
          <p:cNvSpPr txBox="1"/>
          <p:nvPr/>
        </p:nvSpPr>
        <p:spPr>
          <a:xfrm>
            <a:off x="640080" y="2560320"/>
            <a:ext cx="338328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Catastrophic – multiple fatalities</a:t>
            </a:r>
            <a:endParaRPr lang="en-US" sz="1500" dirty="0"/>
          </a:p>
        </p:txBody>
      </p:sp>
      <p:sp>
        <p:nvSpPr>
          <p:cNvPr id="9" name="a2_box_1080"/>
          <p:cNvSpPr/>
          <p:nvPr/>
        </p:nvSpPr>
        <p:spPr>
          <a:xfrm>
            <a:off x="4251960" y="2560320"/>
            <a:ext cx="3657600" cy="640080"/>
          </a:xfrm>
          <a:prstGeom prst="roundRect">
            <a:avLst>
              <a:gd name="adj" fmla="val 17143"/>
            </a:avLst>
          </a:prstGeom>
          <a:solidFill>
            <a:srgbClr val="C0392B"/>
          </a:solidFill>
          <a:ln/>
        </p:spPr>
      </p:sp>
      <p:sp>
        <p:nvSpPr>
          <p:cNvPr id="10" name="a2_txt_1081"/>
          <p:cNvSpPr txBox="1"/>
          <p:nvPr/>
        </p:nvSpPr>
        <p:spPr>
          <a:xfrm>
            <a:off x="4343400" y="2560320"/>
            <a:ext cx="352044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Almost certain – sparks when grinding</a:t>
            </a:r>
            <a:endParaRPr lang="en-US" sz="1500" dirty="0"/>
          </a:p>
        </p:txBody>
      </p:sp>
      <p:sp>
        <p:nvSpPr>
          <p:cNvPr id="11" name="a1_box_1082"/>
          <p:cNvSpPr/>
          <p:nvPr/>
        </p:nvSpPr>
        <p:spPr>
          <a:xfrm>
            <a:off x="548640" y="3291840"/>
            <a:ext cx="3520440" cy="640080"/>
          </a:xfrm>
          <a:prstGeom prst="roundRect">
            <a:avLst>
              <a:gd name="adj" fmla="val 17143"/>
            </a:avLst>
          </a:prstGeom>
          <a:solidFill>
            <a:srgbClr val="D35400"/>
          </a:solidFill>
          <a:ln/>
        </p:spPr>
      </p:sp>
      <p:sp>
        <p:nvSpPr>
          <p:cNvPr id="12" name="a1_txt_1083"/>
          <p:cNvSpPr txBox="1"/>
          <p:nvPr/>
        </p:nvSpPr>
        <p:spPr>
          <a:xfrm>
            <a:off x="640080" y="3291840"/>
            <a:ext cx="338328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Major – single fatality</a:t>
            </a:r>
            <a:endParaRPr lang="en-US" sz="1500" dirty="0"/>
          </a:p>
        </p:txBody>
      </p:sp>
      <p:sp>
        <p:nvSpPr>
          <p:cNvPr id="13" name="a2_box_1084"/>
          <p:cNvSpPr/>
          <p:nvPr/>
        </p:nvSpPr>
        <p:spPr>
          <a:xfrm>
            <a:off x="4251960" y="3291840"/>
            <a:ext cx="3657600" cy="640080"/>
          </a:xfrm>
          <a:prstGeom prst="roundRect">
            <a:avLst>
              <a:gd name="adj" fmla="val 17143"/>
            </a:avLst>
          </a:prstGeom>
          <a:solidFill>
            <a:srgbClr val="D35400"/>
          </a:solidFill>
          <a:ln/>
        </p:spPr>
      </p:sp>
      <p:sp>
        <p:nvSpPr>
          <p:cNvPr id="14" name="a2_txt_1085"/>
          <p:cNvSpPr txBox="1"/>
          <p:nvPr/>
        </p:nvSpPr>
        <p:spPr>
          <a:xfrm>
            <a:off x="4343400" y="3291840"/>
            <a:ext cx="352044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Likely – minor leak breaking a flange</a:t>
            </a:r>
            <a:endParaRPr lang="en-US" sz="1500" dirty="0"/>
          </a:p>
        </p:txBody>
      </p:sp>
      <p:sp>
        <p:nvSpPr>
          <p:cNvPr id="15" name="a1_box_1086"/>
          <p:cNvSpPr/>
          <p:nvPr/>
        </p:nvSpPr>
        <p:spPr>
          <a:xfrm>
            <a:off x="548640" y="4023360"/>
            <a:ext cx="3520440" cy="640080"/>
          </a:xfrm>
          <a:prstGeom prst="roundRect">
            <a:avLst>
              <a:gd name="adj" fmla="val 17143"/>
            </a:avLst>
          </a:prstGeom>
          <a:solidFill>
            <a:srgbClr val="F2A900"/>
          </a:solidFill>
          <a:ln/>
        </p:spPr>
      </p:sp>
      <p:sp>
        <p:nvSpPr>
          <p:cNvPr id="16" name="a1_txt_1087"/>
          <p:cNvSpPr txBox="1"/>
          <p:nvPr/>
        </p:nvSpPr>
        <p:spPr>
          <a:xfrm>
            <a:off x="640080" y="4023360"/>
            <a:ext cx="338328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Moderate – lost time injury</a:t>
            </a:r>
            <a:endParaRPr lang="en-US" sz="1500" dirty="0"/>
          </a:p>
        </p:txBody>
      </p:sp>
      <p:sp>
        <p:nvSpPr>
          <p:cNvPr id="17" name="a2_box_1088"/>
          <p:cNvSpPr/>
          <p:nvPr/>
        </p:nvSpPr>
        <p:spPr>
          <a:xfrm>
            <a:off x="4251960" y="4023360"/>
            <a:ext cx="3657600" cy="640080"/>
          </a:xfrm>
          <a:prstGeom prst="roundRect">
            <a:avLst>
              <a:gd name="adj" fmla="val 17143"/>
            </a:avLst>
          </a:prstGeom>
          <a:solidFill>
            <a:srgbClr val="F2A900"/>
          </a:solidFill>
          <a:ln/>
        </p:spPr>
      </p:sp>
      <p:sp>
        <p:nvSpPr>
          <p:cNvPr id="18" name="a2_txt_1089"/>
          <p:cNvSpPr txBox="1"/>
          <p:nvPr/>
        </p:nvSpPr>
        <p:spPr>
          <a:xfrm>
            <a:off x="4343400" y="4023360"/>
            <a:ext cx="352044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Possible – tool dropped from height</a:t>
            </a:r>
            <a:endParaRPr lang="en-US" sz="1500" dirty="0"/>
          </a:p>
        </p:txBody>
      </p:sp>
      <p:sp>
        <p:nvSpPr>
          <p:cNvPr id="19" name="a1_box_1090"/>
          <p:cNvSpPr/>
          <p:nvPr/>
        </p:nvSpPr>
        <p:spPr>
          <a:xfrm>
            <a:off x="548640" y="4754880"/>
            <a:ext cx="3520440" cy="640080"/>
          </a:xfrm>
          <a:prstGeom prst="roundRect">
            <a:avLst>
              <a:gd name="adj" fmla="val 17143"/>
            </a:avLst>
          </a:prstGeom>
          <a:solidFill>
            <a:srgbClr val="7CB342"/>
          </a:solidFill>
          <a:ln/>
        </p:spPr>
      </p:sp>
      <p:sp>
        <p:nvSpPr>
          <p:cNvPr id="20" name="a1_txt_1091"/>
          <p:cNvSpPr txBox="1"/>
          <p:nvPr/>
        </p:nvSpPr>
        <p:spPr>
          <a:xfrm>
            <a:off x="640080" y="4754880"/>
            <a:ext cx="338328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Minor – first aid / medical treatment</a:t>
            </a:r>
            <a:endParaRPr lang="en-US" sz="1500" dirty="0"/>
          </a:p>
        </p:txBody>
      </p:sp>
      <p:sp>
        <p:nvSpPr>
          <p:cNvPr id="21" name="a2_box_1092"/>
          <p:cNvSpPr/>
          <p:nvPr/>
        </p:nvSpPr>
        <p:spPr>
          <a:xfrm>
            <a:off x="4251960" y="4754880"/>
            <a:ext cx="3657600" cy="640080"/>
          </a:xfrm>
          <a:prstGeom prst="roundRect">
            <a:avLst>
              <a:gd name="adj" fmla="val 17143"/>
            </a:avLst>
          </a:prstGeom>
          <a:solidFill>
            <a:srgbClr val="7CB342"/>
          </a:solidFill>
          <a:ln/>
        </p:spPr>
      </p:sp>
      <p:sp>
        <p:nvSpPr>
          <p:cNvPr id="22" name="a2_txt_1093"/>
          <p:cNvSpPr txBox="1"/>
          <p:nvPr/>
        </p:nvSpPr>
        <p:spPr>
          <a:xfrm>
            <a:off x="4343400" y="4754880"/>
            <a:ext cx="352044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Unlikely – failure of a properly installed blind</a:t>
            </a:r>
            <a:endParaRPr lang="en-US" sz="1500" dirty="0"/>
          </a:p>
        </p:txBody>
      </p:sp>
      <p:sp>
        <p:nvSpPr>
          <p:cNvPr id="23" name="a1_box_1094"/>
          <p:cNvSpPr/>
          <p:nvPr/>
        </p:nvSpPr>
        <p:spPr>
          <a:xfrm>
            <a:off x="548640" y="5486400"/>
            <a:ext cx="3520440" cy="640080"/>
          </a:xfrm>
          <a:prstGeom prst="roundRect">
            <a:avLst>
              <a:gd name="adj" fmla="val 17143"/>
            </a:avLst>
          </a:prstGeom>
          <a:solidFill>
            <a:srgbClr val="2E7D32"/>
          </a:solidFill>
          <a:ln/>
        </p:spPr>
      </p:sp>
      <p:sp>
        <p:nvSpPr>
          <p:cNvPr id="24" name="a1_txt_1095"/>
          <p:cNvSpPr txBox="1"/>
          <p:nvPr/>
        </p:nvSpPr>
        <p:spPr>
          <a:xfrm>
            <a:off x="640080" y="5486400"/>
            <a:ext cx="338328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Negligible – no injury</a:t>
            </a:r>
            <a:endParaRPr lang="en-US" sz="1500" dirty="0"/>
          </a:p>
        </p:txBody>
      </p:sp>
      <p:sp>
        <p:nvSpPr>
          <p:cNvPr id="25" name="a2_box_1096"/>
          <p:cNvSpPr/>
          <p:nvPr/>
        </p:nvSpPr>
        <p:spPr>
          <a:xfrm>
            <a:off x="4251960" y="5486400"/>
            <a:ext cx="3657600" cy="640080"/>
          </a:xfrm>
          <a:prstGeom prst="roundRect">
            <a:avLst>
              <a:gd name="adj" fmla="val 17143"/>
            </a:avLst>
          </a:prstGeom>
          <a:solidFill>
            <a:srgbClr val="2E7D32"/>
          </a:solidFill>
          <a:ln/>
        </p:spPr>
      </p:sp>
      <p:sp>
        <p:nvSpPr>
          <p:cNvPr id="26" name="a2_txt_1097"/>
          <p:cNvSpPr txBox="1"/>
          <p:nvPr/>
        </p:nvSpPr>
        <p:spPr>
          <a:xfrm>
            <a:off x="4343400" y="5486400"/>
            <a:ext cx="3520440" cy="640080"/>
          </a:xfrm>
          <a:prstGeom prst="rect">
            <a:avLst/>
          </a:prstGeom>
          <a:noFill/>
          <a:ln/>
        </p:spPr>
        <p:txBody>
          <a:bodyPr wrap="square" lIns="635" tIns="635" rIns="635" bIns="635"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Rare – exceptional circumstances</a:t>
            </a:r>
            <a:endParaRPr lang="en-US" sz="1500" dirty="0"/>
          </a:p>
        </p:txBody>
      </p:sp>
      <p:sp>
        <p:nvSpPr>
          <p:cNvPr id="27" name="txt_1098"/>
          <p:cNvSpPr txBox="1"/>
          <p:nvPr/>
        </p:nvSpPr>
        <p:spPr>
          <a:xfrm>
            <a:off x="8183880" y="2148840"/>
            <a:ext cx="3474720" cy="365760"/>
          </a:xfrm>
          <a:prstGeom prst="rect">
            <a:avLst/>
          </a:prstGeom>
          <a:noFill/>
          <a:ln/>
        </p:spPr>
        <p:txBody>
          <a:bodyPr wrap="square" lIns="635" tIns="635" rIns="635" bIns="635" rtlCol="0" anchor="t"/>
          <a:lstStyle/>
          <a:p>
            <a:pPr indent="0" marL="0">
              <a:buNone/>
            </a:pPr>
            <a:r>
              <a:rPr lang="en-US" sz="1800" b="1" dirty="0">
                <a:solidFill>
                  <a:srgbClr val="0B2A3C"/>
                </a:solidFill>
                <a:latin typeface="Calibri" pitchFamily="34" charset="0"/>
                <a:ea typeface="Calibri" pitchFamily="34" charset="-122"/>
                <a:cs typeface="Calibri" pitchFamily="34" charset="-120"/>
              </a:rPr>
              <a:t>Action for the permit</a:t>
            </a:r>
            <a:endParaRPr lang="en-US" sz="1800" dirty="0"/>
          </a:p>
        </p:txBody>
      </p:sp>
      <p:sp>
        <p:nvSpPr>
          <p:cNvPr id="28" name="a3_box_1099"/>
          <p:cNvSpPr/>
          <p:nvPr/>
        </p:nvSpPr>
        <p:spPr>
          <a:xfrm>
            <a:off x="8183880" y="2560320"/>
            <a:ext cx="3456432" cy="1115568"/>
          </a:xfrm>
          <a:prstGeom prst="roundRect">
            <a:avLst>
              <a:gd name="adj" fmla="val 9836"/>
            </a:avLst>
          </a:prstGeom>
          <a:solidFill>
            <a:srgbClr val="FFFFFF"/>
          </a:solidFill>
          <a:ln w="25400">
            <a:solidFill>
              <a:srgbClr val="C0392B"/>
            </a:solidFill>
            <a:prstDash val="solid"/>
          </a:ln>
        </p:spPr>
      </p:sp>
      <p:sp>
        <p:nvSpPr>
          <p:cNvPr id="29" name="a3_txt_1100"/>
          <p:cNvSpPr txBox="1"/>
          <p:nvPr/>
        </p:nvSpPr>
        <p:spPr>
          <a:xfrm>
            <a:off x="8321040" y="2560320"/>
            <a:ext cx="3246120" cy="1115568"/>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HIGH / EXTREME</a:t>
            </a:r>
            <a:endParaRPr lang="en-US" sz="1700" dirty="0"/>
          </a:p>
          <a:p>
            <a:pPr indent="0" marL="0">
              <a:buNone/>
            </a:pPr>
            <a:r>
              <a:rPr lang="en-US" sz="1500" dirty="0">
                <a:solidFill>
                  <a:srgbClr val="1B2730"/>
                </a:solidFill>
                <a:latin typeface="Calibri" pitchFamily="34" charset="0"/>
                <a:ea typeface="Calibri" pitchFamily="34" charset="-122"/>
                <a:cs typeface="Calibri" pitchFamily="34" charset="-120"/>
              </a:rPr>
              <a:t>Cannot proceed – reduce risk first (may need senior approval)</a:t>
            </a:r>
            <a:endParaRPr lang="en-US" sz="1700" dirty="0"/>
          </a:p>
        </p:txBody>
      </p:sp>
      <p:sp>
        <p:nvSpPr>
          <p:cNvPr id="30" name="a4_box_1101"/>
          <p:cNvSpPr/>
          <p:nvPr/>
        </p:nvSpPr>
        <p:spPr>
          <a:xfrm>
            <a:off x="8183880" y="3776472"/>
            <a:ext cx="3456432" cy="1115568"/>
          </a:xfrm>
          <a:prstGeom prst="roundRect">
            <a:avLst>
              <a:gd name="adj" fmla="val 9836"/>
            </a:avLst>
          </a:prstGeom>
          <a:solidFill>
            <a:srgbClr val="FFFFFF"/>
          </a:solidFill>
          <a:ln w="25400">
            <a:solidFill>
              <a:srgbClr val="F2A900"/>
            </a:solidFill>
            <a:prstDash val="solid"/>
          </a:ln>
        </p:spPr>
      </p:sp>
      <p:sp>
        <p:nvSpPr>
          <p:cNvPr id="31" name="a4_txt_1102"/>
          <p:cNvSpPr txBox="1"/>
          <p:nvPr/>
        </p:nvSpPr>
        <p:spPr>
          <a:xfrm>
            <a:off x="8321040" y="3776472"/>
            <a:ext cx="3246120" cy="1115568"/>
          </a:xfrm>
          <a:prstGeom prst="rect">
            <a:avLst/>
          </a:prstGeom>
          <a:noFill/>
          <a:ln/>
        </p:spPr>
        <p:txBody>
          <a:bodyPr wrap="square" lIns="635" tIns="635" rIns="635" bIns="635" rtlCol="0" anchor="ctr"/>
          <a:lstStyle/>
          <a:p>
            <a:pPr indent="0" marL="0">
              <a:buNone/>
            </a:pPr>
            <a:r>
              <a:rPr lang="en-US" sz="1700" b="1" dirty="0">
                <a:solidFill>
                  <a:srgbClr val="F2A900"/>
                </a:solidFill>
                <a:latin typeface="Calibri" pitchFamily="34" charset="0"/>
                <a:ea typeface="Calibri" pitchFamily="34" charset="-122"/>
                <a:cs typeface="Calibri" pitchFamily="34" charset="-120"/>
              </a:rPr>
              <a:t>MEDIUM</a:t>
            </a:r>
            <a:endParaRPr lang="en-US" sz="1700" dirty="0"/>
          </a:p>
          <a:p>
            <a:pPr indent="0" marL="0">
              <a:buNone/>
            </a:pPr>
            <a:r>
              <a:rPr lang="en-US" sz="1500" dirty="0">
                <a:solidFill>
                  <a:srgbClr val="1B2730"/>
                </a:solidFill>
                <a:latin typeface="Calibri" pitchFamily="34" charset="0"/>
                <a:ea typeface="Calibri" pitchFamily="34" charset="-122"/>
                <a:cs typeface="Calibri" pitchFamily="34" charset="-120"/>
              </a:rPr>
              <a:t>Proceed with specified controls, supervision &amp; monitoring</a:t>
            </a:r>
            <a:endParaRPr lang="en-US" sz="1700" dirty="0"/>
          </a:p>
        </p:txBody>
      </p:sp>
      <p:sp>
        <p:nvSpPr>
          <p:cNvPr id="32" name="a5_box_1103"/>
          <p:cNvSpPr/>
          <p:nvPr/>
        </p:nvSpPr>
        <p:spPr>
          <a:xfrm>
            <a:off x="8183880" y="4992624"/>
            <a:ext cx="3456432" cy="1115568"/>
          </a:xfrm>
          <a:prstGeom prst="roundRect">
            <a:avLst>
              <a:gd name="adj" fmla="val 9836"/>
            </a:avLst>
          </a:prstGeom>
          <a:solidFill>
            <a:srgbClr val="FFFFFF"/>
          </a:solidFill>
          <a:ln w="25400">
            <a:solidFill>
              <a:srgbClr val="2E7D32"/>
            </a:solidFill>
            <a:prstDash val="solid"/>
          </a:ln>
        </p:spPr>
      </p:sp>
      <p:sp>
        <p:nvSpPr>
          <p:cNvPr id="33" name="a5_txt_1104"/>
          <p:cNvSpPr txBox="1"/>
          <p:nvPr/>
        </p:nvSpPr>
        <p:spPr>
          <a:xfrm>
            <a:off x="8321040" y="4992624"/>
            <a:ext cx="3246120" cy="1115568"/>
          </a:xfrm>
          <a:prstGeom prst="rect">
            <a:avLst/>
          </a:prstGeom>
          <a:noFill/>
          <a:ln/>
        </p:spPr>
        <p:txBody>
          <a:bodyPr wrap="square" lIns="635" tIns="635" rIns="635" bIns="635" rtlCol="0" anchor="ctr"/>
          <a:lstStyle/>
          <a:p>
            <a:pPr indent="0" marL="0">
              <a:buNone/>
            </a:pPr>
            <a:r>
              <a:rPr lang="en-US" sz="1700" b="1" dirty="0">
                <a:solidFill>
                  <a:srgbClr val="2E7D32"/>
                </a:solidFill>
                <a:latin typeface="Calibri" pitchFamily="34" charset="0"/>
                <a:ea typeface="Calibri" pitchFamily="34" charset="-122"/>
                <a:cs typeface="Calibri" pitchFamily="34" charset="-120"/>
              </a:rPr>
              <a:t>LOW</a:t>
            </a:r>
            <a:endParaRPr lang="en-US" sz="1700" dirty="0"/>
          </a:p>
          <a:p>
            <a:pPr indent="0" marL="0">
              <a:buNone/>
            </a:pPr>
            <a:r>
              <a:rPr lang="en-US" sz="1500" dirty="0">
                <a:solidFill>
                  <a:srgbClr val="1B2730"/>
                </a:solidFill>
                <a:latin typeface="Calibri" pitchFamily="34" charset="0"/>
                <a:ea typeface="Calibri" pitchFamily="34" charset="-122"/>
                <a:cs typeface="Calibri" pitchFamily="34" charset="-120"/>
              </a:rPr>
              <a:t>Proceed with routine controls</a:t>
            </a:r>
            <a:endParaRPr lang="en-US" sz="1700" dirty="0"/>
          </a:p>
        </p:txBody>
      </p:sp>
      <p:sp>
        <p:nvSpPr>
          <p:cNvPr id="3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P spid="9" grpId="0" animBg="1"/>
      <p:bldP spid="10" grpId="0" animBg="1"/>
      <p:bldP spid="13" grpId="0" animBg="1"/>
      <p:bldP spid="14" grpId="0" animBg="1"/>
      <p:bldP spid="17" grpId="0" animBg="1"/>
      <p:bldP spid="18" grpId="0" animBg="1"/>
      <p:bldP spid="21" grpId="0" animBg="1"/>
      <p:bldP spid="22" grpId="0" animBg="1"/>
      <p:bldP spid="25" grpId="0" animBg="1"/>
      <p:bldP spid="26" grpId="0" animBg="1"/>
      <p:bldP spid="28" grpId="0" animBg="1"/>
      <p:bldP spid="29" grpId="0" animBg="1"/>
      <p:bldP spid="30" grpId="0" animBg="1"/>
      <p:bldP spid="31" grpId="0" animBg="1"/>
      <p:bldP spid="32" grpId="0" animBg="1"/>
      <p:bldP spid="3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Hierarchy of Controls – Start at the Top</a:t>
            </a:r>
            <a:endParaRPr lang="en-US" sz="3200" dirty="0"/>
          </a:p>
        </p:txBody>
      </p:sp>
      <p:sp>
        <p:nvSpPr>
          <p:cNvPr id="3" name="a1w_box_1105"/>
          <p:cNvSpPr/>
          <p:nvPr/>
        </p:nvSpPr>
        <p:spPr>
          <a:xfrm>
            <a:off x="548640" y="1280160"/>
            <a:ext cx="6035040" cy="868680"/>
          </a:xfrm>
          <a:prstGeom prst="roundRect">
            <a:avLst>
              <a:gd name="adj" fmla="val 12632"/>
            </a:avLst>
          </a:prstGeom>
          <a:solidFill>
            <a:srgbClr val="2E7D32"/>
          </a:solidFill>
          <a:ln/>
        </p:spPr>
      </p:sp>
      <p:sp>
        <p:nvSpPr>
          <p:cNvPr id="4" name="a1w_txt_1106"/>
          <p:cNvSpPr txBox="1"/>
          <p:nvPr/>
        </p:nvSpPr>
        <p:spPr>
          <a:xfrm>
            <a:off x="685800" y="1280160"/>
            <a:ext cx="5760720" cy="868680"/>
          </a:xfrm>
          <a:prstGeom prst="rect">
            <a:avLst/>
          </a:prstGeom>
          <a:no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ELIMINATION</a:t>
            </a:r>
            <a:endParaRPr lang="en-US" sz="1900" dirty="0"/>
          </a:p>
          <a:p>
            <a:pPr algn="ctr" indent="0" marL="0">
              <a:buNone/>
            </a:pPr>
            <a:r>
              <a:rPr lang="en-US" sz="1500" dirty="0">
                <a:solidFill>
                  <a:srgbClr val="FFFFFF"/>
                </a:solidFill>
                <a:latin typeface="Calibri" pitchFamily="34" charset="0"/>
                <a:ea typeface="Calibri" pitchFamily="34" charset="-122"/>
                <a:cs typeface="Calibri" pitchFamily="34" charset="-120"/>
              </a:rPr>
              <a:t>Remove the hazard</a:t>
            </a:r>
            <a:endParaRPr lang="en-US" sz="1900" dirty="0"/>
          </a:p>
        </p:txBody>
      </p:sp>
      <p:sp>
        <p:nvSpPr>
          <p:cNvPr id="5" name="a1w_txt_1107"/>
          <p:cNvSpPr txBox="1"/>
          <p:nvPr/>
        </p:nvSpPr>
        <p:spPr>
          <a:xfrm>
            <a:off x="6812280" y="1280160"/>
            <a:ext cx="4828032" cy="868680"/>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Work in a workshop; wait for full shutdown &amp; depressurisation; avoid entry (cameras)</a:t>
            </a:r>
            <a:endParaRPr lang="en-US" sz="1600" dirty="0"/>
          </a:p>
        </p:txBody>
      </p:sp>
      <p:sp>
        <p:nvSpPr>
          <p:cNvPr id="6" name="a2w_box_1108"/>
          <p:cNvSpPr/>
          <p:nvPr/>
        </p:nvSpPr>
        <p:spPr>
          <a:xfrm>
            <a:off x="868680" y="2267712"/>
            <a:ext cx="5394960" cy="868680"/>
          </a:xfrm>
          <a:prstGeom prst="roundRect">
            <a:avLst>
              <a:gd name="adj" fmla="val 12632"/>
            </a:avLst>
          </a:prstGeom>
          <a:solidFill>
            <a:srgbClr val="558B2F"/>
          </a:solidFill>
          <a:ln/>
        </p:spPr>
      </p:sp>
      <p:sp>
        <p:nvSpPr>
          <p:cNvPr id="7" name="a2w_txt_1109"/>
          <p:cNvSpPr txBox="1"/>
          <p:nvPr/>
        </p:nvSpPr>
        <p:spPr>
          <a:xfrm>
            <a:off x="1005840" y="2267712"/>
            <a:ext cx="5120640" cy="868680"/>
          </a:xfrm>
          <a:prstGeom prst="rect">
            <a:avLst/>
          </a:prstGeom>
          <a:no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SUBSTITUTION</a:t>
            </a:r>
            <a:endParaRPr lang="en-US" sz="1900" dirty="0"/>
          </a:p>
          <a:p>
            <a:pPr algn="ctr" indent="0" marL="0">
              <a:buNone/>
            </a:pPr>
            <a:r>
              <a:rPr lang="en-US" sz="1500" dirty="0">
                <a:solidFill>
                  <a:srgbClr val="FFFFFF"/>
                </a:solidFill>
                <a:latin typeface="Calibri" pitchFamily="34" charset="0"/>
                <a:ea typeface="Calibri" pitchFamily="34" charset="-122"/>
                <a:cs typeface="Calibri" pitchFamily="34" charset="-120"/>
              </a:rPr>
              <a:t>Use something less hazardous</a:t>
            </a:r>
            <a:endParaRPr lang="en-US" sz="1900" dirty="0"/>
          </a:p>
        </p:txBody>
      </p:sp>
      <p:sp>
        <p:nvSpPr>
          <p:cNvPr id="8" name="a2w_txt_1110"/>
          <p:cNvSpPr txBox="1"/>
          <p:nvPr/>
        </p:nvSpPr>
        <p:spPr>
          <a:xfrm>
            <a:off x="6812280" y="2267712"/>
            <a:ext cx="4828032" cy="868680"/>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Hydraulic cutter instead of grinder; water-based cleaner; low-voltage tool</a:t>
            </a:r>
            <a:endParaRPr lang="en-US" sz="1600" dirty="0"/>
          </a:p>
        </p:txBody>
      </p:sp>
      <p:sp>
        <p:nvSpPr>
          <p:cNvPr id="9" name="a3w_box_1111"/>
          <p:cNvSpPr/>
          <p:nvPr/>
        </p:nvSpPr>
        <p:spPr>
          <a:xfrm>
            <a:off x="1188720" y="3255264"/>
            <a:ext cx="4754880" cy="868680"/>
          </a:xfrm>
          <a:prstGeom prst="roundRect">
            <a:avLst>
              <a:gd name="adj" fmla="val 12632"/>
            </a:avLst>
          </a:prstGeom>
          <a:solidFill>
            <a:srgbClr val="0F6E7A"/>
          </a:solidFill>
          <a:ln/>
        </p:spPr>
      </p:sp>
      <p:sp>
        <p:nvSpPr>
          <p:cNvPr id="10" name="a3w_txt_1112"/>
          <p:cNvSpPr txBox="1"/>
          <p:nvPr/>
        </p:nvSpPr>
        <p:spPr>
          <a:xfrm>
            <a:off x="1325880" y="3255264"/>
            <a:ext cx="4480560" cy="868680"/>
          </a:xfrm>
          <a:prstGeom prst="rect">
            <a:avLst/>
          </a:prstGeom>
          <a:no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ENGINEERING</a:t>
            </a:r>
            <a:endParaRPr lang="en-US" sz="1900" dirty="0"/>
          </a:p>
          <a:p>
            <a:pPr algn="ctr" indent="0" marL="0">
              <a:buNone/>
            </a:pPr>
            <a:r>
              <a:rPr lang="en-US" sz="1500" dirty="0">
                <a:solidFill>
                  <a:srgbClr val="FFFFFF"/>
                </a:solidFill>
                <a:latin typeface="Calibri" pitchFamily="34" charset="0"/>
                <a:ea typeface="Calibri" pitchFamily="34" charset="-122"/>
                <a:cs typeface="Calibri" pitchFamily="34" charset="-120"/>
              </a:rPr>
              <a:t>Separate people from the hazard</a:t>
            </a:r>
            <a:endParaRPr lang="en-US" sz="1900" dirty="0"/>
          </a:p>
        </p:txBody>
      </p:sp>
      <p:sp>
        <p:nvSpPr>
          <p:cNvPr id="11" name="a3w_txt_1113"/>
          <p:cNvSpPr txBox="1"/>
          <p:nvPr/>
        </p:nvSpPr>
        <p:spPr>
          <a:xfrm>
            <a:off x="6812280" y="3255264"/>
            <a:ext cx="4828032" cy="868680"/>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Isolation &amp; LOTO, ventilation, barriers – the PRIMARY domain of PTW</a:t>
            </a:r>
            <a:endParaRPr lang="en-US" sz="1600" dirty="0"/>
          </a:p>
        </p:txBody>
      </p:sp>
      <p:sp>
        <p:nvSpPr>
          <p:cNvPr id="12" name="a4w_box_1114"/>
          <p:cNvSpPr/>
          <p:nvPr/>
        </p:nvSpPr>
        <p:spPr>
          <a:xfrm>
            <a:off x="1508760" y="4242816"/>
            <a:ext cx="4114800" cy="868680"/>
          </a:xfrm>
          <a:prstGeom prst="roundRect">
            <a:avLst>
              <a:gd name="adj" fmla="val 12632"/>
            </a:avLst>
          </a:prstGeom>
          <a:solidFill>
            <a:srgbClr val="F2A900"/>
          </a:solidFill>
          <a:ln/>
        </p:spPr>
      </p:sp>
      <p:sp>
        <p:nvSpPr>
          <p:cNvPr id="13" name="a4w_txt_1115"/>
          <p:cNvSpPr txBox="1"/>
          <p:nvPr/>
        </p:nvSpPr>
        <p:spPr>
          <a:xfrm>
            <a:off x="1645920" y="4242816"/>
            <a:ext cx="3840480" cy="868680"/>
          </a:xfrm>
          <a:prstGeom prst="rect">
            <a:avLst/>
          </a:prstGeom>
          <a:no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ADMINISTRATIVE</a:t>
            </a:r>
            <a:endParaRPr lang="en-US" sz="1900" dirty="0"/>
          </a:p>
          <a:p>
            <a:pPr algn="ctr" indent="0" marL="0">
              <a:buNone/>
            </a:pPr>
            <a:r>
              <a:rPr lang="en-US" sz="1500" dirty="0">
                <a:solidFill>
                  <a:srgbClr val="FFFFFF"/>
                </a:solidFill>
                <a:latin typeface="Calibri" pitchFamily="34" charset="0"/>
                <a:ea typeface="Calibri" pitchFamily="34" charset="-122"/>
                <a:cs typeface="Calibri" pitchFamily="34" charset="-120"/>
              </a:rPr>
              <a:t>Change how people work</a:t>
            </a:r>
            <a:endParaRPr lang="en-US" sz="1900" dirty="0"/>
          </a:p>
        </p:txBody>
      </p:sp>
      <p:sp>
        <p:nvSpPr>
          <p:cNvPr id="14" name="a4w_txt_1116"/>
          <p:cNvSpPr txBox="1"/>
          <p:nvPr/>
        </p:nvSpPr>
        <p:spPr>
          <a:xfrm>
            <a:off x="6812280" y="4242816"/>
            <a:ext cx="4828032" cy="868680"/>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The permit itself, procedures, toolbox talks, signage, time limits</a:t>
            </a:r>
            <a:endParaRPr lang="en-US" sz="1600" dirty="0"/>
          </a:p>
        </p:txBody>
      </p:sp>
      <p:sp>
        <p:nvSpPr>
          <p:cNvPr id="15" name="a5w_box_1117"/>
          <p:cNvSpPr/>
          <p:nvPr/>
        </p:nvSpPr>
        <p:spPr>
          <a:xfrm>
            <a:off x="1828800" y="5230368"/>
            <a:ext cx="3474720" cy="868680"/>
          </a:xfrm>
          <a:prstGeom prst="roundRect">
            <a:avLst>
              <a:gd name="adj" fmla="val 12632"/>
            </a:avLst>
          </a:prstGeom>
          <a:solidFill>
            <a:srgbClr val="C0392B"/>
          </a:solidFill>
          <a:ln/>
        </p:spPr>
      </p:sp>
      <p:sp>
        <p:nvSpPr>
          <p:cNvPr id="16" name="a5w_txt_1118"/>
          <p:cNvSpPr txBox="1"/>
          <p:nvPr/>
        </p:nvSpPr>
        <p:spPr>
          <a:xfrm>
            <a:off x="1965960" y="5230368"/>
            <a:ext cx="3200400" cy="868680"/>
          </a:xfrm>
          <a:prstGeom prst="rect">
            <a:avLst/>
          </a:prstGeom>
          <a:no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PPE</a:t>
            </a:r>
            <a:endParaRPr lang="en-US" sz="1900" dirty="0"/>
          </a:p>
          <a:p>
            <a:pPr algn="ctr" indent="0" marL="0">
              <a:buNone/>
            </a:pPr>
            <a:r>
              <a:rPr lang="en-US" sz="1500" dirty="0">
                <a:solidFill>
                  <a:srgbClr val="FFFFFF"/>
                </a:solidFill>
                <a:latin typeface="Calibri" pitchFamily="34" charset="0"/>
                <a:ea typeface="Calibri" pitchFamily="34" charset="-122"/>
                <a:cs typeface="Calibri" pitchFamily="34" charset="-120"/>
              </a:rPr>
              <a:t>Last line of defence</a:t>
            </a:r>
            <a:endParaRPr lang="en-US" sz="1900" dirty="0"/>
          </a:p>
        </p:txBody>
      </p:sp>
      <p:sp>
        <p:nvSpPr>
          <p:cNvPr id="17" name="a5w_txt_1119"/>
          <p:cNvSpPr txBox="1"/>
          <p:nvPr/>
        </p:nvSpPr>
        <p:spPr>
          <a:xfrm>
            <a:off x="6812280" y="5230368"/>
            <a:ext cx="4828032" cy="868680"/>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SCBA, respirators, FR clothing, harness – always IN ADDITION to the above</a:t>
            </a:r>
            <a:endParaRPr lang="en-US" sz="1600" dirty="0"/>
          </a:p>
        </p:txBody>
      </p:sp>
      <p:sp>
        <p:nvSpPr>
          <p:cNvPr id="18" name="txt_1120"/>
          <p:cNvSpPr txBox="1"/>
          <p:nvPr/>
        </p:nvSpPr>
        <p:spPr>
          <a:xfrm>
            <a:off x="548640" y="6263640"/>
            <a:ext cx="6035040" cy="274320"/>
          </a:xfrm>
          <a:prstGeom prst="rect">
            <a:avLst/>
          </a:prstGeom>
          <a:noFill/>
          <a:ln/>
        </p:spPr>
        <p:txBody>
          <a:bodyPr wrap="square" lIns="635" tIns="635" rIns="635" bIns="635" rtlCol="0" anchor="t"/>
          <a:lstStyle/>
          <a:p>
            <a:pPr algn="ctr" indent="0" marL="0">
              <a:buNone/>
            </a:pPr>
            <a:r>
              <a:rPr lang="en-US" sz="1300" i="1" dirty="0">
                <a:solidFill>
                  <a:srgbClr val="5B6B75"/>
                </a:solidFill>
                <a:latin typeface="Calibri" pitchFamily="34" charset="0"/>
                <a:ea typeface="Calibri" pitchFamily="34" charset="-122"/>
                <a:cs typeface="Calibri" pitchFamily="34" charset="-120"/>
              </a:rPr>
              <a:t>MOST effective ↑   ↓ LEAST effective</a:t>
            </a:r>
            <a:endParaRPr lang="en-US" sz="1300" dirty="0"/>
          </a:p>
        </p:txBody>
      </p:sp>
      <p:sp>
        <p:nvSpPr>
          <p:cNvPr id="1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The Bow-Tie: Barriers on Both Sides</a:t>
            </a:r>
            <a:endParaRPr lang="en-US" sz="3200" dirty="0"/>
          </a:p>
        </p:txBody>
      </p:sp>
      <p:sp>
        <p:nvSpPr>
          <p:cNvPr id="3" name="topEvent_1121"/>
          <p:cNvSpPr/>
          <p:nvPr/>
        </p:nvSpPr>
        <p:spPr>
          <a:xfrm>
            <a:off x="4727448" y="2514600"/>
            <a:ext cx="2743200" cy="1828800"/>
          </a:xfrm>
          <a:prstGeom prst="ellipse">
            <a:avLst/>
          </a:prstGeom>
          <a:solidFill>
            <a:srgbClr val="C0392B"/>
          </a:solidFill>
          <a:ln/>
        </p:spPr>
      </p:sp>
      <p:sp>
        <p:nvSpPr>
          <p:cNvPr id="4" name="txt_1122"/>
          <p:cNvSpPr txBox="1"/>
          <p:nvPr/>
        </p:nvSpPr>
        <p:spPr>
          <a:xfrm>
            <a:off x="4846320" y="2606040"/>
            <a:ext cx="2514600" cy="1645920"/>
          </a:xfrm>
          <a:prstGeom prst="rect">
            <a:avLst/>
          </a:prstGeom>
          <a:noFill/>
          <a:ln/>
        </p:spPr>
        <p:txBody>
          <a:bodyPr wrap="square" lIns="635" tIns="635" rIns="635" bIns="635" rtlCol="0" anchor="ctr"/>
          <a:lstStyle/>
          <a:p>
            <a:pPr algn="ctr" indent="0" marL="0">
              <a:buNone/>
            </a:pPr>
            <a:r>
              <a:rPr lang="en-US" sz="1400" b="1" dirty="0">
                <a:solidFill>
                  <a:srgbClr val="FFD9D2"/>
                </a:solidFill>
                <a:latin typeface="Calibri" pitchFamily="34" charset="0"/>
                <a:ea typeface="Calibri" pitchFamily="34" charset="-122"/>
                <a:cs typeface="Calibri" pitchFamily="34" charset="-120"/>
              </a:rPr>
              <a:t>TOP EVENT</a:t>
            </a:r>
            <a:endParaRPr lang="en-US" sz="2000" dirty="0"/>
          </a:p>
          <a:p>
            <a:pPr algn="ctr" indent="0" marL="0">
              <a:buNone/>
            </a:pPr>
            <a:r>
              <a:rPr lang="en-US" sz="1900" b="1" dirty="0">
                <a:solidFill>
                  <a:srgbClr val="FFFFFF"/>
                </a:solidFill>
                <a:latin typeface="Calibri" pitchFamily="34" charset="0"/>
                <a:ea typeface="Calibri" pitchFamily="34" charset="-122"/>
                <a:cs typeface="Calibri" pitchFamily="34" charset="-120"/>
              </a:rPr>
              <a:t>Release of flammable gas</a:t>
            </a:r>
            <a:endParaRPr lang="en-US" sz="2000" dirty="0"/>
          </a:p>
        </p:txBody>
      </p:sp>
      <p:sp>
        <p:nvSpPr>
          <p:cNvPr id="5" name="txt_1123"/>
          <p:cNvSpPr txBox="1"/>
          <p:nvPr/>
        </p:nvSpPr>
        <p:spPr>
          <a:xfrm>
            <a:off x="548640" y="1280160"/>
            <a:ext cx="4023360" cy="411480"/>
          </a:xfrm>
          <a:prstGeom prst="rect">
            <a:avLst/>
          </a:prstGeom>
          <a:noFill/>
          <a:ln/>
        </p:spPr>
        <p:txBody>
          <a:bodyPr wrap="square" lIns="635" tIns="635" rIns="635" bIns="635" rtlCol="0" anchor="t"/>
          <a:lstStyle/>
          <a:p>
            <a:pPr indent="0" marL="0">
              <a:buNone/>
            </a:pPr>
            <a:r>
              <a:rPr lang="en-US" sz="1800" b="1" dirty="0">
                <a:solidFill>
                  <a:srgbClr val="2E7D32"/>
                </a:solidFill>
                <a:latin typeface="Calibri" pitchFamily="34" charset="0"/>
                <a:ea typeface="Calibri" pitchFamily="34" charset="-122"/>
                <a:cs typeface="Calibri" pitchFamily="34" charset="-120"/>
              </a:rPr>
              <a:t>PREVENT  (left side)</a:t>
            </a:r>
            <a:endParaRPr lang="en-US" sz="1800" dirty="0"/>
          </a:p>
        </p:txBody>
      </p:sp>
      <p:sp>
        <p:nvSpPr>
          <p:cNvPr id="6" name="txt_1124"/>
          <p:cNvSpPr txBox="1"/>
          <p:nvPr/>
        </p:nvSpPr>
        <p:spPr>
          <a:xfrm>
            <a:off x="7955280" y="1280160"/>
            <a:ext cx="3657600" cy="411480"/>
          </a:xfrm>
          <a:prstGeom prst="rect">
            <a:avLst/>
          </a:prstGeom>
          <a:noFill/>
          <a:ln/>
        </p:spPr>
        <p:txBody>
          <a:bodyPr wrap="square" lIns="635" tIns="635" rIns="635" bIns="635" rtlCol="0" anchor="t"/>
          <a:lstStyle/>
          <a:p>
            <a:pPr algn="r" indent="0" marL="0">
              <a:buNone/>
            </a:pPr>
            <a:r>
              <a:rPr lang="en-US" sz="1800" b="1" dirty="0">
                <a:solidFill>
                  <a:srgbClr val="E8771E"/>
                </a:solidFill>
                <a:latin typeface="Calibri" pitchFamily="34" charset="0"/>
                <a:ea typeface="Calibri" pitchFamily="34" charset="-122"/>
                <a:cs typeface="Calibri" pitchFamily="34" charset="-120"/>
              </a:rPr>
              <a:t>MITIGATE  (right side)</a:t>
            </a:r>
            <a:endParaRPr lang="en-US" sz="1800" dirty="0"/>
          </a:p>
        </p:txBody>
      </p:sp>
      <p:sp>
        <p:nvSpPr>
          <p:cNvPr id="7" name="a1_box_1125"/>
          <p:cNvSpPr/>
          <p:nvPr/>
        </p:nvSpPr>
        <p:spPr>
          <a:xfrm>
            <a:off x="548640" y="1828800"/>
            <a:ext cx="3840480" cy="960120"/>
          </a:xfrm>
          <a:prstGeom prst="roundRect">
            <a:avLst>
              <a:gd name="adj" fmla="val 11429"/>
            </a:avLst>
          </a:prstGeom>
          <a:solidFill>
            <a:srgbClr val="2E7D32"/>
          </a:solidFill>
          <a:ln/>
        </p:spPr>
      </p:sp>
      <p:sp>
        <p:nvSpPr>
          <p:cNvPr id="8" name="a1_txt_1126"/>
          <p:cNvSpPr txBox="1"/>
          <p:nvPr/>
        </p:nvSpPr>
        <p:spPr>
          <a:xfrm>
            <a:off x="548640" y="1828800"/>
            <a:ext cx="3840480" cy="9601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Isolation valve</a:t>
            </a:r>
            <a:endParaRPr lang="en-US" sz="2000" dirty="0"/>
          </a:p>
        </p:txBody>
      </p:sp>
      <p:sp>
        <p:nvSpPr>
          <p:cNvPr id="9" name="a2_box_1127"/>
          <p:cNvSpPr/>
          <p:nvPr/>
        </p:nvSpPr>
        <p:spPr>
          <a:xfrm>
            <a:off x="7799832" y="1828800"/>
            <a:ext cx="3840480" cy="960120"/>
          </a:xfrm>
          <a:prstGeom prst="roundRect">
            <a:avLst>
              <a:gd name="adj" fmla="val 11429"/>
            </a:avLst>
          </a:prstGeom>
          <a:solidFill>
            <a:srgbClr val="E8771E"/>
          </a:solidFill>
          <a:ln/>
        </p:spPr>
      </p:sp>
      <p:sp>
        <p:nvSpPr>
          <p:cNvPr id="10" name="a2_txt_1128"/>
          <p:cNvSpPr txBox="1"/>
          <p:nvPr/>
        </p:nvSpPr>
        <p:spPr>
          <a:xfrm>
            <a:off x="7799832" y="1828800"/>
            <a:ext cx="3840480" cy="9601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Gas detection alarm</a:t>
            </a:r>
            <a:endParaRPr lang="en-US" sz="2000" dirty="0"/>
          </a:p>
        </p:txBody>
      </p:sp>
      <p:sp>
        <p:nvSpPr>
          <p:cNvPr id="11" name="a1_ln_1129"/>
          <p:cNvSpPr/>
          <p:nvPr/>
        </p:nvSpPr>
        <p:spPr>
          <a:xfrm>
            <a:off x="4389120" y="2304288"/>
            <a:ext cx="411480" cy="1124712"/>
          </a:xfrm>
          <a:prstGeom prst="line">
            <a:avLst/>
          </a:prstGeom>
          <a:noFill/>
          <a:ln w="25400">
            <a:solidFill>
              <a:srgbClr val="5B6B75"/>
            </a:solidFill>
            <a:prstDash val="solid"/>
          </a:ln>
        </p:spPr>
      </p:sp>
      <p:sp>
        <p:nvSpPr>
          <p:cNvPr id="12" name="a2_ln_1130"/>
          <p:cNvSpPr/>
          <p:nvPr/>
        </p:nvSpPr>
        <p:spPr>
          <a:xfrm flipV="1">
            <a:off x="7406640" y="2304288"/>
            <a:ext cx="393192" cy="1124712"/>
          </a:xfrm>
          <a:prstGeom prst="line">
            <a:avLst/>
          </a:prstGeom>
          <a:noFill/>
          <a:ln w="25400">
            <a:solidFill>
              <a:srgbClr val="5B6B75"/>
            </a:solidFill>
            <a:prstDash val="solid"/>
          </a:ln>
        </p:spPr>
      </p:sp>
      <p:sp>
        <p:nvSpPr>
          <p:cNvPr id="13" name="a1_box_1131"/>
          <p:cNvSpPr/>
          <p:nvPr/>
        </p:nvSpPr>
        <p:spPr>
          <a:xfrm>
            <a:off x="548640" y="3017520"/>
            <a:ext cx="3840480" cy="960120"/>
          </a:xfrm>
          <a:prstGeom prst="roundRect">
            <a:avLst>
              <a:gd name="adj" fmla="val 11429"/>
            </a:avLst>
          </a:prstGeom>
          <a:solidFill>
            <a:srgbClr val="2E7D32"/>
          </a:solidFill>
          <a:ln/>
        </p:spPr>
      </p:sp>
      <p:sp>
        <p:nvSpPr>
          <p:cNvPr id="14" name="a1_txt_1132"/>
          <p:cNvSpPr txBox="1"/>
          <p:nvPr/>
        </p:nvSpPr>
        <p:spPr>
          <a:xfrm>
            <a:off x="548640" y="3017520"/>
            <a:ext cx="3840480" cy="9601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Positive blind</a:t>
            </a:r>
            <a:endParaRPr lang="en-US" sz="2000" dirty="0"/>
          </a:p>
        </p:txBody>
      </p:sp>
      <p:sp>
        <p:nvSpPr>
          <p:cNvPr id="15" name="a2_box_1133"/>
          <p:cNvSpPr/>
          <p:nvPr/>
        </p:nvSpPr>
        <p:spPr>
          <a:xfrm>
            <a:off x="7799832" y="3017520"/>
            <a:ext cx="3840480" cy="960120"/>
          </a:xfrm>
          <a:prstGeom prst="roundRect">
            <a:avLst>
              <a:gd name="adj" fmla="val 11429"/>
            </a:avLst>
          </a:prstGeom>
          <a:solidFill>
            <a:srgbClr val="E8771E"/>
          </a:solidFill>
          <a:ln/>
        </p:spPr>
      </p:sp>
      <p:sp>
        <p:nvSpPr>
          <p:cNvPr id="16" name="a2_txt_1134"/>
          <p:cNvSpPr txBox="1"/>
          <p:nvPr/>
        </p:nvSpPr>
        <p:spPr>
          <a:xfrm>
            <a:off x="7799832" y="3017520"/>
            <a:ext cx="3840480" cy="9601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Fire watch</a:t>
            </a:r>
            <a:endParaRPr lang="en-US" sz="2000" dirty="0"/>
          </a:p>
        </p:txBody>
      </p:sp>
      <p:sp>
        <p:nvSpPr>
          <p:cNvPr id="17" name="a1_ln_1135"/>
          <p:cNvSpPr/>
          <p:nvPr/>
        </p:nvSpPr>
        <p:spPr>
          <a:xfrm flipV="1">
            <a:off x="4389120" y="3429000"/>
            <a:ext cx="411480" cy="64008"/>
          </a:xfrm>
          <a:prstGeom prst="line">
            <a:avLst/>
          </a:prstGeom>
          <a:noFill/>
          <a:ln w="25400">
            <a:solidFill>
              <a:srgbClr val="5B6B75"/>
            </a:solidFill>
            <a:prstDash val="solid"/>
          </a:ln>
        </p:spPr>
      </p:sp>
      <p:sp>
        <p:nvSpPr>
          <p:cNvPr id="18" name="a2_ln_1136"/>
          <p:cNvSpPr/>
          <p:nvPr/>
        </p:nvSpPr>
        <p:spPr>
          <a:xfrm>
            <a:off x="7406640" y="3429000"/>
            <a:ext cx="393192" cy="64008"/>
          </a:xfrm>
          <a:prstGeom prst="line">
            <a:avLst/>
          </a:prstGeom>
          <a:noFill/>
          <a:ln w="25400">
            <a:solidFill>
              <a:srgbClr val="5B6B75"/>
            </a:solidFill>
            <a:prstDash val="solid"/>
          </a:ln>
        </p:spPr>
      </p:sp>
      <p:sp>
        <p:nvSpPr>
          <p:cNvPr id="19" name="a1_box_1137"/>
          <p:cNvSpPr/>
          <p:nvPr/>
        </p:nvSpPr>
        <p:spPr>
          <a:xfrm>
            <a:off x="548640" y="4206240"/>
            <a:ext cx="3840480" cy="960120"/>
          </a:xfrm>
          <a:prstGeom prst="roundRect">
            <a:avLst>
              <a:gd name="adj" fmla="val 11429"/>
            </a:avLst>
          </a:prstGeom>
          <a:solidFill>
            <a:srgbClr val="2E7D32"/>
          </a:solidFill>
          <a:ln/>
        </p:spPr>
      </p:sp>
      <p:sp>
        <p:nvSpPr>
          <p:cNvPr id="20" name="a1_txt_1138"/>
          <p:cNvSpPr txBox="1"/>
          <p:nvPr/>
        </p:nvSpPr>
        <p:spPr>
          <a:xfrm>
            <a:off x="548640" y="4206240"/>
            <a:ext cx="3840480" cy="9601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Lockout</a:t>
            </a:r>
            <a:endParaRPr lang="en-US" sz="2000" dirty="0"/>
          </a:p>
        </p:txBody>
      </p:sp>
      <p:sp>
        <p:nvSpPr>
          <p:cNvPr id="21" name="a2_box_1139"/>
          <p:cNvSpPr/>
          <p:nvPr/>
        </p:nvSpPr>
        <p:spPr>
          <a:xfrm>
            <a:off x="7799832" y="4206240"/>
            <a:ext cx="3840480" cy="960120"/>
          </a:xfrm>
          <a:prstGeom prst="roundRect">
            <a:avLst>
              <a:gd name="adj" fmla="val 11429"/>
            </a:avLst>
          </a:prstGeom>
          <a:solidFill>
            <a:srgbClr val="E8771E"/>
          </a:solidFill>
          <a:ln/>
        </p:spPr>
      </p:sp>
      <p:sp>
        <p:nvSpPr>
          <p:cNvPr id="22" name="a2_txt_1140"/>
          <p:cNvSpPr txBox="1"/>
          <p:nvPr/>
        </p:nvSpPr>
        <p:spPr>
          <a:xfrm>
            <a:off x="7799832" y="4206240"/>
            <a:ext cx="3840480" cy="9601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Emergency Response Plan</a:t>
            </a:r>
            <a:endParaRPr lang="en-US" sz="2000" dirty="0"/>
          </a:p>
        </p:txBody>
      </p:sp>
      <p:sp>
        <p:nvSpPr>
          <p:cNvPr id="23" name="a1_ln_1141"/>
          <p:cNvSpPr/>
          <p:nvPr/>
        </p:nvSpPr>
        <p:spPr>
          <a:xfrm flipV="1">
            <a:off x="4389120" y="3429000"/>
            <a:ext cx="411480" cy="1252728"/>
          </a:xfrm>
          <a:prstGeom prst="line">
            <a:avLst/>
          </a:prstGeom>
          <a:noFill/>
          <a:ln w="25400">
            <a:solidFill>
              <a:srgbClr val="5B6B75"/>
            </a:solidFill>
            <a:prstDash val="solid"/>
          </a:ln>
        </p:spPr>
      </p:sp>
      <p:sp>
        <p:nvSpPr>
          <p:cNvPr id="24" name="a2_ln_1142"/>
          <p:cNvSpPr/>
          <p:nvPr/>
        </p:nvSpPr>
        <p:spPr>
          <a:xfrm>
            <a:off x="7406640" y="3429000"/>
            <a:ext cx="393192" cy="1252728"/>
          </a:xfrm>
          <a:prstGeom prst="line">
            <a:avLst/>
          </a:prstGeom>
          <a:noFill/>
          <a:ln w="25400">
            <a:solidFill>
              <a:srgbClr val="5B6B75"/>
            </a:solidFill>
            <a:prstDash val="solid"/>
          </a:ln>
        </p:spPr>
      </p:sp>
      <p:sp>
        <p:nvSpPr>
          <p:cNvPr id="25" name="a3_box_1143"/>
          <p:cNvSpPr/>
          <p:nvPr/>
        </p:nvSpPr>
        <p:spPr>
          <a:xfrm>
            <a:off x="548640" y="5532120"/>
            <a:ext cx="11094415" cy="685800"/>
          </a:xfrm>
          <a:prstGeom prst="roundRect">
            <a:avLst>
              <a:gd name="adj" fmla="val 16000"/>
            </a:avLst>
          </a:prstGeom>
          <a:solidFill>
            <a:srgbClr val="0B2A3C"/>
          </a:solidFill>
          <a:ln/>
        </p:spPr>
      </p:sp>
      <p:sp>
        <p:nvSpPr>
          <p:cNvPr id="26" name="a3_txt_1144"/>
          <p:cNvSpPr txBox="1"/>
          <p:nvPr/>
        </p:nvSpPr>
        <p:spPr>
          <a:xfrm>
            <a:off x="548640" y="5532120"/>
            <a:ext cx="11094415" cy="6858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The PTW must verify that ALL relevant barriers on BOTH sides are in place.</a:t>
            </a:r>
            <a:endParaRPr lang="en-US" sz="2000" dirty="0"/>
          </a:p>
        </p:txBody>
      </p:sp>
      <p:sp>
        <p:nvSpPr>
          <p:cNvPr id="2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3" grpId="0" animBg="1"/>
      <p:bldP spid="14" grpId="0" animBg="1"/>
      <p:bldP spid="17" grpId="0" animBg="1"/>
      <p:bldP spid="19" grpId="0" animBg="1"/>
      <p:bldP spid="20" grpId="0" animBg="1"/>
      <p:bldP spid="23" grpId="0" animBg="1"/>
      <p:bldP spid="9" grpId="0" animBg="1"/>
      <p:bldP spid="10" grpId="0" animBg="1"/>
      <p:bldP spid="12" grpId="0" animBg="1"/>
      <p:bldP spid="15" grpId="0" animBg="1"/>
      <p:bldP spid="16" grpId="0" animBg="1"/>
      <p:bldP spid="18" grpId="0" animBg="1"/>
      <p:bldP spid="21" grpId="0" animBg="1"/>
      <p:bldP spid="22" grpId="0" animBg="1"/>
      <p:bldP spid="24" grpId="0" animBg="1"/>
      <p:bldP spid="25" grpId="0" animBg="1"/>
      <p:bldP spid="2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JSA + PTW and Residual Risk</a:t>
            </a:r>
            <a:endParaRPr lang="en-US" sz="3200" dirty="0"/>
          </a:p>
        </p:txBody>
      </p:sp>
      <p:sp>
        <p:nvSpPr>
          <p:cNvPr id="3" name="a1_box_1145"/>
          <p:cNvSpPr/>
          <p:nvPr/>
        </p:nvSpPr>
        <p:spPr>
          <a:xfrm>
            <a:off x="548640" y="1280160"/>
            <a:ext cx="3474720" cy="1554480"/>
          </a:xfrm>
          <a:prstGeom prst="roundRect">
            <a:avLst>
              <a:gd name="adj" fmla="val 7059"/>
            </a:avLst>
          </a:prstGeom>
          <a:solidFill>
            <a:srgbClr val="0F6E7A"/>
          </a:solidFill>
          <a:ln/>
        </p:spPr>
      </p:sp>
      <p:sp>
        <p:nvSpPr>
          <p:cNvPr id="4" name="a1_txt_1146"/>
          <p:cNvSpPr txBox="1"/>
          <p:nvPr/>
        </p:nvSpPr>
        <p:spPr>
          <a:xfrm>
            <a:off x="548640" y="1280160"/>
            <a:ext cx="3474720" cy="1554480"/>
          </a:xfrm>
          <a:prstGeom prst="rect">
            <a:avLst/>
          </a:prstGeom>
          <a:noFill/>
          <a:ln/>
        </p:spPr>
        <p:txBody>
          <a:bodyPr wrap="square" lIns="635" tIns="635" rIns="635" bIns="635"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JSA</a:t>
            </a:r>
            <a:endParaRPr lang="en-US" sz="2000" dirty="0"/>
          </a:p>
          <a:p>
            <a:pPr algn="ctr" indent="0" marL="0">
              <a:buNone/>
            </a:pPr>
            <a:r>
              <a:rPr lang="en-US" sz="1700" dirty="0">
                <a:solidFill>
                  <a:srgbClr val="FFFFFF"/>
                </a:solidFill>
                <a:latin typeface="Calibri" pitchFamily="34" charset="0"/>
                <a:ea typeface="Calibri" pitchFamily="34" charset="-122"/>
                <a:cs typeface="Calibri" pitchFamily="34" charset="-120"/>
              </a:rPr>
              <a:t>Planning &amp; analysis tool</a:t>
            </a:r>
            <a:endParaRPr lang="en-US" sz="2000" dirty="0"/>
          </a:p>
        </p:txBody>
      </p:sp>
      <p:sp>
        <p:nvSpPr>
          <p:cNvPr id="5" name="a1_txt_1147"/>
          <p:cNvSpPr txBox="1"/>
          <p:nvPr/>
        </p:nvSpPr>
        <p:spPr>
          <a:xfrm>
            <a:off x="4023360" y="1280160"/>
            <a:ext cx="548640" cy="1554480"/>
          </a:xfrm>
          <a:prstGeom prst="rect">
            <a:avLst/>
          </a:prstGeom>
          <a:noFill/>
          <a:ln/>
        </p:spPr>
        <p:txBody>
          <a:bodyPr wrap="square" lIns="635" tIns="635" rIns="635" bIns="635" rtlCol="0" anchor="ctr"/>
          <a:lstStyle/>
          <a:p>
            <a:pPr algn="ctr" indent="0" marL="0">
              <a:buNone/>
            </a:pPr>
            <a:r>
              <a:rPr lang="en-US" sz="4000" b="1" dirty="0">
                <a:solidFill>
                  <a:srgbClr val="5B6B75"/>
                </a:solidFill>
                <a:latin typeface="Calibri" pitchFamily="34" charset="0"/>
                <a:ea typeface="Calibri" pitchFamily="34" charset="-122"/>
                <a:cs typeface="Calibri" pitchFamily="34" charset="-120"/>
              </a:rPr>
              <a:t>+</a:t>
            </a:r>
            <a:endParaRPr lang="en-US" sz="4000" dirty="0"/>
          </a:p>
        </p:txBody>
      </p:sp>
      <p:sp>
        <p:nvSpPr>
          <p:cNvPr id="6" name="a1_box_1148"/>
          <p:cNvSpPr/>
          <p:nvPr/>
        </p:nvSpPr>
        <p:spPr>
          <a:xfrm>
            <a:off x="4572000" y="1280160"/>
            <a:ext cx="3474720" cy="1554480"/>
          </a:xfrm>
          <a:prstGeom prst="roundRect">
            <a:avLst>
              <a:gd name="adj" fmla="val 7059"/>
            </a:avLst>
          </a:prstGeom>
          <a:solidFill>
            <a:srgbClr val="E8771E"/>
          </a:solidFill>
          <a:ln/>
        </p:spPr>
      </p:sp>
      <p:sp>
        <p:nvSpPr>
          <p:cNvPr id="7" name="a1_txt_1149"/>
          <p:cNvSpPr txBox="1"/>
          <p:nvPr/>
        </p:nvSpPr>
        <p:spPr>
          <a:xfrm>
            <a:off x="4572000" y="1280160"/>
            <a:ext cx="3474720" cy="1554480"/>
          </a:xfrm>
          <a:prstGeom prst="rect">
            <a:avLst/>
          </a:prstGeom>
          <a:noFill/>
          <a:ln/>
        </p:spPr>
        <p:txBody>
          <a:bodyPr wrap="square" lIns="635" tIns="635" rIns="635" bIns="635"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PTW</a:t>
            </a:r>
            <a:endParaRPr lang="en-US" sz="2000" dirty="0"/>
          </a:p>
          <a:p>
            <a:pPr algn="ctr" indent="0" marL="0">
              <a:buNone/>
            </a:pPr>
            <a:r>
              <a:rPr lang="en-US" sz="1700" dirty="0">
                <a:solidFill>
                  <a:srgbClr val="FFFFFF"/>
                </a:solidFill>
                <a:latin typeface="Calibri" pitchFamily="34" charset="0"/>
                <a:ea typeface="Calibri" pitchFamily="34" charset="-122"/>
                <a:cs typeface="Calibri" pitchFamily="34" charset="-120"/>
              </a:rPr>
              <a:t>Authorisation &amp; field verification</a:t>
            </a:r>
            <a:endParaRPr lang="en-US" sz="2000" dirty="0"/>
          </a:p>
        </p:txBody>
      </p:sp>
      <p:sp>
        <p:nvSpPr>
          <p:cNvPr id="8" name="a1_txt_1150"/>
          <p:cNvSpPr txBox="1"/>
          <p:nvPr/>
        </p:nvSpPr>
        <p:spPr>
          <a:xfrm>
            <a:off x="8229600" y="1280160"/>
            <a:ext cx="3410712" cy="1554480"/>
          </a:xfrm>
          <a:prstGeom prst="rect">
            <a:avLst/>
          </a:prstGeom>
          <a:noFill/>
          <a:ln/>
        </p:spPr>
        <p:txBody>
          <a:bodyPr wrap="square" lIns="635" tIns="635" rIns="635" bIns="635" rtlCol="0" anchor="ctr"/>
          <a:lstStyle/>
          <a:p>
            <a:pPr indent="0" marL="0">
              <a:buNone/>
            </a:pPr>
            <a:r>
              <a:rPr lang="en-US" sz="1700" i="1" dirty="0">
                <a:solidFill>
                  <a:srgbClr val="5B6B75"/>
                </a:solidFill>
                <a:latin typeface="Calibri" pitchFamily="34" charset="0"/>
                <a:ea typeface="Calibri" pitchFamily="34" charset="-122"/>
                <a:cs typeface="Calibri" pitchFamily="34" charset="-120"/>
              </a:rPr>
              <a:t>Inseparable. The Issuer reviews the JSA as a “second set of eyes” and turns it into explicit permit conditions.</a:t>
            </a:r>
            <a:endParaRPr lang="en-US" sz="1700" dirty="0"/>
          </a:p>
        </p:txBody>
      </p:sp>
      <p:sp>
        <p:nvSpPr>
          <p:cNvPr id="9" name="a2_txt_1151"/>
          <p:cNvSpPr txBox="1"/>
          <p:nvPr/>
        </p:nvSpPr>
        <p:spPr>
          <a:xfrm>
            <a:off x="548640" y="3063240"/>
            <a:ext cx="7315200" cy="457200"/>
          </a:xfrm>
          <a:prstGeom prst="rect">
            <a:avLst/>
          </a:prstGeom>
          <a:noFill/>
          <a:ln/>
        </p:spPr>
        <p:txBody>
          <a:bodyPr wrap="square" lIns="635" tIns="635" rIns="635" bIns="635" rtlCol="0" anchor="t"/>
          <a:lstStyle/>
          <a:p>
            <a:pPr indent="0" marL="0">
              <a:buNone/>
            </a:pPr>
            <a:r>
              <a:rPr lang="en-US" sz="2000" b="1" dirty="0">
                <a:solidFill>
                  <a:srgbClr val="0B2A3C"/>
                </a:solidFill>
                <a:latin typeface="Calibri" pitchFamily="34" charset="0"/>
                <a:ea typeface="Calibri" pitchFamily="34" charset="-122"/>
                <a:cs typeface="Calibri" pitchFamily="34" charset="-120"/>
              </a:rPr>
              <a:t>Communicating residual risk in the briefing</a:t>
            </a:r>
            <a:endParaRPr lang="en-US" sz="2000" dirty="0"/>
          </a:p>
        </p:txBody>
      </p:sp>
      <p:sp>
        <p:nvSpPr>
          <p:cNvPr id="10" name="a3_box_1152"/>
          <p:cNvSpPr/>
          <p:nvPr/>
        </p:nvSpPr>
        <p:spPr>
          <a:xfrm>
            <a:off x="548640" y="3611880"/>
            <a:ext cx="11094415" cy="777240"/>
          </a:xfrm>
          <a:prstGeom prst="roundRect">
            <a:avLst>
              <a:gd name="adj" fmla="val 14118"/>
            </a:avLst>
          </a:prstGeom>
          <a:solidFill>
            <a:srgbClr val="FFFFFF"/>
          </a:solidFill>
          <a:ln w="12700">
            <a:solidFill>
              <a:srgbClr val="C9D3D9"/>
            </a:solidFill>
            <a:prstDash val="solid"/>
          </a:ln>
        </p:spPr>
      </p:sp>
      <p:sp>
        <p:nvSpPr>
          <p:cNvPr id="11" name="a3_txt_1153"/>
          <p:cNvSpPr txBox="1"/>
          <p:nvPr/>
        </p:nvSpPr>
        <p:spPr>
          <a:xfrm>
            <a:off x="731520" y="3611880"/>
            <a:ext cx="10728655" cy="777240"/>
          </a:xfrm>
          <a:prstGeom prst="rect">
            <a:avLst/>
          </a:prstGeom>
          <a:noFill/>
          <a:ln/>
        </p:spPr>
        <p:txBody>
          <a:bodyPr wrap="square" lIns="635" tIns="635" rIns="635" bIns="635" rtlCol="0" anchor="ctr"/>
          <a:lstStyle/>
          <a:p>
            <a:pPr indent="0" marL="0">
              <a:buNone/>
            </a:pPr>
            <a:r>
              <a:rPr lang="en-US" sz="1800" b="1" dirty="0">
                <a:solidFill>
                  <a:srgbClr val="0F6E7A"/>
                </a:solidFill>
                <a:latin typeface="Calibri" pitchFamily="34" charset="0"/>
                <a:ea typeface="Calibri" pitchFamily="34" charset="-122"/>
                <a:cs typeface="Calibri" pitchFamily="34" charset="-120"/>
              </a:rPr>
              <a:t>“The major hazards we face are…”  </a:t>
            </a:r>
            <a:pPr indent="0" marL="0">
              <a:buNone/>
            </a:pPr>
            <a:r>
              <a:rPr lang="en-US" sz="1800" dirty="0">
                <a:solidFill>
                  <a:srgbClr val="1B2730"/>
                </a:solidFill>
                <a:latin typeface="Calibri" pitchFamily="34" charset="0"/>
                <a:ea typeface="Calibri" pitchFamily="34" charset="-122"/>
                <a:cs typeface="Calibri" pitchFamily="34" charset="-120"/>
              </a:rPr>
              <a:t>trapped pressure and flammable gas</a:t>
            </a:r>
            <a:endParaRPr lang="en-US" sz="1800" dirty="0"/>
          </a:p>
        </p:txBody>
      </p:sp>
      <p:sp>
        <p:nvSpPr>
          <p:cNvPr id="12" name="a4_box_1154"/>
          <p:cNvSpPr/>
          <p:nvPr/>
        </p:nvSpPr>
        <p:spPr>
          <a:xfrm>
            <a:off x="548640" y="4498848"/>
            <a:ext cx="11094415" cy="777240"/>
          </a:xfrm>
          <a:prstGeom prst="roundRect">
            <a:avLst>
              <a:gd name="adj" fmla="val 14118"/>
            </a:avLst>
          </a:prstGeom>
          <a:solidFill>
            <a:srgbClr val="FFFFFF"/>
          </a:solidFill>
          <a:ln w="12700">
            <a:solidFill>
              <a:srgbClr val="C9D3D9"/>
            </a:solidFill>
            <a:prstDash val="solid"/>
          </a:ln>
        </p:spPr>
      </p:sp>
      <p:sp>
        <p:nvSpPr>
          <p:cNvPr id="13" name="a4_txt_1155"/>
          <p:cNvSpPr txBox="1"/>
          <p:nvPr/>
        </p:nvSpPr>
        <p:spPr>
          <a:xfrm>
            <a:off x="731520" y="4498848"/>
            <a:ext cx="10728655" cy="777240"/>
          </a:xfrm>
          <a:prstGeom prst="rect">
            <a:avLst/>
          </a:prstGeom>
          <a:noFill/>
          <a:ln/>
        </p:spPr>
        <p:txBody>
          <a:bodyPr wrap="square" lIns="635" tIns="635" rIns="635" bIns="635" rtlCol="0" anchor="ctr"/>
          <a:lstStyle/>
          <a:p>
            <a:pPr indent="0" marL="0">
              <a:buNone/>
            </a:pPr>
            <a:r>
              <a:rPr lang="en-US" sz="1800" b="1" dirty="0">
                <a:solidFill>
                  <a:srgbClr val="0F6E7A"/>
                </a:solidFill>
                <a:latin typeface="Calibri" pitchFamily="34" charset="0"/>
                <a:ea typeface="Calibri" pitchFamily="34" charset="-122"/>
                <a:cs typeface="Calibri" pitchFamily="34" charset="-120"/>
              </a:rPr>
              <a:t>“To control them we have…”  </a:t>
            </a:r>
            <a:pPr indent="0" marL="0">
              <a:buNone/>
            </a:pPr>
            <a:r>
              <a:rPr lang="en-US" sz="1800" dirty="0">
                <a:solidFill>
                  <a:srgbClr val="1B2730"/>
                </a:solidFill>
                <a:latin typeface="Calibri" pitchFamily="34" charset="0"/>
                <a:ea typeface="Calibri" pitchFamily="34" charset="-122"/>
                <a:cs typeface="Calibri" pitchFamily="34" charset="-120"/>
              </a:rPr>
              <a:t>locked the valves, installed the blind, tested the gas (point to them)</a:t>
            </a:r>
            <a:endParaRPr lang="en-US" sz="1800" dirty="0"/>
          </a:p>
        </p:txBody>
      </p:sp>
      <p:sp>
        <p:nvSpPr>
          <p:cNvPr id="14" name="a5_box_1156"/>
          <p:cNvSpPr/>
          <p:nvPr/>
        </p:nvSpPr>
        <p:spPr>
          <a:xfrm>
            <a:off x="548640" y="5385816"/>
            <a:ext cx="11094415" cy="777240"/>
          </a:xfrm>
          <a:prstGeom prst="roundRect">
            <a:avLst>
              <a:gd name="adj" fmla="val 14118"/>
            </a:avLst>
          </a:prstGeom>
          <a:solidFill>
            <a:srgbClr val="FFFFFF"/>
          </a:solidFill>
          <a:ln w="12700">
            <a:solidFill>
              <a:srgbClr val="C9D3D9"/>
            </a:solidFill>
            <a:prstDash val="solid"/>
          </a:ln>
        </p:spPr>
      </p:sp>
      <p:sp>
        <p:nvSpPr>
          <p:cNvPr id="15" name="a5_txt_1157"/>
          <p:cNvSpPr txBox="1"/>
          <p:nvPr/>
        </p:nvSpPr>
        <p:spPr>
          <a:xfrm>
            <a:off x="731520" y="5385816"/>
            <a:ext cx="10728655" cy="777240"/>
          </a:xfrm>
          <a:prstGeom prst="rect">
            <a:avLst/>
          </a:prstGeom>
          <a:noFill/>
          <a:ln/>
        </p:spPr>
        <p:txBody>
          <a:bodyPr wrap="square" lIns="635" tIns="635" rIns="635" bIns="635" rtlCol="0" anchor="ctr"/>
          <a:lstStyle/>
          <a:p>
            <a:pPr indent="0" marL="0">
              <a:buNone/>
            </a:pPr>
            <a:r>
              <a:rPr lang="en-US" sz="1800" b="1" dirty="0">
                <a:solidFill>
                  <a:srgbClr val="0F6E7A"/>
                </a:solidFill>
                <a:latin typeface="Calibri" pitchFamily="34" charset="0"/>
                <a:ea typeface="Calibri" pitchFamily="34" charset="-122"/>
                <a:cs typeface="Calibri" pitchFamily="34" charset="-120"/>
              </a:rPr>
              <a:t>“The remaining risk is… so we will…”  </a:t>
            </a:r>
            <a:pPr indent="0" marL="0">
              <a:buNone/>
            </a:pPr>
            <a:r>
              <a:rPr lang="en-US" sz="1800" dirty="0">
                <a:solidFill>
                  <a:srgbClr val="1B2730"/>
                </a:solidFill>
                <a:latin typeface="Calibri" pitchFamily="34" charset="0"/>
                <a:ea typeface="Calibri" pitchFamily="34" charset="-122"/>
                <a:cs typeface="Calibri" pitchFamily="34" charset="-120"/>
              </a:rPr>
              <a:t>a minor leak at the final flange – crack it slowly from the top side, stand clear, gas monitor ready</a:t>
            </a:r>
            <a:endParaRPr lang="en-US" sz="1800" dirty="0"/>
          </a:p>
        </p:txBody>
      </p:sp>
      <p:sp>
        <p:nvSpPr>
          <p:cNvPr id="16"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circ_1158"/>
          <p:cNvSpPr/>
          <p:nvPr/>
        </p:nvSpPr>
        <p:spPr>
          <a:xfrm>
            <a:off x="548640" y="2011680"/>
            <a:ext cx="1371600" cy="1371600"/>
          </a:xfrm>
          <a:prstGeom prst="ellipse">
            <a:avLst/>
          </a:prstGeom>
          <a:solidFill>
            <a:srgbClr val="E8771E"/>
          </a:solidFill>
          <a:ln/>
        </p:spPr>
      </p:sp>
      <p:pic>
        <p:nvPicPr>
          <p:cNvPr id="3" name="icon_1159"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160"/>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7</a:t>
            </a:r>
            <a:endParaRPr lang="en-US" sz="1800" dirty="0"/>
          </a:p>
        </p:txBody>
      </p:sp>
      <p:sp>
        <p:nvSpPr>
          <p:cNvPr id="5" name="txt_1161"/>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Permit Conditions &amp; Isolation (LOTO)</a:t>
            </a:r>
            <a:endParaRPr lang="en-US" sz="4000" dirty="0"/>
          </a:p>
        </p:txBody>
      </p:sp>
      <p:sp>
        <p:nvSpPr>
          <p:cNvPr id="6" name="txt_1162"/>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The rules of engagement – and the most critical technical control</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Conditions on Every Permit</a:t>
            </a:r>
            <a:endParaRPr lang="en-US" sz="3200" dirty="0"/>
          </a:p>
        </p:txBody>
      </p:sp>
      <p:sp>
        <p:nvSpPr>
          <p:cNvPr id="3" name="box_1163"/>
          <p:cNvSpPr/>
          <p:nvPr/>
        </p:nvSpPr>
        <p:spPr>
          <a:xfrm>
            <a:off x="548640" y="1280160"/>
            <a:ext cx="544068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1164"/>
          <p:cNvSpPr/>
          <p:nvPr/>
        </p:nvSpPr>
        <p:spPr>
          <a:xfrm>
            <a:off x="731520" y="1463040"/>
            <a:ext cx="685800" cy="685800"/>
          </a:xfrm>
          <a:prstGeom prst="ellipse">
            <a:avLst/>
          </a:prstGeom>
          <a:solidFill>
            <a:srgbClr val="0F6E7A"/>
          </a:solidFill>
          <a:ln/>
        </p:spPr>
      </p:sp>
      <p:pic>
        <p:nvPicPr>
          <p:cNvPr id="5" name="icon_1165"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1166"/>
          <p:cNvSpPr txBox="1"/>
          <p:nvPr/>
        </p:nvSpPr>
        <p:spPr>
          <a:xfrm>
            <a:off x="1581912" y="1444752"/>
            <a:ext cx="427024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Mandatory for ALL permit work</a:t>
            </a:r>
            <a:endParaRPr lang="en-US" sz="2000" dirty="0"/>
          </a:p>
        </p:txBody>
      </p:sp>
      <p:sp>
        <p:nvSpPr>
          <p:cNvPr id="7" name="txt_1167"/>
          <p:cNvSpPr txBox="1"/>
          <p:nvPr/>
        </p:nvSpPr>
        <p:spPr>
          <a:xfrm>
            <a:off x="777240" y="2240280"/>
            <a:ext cx="5029200" cy="3931920"/>
          </a:xfrm>
          <a:prstGeom prst="rect">
            <a:avLst/>
          </a:prstGeom>
          <a:noFill/>
          <a:ln/>
        </p:spPr>
        <p:txBody>
          <a:bodyPr wrap="square" lIns="635" tIns="635" rIns="635" bIns="635" rtlCol="0" anchor="t"/>
          <a:lstStyle/>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Competency: </a:t>
            </a:r>
            <a:pPr indent="0" marL="0">
              <a:buNone/>
            </a:pPr>
            <a:r>
              <a:rPr lang="en-US" sz="2000" dirty="0">
                <a:solidFill>
                  <a:srgbClr val="1B2730"/>
                </a:solidFill>
                <a:latin typeface="Calibri" pitchFamily="34" charset="0"/>
                <a:ea typeface="Calibri" pitchFamily="34" charset="-122"/>
                <a:cs typeface="Calibri" pitchFamily="34" charset="-120"/>
              </a:rPr>
              <a:t>trained &amp; authorised for your role</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Fitness: </a:t>
            </a:r>
            <a:pPr indent="0" marL="0">
              <a:buNone/>
            </a:pPr>
            <a:r>
              <a:rPr lang="en-US" sz="2000" dirty="0">
                <a:solidFill>
                  <a:srgbClr val="1B2730"/>
                </a:solidFill>
                <a:latin typeface="Calibri" pitchFamily="34" charset="0"/>
                <a:ea typeface="Calibri" pitchFamily="34" charset="-122"/>
                <a:cs typeface="Calibri" pitchFamily="34" charset="-120"/>
              </a:rPr>
              <a:t>no alcohol, drugs or impairing medication</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Stop Work Authority: </a:t>
            </a:r>
            <a:pPr indent="0" marL="0">
              <a:buNone/>
            </a:pPr>
            <a:r>
              <a:rPr lang="en-US" sz="2000" dirty="0">
                <a:solidFill>
                  <a:srgbClr val="1B2730"/>
                </a:solidFill>
                <a:latin typeface="Calibri" pitchFamily="34" charset="0"/>
                <a:ea typeface="Calibri" pitchFamily="34" charset="-122"/>
                <a:cs typeface="Calibri" pitchFamily="34" charset="-120"/>
              </a:rPr>
              <a:t>everyone, unconditionally</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Site rules: </a:t>
            </a:r>
            <a:pPr indent="0" marL="0">
              <a:buNone/>
            </a:pPr>
            <a:r>
              <a:rPr lang="en-US" sz="2000" dirty="0">
                <a:solidFill>
                  <a:srgbClr val="1B2730"/>
                </a:solidFill>
                <a:latin typeface="Calibri" pitchFamily="34" charset="0"/>
                <a:ea typeface="Calibri" pitchFamily="34" charset="-122"/>
                <a:cs typeface="Calibri" pitchFamily="34" charset="-120"/>
              </a:rPr>
              <a:t>smoking, speed, phones, seatbelts</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Housekeeping: </a:t>
            </a:r>
            <a:pPr indent="0" marL="0">
              <a:buNone/>
            </a:pPr>
            <a:r>
              <a:rPr lang="en-US" sz="2000" dirty="0">
                <a:solidFill>
                  <a:srgbClr val="1B2730"/>
                </a:solidFill>
                <a:latin typeface="Calibri" pitchFamily="34" charset="0"/>
                <a:ea typeface="Calibri" pitchFamily="34" charset="-122"/>
                <a:cs typeface="Calibri" pitchFamily="34" charset="-120"/>
              </a:rPr>
              <a:t>clean site, waste in correct bins</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Tools &amp; equipment: </a:t>
            </a:r>
            <a:pPr indent="0" marL="0">
              <a:buNone/>
            </a:pPr>
            <a:r>
              <a:rPr lang="en-US" sz="2000" dirty="0">
                <a:solidFill>
                  <a:srgbClr val="1B2730"/>
                </a:solidFill>
                <a:latin typeface="Calibri" pitchFamily="34" charset="0"/>
                <a:ea typeface="Calibri" pitchFamily="34" charset="-122"/>
                <a:cs typeface="Calibri" pitchFamily="34" charset="-120"/>
              </a:rPr>
              <a:t>fit for purpose, inspected, tagged</a:t>
            </a:r>
            <a:endParaRPr lang="en-US" sz="2000" dirty="0"/>
          </a:p>
        </p:txBody>
      </p:sp>
      <p:sp>
        <p:nvSpPr>
          <p:cNvPr id="8" name="a1_box_1168"/>
          <p:cNvSpPr/>
          <p:nvPr/>
        </p:nvSpPr>
        <p:spPr>
          <a:xfrm>
            <a:off x="6199632" y="1280160"/>
            <a:ext cx="5440680" cy="4937760"/>
          </a:xfrm>
          <a:prstGeom prst="roundRect">
            <a:avLst>
              <a:gd name="adj" fmla="val 2222"/>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circ_1169"/>
          <p:cNvSpPr/>
          <p:nvPr/>
        </p:nvSpPr>
        <p:spPr>
          <a:xfrm>
            <a:off x="6382512" y="1463040"/>
            <a:ext cx="685800" cy="685800"/>
          </a:xfrm>
          <a:prstGeom prst="ellipse">
            <a:avLst/>
          </a:prstGeom>
          <a:solidFill>
            <a:srgbClr val="E8771E"/>
          </a:solidFill>
          <a:ln/>
        </p:spPr>
      </p:sp>
      <p:pic>
        <p:nvPicPr>
          <p:cNvPr id="10" name="a1_icon_1170" descr="preencoded.png">    </p:cNvPr>
          <p:cNvPicPr>
            <a:picLocks noChangeAspect="1"/>
          </p:cNvPicPr>
          <p:nvPr/>
        </p:nvPicPr>
        <p:blipFill>
          <a:blip r:embed="rId2"/>
          <a:stretch>
            <a:fillRect/>
          </a:stretch>
        </p:blipFill>
        <p:spPr>
          <a:xfrm>
            <a:off x="6536817" y="1617345"/>
            <a:ext cx="377190" cy="377190"/>
          </a:xfrm>
          <a:prstGeom prst="rect">
            <a:avLst/>
          </a:prstGeom>
        </p:spPr>
      </p:pic>
      <p:sp>
        <p:nvSpPr>
          <p:cNvPr id="11" name="a1_txt_1171"/>
          <p:cNvSpPr txBox="1"/>
          <p:nvPr/>
        </p:nvSpPr>
        <p:spPr>
          <a:xfrm>
            <a:off x="7232904" y="1444752"/>
            <a:ext cx="427024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Limits written on THIS permit</a:t>
            </a:r>
            <a:endParaRPr lang="en-US" sz="2000" dirty="0"/>
          </a:p>
        </p:txBody>
      </p:sp>
      <p:sp>
        <p:nvSpPr>
          <p:cNvPr id="12" name="a1_txt_1172"/>
          <p:cNvSpPr txBox="1"/>
          <p:nvPr/>
        </p:nvSpPr>
        <p:spPr>
          <a:xfrm>
            <a:off x="6428232" y="2240280"/>
            <a:ext cx="5029200" cy="3931920"/>
          </a:xfrm>
          <a:prstGeom prst="rect">
            <a:avLst/>
          </a:prstGeom>
          <a:noFill/>
          <a:ln/>
        </p:spPr>
        <p:txBody>
          <a:bodyPr wrap="square" lIns="635" tIns="635" rIns="635" bIns="635" rtlCol="0" anchor="t"/>
          <a:lstStyle/>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Scope &amp; location </a:t>
            </a:r>
            <a:pPr indent="0" marL="0">
              <a:buNone/>
            </a:pPr>
            <a:r>
              <a:rPr lang="en-US" sz="2000" dirty="0">
                <a:solidFill>
                  <a:srgbClr val="1B2730"/>
                </a:solidFill>
                <a:latin typeface="Calibri" pitchFamily="34" charset="0"/>
                <a:ea typeface="Calibri" pitchFamily="34" charset="-122"/>
                <a:cs typeface="Calibri" pitchFamily="34" charset="-120"/>
              </a:rPr>
              <a:t>+ “NO work is authorised on…”</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Validity: </a:t>
            </a:r>
            <a:pPr indent="0" marL="0">
              <a:buNone/>
            </a:pPr>
            <a:r>
              <a:rPr lang="en-US" sz="2000" dirty="0">
                <a:solidFill>
                  <a:srgbClr val="1B2730"/>
                </a:solidFill>
                <a:latin typeface="Calibri" pitchFamily="34" charset="0"/>
                <a:ea typeface="Calibri" pitchFamily="34" charset="-122"/>
                <a:cs typeface="Calibri" pitchFamily="34" charset="-120"/>
              </a:rPr>
              <a:t>e.g. 08:00 – 16:30 (24-h clock)</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People: </a:t>
            </a:r>
            <a:pPr indent="0" marL="0">
              <a:buNone/>
            </a:pPr>
            <a:r>
              <a:rPr lang="en-US" sz="2000" dirty="0">
                <a:solidFill>
                  <a:srgbClr val="1B2730"/>
                </a:solidFill>
                <a:latin typeface="Calibri" pitchFamily="34" charset="0"/>
                <a:ea typeface="Calibri" pitchFamily="34" charset="-122"/>
                <a:cs typeface="Calibri" pitchFamily="34" charset="-120"/>
              </a:rPr>
              <a:t>e.g. max 4 in the party; max 2 inside V-205</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Tools: </a:t>
            </a:r>
            <a:pPr indent="0" marL="0">
              <a:buNone/>
            </a:pPr>
            <a:r>
              <a:rPr lang="en-US" sz="2000" dirty="0">
                <a:solidFill>
                  <a:srgbClr val="1B2730"/>
                </a:solidFill>
                <a:latin typeface="Calibri" pitchFamily="34" charset="0"/>
                <a:ea typeface="Calibri" pitchFamily="34" charset="-122"/>
                <a:cs typeface="Calibri" pitchFamily="34" charset="-120"/>
              </a:rPr>
              <a:t>e.g. hand tools and air-driven intrinsically safe wrench only</a:t>
            </a:r>
            <a:endParaRPr lang="en-US" sz="2000" dirty="0"/>
          </a:p>
          <a:p>
            <a:pPr marL="228600" indent="-228600">
              <a:spcAft>
                <a:spcPts val="800"/>
              </a:spcAft>
              <a:buSzPct val="100000"/>
              <a:buChar char="•"/>
            </a:pPr>
            <a:r>
              <a:rPr lang="en-US" sz="2000" b="1" dirty="0">
                <a:solidFill>
                  <a:srgbClr val="1B2730"/>
                </a:solidFill>
                <a:latin typeface="Calibri" pitchFamily="34" charset="0"/>
                <a:ea typeface="Calibri" pitchFamily="34" charset="-122"/>
                <a:cs typeface="Calibri" pitchFamily="34" charset="-120"/>
              </a:rPr>
              <a:t>Stop triggers: </a:t>
            </a:r>
            <a:pPr indent="0" marL="0">
              <a:buNone/>
            </a:pPr>
            <a:r>
              <a:rPr lang="en-US" sz="2000" dirty="0">
                <a:solidFill>
                  <a:srgbClr val="1B2730"/>
                </a:solidFill>
                <a:latin typeface="Calibri" pitchFamily="34" charset="0"/>
                <a:ea typeface="Calibri" pitchFamily="34" charset="-122"/>
                <a:cs typeface="Calibri" pitchFamily="34" charset="-120"/>
              </a:rPr>
              <a:t>e.g. wind above 25 km/h, or rain starts</a:t>
            </a:r>
            <a:endParaRPr lang="en-US" sz="2000" dirty="0"/>
          </a:p>
        </p:txBody>
      </p:sp>
      <p:sp>
        <p:nvSpPr>
          <p:cNvPr id="1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Isolation Methods – Most to Least Reliable</a:t>
            </a:r>
            <a:endParaRPr lang="en-US" sz="3200" dirty="0"/>
          </a:p>
        </p:txBody>
      </p:sp>
      <p:sp>
        <p:nvSpPr>
          <p:cNvPr id="3" name="a1w_box_1173"/>
          <p:cNvSpPr/>
          <p:nvPr/>
        </p:nvSpPr>
        <p:spPr>
          <a:xfrm>
            <a:off x="548640" y="1280160"/>
            <a:ext cx="11094415" cy="1115568"/>
          </a:xfrm>
          <a:prstGeom prst="roundRect">
            <a:avLst>
              <a:gd name="adj" fmla="val 98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w_box_1174"/>
          <p:cNvSpPr/>
          <p:nvPr/>
        </p:nvSpPr>
        <p:spPr>
          <a:xfrm>
            <a:off x="548640" y="1280160"/>
            <a:ext cx="914400" cy="1115568"/>
          </a:xfrm>
          <a:prstGeom prst="rect">
            <a:avLst/>
          </a:prstGeom>
          <a:solidFill>
            <a:srgbClr val="2E7D32"/>
          </a:solidFill>
          <a:ln/>
        </p:spPr>
      </p:sp>
      <p:sp>
        <p:nvSpPr>
          <p:cNvPr id="5" name="a1w_txt_1175"/>
          <p:cNvSpPr txBox="1"/>
          <p:nvPr/>
        </p:nvSpPr>
        <p:spPr>
          <a:xfrm>
            <a:off x="548640" y="1280160"/>
            <a:ext cx="914400" cy="1115568"/>
          </a:xfrm>
          <a:prstGeom prst="rect">
            <a:avLst/>
          </a:prstGeom>
          <a:noFill/>
          <a:ln/>
        </p:spPr>
        <p:txBody>
          <a:bodyPr wrap="square" lIns="635" tIns="635" rIns="635" bIns="635"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1</a:t>
            </a:r>
            <a:endParaRPr lang="en-US" sz="3600" dirty="0"/>
          </a:p>
        </p:txBody>
      </p:sp>
      <p:sp>
        <p:nvSpPr>
          <p:cNvPr id="6" name="a1w_txt_1176"/>
          <p:cNvSpPr txBox="1"/>
          <p:nvPr/>
        </p:nvSpPr>
        <p:spPr>
          <a:xfrm>
            <a:off x="1645920" y="1280160"/>
            <a:ext cx="3566160" cy="1115568"/>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Physical disconnection / removal</a:t>
            </a:r>
            <a:endParaRPr lang="en-US" sz="2000" dirty="0"/>
          </a:p>
        </p:txBody>
      </p:sp>
      <p:sp>
        <p:nvSpPr>
          <p:cNvPr id="7" name="a1w_txt_1177"/>
          <p:cNvSpPr txBox="1"/>
          <p:nvPr/>
        </p:nvSpPr>
        <p:spPr>
          <a:xfrm>
            <a:off x="5303520" y="1280160"/>
            <a:ext cx="6263640" cy="1115568"/>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Remove a pipe spool, pull a fuse, disconnect a coupling – the most positive method</a:t>
            </a:r>
            <a:endParaRPr lang="en-US" sz="1700" dirty="0"/>
          </a:p>
        </p:txBody>
      </p:sp>
      <p:sp>
        <p:nvSpPr>
          <p:cNvPr id="8" name="a2w_box_1178"/>
          <p:cNvSpPr/>
          <p:nvPr/>
        </p:nvSpPr>
        <p:spPr>
          <a:xfrm>
            <a:off x="548640" y="2523744"/>
            <a:ext cx="11094415" cy="1115568"/>
          </a:xfrm>
          <a:prstGeom prst="roundRect">
            <a:avLst>
              <a:gd name="adj" fmla="val 98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w_box_1179"/>
          <p:cNvSpPr/>
          <p:nvPr/>
        </p:nvSpPr>
        <p:spPr>
          <a:xfrm>
            <a:off x="548640" y="2523744"/>
            <a:ext cx="914400" cy="1115568"/>
          </a:xfrm>
          <a:prstGeom prst="rect">
            <a:avLst/>
          </a:prstGeom>
          <a:solidFill>
            <a:srgbClr val="558B2F"/>
          </a:solidFill>
          <a:ln/>
        </p:spPr>
      </p:sp>
      <p:sp>
        <p:nvSpPr>
          <p:cNvPr id="10" name="a2w_txt_1180"/>
          <p:cNvSpPr txBox="1"/>
          <p:nvPr/>
        </p:nvSpPr>
        <p:spPr>
          <a:xfrm>
            <a:off x="548640" y="2523744"/>
            <a:ext cx="914400" cy="1115568"/>
          </a:xfrm>
          <a:prstGeom prst="rect">
            <a:avLst/>
          </a:prstGeom>
          <a:noFill/>
          <a:ln/>
        </p:spPr>
        <p:txBody>
          <a:bodyPr wrap="square" lIns="635" tIns="635" rIns="635" bIns="635"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2</a:t>
            </a:r>
            <a:endParaRPr lang="en-US" sz="3600" dirty="0"/>
          </a:p>
        </p:txBody>
      </p:sp>
      <p:sp>
        <p:nvSpPr>
          <p:cNvPr id="11" name="a2w_txt_1181"/>
          <p:cNvSpPr txBox="1"/>
          <p:nvPr/>
        </p:nvSpPr>
        <p:spPr>
          <a:xfrm>
            <a:off x="1645920" y="2523744"/>
            <a:ext cx="3566160" cy="1115568"/>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Positive mechanical isolation</a:t>
            </a:r>
            <a:endParaRPr lang="en-US" sz="2000" dirty="0"/>
          </a:p>
        </p:txBody>
      </p:sp>
      <p:sp>
        <p:nvSpPr>
          <p:cNvPr id="12" name="a2w_txt_1182"/>
          <p:cNvSpPr txBox="1"/>
          <p:nvPr/>
        </p:nvSpPr>
        <p:spPr>
          <a:xfrm>
            <a:off x="5303520" y="2523744"/>
            <a:ext cx="6263640" cy="1115568"/>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Spade / spectacle / paddle blind – tagged, number recorded on the permit</a:t>
            </a:r>
            <a:endParaRPr lang="en-US" sz="1700" dirty="0"/>
          </a:p>
        </p:txBody>
      </p:sp>
      <p:sp>
        <p:nvSpPr>
          <p:cNvPr id="13" name="a3w_box_1183"/>
          <p:cNvSpPr/>
          <p:nvPr/>
        </p:nvSpPr>
        <p:spPr>
          <a:xfrm>
            <a:off x="548640" y="3767328"/>
            <a:ext cx="11094415" cy="1115568"/>
          </a:xfrm>
          <a:prstGeom prst="roundRect">
            <a:avLst>
              <a:gd name="adj" fmla="val 98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w_box_1184"/>
          <p:cNvSpPr/>
          <p:nvPr/>
        </p:nvSpPr>
        <p:spPr>
          <a:xfrm>
            <a:off x="548640" y="3767328"/>
            <a:ext cx="914400" cy="1115568"/>
          </a:xfrm>
          <a:prstGeom prst="rect">
            <a:avLst/>
          </a:prstGeom>
          <a:solidFill>
            <a:srgbClr val="F2A900"/>
          </a:solidFill>
          <a:ln/>
        </p:spPr>
      </p:sp>
      <p:sp>
        <p:nvSpPr>
          <p:cNvPr id="15" name="a3w_txt_1185"/>
          <p:cNvSpPr txBox="1"/>
          <p:nvPr/>
        </p:nvSpPr>
        <p:spPr>
          <a:xfrm>
            <a:off x="548640" y="3767328"/>
            <a:ext cx="914400" cy="1115568"/>
          </a:xfrm>
          <a:prstGeom prst="rect">
            <a:avLst/>
          </a:prstGeom>
          <a:noFill/>
          <a:ln/>
        </p:spPr>
        <p:txBody>
          <a:bodyPr wrap="square" lIns="635" tIns="635" rIns="635" bIns="635"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3</a:t>
            </a:r>
            <a:endParaRPr lang="en-US" sz="3600" dirty="0"/>
          </a:p>
        </p:txBody>
      </p:sp>
      <p:sp>
        <p:nvSpPr>
          <p:cNvPr id="16" name="a3w_txt_1186"/>
          <p:cNvSpPr txBox="1"/>
          <p:nvPr/>
        </p:nvSpPr>
        <p:spPr>
          <a:xfrm>
            <a:off x="1645920" y="3767328"/>
            <a:ext cx="3566160" cy="1115568"/>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Double block &amp; bleed (locked)</a:t>
            </a:r>
            <a:endParaRPr lang="en-US" sz="2000" dirty="0"/>
          </a:p>
        </p:txBody>
      </p:sp>
      <p:sp>
        <p:nvSpPr>
          <p:cNvPr id="17" name="a3w_txt_1187"/>
          <p:cNvSpPr txBox="1"/>
          <p:nvPr/>
        </p:nvSpPr>
        <p:spPr>
          <a:xfrm>
            <a:off x="5303520" y="3767328"/>
            <a:ext cx="6263640" cy="1115568"/>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Two closed valves + open bleed between. NOT acceptable as primary isolation for hydrocarbons / highly hazardous chemicals unless company standards allow</a:t>
            </a:r>
            <a:endParaRPr lang="en-US" sz="1700" dirty="0"/>
          </a:p>
        </p:txBody>
      </p:sp>
      <p:sp>
        <p:nvSpPr>
          <p:cNvPr id="18" name="a4w_box_1188"/>
          <p:cNvSpPr/>
          <p:nvPr/>
        </p:nvSpPr>
        <p:spPr>
          <a:xfrm>
            <a:off x="548640" y="5010912"/>
            <a:ext cx="11094415" cy="1115568"/>
          </a:xfrm>
          <a:prstGeom prst="roundRect">
            <a:avLst>
              <a:gd name="adj" fmla="val 983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w_box_1189"/>
          <p:cNvSpPr/>
          <p:nvPr/>
        </p:nvSpPr>
        <p:spPr>
          <a:xfrm>
            <a:off x="548640" y="5010912"/>
            <a:ext cx="914400" cy="1115568"/>
          </a:xfrm>
          <a:prstGeom prst="rect">
            <a:avLst/>
          </a:prstGeom>
          <a:solidFill>
            <a:srgbClr val="C0392B"/>
          </a:solidFill>
          <a:ln/>
        </p:spPr>
      </p:sp>
      <p:sp>
        <p:nvSpPr>
          <p:cNvPr id="20" name="a4w_txt_1190"/>
          <p:cNvSpPr txBox="1"/>
          <p:nvPr/>
        </p:nvSpPr>
        <p:spPr>
          <a:xfrm>
            <a:off x="548640" y="5010912"/>
            <a:ext cx="914400" cy="1115568"/>
          </a:xfrm>
          <a:prstGeom prst="rect">
            <a:avLst/>
          </a:prstGeom>
          <a:noFill/>
          <a:ln/>
        </p:spPr>
        <p:txBody>
          <a:bodyPr wrap="square" lIns="635" tIns="635" rIns="635" bIns="635"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4</a:t>
            </a:r>
            <a:endParaRPr lang="en-US" sz="3600" dirty="0"/>
          </a:p>
        </p:txBody>
      </p:sp>
      <p:sp>
        <p:nvSpPr>
          <p:cNvPr id="21" name="a4w_txt_1191"/>
          <p:cNvSpPr txBox="1"/>
          <p:nvPr/>
        </p:nvSpPr>
        <p:spPr>
          <a:xfrm>
            <a:off x="1645920" y="5010912"/>
            <a:ext cx="3566160" cy="1115568"/>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Single valve with lockout</a:t>
            </a:r>
            <a:endParaRPr lang="en-US" sz="2000" dirty="0"/>
          </a:p>
        </p:txBody>
      </p:sp>
      <p:sp>
        <p:nvSpPr>
          <p:cNvPr id="22" name="a4w_txt_1192"/>
          <p:cNvSpPr txBox="1"/>
          <p:nvPr/>
        </p:nvSpPr>
        <p:spPr>
          <a:xfrm>
            <a:off x="5303520" y="5010912"/>
            <a:ext cx="6263640" cy="1115568"/>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ONLY for non-hazardous utilities (plant air, cooling water) or as secondary isolation</a:t>
            </a:r>
            <a:endParaRPr lang="en-US" sz="1700" dirty="0"/>
          </a:p>
        </p:txBody>
      </p:sp>
      <p:sp>
        <p:nvSpPr>
          <p:cNvPr id="23" name="txt_1193"/>
          <p:cNvSpPr txBox="1"/>
          <p:nvPr/>
        </p:nvSpPr>
        <p:spPr>
          <a:xfrm>
            <a:off x="548640" y="6263640"/>
            <a:ext cx="11094415" cy="274320"/>
          </a:xfrm>
          <a:prstGeom prst="rect">
            <a:avLst/>
          </a:prstGeom>
          <a:noFill/>
          <a:ln/>
        </p:spPr>
        <p:txBody>
          <a:bodyPr wrap="square" lIns="635" tIns="635" rIns="635" bIns="635" rtlCol="0" anchor="t"/>
          <a:lstStyle/>
          <a:p>
            <a:pPr indent="0" marL="0">
              <a:buNone/>
            </a:pPr>
            <a:r>
              <a:rPr lang="en-US" sz="1500" i="1" dirty="0">
                <a:solidFill>
                  <a:srgbClr val="5B6B75"/>
                </a:solidFill>
                <a:latin typeface="Calibri" pitchFamily="34" charset="0"/>
                <a:ea typeface="Calibri" pitchFamily="34" charset="-122"/>
                <a:cs typeface="Calibri" pitchFamily="34" charset="-120"/>
              </a:rPr>
              <a:t>Standard: a zero-energy state, secured by a personal lock and a danger tag.</a:t>
            </a:r>
            <a:endParaRPr lang="en-US" sz="1500" dirty="0"/>
          </a:p>
        </p:txBody>
      </p:sp>
      <p:sp>
        <p:nvSpPr>
          <p:cNvPr id="2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left)">
                                      <p:cBhvr>
                                        <p:cTn id="7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Lock-Out Tag-Out (LOTO) Protocol</a:t>
            </a:r>
            <a:endParaRPr lang="en-US" sz="3200" dirty="0"/>
          </a:p>
        </p:txBody>
      </p:sp>
      <p:sp>
        <p:nvSpPr>
          <p:cNvPr id="3" name="box_1194"/>
          <p:cNvSpPr/>
          <p:nvPr/>
        </p:nvSpPr>
        <p:spPr>
          <a:xfrm>
            <a:off x="0" y="1143000"/>
            <a:ext cx="4206240" cy="5166360"/>
          </a:xfrm>
          <a:prstGeom prst="rect">
            <a:avLst/>
          </a:prstGeom>
          <a:solidFill>
            <a:srgbClr val="C0392B"/>
          </a:solidFill>
          <a:ln/>
        </p:spPr>
      </p:sp>
      <p:pic>
        <p:nvPicPr>
          <p:cNvPr id="4" name="icon_1195"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1196"/>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One person · one lock</a:t>
            </a:r>
            <a:endParaRPr lang="en-US" sz="1800" dirty="0"/>
          </a:p>
        </p:txBody>
      </p:sp>
      <p:sp>
        <p:nvSpPr>
          <p:cNvPr id="6" name="a1_box_1197"/>
          <p:cNvSpPr/>
          <p:nvPr/>
        </p:nvSpPr>
        <p:spPr>
          <a:xfrm>
            <a:off x="4526280" y="1280160"/>
            <a:ext cx="7114032"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a1_circ_1198"/>
          <p:cNvSpPr/>
          <p:nvPr/>
        </p:nvSpPr>
        <p:spPr>
          <a:xfrm>
            <a:off x="4690872" y="1490472"/>
            <a:ext cx="731520" cy="731520"/>
          </a:xfrm>
          <a:prstGeom prst="ellipse">
            <a:avLst/>
          </a:prstGeom>
          <a:solidFill>
            <a:srgbClr val="0F6E7A"/>
          </a:solidFill>
          <a:ln/>
        </p:spPr>
      </p:sp>
      <p:pic>
        <p:nvPicPr>
          <p:cNvPr id="8" name="a1_icon_1199" descr="preencoded.png">    </p:cNvPr>
          <p:cNvPicPr>
            <a:picLocks noChangeAspect="1"/>
          </p:cNvPicPr>
          <p:nvPr/>
        </p:nvPicPr>
        <p:blipFill>
          <a:blip r:embed="rId2"/>
          <a:stretch>
            <a:fillRect/>
          </a:stretch>
        </p:blipFill>
        <p:spPr>
          <a:xfrm>
            <a:off x="4855464" y="1655064"/>
            <a:ext cx="402336" cy="402336"/>
          </a:xfrm>
          <a:prstGeom prst="rect">
            <a:avLst/>
          </a:prstGeom>
        </p:spPr>
      </p:pic>
      <p:sp>
        <p:nvSpPr>
          <p:cNvPr id="9" name="a1_txt_1200"/>
          <p:cNvSpPr txBox="1"/>
          <p:nvPr/>
        </p:nvSpPr>
        <p:spPr>
          <a:xfrm>
            <a:off x="5577840" y="1325880"/>
            <a:ext cx="5925312"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Personal locks</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Every worker exposed to the hazard applies their OWN lock to the hasp. Group or supervisor locks are not enough.</a:t>
            </a:r>
            <a:endParaRPr lang="en-US" sz="2000" dirty="0"/>
          </a:p>
        </p:txBody>
      </p:sp>
      <p:sp>
        <p:nvSpPr>
          <p:cNvPr id="10" name="a2_box_1201"/>
          <p:cNvSpPr/>
          <p:nvPr/>
        </p:nvSpPr>
        <p:spPr>
          <a:xfrm>
            <a:off x="4526280" y="2542032"/>
            <a:ext cx="7114032"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1" name="a2_circ_1202"/>
          <p:cNvSpPr/>
          <p:nvPr/>
        </p:nvSpPr>
        <p:spPr>
          <a:xfrm>
            <a:off x="4690872" y="2752344"/>
            <a:ext cx="731520" cy="731520"/>
          </a:xfrm>
          <a:prstGeom prst="ellipse">
            <a:avLst/>
          </a:prstGeom>
          <a:solidFill>
            <a:srgbClr val="0F6E7A"/>
          </a:solidFill>
          <a:ln/>
        </p:spPr>
      </p:sp>
      <p:pic>
        <p:nvPicPr>
          <p:cNvPr id="12" name="a2_icon_1203" descr="preencoded.png">    </p:cNvPr>
          <p:cNvPicPr>
            <a:picLocks noChangeAspect="1"/>
          </p:cNvPicPr>
          <p:nvPr/>
        </p:nvPicPr>
        <p:blipFill>
          <a:blip r:embed="rId3"/>
          <a:stretch>
            <a:fillRect/>
          </a:stretch>
        </p:blipFill>
        <p:spPr>
          <a:xfrm>
            <a:off x="4855464" y="2916936"/>
            <a:ext cx="402336" cy="402336"/>
          </a:xfrm>
          <a:prstGeom prst="rect">
            <a:avLst/>
          </a:prstGeom>
        </p:spPr>
      </p:pic>
      <p:sp>
        <p:nvSpPr>
          <p:cNvPr id="13" name="a2_txt_1204"/>
          <p:cNvSpPr txBox="1"/>
          <p:nvPr/>
        </p:nvSpPr>
        <p:spPr>
          <a:xfrm>
            <a:off x="5577840" y="2587752"/>
            <a:ext cx="5925312"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Danger tags</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Durable, weatherproof: name, department, date, reason, and “DO NOT OPERATE – MEN AT WORK”.</a:t>
            </a:r>
            <a:endParaRPr lang="en-US" sz="2000" dirty="0"/>
          </a:p>
        </p:txBody>
      </p:sp>
      <p:sp>
        <p:nvSpPr>
          <p:cNvPr id="14" name="a3_box_1205"/>
          <p:cNvSpPr/>
          <p:nvPr/>
        </p:nvSpPr>
        <p:spPr>
          <a:xfrm>
            <a:off x="4526280" y="3803904"/>
            <a:ext cx="7114032"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5" name="a3_circ_1206"/>
          <p:cNvSpPr/>
          <p:nvPr/>
        </p:nvSpPr>
        <p:spPr>
          <a:xfrm>
            <a:off x="4690872" y="4014216"/>
            <a:ext cx="731520" cy="731520"/>
          </a:xfrm>
          <a:prstGeom prst="ellipse">
            <a:avLst/>
          </a:prstGeom>
          <a:solidFill>
            <a:srgbClr val="0F6E7A"/>
          </a:solidFill>
          <a:ln/>
        </p:spPr>
      </p:sp>
      <p:pic>
        <p:nvPicPr>
          <p:cNvPr id="16" name="a3_icon_1207" descr="preencoded.png">    </p:cNvPr>
          <p:cNvPicPr>
            <a:picLocks noChangeAspect="1"/>
          </p:cNvPicPr>
          <p:nvPr/>
        </p:nvPicPr>
        <p:blipFill>
          <a:blip r:embed="rId4"/>
          <a:stretch>
            <a:fillRect/>
          </a:stretch>
        </p:blipFill>
        <p:spPr>
          <a:xfrm>
            <a:off x="4855464" y="4178808"/>
            <a:ext cx="402336" cy="402336"/>
          </a:xfrm>
          <a:prstGeom prst="rect">
            <a:avLst/>
          </a:prstGeom>
        </p:spPr>
      </p:pic>
      <p:sp>
        <p:nvSpPr>
          <p:cNvPr id="17" name="a3_txt_1208"/>
          <p:cNvSpPr txBox="1"/>
          <p:nvPr/>
        </p:nvSpPr>
        <p:spPr>
          <a:xfrm>
            <a:off x="5577840" y="3849624"/>
            <a:ext cx="5925312"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Isolation Certificate</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Lists every isolation point, tag number and lock owner – attached to the permit.</a:t>
            </a:r>
            <a:endParaRPr lang="en-US" sz="2000" dirty="0"/>
          </a:p>
        </p:txBody>
      </p:sp>
      <p:sp>
        <p:nvSpPr>
          <p:cNvPr id="18" name="a4_box_1209"/>
          <p:cNvSpPr/>
          <p:nvPr/>
        </p:nvSpPr>
        <p:spPr>
          <a:xfrm>
            <a:off x="4526280" y="5065776"/>
            <a:ext cx="7114032"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_circ_1210"/>
          <p:cNvSpPr/>
          <p:nvPr/>
        </p:nvSpPr>
        <p:spPr>
          <a:xfrm>
            <a:off x="4690872" y="5276088"/>
            <a:ext cx="731520" cy="731520"/>
          </a:xfrm>
          <a:prstGeom prst="ellipse">
            <a:avLst/>
          </a:prstGeom>
          <a:solidFill>
            <a:srgbClr val="E8771E"/>
          </a:solidFill>
          <a:ln/>
        </p:spPr>
      </p:sp>
      <p:pic>
        <p:nvPicPr>
          <p:cNvPr id="20" name="a4_icon_1211" descr="preencoded.png">    </p:cNvPr>
          <p:cNvPicPr>
            <a:picLocks noChangeAspect="1"/>
          </p:cNvPicPr>
          <p:nvPr/>
        </p:nvPicPr>
        <p:blipFill>
          <a:blip r:embed="rId5"/>
          <a:stretch>
            <a:fillRect/>
          </a:stretch>
        </p:blipFill>
        <p:spPr>
          <a:xfrm>
            <a:off x="4855464" y="5440680"/>
            <a:ext cx="402336" cy="402336"/>
          </a:xfrm>
          <a:prstGeom prst="rect">
            <a:avLst/>
          </a:prstGeom>
        </p:spPr>
      </p:pic>
      <p:sp>
        <p:nvSpPr>
          <p:cNvPr id="21" name="a4_txt_1212"/>
          <p:cNvSpPr txBox="1"/>
          <p:nvPr/>
        </p:nvSpPr>
        <p:spPr>
          <a:xfrm>
            <a:off x="5577840" y="5111496"/>
            <a:ext cx="5925312"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Verify (VOI)</a:t>
            </a:r>
            <a:endParaRPr lang="en-US" sz="2000" dirty="0"/>
          </a:p>
          <a:p>
            <a:pPr indent="0" marL="0">
              <a:buNone/>
            </a:pPr>
            <a:r>
              <a:rPr lang="en-US" sz="1600" dirty="0">
                <a:solidFill>
                  <a:srgbClr val="1B2730"/>
                </a:solidFill>
                <a:latin typeface="Calibri" pitchFamily="34" charset="0"/>
                <a:ea typeface="Calibri" pitchFamily="34" charset="-122"/>
                <a:cs typeface="Calibri" pitchFamily="34" charset="-120"/>
              </a:rPr>
              <a:t>Positive test of zero energy: try-start the motor, zero pressure at the worksite. The final step before signing.</a:t>
            </a:r>
            <a:endParaRPr lang="en-US" sz="2000" dirty="0"/>
          </a:p>
        </p:txBody>
      </p:sp>
      <p:sp>
        <p:nvSpPr>
          <p:cNvPr id="22"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Plant Scenario: Breaking a Flange (Line Breaking)</a:t>
            </a:r>
            <a:endParaRPr lang="en-US" sz="3200" dirty="0"/>
          </a:p>
        </p:txBody>
      </p:sp>
      <p:sp>
        <p:nvSpPr>
          <p:cNvPr id="3" name="box_1213"/>
          <p:cNvSpPr/>
          <p:nvPr/>
        </p:nvSpPr>
        <p:spPr>
          <a:xfrm>
            <a:off x="548640" y="1280160"/>
            <a:ext cx="5120640" cy="1463040"/>
          </a:xfrm>
          <a:prstGeom prst="roundRect">
            <a:avLst>
              <a:gd name="adj" fmla="val 7500"/>
            </a:avLst>
          </a:prstGeom>
          <a:solidFill>
            <a:srgbClr val="0B2A3C"/>
          </a:solidFill>
          <a:ln/>
        </p:spPr>
      </p:sp>
      <p:sp>
        <p:nvSpPr>
          <p:cNvPr id="4" name="txt_1214"/>
          <p:cNvSpPr txBox="1"/>
          <p:nvPr/>
        </p:nvSpPr>
        <p:spPr>
          <a:xfrm>
            <a:off x="731520" y="1280160"/>
            <a:ext cx="4754880" cy="1463040"/>
          </a:xfrm>
          <a:prstGeom prst="rect">
            <a:avLst/>
          </a:prstGeom>
          <a:noFill/>
          <a:ln/>
        </p:spPr>
        <p:txBody>
          <a:bodyPr wrap="square" lIns="635" tIns="635" rIns="635" bIns="635" rtlCol="0" anchor="ctr"/>
          <a:lstStyle/>
          <a:p>
            <a:pPr indent="0" marL="0">
              <a:buNone/>
            </a:pPr>
            <a:r>
              <a:rPr lang="en-US" sz="1800" b="1" dirty="0">
                <a:solidFill>
                  <a:srgbClr val="E8771E"/>
                </a:solidFill>
                <a:latin typeface="Calibri" pitchFamily="34" charset="0"/>
                <a:ea typeface="Calibri" pitchFamily="34" charset="-122"/>
                <a:cs typeface="Calibri" pitchFamily="34" charset="-120"/>
              </a:rPr>
              <a:t>SITUATION  </a:t>
            </a:r>
            <a:pPr indent="0" marL="0">
              <a:buNone/>
            </a:pPr>
            <a:r>
              <a:rPr lang="en-US" sz="1800" dirty="0">
                <a:solidFill>
                  <a:srgbClr val="FFFFFF"/>
                </a:solidFill>
                <a:latin typeface="Calibri" pitchFamily="34" charset="0"/>
                <a:ea typeface="Calibri" pitchFamily="34" charset="-122"/>
                <a:cs typeface="Calibri" pitchFamily="34" charset="-120"/>
              </a:rPr>
              <a:t>A technician must break a flange on a line that carried flammable gas and H₂S.</a:t>
            </a:r>
            <a:endParaRPr lang="en-US" sz="1800" dirty="0"/>
          </a:p>
          <a:p>
            <a:pPr indent="0" marL="0">
              <a:buNone/>
            </a:pPr>
            <a:r>
              <a:rPr lang="en-US" sz="1800" b="1" dirty="0">
                <a:solidFill>
                  <a:srgbClr val="E8771E"/>
                </a:solidFill>
                <a:latin typeface="Calibri" pitchFamily="34" charset="0"/>
                <a:ea typeface="Calibri" pitchFamily="34" charset="-122"/>
                <a:cs typeface="Calibri" pitchFamily="34" charset="-120"/>
              </a:rPr>
              <a:t>QUESTION  </a:t>
            </a:r>
            <a:pPr indent="0" marL="0">
              <a:buNone/>
            </a:pPr>
            <a:r>
              <a:rPr lang="en-US" sz="1800" dirty="0">
                <a:solidFill>
                  <a:srgbClr val="FFFFFF"/>
                </a:solidFill>
                <a:latin typeface="Calibri" pitchFamily="34" charset="0"/>
                <a:ea typeface="Calibri" pitchFamily="34" charset="-122"/>
                <a:cs typeface="Calibri" pitchFamily="34" charset="-120"/>
              </a:rPr>
              <a:t>Is closing one valve enough?</a:t>
            </a:r>
            <a:endParaRPr lang="en-US" sz="1800" dirty="0"/>
          </a:p>
        </p:txBody>
      </p:sp>
      <p:sp>
        <p:nvSpPr>
          <p:cNvPr id="5" name="a1_box_1215"/>
          <p:cNvSpPr/>
          <p:nvPr/>
        </p:nvSpPr>
        <p:spPr>
          <a:xfrm>
            <a:off x="548640" y="2926080"/>
            <a:ext cx="5120640" cy="1280160"/>
          </a:xfrm>
          <a:prstGeom prst="roundRect">
            <a:avLst>
              <a:gd name="adj" fmla="val 8571"/>
            </a:avLst>
          </a:prstGeom>
          <a:solidFill>
            <a:srgbClr val="F8E0DD"/>
          </a:solidFill>
          <a:ln/>
        </p:spPr>
      </p:sp>
      <p:sp>
        <p:nvSpPr>
          <p:cNvPr id="6" name="a1_txt_1216"/>
          <p:cNvSpPr txBox="1"/>
          <p:nvPr/>
        </p:nvSpPr>
        <p:spPr>
          <a:xfrm>
            <a:off x="731520" y="2926080"/>
            <a:ext cx="4754880" cy="1280160"/>
          </a:xfrm>
          <a:prstGeom prst="rect">
            <a:avLst/>
          </a:prstGeom>
          <a:noFill/>
          <a:ln/>
        </p:spPr>
        <p:txBody>
          <a:bodyPr wrap="square" lIns="635" tIns="635" rIns="635" bIns="635" rtlCol="0" anchor="ctr"/>
          <a:lstStyle/>
          <a:p>
            <a:pPr indent="0" marL="0">
              <a:buNone/>
            </a:pPr>
            <a:r>
              <a:rPr lang="en-US" sz="2400" b="1" dirty="0">
                <a:solidFill>
                  <a:srgbClr val="C0392B"/>
                </a:solidFill>
                <a:latin typeface="Calibri" pitchFamily="34" charset="0"/>
                <a:ea typeface="Calibri" pitchFamily="34" charset="-122"/>
                <a:cs typeface="Calibri" pitchFamily="34" charset="-120"/>
              </a:rPr>
              <a:t>NO. </a:t>
            </a:r>
            <a:pPr indent="0" marL="0">
              <a:buNone/>
            </a:pPr>
            <a:r>
              <a:rPr lang="en-US" sz="1800" dirty="0">
                <a:solidFill>
                  <a:srgbClr val="1B2730"/>
                </a:solidFill>
                <a:latin typeface="Calibri" pitchFamily="34" charset="0"/>
                <a:ea typeface="Calibri" pitchFamily="34" charset="-122"/>
                <a:cs typeface="Calibri" pitchFamily="34" charset="-120"/>
              </a:rPr>
              <a:t>A single valve is only for non-hazardous utilities or as secondary isolation.</a:t>
            </a:r>
            <a:endParaRPr lang="en-US" sz="1800" dirty="0"/>
          </a:p>
        </p:txBody>
      </p:sp>
      <p:sp>
        <p:nvSpPr>
          <p:cNvPr id="7" name="a2_box_1217"/>
          <p:cNvSpPr/>
          <p:nvPr/>
        </p:nvSpPr>
        <p:spPr>
          <a:xfrm>
            <a:off x="548640" y="4389120"/>
            <a:ext cx="5120640" cy="1828800"/>
          </a:xfrm>
          <a:prstGeom prst="roundRect">
            <a:avLst>
              <a:gd name="adj" fmla="val 6000"/>
            </a:avLst>
          </a:prstGeom>
          <a:solidFill>
            <a:srgbClr val="FDEBDC"/>
          </a:solidFill>
          <a:ln/>
        </p:spPr>
      </p:sp>
      <p:sp>
        <p:nvSpPr>
          <p:cNvPr id="8" name="a2_txt_1218"/>
          <p:cNvSpPr txBox="1"/>
          <p:nvPr/>
        </p:nvSpPr>
        <p:spPr>
          <a:xfrm>
            <a:off x="731520" y="4389120"/>
            <a:ext cx="4754880" cy="1828800"/>
          </a:xfrm>
          <a:prstGeom prst="rect">
            <a:avLst/>
          </a:prstGeom>
          <a:noFill/>
          <a:ln/>
        </p:spPr>
        <p:txBody>
          <a:bodyPr wrap="square" lIns="635" tIns="635" rIns="635" bIns="635" rtlCol="0" anchor="ctr"/>
          <a:lstStyle/>
          <a:p>
            <a:pPr indent="0" marL="0">
              <a:buNone/>
            </a:pPr>
            <a:r>
              <a:rPr lang="en-US" sz="1700" b="1" dirty="0">
                <a:solidFill>
                  <a:srgbClr val="E8771E"/>
                </a:solidFill>
                <a:latin typeface="Calibri" pitchFamily="34" charset="0"/>
                <a:ea typeface="Calibri" pitchFamily="34" charset="-122"/>
                <a:cs typeface="Calibri" pitchFamily="34" charset="-120"/>
              </a:rPr>
              <a:t>Be ready (contingency): </a:t>
            </a:r>
            <a:pPr indent="0" marL="0">
              <a:buNone/>
            </a:pPr>
            <a:r>
              <a:rPr lang="en-US" sz="1700" dirty="0">
                <a:solidFill>
                  <a:srgbClr val="1B2730"/>
                </a:solidFill>
                <a:latin typeface="Calibri" pitchFamily="34" charset="0"/>
                <a:ea typeface="Calibri" pitchFamily="34" charset="-122"/>
                <a:cs typeface="Calibri" pitchFamily="34" charset="-120"/>
              </a:rPr>
              <a:t>pre-fitted leak clamp or emergency blind, absorbent material and drip trays at the worksite; crew briefed on their use.</a:t>
            </a:r>
            <a:endParaRPr lang="en-US" sz="1700" dirty="0"/>
          </a:p>
        </p:txBody>
      </p:sp>
      <p:sp>
        <p:nvSpPr>
          <p:cNvPr id="9" name="a3w_box_1219"/>
          <p:cNvSpPr/>
          <p:nvPr/>
        </p:nvSpPr>
        <p:spPr>
          <a:xfrm>
            <a:off x="6035040" y="1280160"/>
            <a:ext cx="5605272" cy="731520"/>
          </a:xfrm>
          <a:prstGeom prst="roundRect">
            <a:avLst>
              <a:gd name="adj" fmla="val 15000"/>
            </a:avLst>
          </a:prstGeom>
          <a:solidFill>
            <a:srgbClr val="FFFFFF"/>
          </a:solidFill>
          <a:ln w="12700">
            <a:solidFill>
              <a:srgbClr val="C9D3D9"/>
            </a:solidFill>
            <a:prstDash val="solid"/>
          </a:ln>
        </p:spPr>
      </p:sp>
      <p:sp>
        <p:nvSpPr>
          <p:cNvPr id="10" name="a3w_box_1220"/>
          <p:cNvSpPr/>
          <p:nvPr/>
        </p:nvSpPr>
        <p:spPr>
          <a:xfrm>
            <a:off x="6035040" y="1280160"/>
            <a:ext cx="731520" cy="731520"/>
          </a:xfrm>
          <a:prstGeom prst="rect">
            <a:avLst/>
          </a:prstGeom>
          <a:solidFill>
            <a:srgbClr val="0F6E7A"/>
          </a:solidFill>
          <a:ln/>
        </p:spPr>
      </p:sp>
      <p:sp>
        <p:nvSpPr>
          <p:cNvPr id="11" name="a3w_txt_1221"/>
          <p:cNvSpPr txBox="1"/>
          <p:nvPr/>
        </p:nvSpPr>
        <p:spPr>
          <a:xfrm>
            <a:off x="6035040" y="1280160"/>
            <a:ext cx="731520"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2" name="a3w_txt_1222"/>
          <p:cNvSpPr txBox="1"/>
          <p:nvPr/>
        </p:nvSpPr>
        <p:spPr>
          <a:xfrm>
            <a:off x="6858000" y="1280160"/>
            <a:ext cx="4709160" cy="73152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Isolation plan: blind / disconnect + lock &amp; tag</a:t>
            </a:r>
            <a:endParaRPr lang="en-US" sz="1700" dirty="0"/>
          </a:p>
        </p:txBody>
      </p:sp>
      <p:sp>
        <p:nvSpPr>
          <p:cNvPr id="13" name="a4w_box_1223"/>
          <p:cNvSpPr/>
          <p:nvPr/>
        </p:nvSpPr>
        <p:spPr>
          <a:xfrm>
            <a:off x="6035040" y="2121408"/>
            <a:ext cx="5605272" cy="731520"/>
          </a:xfrm>
          <a:prstGeom prst="roundRect">
            <a:avLst>
              <a:gd name="adj" fmla="val 15000"/>
            </a:avLst>
          </a:prstGeom>
          <a:solidFill>
            <a:srgbClr val="FFFFFF"/>
          </a:solidFill>
          <a:ln w="12700">
            <a:solidFill>
              <a:srgbClr val="C9D3D9"/>
            </a:solidFill>
            <a:prstDash val="solid"/>
          </a:ln>
        </p:spPr>
      </p:sp>
      <p:sp>
        <p:nvSpPr>
          <p:cNvPr id="14" name="a4w_box_1224"/>
          <p:cNvSpPr/>
          <p:nvPr/>
        </p:nvSpPr>
        <p:spPr>
          <a:xfrm>
            <a:off x="6035040" y="2121408"/>
            <a:ext cx="731520" cy="731520"/>
          </a:xfrm>
          <a:prstGeom prst="rect">
            <a:avLst/>
          </a:prstGeom>
          <a:solidFill>
            <a:srgbClr val="0F6E7A"/>
          </a:solidFill>
          <a:ln/>
        </p:spPr>
      </p:sp>
      <p:sp>
        <p:nvSpPr>
          <p:cNvPr id="15" name="a4w_txt_1225"/>
          <p:cNvSpPr txBox="1"/>
          <p:nvPr/>
        </p:nvSpPr>
        <p:spPr>
          <a:xfrm>
            <a:off x="6035040" y="2121408"/>
            <a:ext cx="731520"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a4w_txt_1226"/>
          <p:cNvSpPr txBox="1"/>
          <p:nvPr/>
        </p:nvSpPr>
        <p:spPr>
          <a:xfrm>
            <a:off x="6858000" y="2121408"/>
            <a:ext cx="4709160" cy="73152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Isolation Certificate attached</a:t>
            </a:r>
            <a:endParaRPr lang="en-US" sz="1700" dirty="0"/>
          </a:p>
        </p:txBody>
      </p:sp>
      <p:sp>
        <p:nvSpPr>
          <p:cNvPr id="17" name="a5w_box_1227"/>
          <p:cNvSpPr/>
          <p:nvPr/>
        </p:nvSpPr>
        <p:spPr>
          <a:xfrm>
            <a:off x="6035040" y="2962656"/>
            <a:ext cx="5605272" cy="731520"/>
          </a:xfrm>
          <a:prstGeom prst="roundRect">
            <a:avLst>
              <a:gd name="adj" fmla="val 15000"/>
            </a:avLst>
          </a:prstGeom>
          <a:solidFill>
            <a:srgbClr val="FFFFFF"/>
          </a:solidFill>
          <a:ln w="12700">
            <a:solidFill>
              <a:srgbClr val="C9D3D9"/>
            </a:solidFill>
            <a:prstDash val="solid"/>
          </a:ln>
        </p:spPr>
      </p:sp>
      <p:sp>
        <p:nvSpPr>
          <p:cNvPr id="18" name="a5w_box_1228"/>
          <p:cNvSpPr/>
          <p:nvPr/>
        </p:nvSpPr>
        <p:spPr>
          <a:xfrm>
            <a:off x="6035040" y="2962656"/>
            <a:ext cx="731520" cy="731520"/>
          </a:xfrm>
          <a:prstGeom prst="rect">
            <a:avLst/>
          </a:prstGeom>
          <a:solidFill>
            <a:srgbClr val="0F6E7A"/>
          </a:solidFill>
          <a:ln/>
        </p:spPr>
      </p:sp>
      <p:sp>
        <p:nvSpPr>
          <p:cNvPr id="19" name="a5w_txt_1229"/>
          <p:cNvSpPr txBox="1"/>
          <p:nvPr/>
        </p:nvSpPr>
        <p:spPr>
          <a:xfrm>
            <a:off x="6035040" y="2962656"/>
            <a:ext cx="731520"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a5w_txt_1230"/>
          <p:cNvSpPr txBox="1"/>
          <p:nvPr/>
        </p:nvSpPr>
        <p:spPr>
          <a:xfrm>
            <a:off x="6858000" y="2962656"/>
            <a:ext cx="4709160" cy="73152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VOI: zero pressure confirmed</a:t>
            </a:r>
            <a:endParaRPr lang="en-US" sz="1700" dirty="0"/>
          </a:p>
        </p:txBody>
      </p:sp>
      <p:sp>
        <p:nvSpPr>
          <p:cNvPr id="21" name="a6w_box_1231"/>
          <p:cNvSpPr/>
          <p:nvPr/>
        </p:nvSpPr>
        <p:spPr>
          <a:xfrm>
            <a:off x="6035040" y="3803904"/>
            <a:ext cx="5605272" cy="731520"/>
          </a:xfrm>
          <a:prstGeom prst="roundRect">
            <a:avLst>
              <a:gd name="adj" fmla="val 15000"/>
            </a:avLst>
          </a:prstGeom>
          <a:solidFill>
            <a:srgbClr val="FFFFFF"/>
          </a:solidFill>
          <a:ln w="12700">
            <a:solidFill>
              <a:srgbClr val="C9D3D9"/>
            </a:solidFill>
            <a:prstDash val="solid"/>
          </a:ln>
        </p:spPr>
      </p:sp>
      <p:sp>
        <p:nvSpPr>
          <p:cNvPr id="22" name="a6w_box_1232"/>
          <p:cNvSpPr/>
          <p:nvPr/>
        </p:nvSpPr>
        <p:spPr>
          <a:xfrm>
            <a:off x="6035040" y="3803904"/>
            <a:ext cx="731520" cy="731520"/>
          </a:xfrm>
          <a:prstGeom prst="rect">
            <a:avLst/>
          </a:prstGeom>
          <a:solidFill>
            <a:srgbClr val="0F6E7A"/>
          </a:solidFill>
          <a:ln/>
        </p:spPr>
      </p:sp>
      <p:sp>
        <p:nvSpPr>
          <p:cNvPr id="23" name="a6w_txt_1233"/>
          <p:cNvSpPr txBox="1"/>
          <p:nvPr/>
        </p:nvSpPr>
        <p:spPr>
          <a:xfrm>
            <a:off x="6035040" y="3803904"/>
            <a:ext cx="731520"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4" name="a6w_txt_1234"/>
          <p:cNvSpPr txBox="1"/>
          <p:nvPr/>
        </p:nvSpPr>
        <p:spPr>
          <a:xfrm>
            <a:off x="6858000" y="3803904"/>
            <a:ext cx="4709160" cy="73152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Gas test where required</a:t>
            </a:r>
            <a:endParaRPr lang="en-US" sz="1700" dirty="0"/>
          </a:p>
        </p:txBody>
      </p:sp>
      <p:sp>
        <p:nvSpPr>
          <p:cNvPr id="25" name="a7w_box_1235"/>
          <p:cNvSpPr/>
          <p:nvPr/>
        </p:nvSpPr>
        <p:spPr>
          <a:xfrm>
            <a:off x="6035040" y="4645152"/>
            <a:ext cx="5605272" cy="731520"/>
          </a:xfrm>
          <a:prstGeom prst="roundRect">
            <a:avLst>
              <a:gd name="adj" fmla="val 15000"/>
            </a:avLst>
          </a:prstGeom>
          <a:solidFill>
            <a:srgbClr val="FFFFFF"/>
          </a:solidFill>
          <a:ln w="12700">
            <a:solidFill>
              <a:srgbClr val="C9D3D9"/>
            </a:solidFill>
            <a:prstDash val="solid"/>
          </a:ln>
        </p:spPr>
      </p:sp>
      <p:sp>
        <p:nvSpPr>
          <p:cNvPr id="26" name="a7w_box_1236"/>
          <p:cNvSpPr/>
          <p:nvPr/>
        </p:nvSpPr>
        <p:spPr>
          <a:xfrm>
            <a:off x="6035040" y="4645152"/>
            <a:ext cx="731520" cy="731520"/>
          </a:xfrm>
          <a:prstGeom prst="rect">
            <a:avLst/>
          </a:prstGeom>
          <a:solidFill>
            <a:srgbClr val="0F6E7A"/>
          </a:solidFill>
          <a:ln/>
        </p:spPr>
      </p:sp>
      <p:sp>
        <p:nvSpPr>
          <p:cNvPr id="27" name="a7w_txt_1237"/>
          <p:cNvSpPr txBox="1"/>
          <p:nvPr/>
        </p:nvSpPr>
        <p:spPr>
          <a:xfrm>
            <a:off x="6035040" y="4645152"/>
            <a:ext cx="731520"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8" name="a7w_txt_1238"/>
          <p:cNvSpPr txBox="1"/>
          <p:nvPr/>
        </p:nvSpPr>
        <p:spPr>
          <a:xfrm>
            <a:off x="6858000" y="4645152"/>
            <a:ext cx="4709160" cy="73152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Walkdown, sign, toolbox talk</a:t>
            </a:r>
            <a:endParaRPr lang="en-US" sz="1700" dirty="0"/>
          </a:p>
        </p:txBody>
      </p:sp>
      <p:sp>
        <p:nvSpPr>
          <p:cNvPr id="29" name="a8w_box_1239"/>
          <p:cNvSpPr/>
          <p:nvPr/>
        </p:nvSpPr>
        <p:spPr>
          <a:xfrm>
            <a:off x="6035040" y="5486400"/>
            <a:ext cx="5605272" cy="731520"/>
          </a:xfrm>
          <a:prstGeom prst="roundRect">
            <a:avLst>
              <a:gd name="adj" fmla="val 15000"/>
            </a:avLst>
          </a:prstGeom>
          <a:solidFill>
            <a:srgbClr val="FFFFFF"/>
          </a:solidFill>
          <a:ln w="12700">
            <a:solidFill>
              <a:srgbClr val="C9D3D9"/>
            </a:solidFill>
            <a:prstDash val="solid"/>
          </a:ln>
        </p:spPr>
      </p:sp>
      <p:sp>
        <p:nvSpPr>
          <p:cNvPr id="30" name="a8w_box_1240"/>
          <p:cNvSpPr/>
          <p:nvPr/>
        </p:nvSpPr>
        <p:spPr>
          <a:xfrm>
            <a:off x="6035040" y="5486400"/>
            <a:ext cx="731520" cy="731520"/>
          </a:xfrm>
          <a:prstGeom prst="rect">
            <a:avLst/>
          </a:prstGeom>
          <a:solidFill>
            <a:srgbClr val="0F6E7A"/>
          </a:solidFill>
          <a:ln/>
        </p:spPr>
      </p:sp>
      <p:sp>
        <p:nvSpPr>
          <p:cNvPr id="31" name="a8w_txt_1241"/>
          <p:cNvSpPr txBox="1"/>
          <p:nvPr/>
        </p:nvSpPr>
        <p:spPr>
          <a:xfrm>
            <a:off x="6035040" y="5486400"/>
            <a:ext cx="731520" cy="73152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2" name="a8w_txt_1242"/>
          <p:cNvSpPr txBox="1"/>
          <p:nvPr/>
        </p:nvSpPr>
        <p:spPr>
          <a:xfrm>
            <a:off x="6858000" y="5486400"/>
            <a:ext cx="4709160" cy="73152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Crack slowly from far side, stand clear, monitor ready</a:t>
            </a:r>
            <a:endParaRPr lang="en-US" sz="1700" dirty="0"/>
          </a:p>
        </p:txBody>
      </p:sp>
      <p:sp>
        <p:nvSpPr>
          <p:cNvPr id="3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wipe(left)">
                                      <p:cBhvr>
                                        <p:cTn id="65" dur="500"/>
                                        <p:tgtEl>
                                          <p:spTgt spid="21"/>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wipe(left)">
                                      <p:cBhvr>
                                        <p:cTn id="68" dur="500"/>
                                        <p:tgtEl>
                                          <p:spTgt spid="22"/>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ipe(left)">
                                      <p:cBhvr>
                                        <p:cTn id="71" dur="500"/>
                                        <p:tgtEl>
                                          <p:spTgt spid="23"/>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wipe(left)">
                                      <p:cBhvr>
                                        <p:cTn id="74" dur="500"/>
                                        <p:tgtEl>
                                          <p:spTgt spid="2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left)">
                                      <p:cBhvr>
                                        <p:cTn id="79" dur="500"/>
                                        <p:tgtEl>
                                          <p:spTgt spid="25"/>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wipe(left)">
                                      <p:cBhvr>
                                        <p:cTn id="82" dur="500"/>
                                        <p:tgtEl>
                                          <p:spTgt spid="26"/>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wipe(left)">
                                      <p:cBhvr>
                                        <p:cTn id="85" dur="500"/>
                                        <p:tgtEl>
                                          <p:spTgt spid="27"/>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wipe(left)">
                                      <p:cBhvr>
                                        <p:cTn id="88" dur="500"/>
                                        <p:tgtEl>
                                          <p:spTgt spid="2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wipe(left)">
                                      <p:cBhvr>
                                        <p:cTn id="99" dur="500"/>
                                        <p:tgtEl>
                                          <p:spTgt spid="31"/>
                                        </p:tgtEl>
                                      </p:cBhvr>
                                    </p:animEffect>
                                  </p:childTnLst>
                                </p:cTn>
                              </p:par>
                              <p:par>
                                <p:cTn id="100" presetID="22" presetClass="entr" presetSubtype="8"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wipe(left)">
                                      <p:cBhvr>
                                        <p:cTn id="10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circ_1243"/>
          <p:cNvSpPr/>
          <p:nvPr/>
        </p:nvSpPr>
        <p:spPr>
          <a:xfrm>
            <a:off x="548640" y="2011680"/>
            <a:ext cx="1371600" cy="1371600"/>
          </a:xfrm>
          <a:prstGeom prst="ellipse">
            <a:avLst/>
          </a:prstGeom>
          <a:solidFill>
            <a:srgbClr val="E8771E"/>
          </a:solidFill>
          <a:ln/>
        </p:spPr>
      </p:sp>
      <p:pic>
        <p:nvPicPr>
          <p:cNvPr id="3" name="icon_1244"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245"/>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8</a:t>
            </a:r>
            <a:endParaRPr lang="en-US" sz="1800" dirty="0"/>
          </a:p>
        </p:txBody>
      </p:sp>
      <p:sp>
        <p:nvSpPr>
          <p:cNvPr id="5" name="txt_1246"/>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Gas Testing &amp; Atmospheric Monitoring</a:t>
            </a:r>
            <a:endParaRPr lang="en-US" sz="4000" dirty="0"/>
          </a:p>
        </p:txBody>
      </p:sp>
      <p:sp>
        <p:nvSpPr>
          <p:cNvPr id="6" name="txt_1247"/>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What we test, the acceptable levels, and how often</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What Are We Testing For?</a:t>
            </a:r>
            <a:endParaRPr lang="en-US" sz="3200" dirty="0"/>
          </a:p>
        </p:txBody>
      </p:sp>
      <p:sp>
        <p:nvSpPr>
          <p:cNvPr id="3" name="a1_box_1248"/>
          <p:cNvSpPr/>
          <p:nvPr/>
        </p:nvSpPr>
        <p:spPr>
          <a:xfrm>
            <a:off x="548640" y="1280160"/>
            <a:ext cx="3564026" cy="420624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box_1249"/>
          <p:cNvSpPr/>
          <p:nvPr/>
        </p:nvSpPr>
        <p:spPr>
          <a:xfrm>
            <a:off x="548640" y="1280160"/>
            <a:ext cx="3564026" cy="1234440"/>
          </a:xfrm>
          <a:prstGeom prst="rect">
            <a:avLst/>
          </a:prstGeom>
          <a:solidFill>
            <a:srgbClr val="0F6E7A"/>
          </a:solidFill>
          <a:ln/>
        </p:spPr>
      </p:sp>
      <p:pic>
        <p:nvPicPr>
          <p:cNvPr id="5" name="a1_icon_1250" descr="preencoded.png">    </p:cNvPr>
          <p:cNvPicPr>
            <a:picLocks noChangeAspect="1"/>
          </p:cNvPicPr>
          <p:nvPr/>
        </p:nvPicPr>
        <p:blipFill>
          <a:blip r:embed="rId1"/>
          <a:stretch>
            <a:fillRect/>
          </a:stretch>
        </p:blipFill>
        <p:spPr>
          <a:xfrm>
            <a:off x="777240" y="1508760"/>
            <a:ext cx="777240" cy="777240"/>
          </a:xfrm>
          <a:prstGeom prst="rect">
            <a:avLst/>
          </a:prstGeom>
        </p:spPr>
      </p:pic>
      <p:sp>
        <p:nvSpPr>
          <p:cNvPr id="6" name="a1_txt_1251"/>
          <p:cNvSpPr txBox="1"/>
          <p:nvPr/>
        </p:nvSpPr>
        <p:spPr>
          <a:xfrm>
            <a:off x="1645920" y="1280160"/>
            <a:ext cx="2375306" cy="1234440"/>
          </a:xfrm>
          <a:prstGeom prst="rect">
            <a:avLst/>
          </a:prstGeom>
          <a:noFill/>
          <a:ln/>
        </p:spPr>
        <p:txBody>
          <a:bodyPr wrap="square" lIns="635" tIns="635" rIns="635" bIns="635"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OXYGEN (O₂)</a:t>
            </a:r>
            <a:endParaRPr lang="en-US" sz="2100" dirty="0"/>
          </a:p>
        </p:txBody>
      </p:sp>
      <p:sp>
        <p:nvSpPr>
          <p:cNvPr id="7" name="a1_txt_1252"/>
          <p:cNvSpPr txBox="1"/>
          <p:nvPr/>
        </p:nvSpPr>
        <p:spPr>
          <a:xfrm>
            <a:off x="777240" y="2697480"/>
            <a:ext cx="3106826" cy="1325880"/>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Too little = suffocation. Too much = greater fire risk.</a:t>
            </a:r>
            <a:endParaRPr lang="en-US" sz="1800" dirty="0"/>
          </a:p>
        </p:txBody>
      </p:sp>
      <p:sp>
        <p:nvSpPr>
          <p:cNvPr id="8" name="a1_txt_1253"/>
          <p:cNvSpPr txBox="1"/>
          <p:nvPr/>
        </p:nvSpPr>
        <p:spPr>
          <a:xfrm>
            <a:off x="685800" y="4069080"/>
            <a:ext cx="3289706" cy="1280160"/>
          </a:xfrm>
          <a:prstGeom prst="rect">
            <a:avLst/>
          </a:prstGeom>
          <a:noFill/>
          <a:ln/>
        </p:spPr>
        <p:txBody>
          <a:bodyPr wrap="square" lIns="635" tIns="635" rIns="635" bIns="635" rtlCol="0" anchor="ctr"/>
          <a:lstStyle/>
          <a:p>
            <a:pPr algn="ctr" indent="0" marL="0">
              <a:buNone/>
            </a:pPr>
            <a:r>
              <a:rPr lang="en-US" sz="2800" b="1" dirty="0">
                <a:solidFill>
                  <a:srgbClr val="0F6E7A"/>
                </a:solidFill>
                <a:latin typeface="Arial" pitchFamily="34" charset="0"/>
                <a:ea typeface="Arial" pitchFamily="34" charset="-122"/>
                <a:cs typeface="Arial" pitchFamily="34" charset="-120"/>
              </a:rPr>
              <a:t>19.5% – 23.5%</a:t>
            </a:r>
            <a:endParaRPr lang="en-US" sz="2800" dirty="0"/>
          </a:p>
        </p:txBody>
      </p:sp>
      <p:sp>
        <p:nvSpPr>
          <p:cNvPr id="9" name="a2_box_1254"/>
          <p:cNvSpPr/>
          <p:nvPr/>
        </p:nvSpPr>
        <p:spPr>
          <a:xfrm>
            <a:off x="4313834" y="1280160"/>
            <a:ext cx="3564026" cy="420624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a2_box_1255"/>
          <p:cNvSpPr/>
          <p:nvPr/>
        </p:nvSpPr>
        <p:spPr>
          <a:xfrm>
            <a:off x="4313834" y="1280160"/>
            <a:ext cx="3564026" cy="1234440"/>
          </a:xfrm>
          <a:prstGeom prst="rect">
            <a:avLst/>
          </a:prstGeom>
          <a:solidFill>
            <a:srgbClr val="C0392B"/>
          </a:solidFill>
          <a:ln/>
        </p:spPr>
      </p:sp>
      <p:pic>
        <p:nvPicPr>
          <p:cNvPr id="11" name="a2_icon_1256" descr="preencoded.png">    </p:cNvPr>
          <p:cNvPicPr>
            <a:picLocks noChangeAspect="1"/>
          </p:cNvPicPr>
          <p:nvPr/>
        </p:nvPicPr>
        <p:blipFill>
          <a:blip r:embed="rId2"/>
          <a:stretch>
            <a:fillRect/>
          </a:stretch>
        </p:blipFill>
        <p:spPr>
          <a:xfrm>
            <a:off x="4542434" y="1508760"/>
            <a:ext cx="777240" cy="777240"/>
          </a:xfrm>
          <a:prstGeom prst="rect">
            <a:avLst/>
          </a:prstGeom>
        </p:spPr>
      </p:pic>
      <p:sp>
        <p:nvSpPr>
          <p:cNvPr id="12" name="a2_txt_1257"/>
          <p:cNvSpPr txBox="1"/>
          <p:nvPr/>
        </p:nvSpPr>
        <p:spPr>
          <a:xfrm>
            <a:off x="5411114" y="1280160"/>
            <a:ext cx="2375306" cy="1234440"/>
          </a:xfrm>
          <a:prstGeom prst="rect">
            <a:avLst/>
          </a:prstGeom>
          <a:noFill/>
          <a:ln/>
        </p:spPr>
        <p:txBody>
          <a:bodyPr wrap="square" lIns="635" tIns="635" rIns="635" bIns="635"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FLAMMABLES (LEL)</a:t>
            </a:r>
            <a:endParaRPr lang="en-US" sz="2100" dirty="0"/>
          </a:p>
        </p:txBody>
      </p:sp>
      <p:sp>
        <p:nvSpPr>
          <p:cNvPr id="13" name="a2_txt_1258"/>
          <p:cNvSpPr txBox="1"/>
          <p:nvPr/>
        </p:nvSpPr>
        <p:spPr>
          <a:xfrm>
            <a:off x="4542434" y="2697480"/>
            <a:ext cx="3106826" cy="1325880"/>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LEL = the lowest gas concentration in air that can ignite. We work far below it.</a:t>
            </a:r>
            <a:endParaRPr lang="en-US" sz="1800" dirty="0"/>
          </a:p>
        </p:txBody>
      </p:sp>
      <p:sp>
        <p:nvSpPr>
          <p:cNvPr id="14" name="a2_txt_1259"/>
          <p:cNvSpPr txBox="1"/>
          <p:nvPr/>
        </p:nvSpPr>
        <p:spPr>
          <a:xfrm>
            <a:off x="4450994" y="4069080"/>
            <a:ext cx="3289706" cy="1280160"/>
          </a:xfrm>
          <a:prstGeom prst="rect">
            <a:avLst/>
          </a:prstGeom>
          <a:noFill/>
          <a:ln/>
        </p:spPr>
        <p:txBody>
          <a:bodyPr wrap="square" lIns="635" tIns="635" rIns="635" bIns="635" rtlCol="0" anchor="ctr"/>
          <a:lstStyle/>
          <a:p>
            <a:pPr algn="ctr" indent="0" marL="0">
              <a:buNone/>
            </a:pPr>
            <a:r>
              <a:rPr lang="en-US" sz="2800" b="1" dirty="0">
                <a:solidFill>
                  <a:srgbClr val="C0392B"/>
                </a:solidFill>
                <a:latin typeface="Arial" pitchFamily="34" charset="0"/>
                <a:ea typeface="Arial" pitchFamily="34" charset="-122"/>
                <a:cs typeface="Arial" pitchFamily="34" charset="-120"/>
              </a:rPr>
              <a:t>&lt; 10% LEL</a:t>
            </a:r>
            <a:endParaRPr lang="en-US" sz="2800" dirty="0"/>
          </a:p>
        </p:txBody>
      </p:sp>
      <p:sp>
        <p:nvSpPr>
          <p:cNvPr id="15" name="a3_box_1260"/>
          <p:cNvSpPr/>
          <p:nvPr/>
        </p:nvSpPr>
        <p:spPr>
          <a:xfrm>
            <a:off x="8079029" y="1280160"/>
            <a:ext cx="3564026" cy="420624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6" name="a3_box_1261"/>
          <p:cNvSpPr/>
          <p:nvPr/>
        </p:nvSpPr>
        <p:spPr>
          <a:xfrm>
            <a:off x="8079029" y="1280160"/>
            <a:ext cx="3564026" cy="1234440"/>
          </a:xfrm>
          <a:prstGeom prst="rect">
            <a:avLst/>
          </a:prstGeom>
          <a:solidFill>
            <a:srgbClr val="6A1B9A"/>
          </a:solidFill>
          <a:ln/>
        </p:spPr>
      </p:sp>
      <p:pic>
        <p:nvPicPr>
          <p:cNvPr id="17" name="a3_icon_1262" descr="preencoded.png">    </p:cNvPr>
          <p:cNvPicPr>
            <a:picLocks noChangeAspect="1"/>
          </p:cNvPicPr>
          <p:nvPr/>
        </p:nvPicPr>
        <p:blipFill>
          <a:blip r:embed="rId3"/>
          <a:stretch>
            <a:fillRect/>
          </a:stretch>
        </p:blipFill>
        <p:spPr>
          <a:xfrm>
            <a:off x="8307629" y="1508760"/>
            <a:ext cx="777240" cy="777240"/>
          </a:xfrm>
          <a:prstGeom prst="rect">
            <a:avLst/>
          </a:prstGeom>
        </p:spPr>
      </p:pic>
      <p:sp>
        <p:nvSpPr>
          <p:cNvPr id="18" name="a3_txt_1263"/>
          <p:cNvSpPr txBox="1"/>
          <p:nvPr/>
        </p:nvSpPr>
        <p:spPr>
          <a:xfrm>
            <a:off x="9176309" y="1280160"/>
            <a:ext cx="2375306" cy="1234440"/>
          </a:xfrm>
          <a:prstGeom prst="rect">
            <a:avLst/>
          </a:prstGeom>
          <a:noFill/>
          <a:ln/>
        </p:spPr>
        <p:txBody>
          <a:bodyPr wrap="square" lIns="635" tIns="635" rIns="635" bIns="635"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TOXIC GASES</a:t>
            </a:r>
            <a:endParaRPr lang="en-US" sz="2100" dirty="0"/>
          </a:p>
        </p:txBody>
      </p:sp>
      <p:sp>
        <p:nvSpPr>
          <p:cNvPr id="19" name="a3_txt_1264"/>
          <p:cNvSpPr txBox="1"/>
          <p:nvPr/>
        </p:nvSpPr>
        <p:spPr>
          <a:xfrm>
            <a:off x="8307629" y="2697480"/>
            <a:ext cx="3106826" cy="1325880"/>
          </a:xfrm>
          <a:prstGeom prst="rect">
            <a:avLst/>
          </a:prstGeom>
          <a:noFill/>
          <a:ln/>
        </p:spPr>
        <p:txBody>
          <a:bodyPr wrap="square" lIns="635" tIns="635" rIns="635" bIns="635" rtlCol="0" anchor="t"/>
          <a:lstStyle/>
          <a:p>
            <a:pPr indent="0" marL="0">
              <a:buNone/>
            </a:pPr>
            <a:r>
              <a:rPr lang="en-US" sz="1800" dirty="0">
                <a:solidFill>
                  <a:srgbClr val="1B2730"/>
                </a:solidFill>
                <a:latin typeface="Calibri" pitchFamily="34" charset="0"/>
                <a:ea typeface="Calibri" pitchFamily="34" charset="-122"/>
                <a:cs typeface="Calibri" pitchFamily="34" charset="-120"/>
              </a:rPr>
              <a:t>e.g. Hydrogen Sulphide (H₂S), Carbon Monoxide (CO). Limits are site-specific.</a:t>
            </a:r>
            <a:endParaRPr lang="en-US" sz="1800" dirty="0"/>
          </a:p>
        </p:txBody>
      </p:sp>
      <p:sp>
        <p:nvSpPr>
          <p:cNvPr id="20" name="a3_txt_1265"/>
          <p:cNvSpPr txBox="1"/>
          <p:nvPr/>
        </p:nvSpPr>
        <p:spPr>
          <a:xfrm>
            <a:off x="8216189" y="4069080"/>
            <a:ext cx="3289706" cy="1280160"/>
          </a:xfrm>
          <a:prstGeom prst="rect">
            <a:avLst/>
          </a:prstGeom>
          <a:noFill/>
          <a:ln/>
        </p:spPr>
        <p:txBody>
          <a:bodyPr wrap="square" lIns="635" tIns="635" rIns="635" bIns="635" rtlCol="0" anchor="ctr"/>
          <a:lstStyle/>
          <a:p>
            <a:pPr algn="ctr" indent="0" marL="0">
              <a:buNone/>
            </a:pPr>
            <a:r>
              <a:rPr lang="en-US" sz="2800" b="1" dirty="0">
                <a:solidFill>
                  <a:srgbClr val="6A1B9A"/>
                </a:solidFill>
                <a:latin typeface="Arial" pitchFamily="34" charset="0"/>
                <a:ea typeface="Arial" pitchFamily="34" charset="-122"/>
                <a:cs typeface="Arial" pitchFamily="34" charset="-120"/>
              </a:rPr>
              <a:t>H₂S &lt; 10 ppm</a:t>
            </a:r>
            <a:endParaRPr lang="en-US" sz="2800" dirty="0"/>
          </a:p>
          <a:p>
            <a:pPr algn="ctr" indent="0" marL="0">
              <a:buNone/>
            </a:pPr>
            <a:r>
              <a:rPr lang="en-US" sz="2800" b="1" dirty="0">
                <a:solidFill>
                  <a:srgbClr val="6A1B9A"/>
                </a:solidFill>
                <a:latin typeface="Arial" pitchFamily="34" charset="0"/>
                <a:ea typeface="Arial" pitchFamily="34" charset="-122"/>
                <a:cs typeface="Arial" pitchFamily="34" charset="-120"/>
              </a:rPr>
              <a:t>CO &lt; 35 ppm</a:t>
            </a:r>
            <a:endParaRPr lang="en-US" sz="2800" dirty="0"/>
          </a:p>
        </p:txBody>
      </p:sp>
      <p:sp>
        <p:nvSpPr>
          <p:cNvPr id="21" name="a4_box_1266"/>
          <p:cNvSpPr/>
          <p:nvPr/>
        </p:nvSpPr>
        <p:spPr>
          <a:xfrm>
            <a:off x="548640" y="5623560"/>
            <a:ext cx="11094415" cy="621792"/>
          </a:xfrm>
          <a:prstGeom prst="roundRect">
            <a:avLst>
              <a:gd name="adj" fmla="val 17647"/>
            </a:avLst>
          </a:prstGeom>
          <a:solidFill>
            <a:srgbClr val="F8E0DD"/>
          </a:solidFill>
          <a:ln/>
        </p:spPr>
      </p:sp>
      <p:sp>
        <p:nvSpPr>
          <p:cNvPr id="22" name="a4_txt_1267"/>
          <p:cNvSpPr txBox="1"/>
          <p:nvPr/>
        </p:nvSpPr>
        <p:spPr>
          <a:xfrm>
            <a:off x="731520" y="5623560"/>
            <a:ext cx="10728655" cy="621792"/>
          </a:xfrm>
          <a:prstGeom prst="rect">
            <a:avLst/>
          </a:prstGeom>
          <a:noFill/>
          <a:ln/>
        </p:spPr>
        <p:txBody>
          <a:bodyPr wrap="square" lIns="635" tIns="635" rIns="635" bIns="635"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STOP &amp; EVACUATE if the monitor alarms: </a:t>
            </a:r>
            <a:pPr indent="0" marL="0">
              <a:buNone/>
            </a:pPr>
            <a:r>
              <a:rPr lang="en-US" sz="1900" dirty="0">
                <a:solidFill>
                  <a:srgbClr val="1B2730"/>
                </a:solidFill>
                <a:latin typeface="Calibri" pitchFamily="34" charset="0"/>
                <a:ea typeface="Calibri" pitchFamily="34" charset="-122"/>
                <a:cs typeface="Calibri" pitchFamily="34" charset="-120"/>
              </a:rPr>
              <a:t>LEL &gt; 10%,  O₂ &lt; 19.5% or &gt; 23.5%,  H₂S &gt; 10 ppm</a:t>
            </a:r>
            <a:endParaRPr lang="en-US" sz="1900" dirty="0"/>
          </a:p>
        </p:txBody>
      </p:sp>
      <p:sp>
        <p:nvSpPr>
          <p:cNvPr id="2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How Gas Testing is Done</a:t>
            </a:r>
            <a:endParaRPr lang="en-US" sz="3200" dirty="0"/>
          </a:p>
        </p:txBody>
      </p:sp>
      <p:sp>
        <p:nvSpPr>
          <p:cNvPr id="3" name="box_1268"/>
          <p:cNvSpPr/>
          <p:nvPr/>
        </p:nvSpPr>
        <p:spPr>
          <a:xfrm>
            <a:off x="0" y="1143000"/>
            <a:ext cx="4206240" cy="5166360"/>
          </a:xfrm>
          <a:prstGeom prst="rect">
            <a:avLst/>
          </a:prstGeom>
          <a:solidFill>
            <a:srgbClr val="0F6E7A"/>
          </a:solidFill>
          <a:ln/>
        </p:spPr>
      </p:sp>
      <p:pic>
        <p:nvPicPr>
          <p:cNvPr id="4" name="icon_1269"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1270"/>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Test · Record · Re-test</a:t>
            </a:r>
            <a:endParaRPr lang="en-US" sz="1800" dirty="0"/>
          </a:p>
        </p:txBody>
      </p:sp>
      <p:sp>
        <p:nvSpPr>
          <p:cNvPr id="6" name="a1w_box_1271"/>
          <p:cNvSpPr/>
          <p:nvPr/>
        </p:nvSpPr>
        <p:spPr>
          <a:xfrm>
            <a:off x="4526280" y="1280160"/>
            <a:ext cx="1655064" cy="301752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7" name="a1w_box_1272"/>
          <p:cNvSpPr/>
          <p:nvPr/>
        </p:nvSpPr>
        <p:spPr>
          <a:xfrm>
            <a:off x="4526280" y="1280160"/>
            <a:ext cx="1655064" cy="566928"/>
          </a:xfrm>
          <a:prstGeom prst="rect">
            <a:avLst/>
          </a:prstGeom>
          <a:solidFill>
            <a:srgbClr val="0F6E7A"/>
          </a:solidFill>
          <a:ln/>
        </p:spPr>
      </p:sp>
      <p:sp>
        <p:nvSpPr>
          <p:cNvPr id="8" name="a1w_txt_1273"/>
          <p:cNvSpPr txBox="1"/>
          <p:nvPr/>
        </p:nvSpPr>
        <p:spPr>
          <a:xfrm>
            <a:off x="4599432"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Check</a:t>
            </a:r>
            <a:endParaRPr lang="en-US" sz="1700" dirty="0"/>
          </a:p>
        </p:txBody>
      </p:sp>
      <p:pic>
        <p:nvPicPr>
          <p:cNvPr id="9" name="a1w_icon_1274" descr="preencoded.png">    </p:cNvPr>
          <p:cNvPicPr>
            <a:picLocks noChangeAspect="1"/>
          </p:cNvPicPr>
          <p:nvPr/>
        </p:nvPicPr>
        <p:blipFill>
          <a:blip r:embed="rId2"/>
          <a:stretch>
            <a:fillRect/>
          </a:stretch>
        </p:blipFill>
        <p:spPr>
          <a:xfrm>
            <a:off x="5079492" y="1993392"/>
            <a:ext cx="548640" cy="548640"/>
          </a:xfrm>
          <a:prstGeom prst="rect">
            <a:avLst/>
          </a:prstGeom>
        </p:spPr>
      </p:pic>
      <p:sp>
        <p:nvSpPr>
          <p:cNvPr id="10" name="a1w_txt_1275"/>
          <p:cNvSpPr txBox="1"/>
          <p:nvPr/>
        </p:nvSpPr>
        <p:spPr>
          <a:xfrm>
            <a:off x="4617720" y="2606040"/>
            <a:ext cx="1472184" cy="1645920"/>
          </a:xfrm>
          <a:prstGeom prst="rect">
            <a:avLst/>
          </a:prstGeom>
          <a:noFill/>
          <a:ln/>
        </p:spPr>
        <p:txBody>
          <a:bodyPr wrap="square" lIns="635" tIns="635" rIns="635" bIns="635" rtlCol="0" anchor="t"/>
          <a:lstStyle/>
          <a:p>
            <a:pPr algn="ctr" indent="0" marL="0">
              <a:buNone/>
            </a:pPr>
            <a:r>
              <a:rPr lang="en-US" sz="1500" dirty="0">
                <a:solidFill>
                  <a:srgbClr val="1B2730"/>
                </a:solidFill>
                <a:latin typeface="Calibri" pitchFamily="34" charset="0"/>
                <a:ea typeface="Calibri" pitchFamily="34" charset="-122"/>
                <a:cs typeface="Calibri" pitchFamily="34" charset="-120"/>
              </a:rPr>
              <a:t>Calibrated monitor; bump-test before each day’s use</a:t>
            </a:r>
            <a:endParaRPr lang="en-US" sz="1500" dirty="0"/>
          </a:p>
        </p:txBody>
      </p:sp>
      <p:sp>
        <p:nvSpPr>
          <p:cNvPr id="11" name="a2w_box_1276"/>
          <p:cNvSpPr/>
          <p:nvPr/>
        </p:nvSpPr>
        <p:spPr>
          <a:xfrm>
            <a:off x="6345936" y="1280160"/>
            <a:ext cx="1655064" cy="301752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a2w_box_1277"/>
          <p:cNvSpPr/>
          <p:nvPr/>
        </p:nvSpPr>
        <p:spPr>
          <a:xfrm>
            <a:off x="6345936" y="1280160"/>
            <a:ext cx="1655064" cy="566928"/>
          </a:xfrm>
          <a:prstGeom prst="rect">
            <a:avLst/>
          </a:prstGeom>
          <a:solidFill>
            <a:srgbClr val="0F6E7A"/>
          </a:solidFill>
          <a:ln/>
        </p:spPr>
      </p:sp>
      <p:sp>
        <p:nvSpPr>
          <p:cNvPr id="13" name="a2w_txt_1278"/>
          <p:cNvSpPr txBox="1"/>
          <p:nvPr/>
        </p:nvSpPr>
        <p:spPr>
          <a:xfrm>
            <a:off x="6419088"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  Sample</a:t>
            </a:r>
            <a:endParaRPr lang="en-US" sz="1700" dirty="0"/>
          </a:p>
        </p:txBody>
      </p:sp>
      <p:pic>
        <p:nvPicPr>
          <p:cNvPr id="14" name="a2w_icon_1279" descr="preencoded.png">    </p:cNvPr>
          <p:cNvPicPr>
            <a:picLocks noChangeAspect="1"/>
          </p:cNvPicPr>
          <p:nvPr/>
        </p:nvPicPr>
        <p:blipFill>
          <a:blip r:embed="rId3"/>
          <a:stretch>
            <a:fillRect/>
          </a:stretch>
        </p:blipFill>
        <p:spPr>
          <a:xfrm>
            <a:off x="6899148" y="1993392"/>
            <a:ext cx="548640" cy="548640"/>
          </a:xfrm>
          <a:prstGeom prst="rect">
            <a:avLst/>
          </a:prstGeom>
        </p:spPr>
      </p:pic>
      <p:sp>
        <p:nvSpPr>
          <p:cNvPr id="15" name="a2w_txt_1280"/>
          <p:cNvSpPr txBox="1"/>
          <p:nvPr/>
        </p:nvSpPr>
        <p:spPr>
          <a:xfrm>
            <a:off x="6437376" y="2606040"/>
            <a:ext cx="1472184" cy="1645920"/>
          </a:xfrm>
          <a:prstGeom prst="rect">
            <a:avLst/>
          </a:prstGeom>
          <a:noFill/>
          <a:ln/>
        </p:spPr>
        <p:txBody>
          <a:bodyPr wrap="square" lIns="635" tIns="635" rIns="635" bIns="635" rtlCol="0" anchor="t"/>
          <a:lstStyle/>
          <a:p>
            <a:pPr algn="ctr" indent="0" marL="0">
              <a:buNone/>
            </a:pPr>
            <a:r>
              <a:rPr lang="en-US" sz="1500" dirty="0">
                <a:solidFill>
                  <a:srgbClr val="1B2730"/>
                </a:solidFill>
                <a:latin typeface="Calibri" pitchFamily="34" charset="0"/>
                <a:ea typeface="Calibri" pitchFamily="34" charset="-122"/>
                <a:cs typeface="Calibri" pitchFamily="34" charset="-120"/>
              </a:rPr>
              <a:t>Pump &amp; hose; top, middle, bottom; every compartment</a:t>
            </a:r>
            <a:endParaRPr lang="en-US" sz="1500" dirty="0"/>
          </a:p>
        </p:txBody>
      </p:sp>
      <p:sp>
        <p:nvSpPr>
          <p:cNvPr id="16" name="a3w_box_1281"/>
          <p:cNvSpPr/>
          <p:nvPr/>
        </p:nvSpPr>
        <p:spPr>
          <a:xfrm>
            <a:off x="8165592" y="1280160"/>
            <a:ext cx="1655064" cy="301752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w_box_1282"/>
          <p:cNvSpPr/>
          <p:nvPr/>
        </p:nvSpPr>
        <p:spPr>
          <a:xfrm>
            <a:off x="8165592" y="1280160"/>
            <a:ext cx="1655064" cy="566928"/>
          </a:xfrm>
          <a:prstGeom prst="rect">
            <a:avLst/>
          </a:prstGeom>
          <a:solidFill>
            <a:srgbClr val="0F6E7A"/>
          </a:solidFill>
          <a:ln/>
        </p:spPr>
      </p:sp>
      <p:sp>
        <p:nvSpPr>
          <p:cNvPr id="18" name="a3w_txt_1283"/>
          <p:cNvSpPr txBox="1"/>
          <p:nvPr/>
        </p:nvSpPr>
        <p:spPr>
          <a:xfrm>
            <a:off x="8238744"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  Order</a:t>
            </a:r>
            <a:endParaRPr lang="en-US" sz="1700" dirty="0"/>
          </a:p>
        </p:txBody>
      </p:sp>
      <p:pic>
        <p:nvPicPr>
          <p:cNvPr id="19" name="a3w_icon_1284" descr="preencoded.png">    </p:cNvPr>
          <p:cNvPicPr>
            <a:picLocks noChangeAspect="1"/>
          </p:cNvPicPr>
          <p:nvPr/>
        </p:nvPicPr>
        <p:blipFill>
          <a:blip r:embed="rId4"/>
          <a:stretch>
            <a:fillRect/>
          </a:stretch>
        </p:blipFill>
        <p:spPr>
          <a:xfrm>
            <a:off x="8718804" y="1993392"/>
            <a:ext cx="548640" cy="548640"/>
          </a:xfrm>
          <a:prstGeom prst="rect">
            <a:avLst/>
          </a:prstGeom>
        </p:spPr>
      </p:pic>
      <p:sp>
        <p:nvSpPr>
          <p:cNvPr id="20" name="a3w_txt_1285"/>
          <p:cNvSpPr txBox="1"/>
          <p:nvPr/>
        </p:nvSpPr>
        <p:spPr>
          <a:xfrm>
            <a:off x="8257032" y="2606040"/>
            <a:ext cx="1472184" cy="1645920"/>
          </a:xfrm>
          <a:prstGeom prst="rect">
            <a:avLst/>
          </a:prstGeom>
          <a:noFill/>
          <a:ln/>
        </p:spPr>
        <p:txBody>
          <a:bodyPr wrap="square" lIns="635" tIns="635" rIns="635" bIns="635" rtlCol="0" anchor="t"/>
          <a:lstStyle/>
          <a:p>
            <a:pPr algn="ctr" indent="0" marL="0">
              <a:buNone/>
            </a:pPr>
            <a:r>
              <a:rPr lang="en-US" sz="1500" dirty="0">
                <a:solidFill>
                  <a:srgbClr val="1B2730"/>
                </a:solidFill>
                <a:latin typeface="Calibri" pitchFamily="34" charset="0"/>
                <a:ea typeface="Calibri" pitchFamily="34" charset="-122"/>
                <a:cs typeface="Calibri" pitchFamily="34" charset="-120"/>
              </a:rPr>
              <a:t>O₂ → Flammables → Toxics</a:t>
            </a:r>
            <a:endParaRPr lang="en-US" sz="1500" dirty="0"/>
          </a:p>
        </p:txBody>
      </p:sp>
      <p:sp>
        <p:nvSpPr>
          <p:cNvPr id="21" name="a4w_box_1286"/>
          <p:cNvSpPr/>
          <p:nvPr/>
        </p:nvSpPr>
        <p:spPr>
          <a:xfrm>
            <a:off x="9985248" y="1280160"/>
            <a:ext cx="1655064" cy="3017520"/>
          </a:xfrm>
          <a:prstGeom prst="roundRect">
            <a:avLst>
              <a:gd name="adj" fmla="val 663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2" name="a4w_box_1287"/>
          <p:cNvSpPr/>
          <p:nvPr/>
        </p:nvSpPr>
        <p:spPr>
          <a:xfrm>
            <a:off x="9985248" y="1280160"/>
            <a:ext cx="1655064" cy="566928"/>
          </a:xfrm>
          <a:prstGeom prst="rect">
            <a:avLst/>
          </a:prstGeom>
          <a:solidFill>
            <a:srgbClr val="0F6E7A"/>
          </a:solidFill>
          <a:ln/>
        </p:spPr>
      </p:sp>
      <p:sp>
        <p:nvSpPr>
          <p:cNvPr id="23" name="a4w_txt_1288"/>
          <p:cNvSpPr txBox="1"/>
          <p:nvPr/>
        </p:nvSpPr>
        <p:spPr>
          <a:xfrm>
            <a:off x="10058400" y="1298448"/>
            <a:ext cx="1508760"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Record</a:t>
            </a:r>
            <a:endParaRPr lang="en-US" sz="1700" dirty="0"/>
          </a:p>
        </p:txBody>
      </p:sp>
      <p:pic>
        <p:nvPicPr>
          <p:cNvPr id="24" name="a4w_icon_1289" descr="preencoded.png">    </p:cNvPr>
          <p:cNvPicPr>
            <a:picLocks noChangeAspect="1"/>
          </p:cNvPicPr>
          <p:nvPr/>
        </p:nvPicPr>
        <p:blipFill>
          <a:blip r:embed="rId5"/>
          <a:stretch>
            <a:fillRect/>
          </a:stretch>
        </p:blipFill>
        <p:spPr>
          <a:xfrm>
            <a:off x="10538460" y="1993392"/>
            <a:ext cx="548640" cy="548640"/>
          </a:xfrm>
          <a:prstGeom prst="rect">
            <a:avLst/>
          </a:prstGeom>
        </p:spPr>
      </p:pic>
      <p:sp>
        <p:nvSpPr>
          <p:cNvPr id="25" name="a4w_txt_1290"/>
          <p:cNvSpPr txBox="1"/>
          <p:nvPr/>
        </p:nvSpPr>
        <p:spPr>
          <a:xfrm>
            <a:off x="10076688" y="2606040"/>
            <a:ext cx="1472184" cy="1645920"/>
          </a:xfrm>
          <a:prstGeom prst="rect">
            <a:avLst/>
          </a:prstGeom>
          <a:noFill/>
          <a:ln/>
        </p:spPr>
        <p:txBody>
          <a:bodyPr wrap="square" lIns="635" tIns="635" rIns="635" bIns="635" rtlCol="0" anchor="t"/>
          <a:lstStyle/>
          <a:p>
            <a:pPr algn="ctr" indent="0" marL="0">
              <a:buNone/>
            </a:pPr>
            <a:r>
              <a:rPr lang="en-US" sz="1500" dirty="0">
                <a:solidFill>
                  <a:srgbClr val="1B2730"/>
                </a:solidFill>
                <a:latin typeface="Calibri" pitchFamily="34" charset="0"/>
                <a:ea typeface="Calibri" pitchFamily="34" charset="-122"/>
                <a:cs typeface="Calibri" pitchFamily="34" charset="-120"/>
              </a:rPr>
              <a:t>Gas Test Certificate attached to the permit</a:t>
            </a:r>
            <a:endParaRPr lang="en-US" sz="1500" dirty="0"/>
          </a:p>
        </p:txBody>
      </p:sp>
      <p:sp>
        <p:nvSpPr>
          <p:cNvPr id="26" name="a5_box_1291"/>
          <p:cNvSpPr/>
          <p:nvPr/>
        </p:nvSpPr>
        <p:spPr>
          <a:xfrm>
            <a:off x="4526280" y="4526280"/>
            <a:ext cx="7114032" cy="1691640"/>
          </a:xfrm>
          <a:prstGeom prst="roundRect">
            <a:avLst>
              <a:gd name="adj" fmla="val 6486"/>
            </a:avLst>
          </a:prstGeom>
          <a:solidFill>
            <a:srgbClr val="FFFFFF"/>
          </a:solidFill>
          <a:ln w="12700">
            <a:solidFill>
              <a:srgbClr val="C9D3D9"/>
            </a:solidFill>
            <a:prstDash val="solid"/>
          </a:ln>
        </p:spPr>
      </p:sp>
      <p:sp>
        <p:nvSpPr>
          <p:cNvPr id="27" name="a5_txt_1292"/>
          <p:cNvSpPr txBox="1"/>
          <p:nvPr/>
        </p:nvSpPr>
        <p:spPr>
          <a:xfrm>
            <a:off x="4663440" y="4572000"/>
            <a:ext cx="6858000" cy="1600200"/>
          </a:xfrm>
          <a:prstGeom prst="rect">
            <a:avLst/>
          </a:prstGeom>
          <a:noFill/>
          <a:ln/>
        </p:spPr>
        <p:txBody>
          <a:bodyPr wrap="square" lIns="635" tIns="635" rIns="635" bIns="635" rtlCol="0" anchor="t"/>
          <a:lstStyle/>
          <a:p>
            <a:pPr marL="228600" indent="-228600">
              <a:spcAft>
                <a:spcPts val="400"/>
              </a:spcAft>
              <a:buSzPct val="100000"/>
              <a:buChar char="•"/>
            </a:pPr>
            <a:r>
              <a:rPr lang="en-US" sz="1500" b="1" dirty="0">
                <a:solidFill>
                  <a:srgbClr val="1B2730"/>
                </a:solidFill>
                <a:latin typeface="Calibri" pitchFamily="34" charset="0"/>
                <a:ea typeface="Calibri" pitchFamily="34" charset="-122"/>
                <a:cs typeface="Calibri" pitchFamily="34" charset="-120"/>
              </a:rPr>
              <a:t>Continuous monitoring: </a:t>
            </a:r>
            <a:pPr indent="0" marL="0">
              <a:buNone/>
            </a:pPr>
            <a:r>
              <a:rPr lang="en-US" sz="1500" dirty="0">
                <a:solidFill>
                  <a:srgbClr val="1B2730"/>
                </a:solidFill>
                <a:latin typeface="Calibri" pitchFamily="34" charset="0"/>
                <a:ea typeface="Calibri" pitchFamily="34" charset="-122"/>
                <a:cs typeface="Calibri" pitchFamily="34" charset="-120"/>
              </a:rPr>
              <a:t>confined spaces, hot work in possibly flammable areas, or wherever conditions could change</a:t>
            </a:r>
            <a:endParaRPr lang="en-US" sz="1500" dirty="0"/>
          </a:p>
          <a:p>
            <a:pPr marL="228600" indent="-228600">
              <a:spcAft>
                <a:spcPts val="400"/>
              </a:spcAft>
              <a:buSzPct val="100000"/>
              <a:buChar char="•"/>
            </a:pPr>
            <a:r>
              <a:rPr lang="en-US" sz="1500" b="1" dirty="0">
                <a:solidFill>
                  <a:srgbClr val="1B2730"/>
                </a:solidFill>
                <a:latin typeface="Calibri" pitchFamily="34" charset="0"/>
                <a:ea typeface="Calibri" pitchFamily="34" charset="-122"/>
                <a:cs typeface="Calibri" pitchFamily="34" charset="-120"/>
              </a:rPr>
              <a:t>Worn in the breathing zone </a:t>
            </a:r>
            <a:pPr indent="0" marL="0">
              <a:buNone/>
            </a:pPr>
            <a:r>
              <a:rPr lang="en-US" sz="1500" dirty="0">
                <a:solidFill>
                  <a:srgbClr val="1B2730"/>
                </a:solidFill>
                <a:latin typeface="Calibri" pitchFamily="34" charset="0"/>
                <a:ea typeface="Calibri" pitchFamily="34" charset="-122"/>
                <a:cs typeface="Calibri" pitchFamily="34" charset="-120"/>
              </a:rPr>
              <a:t>or fixed near the work; visual, audible &amp; vibrating alarms</a:t>
            </a:r>
            <a:endParaRPr lang="en-US" sz="1500" dirty="0"/>
          </a:p>
          <a:p>
            <a:pPr marL="228600" indent="-228600">
              <a:spcAft>
                <a:spcPts val="400"/>
              </a:spcAft>
              <a:buSzPct val="100000"/>
              <a:buChar char="•"/>
            </a:pPr>
            <a:r>
              <a:rPr lang="en-US" sz="1500" b="1" dirty="0">
                <a:solidFill>
                  <a:srgbClr val="1B2730"/>
                </a:solidFill>
                <a:latin typeface="Calibri" pitchFamily="34" charset="0"/>
                <a:ea typeface="Calibri" pitchFamily="34" charset="-122"/>
                <a:cs typeface="Calibri" pitchFamily="34" charset="-120"/>
              </a:rPr>
              <a:t>Re-test: </a:t>
            </a:r>
            <a:pPr indent="0" marL="0">
              <a:buNone/>
            </a:pPr>
            <a:r>
              <a:rPr lang="en-US" sz="1500" dirty="0">
                <a:solidFill>
                  <a:srgbClr val="1B2730"/>
                </a:solidFill>
                <a:latin typeface="Calibri" pitchFamily="34" charset="0"/>
                <a:ea typeface="Calibri" pitchFamily="34" charset="-122"/>
                <a:cs typeface="Calibri" pitchFamily="34" charset="-120"/>
              </a:rPr>
              <a:t>typically every 30–60 min in confined spaces, and before re-entry after any break</a:t>
            </a:r>
            <a:endParaRPr lang="en-US" sz="1500" dirty="0"/>
          </a:p>
        </p:txBody>
      </p:sp>
      <p:sp>
        <p:nvSpPr>
          <p:cNvPr id="2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Plant Scenario: Gas Reading During Work</a:t>
            </a:r>
            <a:endParaRPr lang="en-US" sz="3200" dirty="0"/>
          </a:p>
        </p:txBody>
      </p:sp>
      <p:sp>
        <p:nvSpPr>
          <p:cNvPr id="3" name="box_1293"/>
          <p:cNvSpPr/>
          <p:nvPr/>
        </p:nvSpPr>
        <p:spPr>
          <a:xfrm>
            <a:off x="548640" y="1280160"/>
            <a:ext cx="11094415" cy="1234440"/>
          </a:xfrm>
          <a:prstGeom prst="roundRect">
            <a:avLst>
              <a:gd name="adj" fmla="val 8889"/>
            </a:avLst>
          </a:prstGeom>
          <a:solidFill>
            <a:srgbClr val="0B2A3C"/>
          </a:solidFill>
          <a:ln/>
        </p:spPr>
      </p:sp>
      <p:pic>
        <p:nvPicPr>
          <p:cNvPr id="4" name="icon_1294"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1295"/>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Maintenance is working on an exchanger that previously contained sour gas. The last time it was opened, H₂S scale was found.</a:t>
            </a:r>
            <a:endParaRPr lang="en-US" sz="1800" dirty="0"/>
          </a:p>
        </p:txBody>
      </p:sp>
      <p:sp>
        <p:nvSpPr>
          <p:cNvPr id="6" name="txt_1296"/>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gas monitor now reads 5% LEL – below the alarm. Do we continue?</a:t>
            </a:r>
            <a:endParaRPr lang="en-US" sz="2400" dirty="0"/>
          </a:p>
        </p:txBody>
      </p:sp>
      <p:sp>
        <p:nvSpPr>
          <p:cNvPr id="7" name="txt_1297"/>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1298"/>
          <p:cNvSpPr/>
          <p:nvPr/>
        </p:nvSpPr>
        <p:spPr>
          <a:xfrm>
            <a:off x="548640" y="306324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1299"/>
          <p:cNvSpPr/>
          <p:nvPr/>
        </p:nvSpPr>
        <p:spPr>
          <a:xfrm>
            <a:off x="548640" y="3063240"/>
            <a:ext cx="685800" cy="628650"/>
          </a:xfrm>
          <a:prstGeom prst="rect">
            <a:avLst/>
          </a:prstGeom>
          <a:solidFill>
            <a:srgbClr val="0F6E7A"/>
          </a:solidFill>
          <a:ln/>
        </p:spPr>
      </p:sp>
      <p:pic>
        <p:nvPicPr>
          <p:cNvPr id="10" name="a1_icon_1300" descr="preencoded.png">    </p:cNvPr>
          <p:cNvPicPr>
            <a:picLocks noChangeAspect="1"/>
          </p:cNvPicPr>
          <p:nvPr/>
        </p:nvPicPr>
        <p:blipFill>
          <a:blip r:embed="rId2"/>
          <a:stretch>
            <a:fillRect/>
          </a:stretch>
        </p:blipFill>
        <p:spPr>
          <a:xfrm>
            <a:off x="704088" y="3185541"/>
            <a:ext cx="384048" cy="384048"/>
          </a:xfrm>
          <a:prstGeom prst="rect">
            <a:avLst/>
          </a:prstGeom>
        </p:spPr>
      </p:pic>
      <p:sp>
        <p:nvSpPr>
          <p:cNvPr id="11" name="a1_txt_1301"/>
          <p:cNvSpPr txBox="1"/>
          <p:nvPr/>
        </p:nvSpPr>
        <p:spPr>
          <a:xfrm>
            <a:off x="1371600" y="3108960"/>
            <a:ext cx="10134295" cy="537210"/>
          </a:xfrm>
          <a:prstGeom prst="rect">
            <a:avLst/>
          </a:prstGeom>
          <a:noFill/>
          <a:ln/>
        </p:spPr>
        <p:txBody>
          <a:bodyPr wrap="square" lIns="635" tIns="635" rIns="635" bIns="635" rtlCol="0" anchor="ctr"/>
          <a:lstStyle/>
          <a:p>
            <a:pPr indent="0" marL="0">
              <a:buNone/>
            </a:pPr>
            <a:r>
              <a:rPr lang="en-US" sz="1700" b="1" dirty="0">
                <a:solidFill>
                  <a:srgbClr val="0F6E7A"/>
                </a:solidFill>
                <a:latin typeface="Calibri" pitchFamily="34" charset="0"/>
                <a:ea typeface="Calibri" pitchFamily="34" charset="-122"/>
                <a:cs typeface="Calibri" pitchFamily="34" charset="-120"/>
              </a:rPr>
              <a:t>Before the job: </a:t>
            </a:r>
            <a:pPr indent="0" marL="0">
              <a:buNone/>
            </a:pPr>
            <a:r>
              <a:rPr lang="en-US" sz="1700" dirty="0">
                <a:solidFill>
                  <a:srgbClr val="1B2730"/>
                </a:solidFill>
                <a:latin typeface="Calibri" pitchFamily="34" charset="0"/>
                <a:ea typeface="Calibri" pitchFamily="34" charset="-122"/>
                <a:cs typeface="Calibri" pitchFamily="34" charset="-120"/>
              </a:rPr>
              <a:t>History of H₂S scale → the Issuer specifies continuous monitoring with an H₂S-specific detector.</a:t>
            </a:r>
            <a:endParaRPr lang="en-US" sz="1700" dirty="0"/>
          </a:p>
        </p:txBody>
      </p:sp>
      <p:sp>
        <p:nvSpPr>
          <p:cNvPr id="12" name="a2_box_1302"/>
          <p:cNvSpPr/>
          <p:nvPr/>
        </p:nvSpPr>
        <p:spPr>
          <a:xfrm>
            <a:off x="548640" y="392049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1303"/>
          <p:cNvSpPr/>
          <p:nvPr/>
        </p:nvSpPr>
        <p:spPr>
          <a:xfrm>
            <a:off x="548640" y="3920490"/>
            <a:ext cx="685800" cy="628650"/>
          </a:xfrm>
          <a:prstGeom prst="rect">
            <a:avLst/>
          </a:prstGeom>
          <a:solidFill>
            <a:srgbClr val="C0392B"/>
          </a:solidFill>
          <a:ln/>
        </p:spPr>
      </p:sp>
      <p:pic>
        <p:nvPicPr>
          <p:cNvPr id="14" name="a2_icon_1304" descr="preencoded.png">    </p:cNvPr>
          <p:cNvPicPr>
            <a:picLocks noChangeAspect="1"/>
          </p:cNvPicPr>
          <p:nvPr/>
        </p:nvPicPr>
        <p:blipFill>
          <a:blip r:embed="rId3"/>
          <a:stretch>
            <a:fillRect/>
          </a:stretch>
        </p:blipFill>
        <p:spPr>
          <a:xfrm>
            <a:off x="704088" y="4042791"/>
            <a:ext cx="384048" cy="384048"/>
          </a:xfrm>
          <a:prstGeom prst="rect">
            <a:avLst/>
          </a:prstGeom>
        </p:spPr>
      </p:pic>
      <p:sp>
        <p:nvSpPr>
          <p:cNvPr id="15" name="a2_txt_1305"/>
          <p:cNvSpPr txBox="1"/>
          <p:nvPr/>
        </p:nvSpPr>
        <p:spPr>
          <a:xfrm>
            <a:off x="1371600" y="3966210"/>
            <a:ext cx="10134295" cy="53721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5% LEL = significant deviation. </a:t>
            </a:r>
            <a:pPr indent="0" marL="0">
              <a:buNone/>
            </a:pPr>
            <a:r>
              <a:rPr lang="en-US" sz="1700" dirty="0">
                <a:solidFill>
                  <a:srgbClr val="1B2730"/>
                </a:solidFill>
                <a:latin typeface="Calibri" pitchFamily="34" charset="0"/>
                <a:ea typeface="Calibri" pitchFamily="34" charset="-122"/>
                <a:cs typeface="Calibri" pitchFamily="34" charset="-120"/>
              </a:rPr>
              <a:t>Below alarm but above zero: STOP work and secure the site.</a:t>
            </a:r>
            <a:endParaRPr lang="en-US" sz="1700" dirty="0"/>
          </a:p>
        </p:txBody>
      </p:sp>
      <p:sp>
        <p:nvSpPr>
          <p:cNvPr id="16" name="a3_box_1306"/>
          <p:cNvSpPr/>
          <p:nvPr/>
        </p:nvSpPr>
        <p:spPr>
          <a:xfrm>
            <a:off x="548640" y="477774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1307"/>
          <p:cNvSpPr/>
          <p:nvPr/>
        </p:nvSpPr>
        <p:spPr>
          <a:xfrm>
            <a:off x="548640" y="4777740"/>
            <a:ext cx="685800" cy="628650"/>
          </a:xfrm>
          <a:prstGeom prst="rect">
            <a:avLst/>
          </a:prstGeom>
          <a:solidFill>
            <a:srgbClr val="E8771E"/>
          </a:solidFill>
          <a:ln/>
        </p:spPr>
      </p:sp>
      <p:pic>
        <p:nvPicPr>
          <p:cNvPr id="18" name="a3_icon_1308" descr="preencoded.png">    </p:cNvPr>
          <p:cNvPicPr>
            <a:picLocks noChangeAspect="1"/>
          </p:cNvPicPr>
          <p:nvPr/>
        </p:nvPicPr>
        <p:blipFill>
          <a:blip r:embed="rId4"/>
          <a:stretch>
            <a:fillRect/>
          </a:stretch>
        </p:blipFill>
        <p:spPr>
          <a:xfrm>
            <a:off x="704088" y="4900041"/>
            <a:ext cx="384048" cy="384048"/>
          </a:xfrm>
          <a:prstGeom prst="rect">
            <a:avLst/>
          </a:prstGeom>
        </p:spPr>
      </p:pic>
      <p:sp>
        <p:nvSpPr>
          <p:cNvPr id="19" name="a3_txt_1309"/>
          <p:cNvSpPr txBox="1"/>
          <p:nvPr/>
        </p:nvSpPr>
        <p:spPr>
          <a:xfrm>
            <a:off x="1371600" y="4823460"/>
            <a:ext cx="10134295" cy="537210"/>
          </a:xfrm>
          <a:prstGeom prst="rect">
            <a:avLst/>
          </a:prstGeom>
          <a:noFill/>
          <a:ln/>
        </p:spPr>
        <p:txBody>
          <a:bodyPr wrap="square" lIns="635" tIns="635" rIns="635" bIns="635" rtlCol="0" anchor="ctr"/>
          <a:lstStyle/>
          <a:p>
            <a:pPr indent="0" marL="0">
              <a:buNone/>
            </a:pPr>
            <a:r>
              <a:rPr lang="en-US" sz="1700" b="1" dirty="0">
                <a:solidFill>
                  <a:srgbClr val="E8771E"/>
                </a:solidFill>
                <a:latin typeface="Calibri" pitchFamily="34" charset="0"/>
                <a:ea typeface="Calibri" pitchFamily="34" charset="-122"/>
                <a:cs typeface="Calibri" pitchFamily="34" charset="-120"/>
              </a:rPr>
              <a:t>Then: </a:t>
            </a:r>
            <a:pPr indent="0" marL="0">
              <a:buNone/>
            </a:pPr>
            <a:r>
              <a:rPr lang="en-US" sz="1700" dirty="0">
                <a:solidFill>
                  <a:srgbClr val="1B2730"/>
                </a:solidFill>
                <a:latin typeface="Calibri" pitchFamily="34" charset="0"/>
                <a:ea typeface="Calibri" pitchFamily="34" charset="-122"/>
                <a:cs typeface="Calibri" pitchFamily="34" charset="-120"/>
              </a:rPr>
              <a:t>Notify the Issuer → joint re-assessment (new JSA, extra controls) → resume only when re-validated.</a:t>
            </a:r>
            <a:endParaRPr lang="en-US" sz="1700" dirty="0"/>
          </a:p>
        </p:txBody>
      </p:sp>
      <p:sp>
        <p:nvSpPr>
          <p:cNvPr id="20" name="a4_box_1310"/>
          <p:cNvSpPr/>
          <p:nvPr/>
        </p:nvSpPr>
        <p:spPr>
          <a:xfrm>
            <a:off x="548640" y="563499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1311"/>
          <p:cNvSpPr/>
          <p:nvPr/>
        </p:nvSpPr>
        <p:spPr>
          <a:xfrm>
            <a:off x="548640" y="5634990"/>
            <a:ext cx="685800" cy="628650"/>
          </a:xfrm>
          <a:prstGeom prst="rect">
            <a:avLst/>
          </a:prstGeom>
          <a:solidFill>
            <a:srgbClr val="C0392B"/>
          </a:solidFill>
          <a:ln/>
        </p:spPr>
      </p:sp>
      <p:pic>
        <p:nvPicPr>
          <p:cNvPr id="22" name="a4_icon_1312" descr="preencoded.png">    </p:cNvPr>
          <p:cNvPicPr>
            <a:picLocks noChangeAspect="1"/>
          </p:cNvPicPr>
          <p:nvPr/>
        </p:nvPicPr>
        <p:blipFill>
          <a:blip r:embed="rId5"/>
          <a:stretch>
            <a:fillRect/>
          </a:stretch>
        </p:blipFill>
        <p:spPr>
          <a:xfrm>
            <a:off x="704088" y="5757291"/>
            <a:ext cx="384048" cy="384048"/>
          </a:xfrm>
          <a:prstGeom prst="rect">
            <a:avLst/>
          </a:prstGeom>
        </p:spPr>
      </p:pic>
      <p:sp>
        <p:nvSpPr>
          <p:cNvPr id="23" name="a4_txt_1313"/>
          <p:cNvSpPr txBox="1"/>
          <p:nvPr/>
        </p:nvSpPr>
        <p:spPr>
          <a:xfrm>
            <a:off x="1371600" y="5680710"/>
            <a:ext cx="10134295" cy="53721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If the alarm sounds: </a:t>
            </a:r>
            <a:pPr indent="0" marL="0">
              <a:buNone/>
            </a:pPr>
            <a:r>
              <a:rPr lang="en-US" sz="1700" dirty="0">
                <a:solidFill>
                  <a:srgbClr val="1B2730"/>
                </a:solidFill>
                <a:latin typeface="Calibri" pitchFamily="34" charset="0"/>
                <a:ea typeface="Calibri" pitchFamily="34" charset="-122"/>
                <a:cs typeface="Calibri" pitchFamily="34" charset="-120"/>
              </a:rPr>
              <a:t>Evacuate immediately – it is an emergency trigger.</a:t>
            </a:r>
            <a:endParaRPr lang="en-US" sz="1700" dirty="0"/>
          </a:p>
        </p:txBody>
      </p:sp>
      <p:sp>
        <p:nvSpPr>
          <p:cNvPr id="2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circ_1314"/>
          <p:cNvSpPr/>
          <p:nvPr/>
        </p:nvSpPr>
        <p:spPr>
          <a:xfrm>
            <a:off x="548640" y="2011680"/>
            <a:ext cx="1371600" cy="1371600"/>
          </a:xfrm>
          <a:prstGeom prst="ellipse">
            <a:avLst/>
          </a:prstGeom>
          <a:solidFill>
            <a:srgbClr val="E8771E"/>
          </a:solidFill>
          <a:ln/>
        </p:spPr>
      </p:sp>
      <p:pic>
        <p:nvPicPr>
          <p:cNvPr id="3" name="icon_1315"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316"/>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9</a:t>
            </a:r>
            <a:endParaRPr lang="en-US" sz="1800" dirty="0"/>
          </a:p>
        </p:txBody>
      </p:sp>
      <p:sp>
        <p:nvSpPr>
          <p:cNvPr id="5" name="txt_1317"/>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PPE &amp; Emergency Preparedness</a:t>
            </a:r>
            <a:endParaRPr lang="en-US" sz="4000" dirty="0"/>
          </a:p>
        </p:txBody>
      </p:sp>
      <p:sp>
        <p:nvSpPr>
          <p:cNvPr id="6" name="txt_1318"/>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The last line of defence – and the plan if controls fail</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PPE Matrix Example: Welding in a Confined Space</a:t>
            </a:r>
            <a:endParaRPr lang="en-US" sz="3200" dirty="0"/>
          </a:p>
        </p:txBody>
      </p:sp>
      <p:graphicFrame>
        <p:nvGraphicFramePr>
          <p:cNvPr id="3" name="tbl_ppe"/>
          <p:cNvGraphicFramePr>
            <a:graphicFrameLocks noGrp="1"/>
          </p:cNvGraphicFramePr>
          <p:nvPr>
            <p:extLst>
              <p:ext uri="{D42A27DB-BD31-4B8C-83A1-F6EECF244321}">
                <p14:modId xmlns:p14="http://schemas.microsoft.com/office/powerpoint/2010/main" val="1579011935"/>
              </p:ext>
            </p:extLst>
          </p:nvPr>
        </p:nvGraphicFramePr>
        <p:xfrm>
          <a:off x="548640" y="1280160"/>
          <a:ext cx="7589520" cy="914400"/>
        </p:xfrm>
        <a:graphic>
          <a:graphicData uri="http://schemas.openxmlformats.org/drawingml/2006/table">
            <a:tbl>
              <a:tblPr/>
              <a:tblGrid>
                <a:gridCol w="1737360"/>
                <a:gridCol w="2377440"/>
                <a:gridCol w="34747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Body part</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0B2A3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Hazard</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0B2A3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Minimum PPE</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0B2A3C"/>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Head</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Impact, falling objects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Hard hat</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Eyes / face</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UV, flying particles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Auto-darkening welding helmet + safety glasses underneath</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Hearing</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Grinder noise</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Earmuffs or plugs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Respiratory</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Welding fumes, toxic gases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PAPR with suitable cartridge, OR supplied air for IDLH</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Body</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Molten metal, sparks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Flame-resistant coveralls, leather jacket &amp; sleeves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Hands / feet</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Heat, cuts, heavy objects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Insulated leather gloves; safety boots with metatarsal guards</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B2A3C"/>
                          </a:solidFill>
                          <a:latin typeface="Calibri" pitchFamily="34" charset="0"/>
                          <a:ea typeface="Calibri" pitchFamily="34" charset="-122"/>
                          <a:cs typeface="Calibri" pitchFamily="34" charset="-120"/>
                        </a:rPr>
                        <a:t>Fall protection</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Fall at entry point</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500" dirty="0">
                          <a:solidFill>
                            <a:srgbClr val="1B2730"/>
                          </a:solidFill>
                          <a:latin typeface="Calibri" pitchFamily="34" charset="0"/>
                          <a:ea typeface="Calibri" pitchFamily="34" charset="-122"/>
                          <a:cs typeface="Calibri" pitchFamily="34" charset="-120"/>
                        </a:rPr>
                        <a:t>Full body harness on retractable lifeline / tripod</a:t>
                      </a:r>
                      <a:endParaRPr lang="en-US" sz="15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bl>
          </a:graphicData>
        </a:graphic>
      </p:graphicFrame>
      <p:sp>
        <p:nvSpPr>
          <p:cNvPr id="4" name="a1_box_1319"/>
          <p:cNvSpPr/>
          <p:nvPr/>
        </p:nvSpPr>
        <p:spPr>
          <a:xfrm>
            <a:off x="8366760" y="1280160"/>
            <a:ext cx="3273552" cy="1554480"/>
          </a:xfrm>
          <a:prstGeom prst="roundRect">
            <a:avLst>
              <a:gd name="adj" fmla="val 705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5" name="a1_circ_1320"/>
          <p:cNvSpPr/>
          <p:nvPr/>
        </p:nvSpPr>
        <p:spPr>
          <a:xfrm>
            <a:off x="8549640" y="1463040"/>
            <a:ext cx="548640" cy="548640"/>
          </a:xfrm>
          <a:prstGeom prst="ellipse">
            <a:avLst/>
          </a:prstGeom>
          <a:solidFill>
            <a:srgbClr val="E8771E"/>
          </a:solidFill>
          <a:ln/>
        </p:spPr>
      </p:sp>
      <p:pic>
        <p:nvPicPr>
          <p:cNvPr id="6" name="a1_icon_1321" descr="preencoded.png">    </p:cNvPr>
          <p:cNvPicPr>
            <a:picLocks noChangeAspect="1"/>
          </p:cNvPicPr>
          <p:nvPr/>
        </p:nvPicPr>
        <p:blipFill>
          <a:blip r:embed="rId1"/>
          <a:stretch>
            <a:fillRect/>
          </a:stretch>
        </p:blipFill>
        <p:spPr>
          <a:xfrm>
            <a:off x="8673084" y="1586484"/>
            <a:ext cx="301752" cy="301752"/>
          </a:xfrm>
          <a:prstGeom prst="rect">
            <a:avLst/>
          </a:prstGeom>
        </p:spPr>
      </p:pic>
      <p:sp>
        <p:nvSpPr>
          <p:cNvPr id="7" name="a1_txt_1322"/>
          <p:cNvSpPr txBox="1"/>
          <p:nvPr/>
        </p:nvSpPr>
        <p:spPr>
          <a:xfrm>
            <a:off x="9262872" y="1444752"/>
            <a:ext cx="2240280" cy="5486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Layering</a:t>
            </a:r>
            <a:endParaRPr lang="en-US" sz="1800" dirty="0"/>
          </a:p>
        </p:txBody>
      </p:sp>
      <p:sp>
        <p:nvSpPr>
          <p:cNvPr id="8" name="a1_txt_1323"/>
          <p:cNvSpPr txBox="1"/>
          <p:nvPr/>
        </p:nvSpPr>
        <p:spPr>
          <a:xfrm>
            <a:off x="8595360" y="2084832"/>
            <a:ext cx="2862072" cy="658368"/>
          </a:xfrm>
          <a:prstGeom prst="rect">
            <a:avLst/>
          </a:prstGeom>
          <a:noFill/>
          <a:ln/>
        </p:spPr>
        <p:txBody>
          <a:bodyPr wrap="square" lIns="635" tIns="635" rIns="635" bIns="635" rtlCol="0" anchor="t"/>
          <a:lstStyle/>
          <a:p>
            <a:pPr indent="0" marL="0">
              <a:buNone/>
            </a:pPr>
            <a:r>
              <a:rPr lang="en-US" sz="1500" dirty="0">
                <a:solidFill>
                  <a:srgbClr val="1B2730"/>
                </a:solidFill>
                <a:latin typeface="Calibri" pitchFamily="34" charset="0"/>
                <a:ea typeface="Calibri" pitchFamily="34" charset="-122"/>
                <a:cs typeface="Calibri" pitchFamily="34" charset="-120"/>
              </a:rPr>
              <a:t>Safety glasses UNDER the welding helmet</a:t>
            </a:r>
            <a:endParaRPr lang="en-US" sz="1500" dirty="0"/>
          </a:p>
        </p:txBody>
      </p:sp>
      <p:sp>
        <p:nvSpPr>
          <p:cNvPr id="9" name="a2_box_1324"/>
          <p:cNvSpPr/>
          <p:nvPr/>
        </p:nvSpPr>
        <p:spPr>
          <a:xfrm>
            <a:off x="8366760" y="2971800"/>
            <a:ext cx="3273552" cy="1554480"/>
          </a:xfrm>
          <a:prstGeom prst="roundRect">
            <a:avLst>
              <a:gd name="adj" fmla="val 705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0" name="a2_circ_1325"/>
          <p:cNvSpPr/>
          <p:nvPr/>
        </p:nvSpPr>
        <p:spPr>
          <a:xfrm>
            <a:off x="8549640" y="3154680"/>
            <a:ext cx="548640" cy="548640"/>
          </a:xfrm>
          <a:prstGeom prst="ellipse">
            <a:avLst/>
          </a:prstGeom>
          <a:solidFill>
            <a:srgbClr val="E8771E"/>
          </a:solidFill>
          <a:ln/>
        </p:spPr>
      </p:sp>
      <p:pic>
        <p:nvPicPr>
          <p:cNvPr id="11" name="a2_icon_1326" descr="preencoded.png">    </p:cNvPr>
          <p:cNvPicPr>
            <a:picLocks noChangeAspect="1"/>
          </p:cNvPicPr>
          <p:nvPr/>
        </p:nvPicPr>
        <p:blipFill>
          <a:blip r:embed="rId2"/>
          <a:stretch>
            <a:fillRect/>
          </a:stretch>
        </p:blipFill>
        <p:spPr>
          <a:xfrm>
            <a:off x="8673084" y="3278124"/>
            <a:ext cx="301752" cy="301752"/>
          </a:xfrm>
          <a:prstGeom prst="rect">
            <a:avLst/>
          </a:prstGeom>
        </p:spPr>
      </p:pic>
      <p:sp>
        <p:nvSpPr>
          <p:cNvPr id="12" name="a2_txt_1327"/>
          <p:cNvSpPr txBox="1"/>
          <p:nvPr/>
        </p:nvSpPr>
        <p:spPr>
          <a:xfrm>
            <a:off x="9262872" y="3136392"/>
            <a:ext cx="2240280" cy="5486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Task-specific</a:t>
            </a:r>
            <a:endParaRPr lang="en-US" sz="1800" dirty="0"/>
          </a:p>
        </p:txBody>
      </p:sp>
      <p:sp>
        <p:nvSpPr>
          <p:cNvPr id="13" name="a2_txt_1328"/>
          <p:cNvSpPr txBox="1"/>
          <p:nvPr/>
        </p:nvSpPr>
        <p:spPr>
          <a:xfrm>
            <a:off x="8595360" y="3776472"/>
            <a:ext cx="2862072" cy="658368"/>
          </a:xfrm>
          <a:prstGeom prst="rect">
            <a:avLst/>
          </a:prstGeom>
          <a:noFill/>
          <a:ln/>
        </p:spPr>
        <p:txBody>
          <a:bodyPr wrap="square" lIns="635" tIns="635" rIns="635" bIns="635" rtlCol="0" anchor="t"/>
          <a:lstStyle/>
          <a:p>
            <a:pPr indent="0" marL="0">
              <a:buNone/>
            </a:pPr>
            <a:r>
              <a:rPr lang="en-US" sz="1500" dirty="0">
                <a:solidFill>
                  <a:srgbClr val="1B2730"/>
                </a:solidFill>
                <a:latin typeface="Calibri" pitchFamily="34" charset="0"/>
                <a:ea typeface="Calibri" pitchFamily="34" charset="-122"/>
                <a:cs typeface="Calibri" pitchFamily="34" charset="-120"/>
              </a:rPr>
              <a:t>Welding gloves ≠ chemical gloves</a:t>
            </a:r>
            <a:endParaRPr lang="en-US" sz="1500" dirty="0"/>
          </a:p>
        </p:txBody>
      </p:sp>
      <p:sp>
        <p:nvSpPr>
          <p:cNvPr id="14" name="a3_box_1329"/>
          <p:cNvSpPr/>
          <p:nvPr/>
        </p:nvSpPr>
        <p:spPr>
          <a:xfrm>
            <a:off x="8366760" y="4663440"/>
            <a:ext cx="3273552" cy="1554480"/>
          </a:xfrm>
          <a:prstGeom prst="roundRect">
            <a:avLst>
              <a:gd name="adj" fmla="val 705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5" name="a3_circ_1330"/>
          <p:cNvSpPr/>
          <p:nvPr/>
        </p:nvSpPr>
        <p:spPr>
          <a:xfrm>
            <a:off x="8549640" y="4846320"/>
            <a:ext cx="548640" cy="548640"/>
          </a:xfrm>
          <a:prstGeom prst="ellipse">
            <a:avLst/>
          </a:prstGeom>
          <a:solidFill>
            <a:srgbClr val="E8771E"/>
          </a:solidFill>
          <a:ln/>
        </p:spPr>
      </p:sp>
      <p:pic>
        <p:nvPicPr>
          <p:cNvPr id="16" name="a3_icon_1331" descr="preencoded.png">    </p:cNvPr>
          <p:cNvPicPr>
            <a:picLocks noChangeAspect="1"/>
          </p:cNvPicPr>
          <p:nvPr/>
        </p:nvPicPr>
        <p:blipFill>
          <a:blip r:embed="rId3"/>
          <a:stretch>
            <a:fillRect/>
          </a:stretch>
        </p:blipFill>
        <p:spPr>
          <a:xfrm>
            <a:off x="8673084" y="4969764"/>
            <a:ext cx="301752" cy="301752"/>
          </a:xfrm>
          <a:prstGeom prst="rect">
            <a:avLst/>
          </a:prstGeom>
        </p:spPr>
      </p:pic>
      <p:sp>
        <p:nvSpPr>
          <p:cNvPr id="17" name="a3_txt_1332"/>
          <p:cNvSpPr txBox="1"/>
          <p:nvPr/>
        </p:nvSpPr>
        <p:spPr>
          <a:xfrm>
            <a:off x="9262872" y="4828032"/>
            <a:ext cx="2240280" cy="548640"/>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Pre-use check</a:t>
            </a:r>
            <a:endParaRPr lang="en-US" sz="1800" dirty="0"/>
          </a:p>
        </p:txBody>
      </p:sp>
      <p:sp>
        <p:nvSpPr>
          <p:cNvPr id="18" name="a3_txt_1333"/>
          <p:cNvSpPr txBox="1"/>
          <p:nvPr/>
        </p:nvSpPr>
        <p:spPr>
          <a:xfrm>
            <a:off x="8595360" y="5468112"/>
            <a:ext cx="2862072" cy="658368"/>
          </a:xfrm>
          <a:prstGeom prst="rect">
            <a:avLst/>
          </a:prstGeom>
          <a:noFill/>
          <a:ln/>
        </p:spPr>
        <p:txBody>
          <a:bodyPr wrap="square" lIns="635" tIns="635" rIns="635" bIns="635" rtlCol="0" anchor="t"/>
          <a:lstStyle/>
          <a:p>
            <a:pPr indent="0" marL="0">
              <a:buNone/>
            </a:pPr>
            <a:r>
              <a:rPr lang="en-US" sz="1500" dirty="0">
                <a:solidFill>
                  <a:srgbClr val="1B2730"/>
                </a:solidFill>
                <a:latin typeface="Calibri" pitchFamily="34" charset="0"/>
                <a:ea typeface="Calibri" pitchFamily="34" charset="-122"/>
                <a:cs typeface="Calibri" pitchFamily="34" charset="-120"/>
              </a:rPr>
              <a:t>PPE integrity is the worker’s responsibility</a:t>
            </a:r>
            <a:endParaRPr lang="en-US" sz="1500" dirty="0"/>
          </a:p>
        </p:txBody>
      </p:sp>
      <p:sp>
        <p:nvSpPr>
          <p:cNvPr id="1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Emergency Planning on Every Permit</a:t>
            </a:r>
            <a:endParaRPr lang="en-US" sz="3200" dirty="0"/>
          </a:p>
        </p:txBody>
      </p:sp>
      <p:sp>
        <p:nvSpPr>
          <p:cNvPr id="3" name="box_1334"/>
          <p:cNvSpPr/>
          <p:nvPr/>
        </p:nvSpPr>
        <p:spPr>
          <a:xfrm>
            <a:off x="548640" y="1280160"/>
            <a:ext cx="3657600" cy="4937760"/>
          </a:xfrm>
          <a:prstGeom prst="roundRect">
            <a:avLst>
              <a:gd name="adj" fmla="val 3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1335"/>
          <p:cNvSpPr/>
          <p:nvPr/>
        </p:nvSpPr>
        <p:spPr>
          <a:xfrm>
            <a:off x="731520" y="1463040"/>
            <a:ext cx="685800" cy="685800"/>
          </a:xfrm>
          <a:prstGeom prst="ellipse">
            <a:avLst/>
          </a:prstGeom>
          <a:solidFill>
            <a:srgbClr val="C0392B"/>
          </a:solidFill>
          <a:ln/>
        </p:spPr>
      </p:sp>
      <p:pic>
        <p:nvPicPr>
          <p:cNvPr id="5" name="icon_1336"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1337"/>
          <p:cNvSpPr txBox="1"/>
          <p:nvPr/>
        </p:nvSpPr>
        <p:spPr>
          <a:xfrm>
            <a:off x="1581912" y="1444752"/>
            <a:ext cx="2487168"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WHEN to act (triggers)</a:t>
            </a:r>
            <a:endParaRPr lang="en-US" sz="1900" dirty="0"/>
          </a:p>
        </p:txBody>
      </p:sp>
      <p:sp>
        <p:nvSpPr>
          <p:cNvPr id="7" name="txt_1338"/>
          <p:cNvSpPr txBox="1"/>
          <p:nvPr/>
        </p:nvSpPr>
        <p:spPr>
          <a:xfrm>
            <a:off x="731520" y="2240280"/>
            <a:ext cx="3337560" cy="3931920"/>
          </a:xfrm>
          <a:prstGeom prst="rect">
            <a:avLst/>
          </a:prstGeom>
          <a:noFill/>
          <a:ln/>
        </p:spPr>
        <p:txBody>
          <a:bodyPr wrap="square" lIns="635" tIns="635" rIns="635" bIns="635" rtlCol="0" anchor="t"/>
          <a:lstStyle/>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Fire or explosion</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Uncontrolled release (liquid, gas, vapour)</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Gas monitor alarm</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Collapse or equipment failure</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Medical emergency</a:t>
            </a:r>
            <a:endParaRPr lang="en-US" sz="1800" dirty="0"/>
          </a:p>
          <a:p>
            <a:pPr marL="228600" indent="-228600">
              <a:spcAft>
                <a:spcPts val="600"/>
              </a:spcAft>
              <a:buSzPct val="100000"/>
              <a:buChar char="•"/>
            </a:pPr>
            <a:r>
              <a:rPr lang="en-US" sz="1800" dirty="0">
                <a:solidFill>
                  <a:srgbClr val="1B2730"/>
                </a:solidFill>
                <a:latin typeface="Calibri" pitchFamily="34" charset="0"/>
                <a:ea typeface="Calibri" pitchFamily="34" charset="-122"/>
                <a:cs typeface="Calibri" pitchFamily="34" charset="-120"/>
              </a:rPr>
              <a:t>Site emergency alarm</a:t>
            </a:r>
            <a:endParaRPr lang="en-US" sz="1800" dirty="0"/>
          </a:p>
        </p:txBody>
      </p:sp>
      <p:sp>
        <p:nvSpPr>
          <p:cNvPr id="8" name="a1_box_1339"/>
          <p:cNvSpPr/>
          <p:nvPr/>
        </p:nvSpPr>
        <p:spPr>
          <a:xfrm>
            <a:off x="4389120" y="1280160"/>
            <a:ext cx="3657600" cy="4937760"/>
          </a:xfrm>
          <a:prstGeom prst="roundRect">
            <a:avLst>
              <a:gd name="adj" fmla="val 3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circ_1340"/>
          <p:cNvSpPr/>
          <p:nvPr/>
        </p:nvSpPr>
        <p:spPr>
          <a:xfrm>
            <a:off x="4572000" y="1463040"/>
            <a:ext cx="685800" cy="685800"/>
          </a:xfrm>
          <a:prstGeom prst="ellipse">
            <a:avLst/>
          </a:prstGeom>
          <a:solidFill>
            <a:srgbClr val="E8771E"/>
          </a:solidFill>
          <a:ln/>
        </p:spPr>
      </p:sp>
      <p:pic>
        <p:nvPicPr>
          <p:cNvPr id="10" name="a1_icon_1341" descr="preencoded.png">    </p:cNvPr>
          <p:cNvPicPr>
            <a:picLocks noChangeAspect="1"/>
          </p:cNvPicPr>
          <p:nvPr/>
        </p:nvPicPr>
        <p:blipFill>
          <a:blip r:embed="rId2"/>
          <a:stretch>
            <a:fillRect/>
          </a:stretch>
        </p:blipFill>
        <p:spPr>
          <a:xfrm>
            <a:off x="4726305" y="1617345"/>
            <a:ext cx="377190" cy="377190"/>
          </a:xfrm>
          <a:prstGeom prst="rect">
            <a:avLst/>
          </a:prstGeom>
        </p:spPr>
      </p:pic>
      <p:sp>
        <p:nvSpPr>
          <p:cNvPr id="11" name="a1_txt_1342"/>
          <p:cNvSpPr txBox="1"/>
          <p:nvPr/>
        </p:nvSpPr>
        <p:spPr>
          <a:xfrm>
            <a:off x="5422392" y="1444752"/>
            <a:ext cx="2487168"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First 60 seconds</a:t>
            </a:r>
            <a:endParaRPr lang="en-US" sz="1900" dirty="0"/>
          </a:p>
        </p:txBody>
      </p:sp>
      <p:sp>
        <p:nvSpPr>
          <p:cNvPr id="12" name="a1_txt_1343"/>
          <p:cNvSpPr txBox="1"/>
          <p:nvPr/>
        </p:nvSpPr>
        <p:spPr>
          <a:xfrm>
            <a:off x="4572000" y="2240280"/>
            <a:ext cx="3337560" cy="3931920"/>
          </a:xfrm>
          <a:prstGeom prst="rect">
            <a:avLst/>
          </a:prstGeom>
          <a:noFill/>
          <a:ln/>
        </p:spPr>
        <p:txBody>
          <a:bodyPr wrap="square" lIns="635" tIns="635" rIns="635" bIns="635" rtlCol="0" anchor="t"/>
          <a:lstStyle/>
          <a:p>
            <a:pPr marL="342900" indent="-342900">
              <a:spcAft>
                <a:spcPts val="600"/>
              </a:spcAft>
              <a:buSzPct val="100000"/>
              <a:buFont typeface="+mj-lt"/>
              <a:buAutoNum type="arabicPeriod" startAt="1"/>
            </a:pPr>
            <a:r>
              <a:rPr lang="en-US" sz="1800" dirty="0">
                <a:solidFill>
                  <a:srgbClr val="1B2730"/>
                </a:solidFill>
                <a:latin typeface="Calibri" pitchFamily="34" charset="0"/>
                <a:ea typeface="Calibri" pitchFamily="34" charset="-122"/>
                <a:cs typeface="Calibri" pitchFamily="34" charset="-120"/>
              </a:rPr>
              <a:t>SHOUT a warning</a:t>
            </a:r>
            <a:endParaRPr lang="en-US" sz="1800" dirty="0"/>
          </a:p>
          <a:p>
            <a:pPr marL="342900" indent="-342900">
              <a:spcAft>
                <a:spcPts val="600"/>
              </a:spcAft>
              <a:buSzPct val="100000"/>
              <a:buFont typeface="+mj-lt"/>
              <a:buAutoNum type="arabicPeriod" startAt="1"/>
            </a:pPr>
            <a:r>
              <a:rPr lang="en-US" sz="1800" dirty="0">
                <a:solidFill>
                  <a:srgbClr val="1B2730"/>
                </a:solidFill>
                <a:latin typeface="Calibri" pitchFamily="34" charset="0"/>
                <a:ea typeface="Calibri" pitchFamily="34" charset="-122"/>
                <a:cs typeface="Calibri" pitchFamily="34" charset="-120"/>
              </a:rPr>
              <a:t>STOP all work (if safe)</a:t>
            </a:r>
            <a:endParaRPr lang="en-US" sz="1800" dirty="0"/>
          </a:p>
          <a:p>
            <a:pPr marL="342900" indent="-342900">
              <a:spcAft>
                <a:spcPts val="600"/>
              </a:spcAft>
              <a:buSzPct val="100000"/>
              <a:buFont typeface="+mj-lt"/>
              <a:buAutoNum type="arabicPeriod" startAt="1"/>
            </a:pPr>
            <a:r>
              <a:rPr lang="en-US" sz="1800" dirty="0">
                <a:solidFill>
                  <a:srgbClr val="1B2730"/>
                </a:solidFill>
                <a:latin typeface="Calibri" pitchFamily="34" charset="0"/>
                <a:ea typeface="Calibri" pitchFamily="34" charset="-122"/>
                <a:cs typeface="Calibri" pitchFamily="34" charset="-120"/>
              </a:rPr>
              <a:t>EVACUATE – don’t gather tools</a:t>
            </a:r>
            <a:endParaRPr lang="en-US" sz="1800" dirty="0"/>
          </a:p>
          <a:p>
            <a:pPr marL="342900" indent="-342900">
              <a:spcAft>
                <a:spcPts val="600"/>
              </a:spcAft>
              <a:buSzPct val="100000"/>
              <a:buFont typeface="+mj-lt"/>
              <a:buAutoNum type="arabicPeriod" startAt="1"/>
            </a:pPr>
            <a:r>
              <a:rPr lang="en-US" sz="1800" dirty="0">
                <a:solidFill>
                  <a:srgbClr val="1B2730"/>
                </a:solidFill>
                <a:latin typeface="Calibri" pitchFamily="34" charset="0"/>
                <a:ea typeface="Calibri" pitchFamily="34" charset="-122"/>
                <a:cs typeface="Calibri" pitchFamily="34" charset="-120"/>
              </a:rPr>
              <a:t>ASSIST only without significant personal risk</a:t>
            </a:r>
            <a:endParaRPr lang="en-US" sz="1800" dirty="0"/>
          </a:p>
          <a:p>
            <a:pPr marL="342900" indent="-342900">
              <a:spcAft>
                <a:spcPts val="600"/>
              </a:spcAft>
              <a:buSzPct val="100000"/>
              <a:buFont typeface="+mj-lt"/>
              <a:buAutoNum type="arabicPeriod" startAt="1"/>
            </a:pPr>
            <a:r>
              <a:rPr lang="en-US" sz="1800" dirty="0">
                <a:solidFill>
                  <a:srgbClr val="1B2730"/>
                </a:solidFill>
                <a:latin typeface="Calibri" pitchFamily="34" charset="0"/>
                <a:ea typeface="Calibri" pitchFamily="34" charset="-122"/>
                <a:cs typeface="Calibri" pitchFamily="34" charset="-120"/>
              </a:rPr>
              <a:t>ACTIVATE the alarm</a:t>
            </a:r>
            <a:endParaRPr lang="en-US" sz="1800" dirty="0"/>
          </a:p>
        </p:txBody>
      </p:sp>
      <p:sp>
        <p:nvSpPr>
          <p:cNvPr id="13" name="a2_box_1344"/>
          <p:cNvSpPr/>
          <p:nvPr/>
        </p:nvSpPr>
        <p:spPr>
          <a:xfrm>
            <a:off x="8229600" y="1280160"/>
            <a:ext cx="3410712" cy="4937760"/>
          </a:xfrm>
          <a:prstGeom prst="roundRect">
            <a:avLst>
              <a:gd name="adj" fmla="val 3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2_circ_1345"/>
          <p:cNvSpPr/>
          <p:nvPr/>
        </p:nvSpPr>
        <p:spPr>
          <a:xfrm>
            <a:off x="8412480" y="1463040"/>
            <a:ext cx="685800" cy="685800"/>
          </a:xfrm>
          <a:prstGeom prst="ellipse">
            <a:avLst/>
          </a:prstGeom>
          <a:solidFill>
            <a:srgbClr val="2E7D32"/>
          </a:solidFill>
          <a:ln/>
        </p:spPr>
      </p:sp>
      <p:pic>
        <p:nvPicPr>
          <p:cNvPr id="15" name="a2_icon_1346" descr="preencoded.png">    </p:cNvPr>
          <p:cNvPicPr>
            <a:picLocks noChangeAspect="1"/>
          </p:cNvPicPr>
          <p:nvPr/>
        </p:nvPicPr>
        <p:blipFill>
          <a:blip r:embed="rId3"/>
          <a:stretch>
            <a:fillRect/>
          </a:stretch>
        </p:blipFill>
        <p:spPr>
          <a:xfrm>
            <a:off x="8566785" y="1617345"/>
            <a:ext cx="377190" cy="377190"/>
          </a:xfrm>
          <a:prstGeom prst="rect">
            <a:avLst/>
          </a:prstGeom>
        </p:spPr>
      </p:pic>
      <p:sp>
        <p:nvSpPr>
          <p:cNvPr id="16" name="a2_txt_1347"/>
          <p:cNvSpPr txBox="1"/>
          <p:nvPr/>
        </p:nvSpPr>
        <p:spPr>
          <a:xfrm>
            <a:off x="9262872" y="1444752"/>
            <a:ext cx="2240280"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Know your way out</a:t>
            </a:r>
            <a:endParaRPr lang="en-US" sz="1900" dirty="0"/>
          </a:p>
        </p:txBody>
      </p:sp>
      <p:sp>
        <p:nvSpPr>
          <p:cNvPr id="17" name="a2_txt_1348"/>
          <p:cNvSpPr txBox="1"/>
          <p:nvPr/>
        </p:nvSpPr>
        <p:spPr>
          <a:xfrm>
            <a:off x="8412480" y="2240280"/>
            <a:ext cx="3108960" cy="39319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rgbClr val="1B2730"/>
                </a:solidFill>
                <a:latin typeface="Calibri" pitchFamily="34" charset="0"/>
                <a:ea typeface="Calibri" pitchFamily="34" charset="-122"/>
                <a:cs typeface="Calibri" pitchFamily="34" charset="-120"/>
              </a:rPr>
              <a:t>Primary &amp; secondary escape routes – walked and clear</a:t>
            </a:r>
            <a:endParaRPr lang="en-US" sz="1700" dirty="0"/>
          </a:p>
          <a:p>
            <a:pPr marL="228600" indent="-228600">
              <a:spcAft>
                <a:spcPts val="800"/>
              </a:spcAft>
              <a:buSzPct val="100000"/>
              <a:buChar char="•"/>
            </a:pPr>
            <a:r>
              <a:rPr lang="en-US" sz="1700" dirty="0">
                <a:solidFill>
                  <a:srgbClr val="1B2730"/>
                </a:solidFill>
                <a:latin typeface="Calibri" pitchFamily="34" charset="0"/>
                <a:ea typeface="Calibri" pitchFamily="34" charset="-122"/>
                <a:cs typeface="Calibri" pitchFamily="34" charset="-120"/>
              </a:rPr>
              <a:t>Worksite Assembly Point (WSAP) upwind &amp; uphill for headcount</a:t>
            </a:r>
            <a:endParaRPr lang="en-US" sz="1700" dirty="0"/>
          </a:p>
          <a:p>
            <a:pPr marL="228600" indent="-228600">
              <a:spcAft>
                <a:spcPts val="800"/>
              </a:spcAft>
              <a:buSzPct val="100000"/>
              <a:buChar char="•"/>
            </a:pPr>
            <a:r>
              <a:rPr lang="en-US" sz="1700" dirty="0">
                <a:solidFill>
                  <a:srgbClr val="1B2730"/>
                </a:solidFill>
                <a:latin typeface="Calibri" pitchFamily="34" charset="0"/>
                <a:ea typeface="Calibri" pitchFamily="34" charset="-122"/>
                <a:cs typeface="Calibri" pitchFamily="34" charset="-120"/>
              </a:rPr>
              <a:t>Plan for locked gates / hatches</a:t>
            </a:r>
            <a:endParaRPr lang="en-US" sz="17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Contingency Plans by Activity</a:t>
            </a:r>
            <a:endParaRPr lang="en-US" sz="3200" dirty="0"/>
          </a:p>
        </p:txBody>
      </p:sp>
      <p:sp>
        <p:nvSpPr>
          <p:cNvPr id="3" name="a1_box_1349"/>
          <p:cNvSpPr/>
          <p:nvPr/>
        </p:nvSpPr>
        <p:spPr>
          <a:xfrm>
            <a:off x="548640" y="1280160"/>
            <a:ext cx="11094415" cy="877824"/>
          </a:xfrm>
          <a:prstGeom prst="roundRect">
            <a:avLst>
              <a:gd name="adj" fmla="val 12500"/>
            </a:avLst>
          </a:prstGeom>
          <a:solidFill>
            <a:srgbClr val="FFFFFF"/>
          </a:solidFill>
          <a:ln w="12700">
            <a:solidFill>
              <a:srgbClr val="C9D3D9"/>
            </a:solidFill>
            <a:prstDash val="solid"/>
          </a:ln>
        </p:spPr>
      </p:sp>
      <p:sp>
        <p:nvSpPr>
          <p:cNvPr id="4" name="a1_circ_1350"/>
          <p:cNvSpPr/>
          <p:nvPr/>
        </p:nvSpPr>
        <p:spPr>
          <a:xfrm>
            <a:off x="658368" y="1371600"/>
            <a:ext cx="694944" cy="694944"/>
          </a:xfrm>
          <a:prstGeom prst="ellipse">
            <a:avLst/>
          </a:prstGeom>
          <a:solidFill>
            <a:srgbClr val="C0392B"/>
          </a:solidFill>
          <a:ln/>
        </p:spPr>
      </p:sp>
      <p:pic>
        <p:nvPicPr>
          <p:cNvPr id="5" name="a1_icon_1351" descr="preencoded.png">    </p:cNvPr>
          <p:cNvPicPr>
            <a:picLocks noChangeAspect="1"/>
          </p:cNvPicPr>
          <p:nvPr/>
        </p:nvPicPr>
        <p:blipFill>
          <a:blip r:embed="rId1"/>
          <a:stretch>
            <a:fillRect/>
          </a:stretch>
        </p:blipFill>
        <p:spPr>
          <a:xfrm>
            <a:off x="814730" y="1527962"/>
            <a:ext cx="382219" cy="382219"/>
          </a:xfrm>
          <a:prstGeom prst="rect">
            <a:avLst/>
          </a:prstGeom>
        </p:spPr>
      </p:pic>
      <p:sp>
        <p:nvSpPr>
          <p:cNvPr id="6" name="a1_txt_1352"/>
          <p:cNvSpPr txBox="1"/>
          <p:nvPr/>
        </p:nvSpPr>
        <p:spPr>
          <a:xfrm>
            <a:off x="1463040" y="1280160"/>
            <a:ext cx="1920240" cy="87782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Hot work</a:t>
            </a:r>
            <a:endParaRPr lang="en-US" sz="1800" dirty="0"/>
          </a:p>
        </p:txBody>
      </p:sp>
      <p:sp>
        <p:nvSpPr>
          <p:cNvPr id="7" name="a1_txt_1353"/>
          <p:cNvSpPr txBox="1"/>
          <p:nvPr/>
        </p:nvSpPr>
        <p:spPr>
          <a:xfrm>
            <a:off x="3383280" y="1280160"/>
            <a:ext cx="2743200" cy="877824"/>
          </a:xfrm>
          <a:prstGeom prst="rect">
            <a:avLst/>
          </a:prstGeom>
          <a:noFill/>
          <a:ln/>
        </p:spPr>
        <p:txBody>
          <a:bodyPr wrap="square" lIns="635" tIns="635" rIns="635" bIns="635" rtlCol="0" anchor="ctr"/>
          <a:lstStyle/>
          <a:p>
            <a:pPr indent="0" marL="0">
              <a:buNone/>
            </a:pPr>
            <a:r>
              <a:rPr lang="en-US" sz="1600" i="1" dirty="0">
                <a:solidFill>
                  <a:srgbClr val="5B6B75"/>
                </a:solidFill>
                <a:latin typeface="Calibri" pitchFamily="34" charset="0"/>
                <a:ea typeface="Calibri" pitchFamily="34" charset="-122"/>
                <a:cs typeface="Calibri" pitchFamily="34" charset="-120"/>
              </a:rPr>
              <a:t>Spark ignites insulation or oil</a:t>
            </a:r>
            <a:endParaRPr lang="en-US" sz="1600" dirty="0"/>
          </a:p>
        </p:txBody>
      </p:sp>
      <p:sp>
        <p:nvSpPr>
          <p:cNvPr id="8" name="a1_txt_1354"/>
          <p:cNvSpPr txBox="1"/>
          <p:nvPr/>
        </p:nvSpPr>
        <p:spPr>
          <a:xfrm>
            <a:off x="6217920" y="1280160"/>
            <a:ext cx="539496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Fire watch attacks the small fire with the pre-positioned extinguisher; second person calls for help</a:t>
            </a:r>
            <a:endParaRPr lang="en-US" sz="1600" dirty="0"/>
          </a:p>
        </p:txBody>
      </p:sp>
      <p:sp>
        <p:nvSpPr>
          <p:cNvPr id="9" name="a2_box_1355"/>
          <p:cNvSpPr/>
          <p:nvPr/>
        </p:nvSpPr>
        <p:spPr>
          <a:xfrm>
            <a:off x="548640" y="2267712"/>
            <a:ext cx="11094415" cy="877824"/>
          </a:xfrm>
          <a:prstGeom prst="roundRect">
            <a:avLst>
              <a:gd name="adj" fmla="val 12500"/>
            </a:avLst>
          </a:prstGeom>
          <a:solidFill>
            <a:srgbClr val="FFFFFF"/>
          </a:solidFill>
          <a:ln w="12700">
            <a:solidFill>
              <a:srgbClr val="C9D3D9"/>
            </a:solidFill>
            <a:prstDash val="solid"/>
          </a:ln>
        </p:spPr>
      </p:sp>
      <p:sp>
        <p:nvSpPr>
          <p:cNvPr id="10" name="a2_circ_1356"/>
          <p:cNvSpPr/>
          <p:nvPr/>
        </p:nvSpPr>
        <p:spPr>
          <a:xfrm>
            <a:off x="658368" y="2359152"/>
            <a:ext cx="694944" cy="694944"/>
          </a:xfrm>
          <a:prstGeom prst="ellipse">
            <a:avLst/>
          </a:prstGeom>
          <a:solidFill>
            <a:srgbClr val="E8771E"/>
          </a:solidFill>
          <a:ln/>
        </p:spPr>
      </p:sp>
      <p:pic>
        <p:nvPicPr>
          <p:cNvPr id="11" name="a2_icon_1357" descr="preencoded.png">    </p:cNvPr>
          <p:cNvPicPr>
            <a:picLocks noChangeAspect="1"/>
          </p:cNvPicPr>
          <p:nvPr/>
        </p:nvPicPr>
        <p:blipFill>
          <a:blip r:embed="rId2"/>
          <a:stretch>
            <a:fillRect/>
          </a:stretch>
        </p:blipFill>
        <p:spPr>
          <a:xfrm>
            <a:off x="814730" y="2515514"/>
            <a:ext cx="382219" cy="382219"/>
          </a:xfrm>
          <a:prstGeom prst="rect">
            <a:avLst/>
          </a:prstGeom>
        </p:spPr>
      </p:pic>
      <p:sp>
        <p:nvSpPr>
          <p:cNvPr id="12" name="a2_txt_1358"/>
          <p:cNvSpPr txBox="1"/>
          <p:nvPr/>
        </p:nvSpPr>
        <p:spPr>
          <a:xfrm>
            <a:off x="1463040" y="2267712"/>
            <a:ext cx="1920240" cy="87782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Confined space</a:t>
            </a:r>
            <a:endParaRPr lang="en-US" sz="1800" dirty="0"/>
          </a:p>
        </p:txBody>
      </p:sp>
      <p:sp>
        <p:nvSpPr>
          <p:cNvPr id="13" name="a2_txt_1359"/>
          <p:cNvSpPr txBox="1"/>
          <p:nvPr/>
        </p:nvSpPr>
        <p:spPr>
          <a:xfrm>
            <a:off x="3383280" y="2267712"/>
            <a:ext cx="2743200" cy="877824"/>
          </a:xfrm>
          <a:prstGeom prst="rect">
            <a:avLst/>
          </a:prstGeom>
          <a:noFill/>
          <a:ln/>
        </p:spPr>
        <p:txBody>
          <a:bodyPr wrap="square" lIns="635" tIns="635" rIns="635" bIns="635" rtlCol="0" anchor="ctr"/>
          <a:lstStyle/>
          <a:p>
            <a:pPr indent="0" marL="0">
              <a:buNone/>
            </a:pPr>
            <a:r>
              <a:rPr lang="en-US" sz="1600" i="1" dirty="0">
                <a:solidFill>
                  <a:srgbClr val="5B6B75"/>
                </a:solidFill>
                <a:latin typeface="Calibri" pitchFamily="34" charset="0"/>
                <a:ea typeface="Calibri" pitchFamily="34" charset="-122"/>
                <a:cs typeface="Calibri" pitchFamily="34" charset="-120"/>
              </a:rPr>
              <a:t>Gas monitor alarms (e.g. H₂S)</a:t>
            </a:r>
            <a:endParaRPr lang="en-US" sz="1600" dirty="0"/>
          </a:p>
        </p:txBody>
      </p:sp>
      <p:sp>
        <p:nvSpPr>
          <p:cNvPr id="14" name="a2_txt_1360"/>
          <p:cNvSpPr txBox="1"/>
          <p:nvPr/>
        </p:nvSpPr>
        <p:spPr>
          <a:xfrm>
            <a:off x="6217920" y="2267712"/>
            <a:ext cx="539496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Attendant orders evacuation → non-entry rescue (tripod/winch) → calls rescue team. NEVER enters</a:t>
            </a:r>
            <a:endParaRPr lang="en-US" sz="1600" dirty="0"/>
          </a:p>
        </p:txBody>
      </p:sp>
      <p:sp>
        <p:nvSpPr>
          <p:cNvPr id="15" name="a3_box_1361"/>
          <p:cNvSpPr/>
          <p:nvPr/>
        </p:nvSpPr>
        <p:spPr>
          <a:xfrm>
            <a:off x="548640" y="3255264"/>
            <a:ext cx="11094415" cy="877824"/>
          </a:xfrm>
          <a:prstGeom prst="roundRect">
            <a:avLst>
              <a:gd name="adj" fmla="val 12500"/>
            </a:avLst>
          </a:prstGeom>
          <a:solidFill>
            <a:srgbClr val="FFFFFF"/>
          </a:solidFill>
          <a:ln w="12700">
            <a:solidFill>
              <a:srgbClr val="C9D3D9"/>
            </a:solidFill>
            <a:prstDash val="solid"/>
          </a:ln>
        </p:spPr>
      </p:sp>
      <p:sp>
        <p:nvSpPr>
          <p:cNvPr id="16" name="a3_circ_1362"/>
          <p:cNvSpPr/>
          <p:nvPr/>
        </p:nvSpPr>
        <p:spPr>
          <a:xfrm>
            <a:off x="658368" y="3346704"/>
            <a:ext cx="694944" cy="694944"/>
          </a:xfrm>
          <a:prstGeom prst="ellipse">
            <a:avLst/>
          </a:prstGeom>
          <a:solidFill>
            <a:srgbClr val="8D6E63"/>
          </a:solidFill>
          <a:ln/>
        </p:spPr>
      </p:sp>
      <p:pic>
        <p:nvPicPr>
          <p:cNvPr id="17" name="a3_icon_1363" descr="preencoded.png">    </p:cNvPr>
          <p:cNvPicPr>
            <a:picLocks noChangeAspect="1"/>
          </p:cNvPicPr>
          <p:nvPr/>
        </p:nvPicPr>
        <p:blipFill>
          <a:blip r:embed="rId3"/>
          <a:stretch>
            <a:fillRect/>
          </a:stretch>
        </p:blipFill>
        <p:spPr>
          <a:xfrm>
            <a:off x="814730" y="3503066"/>
            <a:ext cx="382219" cy="382219"/>
          </a:xfrm>
          <a:prstGeom prst="rect">
            <a:avLst/>
          </a:prstGeom>
        </p:spPr>
      </p:pic>
      <p:sp>
        <p:nvSpPr>
          <p:cNvPr id="18" name="a3_txt_1364"/>
          <p:cNvSpPr txBox="1"/>
          <p:nvPr/>
        </p:nvSpPr>
        <p:spPr>
          <a:xfrm>
            <a:off x="1463040" y="3255264"/>
            <a:ext cx="1920240" cy="87782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Excavation</a:t>
            </a:r>
            <a:endParaRPr lang="en-US" sz="1800" dirty="0"/>
          </a:p>
        </p:txBody>
      </p:sp>
      <p:sp>
        <p:nvSpPr>
          <p:cNvPr id="19" name="a3_txt_1365"/>
          <p:cNvSpPr txBox="1"/>
          <p:nvPr/>
        </p:nvSpPr>
        <p:spPr>
          <a:xfrm>
            <a:off x="3383280" y="3255264"/>
            <a:ext cx="2743200" cy="877824"/>
          </a:xfrm>
          <a:prstGeom prst="rect">
            <a:avLst/>
          </a:prstGeom>
          <a:noFill/>
          <a:ln/>
        </p:spPr>
        <p:txBody>
          <a:bodyPr wrap="square" lIns="635" tIns="635" rIns="635" bIns="635" rtlCol="0" anchor="ctr"/>
          <a:lstStyle/>
          <a:p>
            <a:pPr indent="0" marL="0">
              <a:buNone/>
            </a:pPr>
            <a:r>
              <a:rPr lang="en-US" sz="1600" i="1" dirty="0">
                <a:solidFill>
                  <a:srgbClr val="5B6B75"/>
                </a:solidFill>
                <a:latin typeface="Calibri" pitchFamily="34" charset="0"/>
                <a:ea typeface="Calibri" pitchFamily="34" charset="-122"/>
                <a:cs typeface="Calibri" pitchFamily="34" charset="-120"/>
              </a:rPr>
              <a:t>Cracking, sloughing, water seepage</a:t>
            </a:r>
            <a:endParaRPr lang="en-US" sz="1600" dirty="0"/>
          </a:p>
        </p:txBody>
      </p:sp>
      <p:sp>
        <p:nvSpPr>
          <p:cNvPr id="20" name="a3_txt_1366"/>
          <p:cNvSpPr txBox="1"/>
          <p:nvPr/>
        </p:nvSpPr>
        <p:spPr>
          <a:xfrm>
            <a:off x="6217920" y="3255264"/>
            <a:ext cx="539496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Evacuate trench; no re-entry until a competent person declares it safe</a:t>
            </a:r>
            <a:endParaRPr lang="en-US" sz="1600" dirty="0"/>
          </a:p>
        </p:txBody>
      </p:sp>
      <p:sp>
        <p:nvSpPr>
          <p:cNvPr id="21" name="a4_box_1367"/>
          <p:cNvSpPr/>
          <p:nvPr/>
        </p:nvSpPr>
        <p:spPr>
          <a:xfrm>
            <a:off x="548640" y="4242816"/>
            <a:ext cx="11094415" cy="877824"/>
          </a:xfrm>
          <a:prstGeom prst="roundRect">
            <a:avLst>
              <a:gd name="adj" fmla="val 12500"/>
            </a:avLst>
          </a:prstGeom>
          <a:solidFill>
            <a:srgbClr val="FFFFFF"/>
          </a:solidFill>
          <a:ln w="12700">
            <a:solidFill>
              <a:srgbClr val="C9D3D9"/>
            </a:solidFill>
            <a:prstDash val="solid"/>
          </a:ln>
        </p:spPr>
      </p:sp>
      <p:sp>
        <p:nvSpPr>
          <p:cNvPr id="22" name="a4_circ_1368"/>
          <p:cNvSpPr/>
          <p:nvPr/>
        </p:nvSpPr>
        <p:spPr>
          <a:xfrm>
            <a:off x="658368" y="4334256"/>
            <a:ext cx="694944" cy="694944"/>
          </a:xfrm>
          <a:prstGeom prst="ellipse">
            <a:avLst/>
          </a:prstGeom>
          <a:solidFill>
            <a:srgbClr val="F2A900"/>
          </a:solidFill>
          <a:ln/>
        </p:spPr>
      </p:sp>
      <p:pic>
        <p:nvPicPr>
          <p:cNvPr id="23" name="a4_icon_1369" descr="preencoded.png">    </p:cNvPr>
          <p:cNvPicPr>
            <a:picLocks noChangeAspect="1"/>
          </p:cNvPicPr>
          <p:nvPr/>
        </p:nvPicPr>
        <p:blipFill>
          <a:blip r:embed="rId4"/>
          <a:stretch>
            <a:fillRect/>
          </a:stretch>
        </p:blipFill>
        <p:spPr>
          <a:xfrm>
            <a:off x="814730" y="4490618"/>
            <a:ext cx="382219" cy="382219"/>
          </a:xfrm>
          <a:prstGeom prst="rect">
            <a:avLst/>
          </a:prstGeom>
        </p:spPr>
      </p:pic>
      <p:sp>
        <p:nvSpPr>
          <p:cNvPr id="24" name="a4_txt_1370"/>
          <p:cNvSpPr txBox="1"/>
          <p:nvPr/>
        </p:nvSpPr>
        <p:spPr>
          <a:xfrm>
            <a:off x="1463040" y="4242816"/>
            <a:ext cx="1920240" cy="87782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Electrical</a:t>
            </a:r>
            <a:endParaRPr lang="en-US" sz="1800" dirty="0"/>
          </a:p>
        </p:txBody>
      </p:sp>
      <p:sp>
        <p:nvSpPr>
          <p:cNvPr id="25" name="a4_txt_1371"/>
          <p:cNvSpPr txBox="1"/>
          <p:nvPr/>
        </p:nvSpPr>
        <p:spPr>
          <a:xfrm>
            <a:off x="3383280" y="4242816"/>
            <a:ext cx="2743200" cy="877824"/>
          </a:xfrm>
          <a:prstGeom prst="rect">
            <a:avLst/>
          </a:prstGeom>
          <a:noFill/>
          <a:ln/>
        </p:spPr>
        <p:txBody>
          <a:bodyPr wrap="square" lIns="635" tIns="635" rIns="635" bIns="635" rtlCol="0" anchor="ctr"/>
          <a:lstStyle/>
          <a:p>
            <a:pPr indent="0" marL="0">
              <a:buNone/>
            </a:pPr>
            <a:r>
              <a:rPr lang="en-US" sz="1600" i="1" dirty="0">
                <a:solidFill>
                  <a:srgbClr val="5B6B75"/>
                </a:solidFill>
                <a:latin typeface="Calibri" pitchFamily="34" charset="0"/>
                <a:ea typeface="Calibri" pitchFamily="34" charset="-122"/>
                <a:cs typeface="Calibri" pitchFamily="34" charset="-120"/>
              </a:rPr>
              <a:t>Worker electrocuted / arc flash</a:t>
            </a:r>
            <a:endParaRPr lang="en-US" sz="1600" dirty="0"/>
          </a:p>
        </p:txBody>
      </p:sp>
      <p:sp>
        <p:nvSpPr>
          <p:cNvPr id="26" name="a4_txt_1372"/>
          <p:cNvSpPr txBox="1"/>
          <p:nvPr/>
        </p:nvSpPr>
        <p:spPr>
          <a:xfrm>
            <a:off x="6217920" y="4242816"/>
            <a:ext cx="539496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DO NOT TOUCH. De-energise at LOTO point, or use non-conductive rescue hook</a:t>
            </a:r>
            <a:endParaRPr lang="en-US" sz="1600" dirty="0"/>
          </a:p>
        </p:txBody>
      </p:sp>
      <p:sp>
        <p:nvSpPr>
          <p:cNvPr id="27" name="a5_box_1373"/>
          <p:cNvSpPr/>
          <p:nvPr/>
        </p:nvSpPr>
        <p:spPr>
          <a:xfrm>
            <a:off x="548640" y="5230368"/>
            <a:ext cx="11094415" cy="877824"/>
          </a:xfrm>
          <a:prstGeom prst="roundRect">
            <a:avLst>
              <a:gd name="adj" fmla="val 12500"/>
            </a:avLst>
          </a:prstGeom>
          <a:solidFill>
            <a:srgbClr val="FFFFFF"/>
          </a:solidFill>
          <a:ln w="12700">
            <a:solidFill>
              <a:srgbClr val="C9D3D9"/>
            </a:solidFill>
            <a:prstDash val="solid"/>
          </a:ln>
        </p:spPr>
      </p:sp>
      <p:sp>
        <p:nvSpPr>
          <p:cNvPr id="28" name="a5_circ_1374"/>
          <p:cNvSpPr/>
          <p:nvPr/>
        </p:nvSpPr>
        <p:spPr>
          <a:xfrm>
            <a:off x="658368" y="5321808"/>
            <a:ext cx="694944" cy="694944"/>
          </a:xfrm>
          <a:prstGeom prst="ellipse">
            <a:avLst/>
          </a:prstGeom>
          <a:solidFill>
            <a:srgbClr val="0F6E7A"/>
          </a:solidFill>
          <a:ln/>
        </p:spPr>
      </p:sp>
      <p:pic>
        <p:nvPicPr>
          <p:cNvPr id="29" name="a5_icon_1375" descr="preencoded.png">    </p:cNvPr>
          <p:cNvPicPr>
            <a:picLocks noChangeAspect="1"/>
          </p:cNvPicPr>
          <p:nvPr/>
        </p:nvPicPr>
        <p:blipFill>
          <a:blip r:embed="rId5"/>
          <a:stretch>
            <a:fillRect/>
          </a:stretch>
        </p:blipFill>
        <p:spPr>
          <a:xfrm>
            <a:off x="814730" y="5478170"/>
            <a:ext cx="382219" cy="382219"/>
          </a:xfrm>
          <a:prstGeom prst="rect">
            <a:avLst/>
          </a:prstGeom>
        </p:spPr>
      </p:pic>
      <p:sp>
        <p:nvSpPr>
          <p:cNvPr id="30" name="a5_txt_1376"/>
          <p:cNvSpPr txBox="1"/>
          <p:nvPr/>
        </p:nvSpPr>
        <p:spPr>
          <a:xfrm>
            <a:off x="1463040" y="5230368"/>
            <a:ext cx="1920240" cy="87782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Breaking containment</a:t>
            </a:r>
            <a:endParaRPr lang="en-US" sz="1800" dirty="0"/>
          </a:p>
        </p:txBody>
      </p:sp>
      <p:sp>
        <p:nvSpPr>
          <p:cNvPr id="31" name="a5_txt_1377"/>
          <p:cNvSpPr txBox="1"/>
          <p:nvPr/>
        </p:nvSpPr>
        <p:spPr>
          <a:xfrm>
            <a:off x="3383280" y="5230368"/>
            <a:ext cx="2743200" cy="877824"/>
          </a:xfrm>
          <a:prstGeom prst="rect">
            <a:avLst/>
          </a:prstGeom>
          <a:noFill/>
          <a:ln/>
        </p:spPr>
        <p:txBody>
          <a:bodyPr wrap="square" lIns="635" tIns="635" rIns="635" bIns="635" rtlCol="0" anchor="ctr"/>
          <a:lstStyle/>
          <a:p>
            <a:pPr indent="0" marL="0">
              <a:buNone/>
            </a:pPr>
            <a:r>
              <a:rPr lang="en-US" sz="1600" i="1" dirty="0">
                <a:solidFill>
                  <a:srgbClr val="5B6B75"/>
                </a:solidFill>
                <a:latin typeface="Calibri" pitchFamily="34" charset="0"/>
                <a:ea typeface="Calibri" pitchFamily="34" charset="-122"/>
                <a:cs typeface="Calibri" pitchFamily="34" charset="-120"/>
              </a:rPr>
              <a:t>Leak when last bolt loosened</a:t>
            </a:r>
            <a:endParaRPr lang="en-US" sz="1600" dirty="0"/>
          </a:p>
        </p:txBody>
      </p:sp>
      <p:sp>
        <p:nvSpPr>
          <p:cNvPr id="32" name="a5_txt_1378"/>
          <p:cNvSpPr txBox="1"/>
          <p:nvPr/>
        </p:nvSpPr>
        <p:spPr>
          <a:xfrm>
            <a:off x="6217920" y="5230368"/>
            <a:ext cx="5394960" cy="877824"/>
          </a:xfrm>
          <a:prstGeom prst="rect">
            <a:avLst/>
          </a:prstGeom>
          <a:noFill/>
          <a:ln/>
        </p:spPr>
        <p:txBody>
          <a:bodyPr wrap="square" lIns="635" tIns="635" rIns="635" bIns="635" rtlCol="0" anchor="ctr"/>
          <a:lstStyle/>
          <a:p>
            <a:pPr indent="0" marL="0">
              <a:buNone/>
            </a:pPr>
            <a:r>
              <a:rPr lang="en-US" sz="1600" dirty="0">
                <a:solidFill>
                  <a:srgbClr val="1B2730"/>
                </a:solidFill>
                <a:latin typeface="Calibri" pitchFamily="34" charset="0"/>
                <a:ea typeface="Calibri" pitchFamily="34" charset="-122"/>
                <a:cs typeface="Calibri" pitchFamily="34" charset="-120"/>
              </a:rPr>
              <a:t>Re-tighten if safe or fit leak clamp; absorbents &amp; drip trays ready</a:t>
            </a:r>
            <a:endParaRPr lang="en-US" sz="1600" dirty="0"/>
          </a:p>
        </p:txBody>
      </p:sp>
      <p:sp>
        <p:nvSpPr>
          <p:cNvPr id="3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500"/>
                                        <p:tgtEl>
                                          <p:spTgt spid="2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5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5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Emergency Communication &amp; Rescue</a:t>
            </a:r>
            <a:endParaRPr lang="en-US" sz="3200" dirty="0"/>
          </a:p>
        </p:txBody>
      </p:sp>
      <p:sp>
        <p:nvSpPr>
          <p:cNvPr id="3" name="box_1379"/>
          <p:cNvSpPr/>
          <p:nvPr/>
        </p:nvSpPr>
        <p:spPr>
          <a:xfrm>
            <a:off x="0" y="1143000"/>
            <a:ext cx="4206240" cy="5166360"/>
          </a:xfrm>
          <a:prstGeom prst="rect">
            <a:avLst/>
          </a:prstGeom>
          <a:solidFill>
            <a:srgbClr val="C0392B"/>
          </a:solidFill>
          <a:ln/>
        </p:spPr>
      </p:sp>
      <p:pic>
        <p:nvPicPr>
          <p:cNvPr id="4" name="icon_1380" descr="preencoded.png">    </p:cNvPr>
          <p:cNvPicPr>
            <a:picLocks noChangeAspect="1"/>
          </p:cNvPicPr>
          <p:nvPr/>
        </p:nvPicPr>
        <p:blipFill>
          <a:blip r:embed="rId1"/>
          <a:stretch>
            <a:fillRect/>
          </a:stretch>
        </p:blipFill>
        <p:spPr>
          <a:xfrm>
            <a:off x="1219810" y="2568550"/>
            <a:ext cx="1766621" cy="1766621"/>
          </a:xfrm>
          <a:prstGeom prst="rect">
            <a:avLst/>
          </a:prstGeom>
        </p:spPr>
      </p:pic>
      <p:sp>
        <p:nvSpPr>
          <p:cNvPr id="5" name="txt_1381"/>
          <p:cNvSpPr txBox="1"/>
          <p:nvPr/>
        </p:nvSpPr>
        <p:spPr>
          <a:xfrm>
            <a:off x="274320" y="4609490"/>
            <a:ext cx="3657600" cy="822960"/>
          </a:xfrm>
          <a:prstGeom prst="rect">
            <a:avLst/>
          </a:prstGeom>
          <a:noFill/>
          <a:ln/>
        </p:spPr>
        <p:txBody>
          <a:bodyPr wrap="square" lIns="635" tIns="635" rIns="635" bIns="635"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Rescue plan BEFORE entry</a:t>
            </a:r>
            <a:endParaRPr lang="en-US" sz="1800" dirty="0"/>
          </a:p>
        </p:txBody>
      </p:sp>
      <p:sp>
        <p:nvSpPr>
          <p:cNvPr id="6" name="txt_1382"/>
          <p:cNvSpPr txBox="1"/>
          <p:nvPr/>
        </p:nvSpPr>
        <p:spPr>
          <a:xfrm>
            <a:off x="4526280" y="1234440"/>
            <a:ext cx="4023360" cy="411480"/>
          </a:xfrm>
          <a:prstGeom prst="rect">
            <a:avLst/>
          </a:prstGeom>
          <a:noFill/>
          <a:ln/>
        </p:spPr>
        <p:txBody>
          <a:bodyPr wrap="square" lIns="635" tIns="635" rIns="635" bIns="635" rtlCol="0" anchor="t"/>
          <a:lstStyle/>
          <a:p>
            <a:pPr indent="0" marL="0">
              <a:buNone/>
            </a:pPr>
            <a:r>
              <a:rPr lang="en-US" sz="1900" b="1" dirty="0">
                <a:solidFill>
                  <a:srgbClr val="0B2A3C"/>
                </a:solidFill>
                <a:latin typeface="Calibri" pitchFamily="34" charset="0"/>
                <a:ea typeface="Calibri" pitchFamily="34" charset="-122"/>
                <a:cs typeface="Calibri" pitchFamily="34" charset="-120"/>
              </a:rPr>
              <a:t>METHANE emergency message</a:t>
            </a:r>
            <a:endParaRPr lang="en-US" sz="1900" dirty="0"/>
          </a:p>
        </p:txBody>
      </p:sp>
      <p:sp>
        <p:nvSpPr>
          <p:cNvPr id="7" name="a1w_box_1383"/>
          <p:cNvSpPr/>
          <p:nvPr/>
        </p:nvSpPr>
        <p:spPr>
          <a:xfrm>
            <a:off x="4526280" y="1691640"/>
            <a:ext cx="566928" cy="548640"/>
          </a:xfrm>
          <a:prstGeom prst="roundRect">
            <a:avLst>
              <a:gd name="adj" fmla="val 8333"/>
            </a:avLst>
          </a:prstGeom>
          <a:solidFill>
            <a:srgbClr val="C0392B"/>
          </a:solidFill>
          <a:ln/>
        </p:spPr>
      </p:sp>
      <p:sp>
        <p:nvSpPr>
          <p:cNvPr id="8" name="a1w_txt_1384"/>
          <p:cNvSpPr txBox="1"/>
          <p:nvPr/>
        </p:nvSpPr>
        <p:spPr>
          <a:xfrm>
            <a:off x="4526280" y="169164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9" name="a1w_txt_1385"/>
          <p:cNvSpPr txBox="1"/>
          <p:nvPr/>
        </p:nvSpPr>
        <p:spPr>
          <a:xfrm>
            <a:off x="5212080" y="169164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My exact location</a:t>
            </a:r>
            <a:endParaRPr lang="en-US" sz="1700" dirty="0"/>
          </a:p>
        </p:txBody>
      </p:sp>
      <p:sp>
        <p:nvSpPr>
          <p:cNvPr id="10" name="a2w_box_1386"/>
          <p:cNvSpPr/>
          <p:nvPr/>
        </p:nvSpPr>
        <p:spPr>
          <a:xfrm>
            <a:off x="4526280" y="2331720"/>
            <a:ext cx="566928" cy="548640"/>
          </a:xfrm>
          <a:prstGeom prst="roundRect">
            <a:avLst>
              <a:gd name="adj" fmla="val 8333"/>
            </a:avLst>
          </a:prstGeom>
          <a:solidFill>
            <a:srgbClr val="C0392B"/>
          </a:solidFill>
          <a:ln/>
        </p:spPr>
      </p:sp>
      <p:sp>
        <p:nvSpPr>
          <p:cNvPr id="11" name="a2w_txt_1387"/>
          <p:cNvSpPr txBox="1"/>
          <p:nvPr/>
        </p:nvSpPr>
        <p:spPr>
          <a:xfrm>
            <a:off x="4526280" y="233172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12" name="a2w_txt_1388"/>
          <p:cNvSpPr txBox="1"/>
          <p:nvPr/>
        </p:nvSpPr>
        <p:spPr>
          <a:xfrm>
            <a:off x="5212080" y="233172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Exact nature of emergency</a:t>
            </a:r>
            <a:endParaRPr lang="en-US" sz="1700" dirty="0"/>
          </a:p>
        </p:txBody>
      </p:sp>
      <p:sp>
        <p:nvSpPr>
          <p:cNvPr id="13" name="a3w_box_1389"/>
          <p:cNvSpPr/>
          <p:nvPr/>
        </p:nvSpPr>
        <p:spPr>
          <a:xfrm>
            <a:off x="4526280" y="2971800"/>
            <a:ext cx="566928" cy="548640"/>
          </a:xfrm>
          <a:prstGeom prst="roundRect">
            <a:avLst>
              <a:gd name="adj" fmla="val 8333"/>
            </a:avLst>
          </a:prstGeom>
          <a:solidFill>
            <a:srgbClr val="C0392B"/>
          </a:solidFill>
          <a:ln/>
        </p:spPr>
      </p:sp>
      <p:sp>
        <p:nvSpPr>
          <p:cNvPr id="14" name="a3w_txt_1390"/>
          <p:cNvSpPr txBox="1"/>
          <p:nvPr/>
        </p:nvSpPr>
        <p:spPr>
          <a:xfrm>
            <a:off x="4526280" y="297180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a:t>
            </a:r>
            <a:endParaRPr lang="en-US" sz="2200" dirty="0"/>
          </a:p>
        </p:txBody>
      </p:sp>
      <p:sp>
        <p:nvSpPr>
          <p:cNvPr id="15" name="a3w_txt_1391"/>
          <p:cNvSpPr txBox="1"/>
          <p:nvPr/>
        </p:nvSpPr>
        <p:spPr>
          <a:xfrm>
            <a:off x="5212080" y="297180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Type of help needed</a:t>
            </a:r>
            <a:endParaRPr lang="en-US" sz="1700" dirty="0"/>
          </a:p>
        </p:txBody>
      </p:sp>
      <p:sp>
        <p:nvSpPr>
          <p:cNvPr id="16" name="a4w_box_1392"/>
          <p:cNvSpPr/>
          <p:nvPr/>
        </p:nvSpPr>
        <p:spPr>
          <a:xfrm>
            <a:off x="4526280" y="3611880"/>
            <a:ext cx="566928" cy="548640"/>
          </a:xfrm>
          <a:prstGeom prst="roundRect">
            <a:avLst>
              <a:gd name="adj" fmla="val 8333"/>
            </a:avLst>
          </a:prstGeom>
          <a:solidFill>
            <a:srgbClr val="C0392B"/>
          </a:solidFill>
          <a:ln/>
        </p:spPr>
      </p:sp>
      <p:sp>
        <p:nvSpPr>
          <p:cNvPr id="17" name="a4w_txt_1393"/>
          <p:cNvSpPr txBox="1"/>
          <p:nvPr/>
        </p:nvSpPr>
        <p:spPr>
          <a:xfrm>
            <a:off x="4526280" y="361188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t>
            </a:r>
            <a:endParaRPr lang="en-US" sz="2200" dirty="0"/>
          </a:p>
        </p:txBody>
      </p:sp>
      <p:sp>
        <p:nvSpPr>
          <p:cNvPr id="18" name="a4w_txt_1394"/>
          <p:cNvSpPr txBox="1"/>
          <p:nvPr/>
        </p:nvSpPr>
        <p:spPr>
          <a:xfrm>
            <a:off x="5212080" y="361188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Hazards present</a:t>
            </a:r>
            <a:endParaRPr lang="en-US" sz="1700" dirty="0"/>
          </a:p>
        </p:txBody>
      </p:sp>
      <p:sp>
        <p:nvSpPr>
          <p:cNvPr id="19" name="a5w_box_1395"/>
          <p:cNvSpPr/>
          <p:nvPr/>
        </p:nvSpPr>
        <p:spPr>
          <a:xfrm>
            <a:off x="4526280" y="4251960"/>
            <a:ext cx="566928" cy="548640"/>
          </a:xfrm>
          <a:prstGeom prst="roundRect">
            <a:avLst>
              <a:gd name="adj" fmla="val 8333"/>
            </a:avLst>
          </a:prstGeom>
          <a:solidFill>
            <a:srgbClr val="C0392B"/>
          </a:solidFill>
          <a:ln/>
        </p:spPr>
      </p:sp>
      <p:sp>
        <p:nvSpPr>
          <p:cNvPr id="20" name="a5w_txt_1396"/>
          <p:cNvSpPr txBox="1"/>
          <p:nvPr/>
        </p:nvSpPr>
        <p:spPr>
          <a:xfrm>
            <a:off x="4526280" y="425196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21" name="a5w_txt_1397"/>
          <p:cNvSpPr txBox="1"/>
          <p:nvPr/>
        </p:nvSpPr>
        <p:spPr>
          <a:xfrm>
            <a:off x="5212080" y="425196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Access route for responders</a:t>
            </a:r>
            <a:endParaRPr lang="en-US" sz="1700" dirty="0"/>
          </a:p>
        </p:txBody>
      </p:sp>
      <p:sp>
        <p:nvSpPr>
          <p:cNvPr id="22" name="a6w_box_1398"/>
          <p:cNvSpPr/>
          <p:nvPr/>
        </p:nvSpPr>
        <p:spPr>
          <a:xfrm>
            <a:off x="4526280" y="4892040"/>
            <a:ext cx="566928" cy="548640"/>
          </a:xfrm>
          <a:prstGeom prst="roundRect">
            <a:avLst>
              <a:gd name="adj" fmla="val 8333"/>
            </a:avLst>
          </a:prstGeom>
          <a:solidFill>
            <a:srgbClr val="C0392B"/>
          </a:solidFill>
          <a:ln/>
        </p:spPr>
      </p:sp>
      <p:sp>
        <p:nvSpPr>
          <p:cNvPr id="23" name="a6w_txt_1399"/>
          <p:cNvSpPr txBox="1"/>
          <p:nvPr/>
        </p:nvSpPr>
        <p:spPr>
          <a:xfrm>
            <a:off x="4526280" y="489204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N</a:t>
            </a:r>
            <a:endParaRPr lang="en-US" sz="2200" dirty="0"/>
          </a:p>
        </p:txBody>
      </p:sp>
      <p:sp>
        <p:nvSpPr>
          <p:cNvPr id="24" name="a6w_txt_1400"/>
          <p:cNvSpPr txBox="1"/>
          <p:nvPr/>
        </p:nvSpPr>
        <p:spPr>
          <a:xfrm>
            <a:off x="5212080" y="489204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Number &amp; condition of casualties</a:t>
            </a:r>
            <a:endParaRPr lang="en-US" sz="1700" dirty="0"/>
          </a:p>
        </p:txBody>
      </p:sp>
      <p:sp>
        <p:nvSpPr>
          <p:cNvPr id="25" name="a7w_box_1401"/>
          <p:cNvSpPr/>
          <p:nvPr/>
        </p:nvSpPr>
        <p:spPr>
          <a:xfrm>
            <a:off x="4526280" y="5532120"/>
            <a:ext cx="566928" cy="548640"/>
          </a:xfrm>
          <a:prstGeom prst="roundRect">
            <a:avLst>
              <a:gd name="adj" fmla="val 8333"/>
            </a:avLst>
          </a:prstGeom>
          <a:solidFill>
            <a:srgbClr val="C0392B"/>
          </a:solidFill>
          <a:ln/>
        </p:spPr>
      </p:sp>
      <p:sp>
        <p:nvSpPr>
          <p:cNvPr id="26" name="a7w_txt_1402"/>
          <p:cNvSpPr txBox="1"/>
          <p:nvPr/>
        </p:nvSpPr>
        <p:spPr>
          <a:xfrm>
            <a:off x="4526280" y="5532120"/>
            <a:ext cx="566928" cy="548640"/>
          </a:xfrm>
          <a:prstGeom prst="rect">
            <a:avLst/>
          </a:prstGeom>
          <a:noFill/>
          <a:ln/>
        </p:spPr>
        <p:txBody>
          <a:bodyPr wrap="square" lIns="635" tIns="635" rIns="635" bIns="635"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27" name="a7w_txt_1403"/>
          <p:cNvSpPr txBox="1"/>
          <p:nvPr/>
        </p:nvSpPr>
        <p:spPr>
          <a:xfrm>
            <a:off x="5212080" y="5532120"/>
            <a:ext cx="3337560" cy="548640"/>
          </a:xfrm>
          <a:prstGeom prst="rect">
            <a:avLst/>
          </a:prstGeom>
          <a:noFill/>
          <a:ln/>
        </p:spPr>
        <p:txBody>
          <a:bodyPr wrap="square" lIns="635" tIns="635" rIns="635" bIns="635" rtlCol="0" anchor="ctr"/>
          <a:lstStyle/>
          <a:p>
            <a:pPr indent="0" marL="0">
              <a:buNone/>
            </a:pPr>
            <a:r>
              <a:rPr lang="en-US" sz="1700" dirty="0">
                <a:solidFill>
                  <a:srgbClr val="1B2730"/>
                </a:solidFill>
                <a:latin typeface="Calibri" pitchFamily="34" charset="0"/>
                <a:ea typeface="Calibri" pitchFamily="34" charset="-122"/>
                <a:cs typeface="Calibri" pitchFamily="34" charset="-120"/>
              </a:rPr>
              <a:t>Emergency services already called?</a:t>
            </a:r>
            <a:endParaRPr lang="en-US" sz="1700" dirty="0"/>
          </a:p>
        </p:txBody>
      </p:sp>
      <p:sp>
        <p:nvSpPr>
          <p:cNvPr id="28" name="a8_box_1404"/>
          <p:cNvSpPr/>
          <p:nvPr/>
        </p:nvSpPr>
        <p:spPr>
          <a:xfrm>
            <a:off x="8732520" y="1280160"/>
            <a:ext cx="2907792" cy="4937760"/>
          </a:xfrm>
          <a:prstGeom prst="roundRect">
            <a:avLst>
              <a:gd name="adj" fmla="val 3774"/>
            </a:avLst>
          </a:prstGeom>
          <a:solidFill>
            <a:srgbClr val="0B2A3C"/>
          </a:solidFill>
          <a:ln/>
        </p:spPr>
      </p:sp>
      <p:sp>
        <p:nvSpPr>
          <p:cNvPr id="29" name="a8_txt_1405"/>
          <p:cNvSpPr txBox="1"/>
          <p:nvPr/>
        </p:nvSpPr>
        <p:spPr>
          <a:xfrm>
            <a:off x="8869680" y="1371600"/>
            <a:ext cx="2651760" cy="4754880"/>
          </a:xfrm>
          <a:prstGeom prst="rect">
            <a:avLst/>
          </a:prstGeom>
          <a:noFill/>
          <a:ln/>
        </p:spPr>
        <p:txBody>
          <a:bodyPr wrap="square" lIns="635" tIns="635" rIns="635" bIns="635" rtlCol="0" anchor="t"/>
          <a:lstStyle/>
          <a:p>
            <a:pPr indent="0" marL="0">
              <a:buNone/>
            </a:pPr>
            <a:r>
              <a:rPr lang="en-US" sz="1900" b="1" dirty="0">
                <a:solidFill>
                  <a:srgbClr val="E8771E"/>
                </a:solidFill>
                <a:latin typeface="Calibri" pitchFamily="34" charset="0"/>
                <a:ea typeface="Calibri" pitchFamily="34" charset="-122"/>
                <a:cs typeface="Calibri" pitchFamily="34" charset="-120"/>
              </a:rPr>
              <a:t>“Call 911” is NOT a rescue plan</a:t>
            </a:r>
            <a:endParaRPr lang="en-US" sz="16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600" dirty="0"/>
          </a:p>
          <a:p>
            <a:pPr marL="177800" indent="-177800">
              <a:buSzPct val="100000"/>
              <a:buChar char="•"/>
            </a:pPr>
            <a:r>
              <a:rPr lang="en-US" sz="1600" dirty="0">
                <a:solidFill>
                  <a:srgbClr val="FFFFFF"/>
                </a:solidFill>
                <a:latin typeface="Calibri" pitchFamily="34" charset="0"/>
                <a:ea typeface="Calibri" pitchFamily="34" charset="-122"/>
                <a:cs typeface="Calibri" pitchFamily="34" charset="-120"/>
              </a:rPr>
              <a:t>Rescue team designated, trained &amp; on alert</a:t>
            </a:r>
            <a:endParaRPr lang="en-US" sz="1600" dirty="0"/>
          </a:p>
          <a:p>
            <a:pPr marL="177800" indent="-177800">
              <a:buSzPct val="100000"/>
              <a:buChar char="•"/>
            </a:pPr>
            <a:r>
              <a:rPr lang="en-US" sz="1600" dirty="0">
                <a:solidFill>
                  <a:srgbClr val="FFFFFF"/>
                </a:solidFill>
                <a:latin typeface="Calibri" pitchFamily="34" charset="0"/>
                <a:ea typeface="Calibri" pitchFamily="34" charset="-122"/>
                <a:cs typeface="Calibri" pitchFamily="34" charset="-120"/>
              </a:rPr>
              <a:t>Response time stated – no work if rescue unavailable</a:t>
            </a:r>
            <a:endParaRPr lang="en-US" sz="1600" dirty="0"/>
          </a:p>
          <a:p>
            <a:pPr marL="177800" indent="-177800">
              <a:buSzPct val="100000"/>
              <a:buChar char="•"/>
            </a:pPr>
            <a:r>
              <a:rPr lang="en-US" sz="1600" dirty="0">
                <a:solidFill>
                  <a:srgbClr val="FFFFFF"/>
                </a:solidFill>
                <a:latin typeface="Calibri" pitchFamily="34" charset="0"/>
                <a:ea typeface="Calibri" pitchFamily="34" charset="-122"/>
                <a:cs typeface="Calibri" pitchFamily="34" charset="-120"/>
              </a:rPr>
              <a:t>Equipment staged: tripod, harnesses, SCBA, blower, stretcher</a:t>
            </a:r>
            <a:endParaRPr lang="en-US" sz="1600" dirty="0"/>
          </a:p>
          <a:p>
            <a:pPr marL="177800" indent="-177800">
              <a:buSzPct val="100000"/>
              <a:buChar char="•"/>
            </a:pPr>
            <a:r>
              <a:rPr lang="en-US" sz="1600" b="1" dirty="0">
                <a:solidFill>
                  <a:srgbClr val="FFFFFF"/>
                </a:solidFill>
                <a:latin typeface="Calibri" pitchFamily="34" charset="0"/>
                <a:ea typeface="Calibri" pitchFamily="34" charset="-122"/>
                <a:cs typeface="Calibri" pitchFamily="34" charset="-120"/>
              </a:rPr>
              <a:t>Non-entry rescue FIRST</a:t>
            </a:r>
            <a:endParaRPr lang="en-US" sz="1600" dirty="0"/>
          </a:p>
        </p:txBody>
      </p:sp>
      <p:sp>
        <p:nvSpPr>
          <p:cNvPr id="30"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left)">
                                      <p:cBhvr>
                                        <p:cTn id="68"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left)">
                                      <p:cBhvr>
                                        <p:cTn id="73" dur="500"/>
                                        <p:tgtEl>
                                          <p:spTgt spid="25"/>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wipe(left)">
                                      <p:cBhvr>
                                        <p:cTn id="76" dur="500"/>
                                        <p:tgtEl>
                                          <p:spTgt spid="26"/>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wipe(left)">
                                      <p:cBhvr>
                                        <p:cTn id="79" dur="5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circ_1406"/>
          <p:cNvSpPr/>
          <p:nvPr/>
        </p:nvSpPr>
        <p:spPr>
          <a:xfrm>
            <a:off x="548640" y="2011680"/>
            <a:ext cx="1371600" cy="1371600"/>
          </a:xfrm>
          <a:prstGeom prst="ellipse">
            <a:avLst/>
          </a:prstGeom>
          <a:solidFill>
            <a:srgbClr val="E8771E"/>
          </a:solidFill>
          <a:ln/>
        </p:spPr>
      </p:sp>
      <p:pic>
        <p:nvPicPr>
          <p:cNvPr id="3" name="icon_1407"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408"/>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10</a:t>
            </a:r>
            <a:endParaRPr lang="en-US" sz="1800" dirty="0"/>
          </a:p>
        </p:txBody>
      </p:sp>
      <p:sp>
        <p:nvSpPr>
          <p:cNvPr id="5" name="txt_1409"/>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During the Work: Monitor, Change, Stop, Hand Over</a:t>
            </a:r>
            <a:endParaRPr lang="en-US" sz="4000" dirty="0"/>
          </a:p>
        </p:txBody>
      </p:sp>
      <p:sp>
        <p:nvSpPr>
          <p:cNvPr id="6" name="txt_1410"/>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Signing the permit is the START of active safety, not the end</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Who Checks the Worksite – and What They Look For</a:t>
            </a:r>
            <a:endParaRPr lang="en-US" sz="3200" dirty="0"/>
          </a:p>
        </p:txBody>
      </p:sp>
      <p:sp>
        <p:nvSpPr>
          <p:cNvPr id="3" name="a1_box_1411"/>
          <p:cNvSpPr/>
          <p:nvPr/>
        </p:nvSpPr>
        <p:spPr>
          <a:xfrm>
            <a:off x="548640" y="1280160"/>
            <a:ext cx="4937760"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1412"/>
          <p:cNvSpPr/>
          <p:nvPr/>
        </p:nvSpPr>
        <p:spPr>
          <a:xfrm>
            <a:off x="713232" y="1490472"/>
            <a:ext cx="731520" cy="731520"/>
          </a:xfrm>
          <a:prstGeom prst="ellipse">
            <a:avLst/>
          </a:prstGeom>
          <a:solidFill>
            <a:srgbClr val="E8771E"/>
          </a:solidFill>
          <a:ln/>
        </p:spPr>
      </p:sp>
      <p:pic>
        <p:nvPicPr>
          <p:cNvPr id="5" name="a1_icon_1413" descr="preencoded.png">    </p:cNvPr>
          <p:cNvPicPr>
            <a:picLocks noChangeAspect="1"/>
          </p:cNvPicPr>
          <p:nvPr/>
        </p:nvPicPr>
        <p:blipFill>
          <a:blip r:embed="rId1"/>
          <a:stretch>
            <a:fillRect/>
          </a:stretch>
        </p:blipFill>
        <p:spPr>
          <a:xfrm>
            <a:off x="877824" y="1655064"/>
            <a:ext cx="402336" cy="402336"/>
          </a:xfrm>
          <a:prstGeom prst="rect">
            <a:avLst/>
          </a:prstGeom>
        </p:spPr>
      </p:pic>
      <p:sp>
        <p:nvSpPr>
          <p:cNvPr id="6" name="a1_txt_1414"/>
          <p:cNvSpPr txBox="1"/>
          <p:nvPr/>
        </p:nvSpPr>
        <p:spPr>
          <a:xfrm>
            <a:off x="1600200" y="1325880"/>
            <a:ext cx="3749040"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Permit Receiver</a:t>
            </a:r>
            <a:endParaRPr lang="en-US" sz="2000" dirty="0"/>
          </a:p>
          <a:p>
            <a:pPr indent="0" marL="0">
              <a:buNone/>
            </a:pPr>
            <a:r>
              <a:rPr lang="en-US" sz="1700" dirty="0">
                <a:solidFill>
                  <a:srgbClr val="1B2730"/>
                </a:solidFill>
                <a:latin typeface="Calibri" pitchFamily="34" charset="0"/>
                <a:ea typeface="Calibri" pitchFamily="34" charset="-122"/>
                <a:cs typeface="Calibri" pitchFamily="34" charset="-120"/>
              </a:rPr>
              <a:t>Continuous – on or next to the site</a:t>
            </a:r>
            <a:endParaRPr lang="en-US" sz="2000" dirty="0"/>
          </a:p>
        </p:txBody>
      </p:sp>
      <p:sp>
        <p:nvSpPr>
          <p:cNvPr id="7" name="a1_box_1415"/>
          <p:cNvSpPr/>
          <p:nvPr/>
        </p:nvSpPr>
        <p:spPr>
          <a:xfrm>
            <a:off x="548640" y="2542032"/>
            <a:ext cx="4937760"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8" name="a1_circ_1416"/>
          <p:cNvSpPr/>
          <p:nvPr/>
        </p:nvSpPr>
        <p:spPr>
          <a:xfrm>
            <a:off x="713232" y="2752344"/>
            <a:ext cx="731520" cy="731520"/>
          </a:xfrm>
          <a:prstGeom prst="ellipse">
            <a:avLst/>
          </a:prstGeom>
          <a:solidFill>
            <a:srgbClr val="0F6E7A"/>
          </a:solidFill>
          <a:ln/>
        </p:spPr>
      </p:sp>
      <p:pic>
        <p:nvPicPr>
          <p:cNvPr id="9" name="a1_icon_1417" descr="preencoded.png">    </p:cNvPr>
          <p:cNvPicPr>
            <a:picLocks noChangeAspect="1"/>
          </p:cNvPicPr>
          <p:nvPr/>
        </p:nvPicPr>
        <p:blipFill>
          <a:blip r:embed="rId2"/>
          <a:stretch>
            <a:fillRect/>
          </a:stretch>
        </p:blipFill>
        <p:spPr>
          <a:xfrm>
            <a:off x="877824" y="2916936"/>
            <a:ext cx="402336" cy="402336"/>
          </a:xfrm>
          <a:prstGeom prst="rect">
            <a:avLst/>
          </a:prstGeom>
        </p:spPr>
      </p:pic>
      <p:sp>
        <p:nvSpPr>
          <p:cNvPr id="10" name="a1_txt_1418"/>
          <p:cNvSpPr txBox="1"/>
          <p:nvPr/>
        </p:nvSpPr>
        <p:spPr>
          <a:xfrm>
            <a:off x="1600200" y="2587752"/>
            <a:ext cx="3749040"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Permit Issuer</a:t>
            </a:r>
            <a:endParaRPr lang="en-US" sz="2000" dirty="0"/>
          </a:p>
          <a:p>
            <a:pPr indent="0" marL="0">
              <a:buNone/>
            </a:pPr>
            <a:r>
              <a:rPr lang="en-US" sz="1700" dirty="0">
                <a:solidFill>
                  <a:srgbClr val="1B2730"/>
                </a:solidFill>
                <a:latin typeface="Calibri" pitchFamily="34" charset="0"/>
                <a:ea typeface="Calibri" pitchFamily="34" charset="-122"/>
                <a:cs typeface="Calibri" pitchFamily="34" charset="-120"/>
              </a:rPr>
              <a:t>At least once per shift; more for high risk</a:t>
            </a:r>
            <a:endParaRPr lang="en-US" sz="2000" dirty="0"/>
          </a:p>
        </p:txBody>
      </p:sp>
      <p:sp>
        <p:nvSpPr>
          <p:cNvPr id="11" name="a1_box_1419"/>
          <p:cNvSpPr/>
          <p:nvPr/>
        </p:nvSpPr>
        <p:spPr>
          <a:xfrm>
            <a:off x="548640" y="3803904"/>
            <a:ext cx="4937760"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a1_circ_1420"/>
          <p:cNvSpPr/>
          <p:nvPr/>
        </p:nvSpPr>
        <p:spPr>
          <a:xfrm>
            <a:off x="713232" y="4014216"/>
            <a:ext cx="731520" cy="731520"/>
          </a:xfrm>
          <a:prstGeom prst="ellipse">
            <a:avLst/>
          </a:prstGeom>
          <a:solidFill>
            <a:srgbClr val="2E7D32"/>
          </a:solidFill>
          <a:ln/>
        </p:spPr>
      </p:sp>
      <p:pic>
        <p:nvPicPr>
          <p:cNvPr id="13" name="a1_icon_1421" descr="preencoded.png">    </p:cNvPr>
          <p:cNvPicPr>
            <a:picLocks noChangeAspect="1"/>
          </p:cNvPicPr>
          <p:nvPr/>
        </p:nvPicPr>
        <p:blipFill>
          <a:blip r:embed="rId3"/>
          <a:stretch>
            <a:fillRect/>
          </a:stretch>
        </p:blipFill>
        <p:spPr>
          <a:xfrm>
            <a:off x="877824" y="4178808"/>
            <a:ext cx="402336" cy="402336"/>
          </a:xfrm>
          <a:prstGeom prst="rect">
            <a:avLst/>
          </a:prstGeom>
        </p:spPr>
      </p:pic>
      <p:sp>
        <p:nvSpPr>
          <p:cNvPr id="14" name="a1_txt_1422"/>
          <p:cNvSpPr txBox="1"/>
          <p:nvPr/>
        </p:nvSpPr>
        <p:spPr>
          <a:xfrm>
            <a:off x="1600200" y="3849624"/>
            <a:ext cx="3749040"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Safety Officer</a:t>
            </a:r>
            <a:endParaRPr lang="en-US" sz="2000" dirty="0"/>
          </a:p>
          <a:p>
            <a:pPr indent="0" marL="0">
              <a:buNone/>
            </a:pPr>
            <a:r>
              <a:rPr lang="en-US" sz="1700" dirty="0">
                <a:solidFill>
                  <a:srgbClr val="1B2730"/>
                </a:solidFill>
                <a:latin typeface="Calibri" pitchFamily="34" charset="0"/>
                <a:ea typeface="Calibri" pitchFamily="34" charset="-122"/>
                <a:cs typeface="Calibri" pitchFamily="34" charset="-120"/>
              </a:rPr>
              <a:t>Unannounced, random, risk-based audits</a:t>
            </a:r>
            <a:endParaRPr lang="en-US" sz="2000" dirty="0"/>
          </a:p>
        </p:txBody>
      </p:sp>
      <p:sp>
        <p:nvSpPr>
          <p:cNvPr id="15" name="a1_box_1423"/>
          <p:cNvSpPr/>
          <p:nvPr/>
        </p:nvSpPr>
        <p:spPr>
          <a:xfrm>
            <a:off x="548640" y="5065776"/>
            <a:ext cx="4937760" cy="1152144"/>
          </a:xfrm>
          <a:prstGeom prst="roundRect">
            <a:avLst>
              <a:gd name="adj" fmla="val 9524"/>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6" name="a1_circ_1424"/>
          <p:cNvSpPr/>
          <p:nvPr/>
        </p:nvSpPr>
        <p:spPr>
          <a:xfrm>
            <a:off x="713232" y="5276088"/>
            <a:ext cx="731520" cy="731520"/>
          </a:xfrm>
          <a:prstGeom prst="ellipse">
            <a:avLst/>
          </a:prstGeom>
          <a:solidFill>
            <a:srgbClr val="0B2A3C"/>
          </a:solidFill>
          <a:ln/>
        </p:spPr>
      </p:sp>
      <p:pic>
        <p:nvPicPr>
          <p:cNvPr id="17" name="a1_icon_1425" descr="preencoded.png">    </p:cNvPr>
          <p:cNvPicPr>
            <a:picLocks noChangeAspect="1"/>
          </p:cNvPicPr>
          <p:nvPr/>
        </p:nvPicPr>
        <p:blipFill>
          <a:blip r:embed="rId4"/>
          <a:stretch>
            <a:fillRect/>
          </a:stretch>
        </p:blipFill>
        <p:spPr>
          <a:xfrm>
            <a:off x="877824" y="5440680"/>
            <a:ext cx="402336" cy="402336"/>
          </a:xfrm>
          <a:prstGeom prst="rect">
            <a:avLst/>
          </a:prstGeom>
        </p:spPr>
      </p:pic>
      <p:sp>
        <p:nvSpPr>
          <p:cNvPr id="18" name="a1_txt_1426"/>
          <p:cNvSpPr txBox="1"/>
          <p:nvPr/>
        </p:nvSpPr>
        <p:spPr>
          <a:xfrm>
            <a:off x="1600200" y="5111496"/>
            <a:ext cx="3749040" cy="1060704"/>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Management (VFL)</a:t>
            </a:r>
            <a:endParaRPr lang="en-US" sz="2000" dirty="0"/>
          </a:p>
          <a:p>
            <a:pPr indent="0" marL="0">
              <a:buNone/>
            </a:pPr>
            <a:r>
              <a:rPr lang="en-US" sz="1700" dirty="0">
                <a:solidFill>
                  <a:srgbClr val="1B2730"/>
                </a:solidFill>
                <a:latin typeface="Calibri" pitchFamily="34" charset="0"/>
                <a:ea typeface="Calibri" pitchFamily="34" charset="-122"/>
                <a:cs typeface="Calibri" pitchFamily="34" charset="-120"/>
              </a:rPr>
              <a:t>Visible leadership tours – conversations</a:t>
            </a:r>
            <a:endParaRPr lang="en-US" sz="2000" dirty="0"/>
          </a:p>
        </p:txBody>
      </p:sp>
      <p:sp>
        <p:nvSpPr>
          <p:cNvPr id="19" name="a2_box_1427"/>
          <p:cNvSpPr/>
          <p:nvPr/>
        </p:nvSpPr>
        <p:spPr>
          <a:xfrm>
            <a:off x="5715000" y="1280160"/>
            <a:ext cx="5925312" cy="4937760"/>
          </a:xfrm>
          <a:prstGeom prst="roundRect">
            <a:avLst>
              <a:gd name="adj" fmla="val 2222"/>
            </a:avLst>
          </a:prstGeom>
          <a:solidFill>
            <a:srgbClr val="0B2A3C"/>
          </a:solidFill>
          <a:ln/>
        </p:spPr>
      </p:sp>
      <p:sp>
        <p:nvSpPr>
          <p:cNvPr id="20" name="a2_txt_1428"/>
          <p:cNvSpPr txBox="1"/>
          <p:nvPr/>
        </p:nvSpPr>
        <p:spPr>
          <a:xfrm>
            <a:off x="5943600" y="1371600"/>
            <a:ext cx="5486400" cy="502920"/>
          </a:xfrm>
          <a:prstGeom prst="rect">
            <a:avLst/>
          </a:prstGeom>
          <a:noFill/>
          <a:ln/>
        </p:spPr>
        <p:txBody>
          <a:bodyPr wrap="square" lIns="635" tIns="635" rIns="635" bIns="635" rtlCol="0" anchor="t"/>
          <a:lstStyle/>
          <a:p>
            <a:pPr indent="0" marL="0">
              <a:buNone/>
            </a:pPr>
            <a:r>
              <a:rPr lang="en-US" sz="2100" b="1" dirty="0">
                <a:solidFill>
                  <a:srgbClr val="E8771E"/>
                </a:solidFill>
                <a:latin typeface="Calibri" pitchFamily="34" charset="0"/>
                <a:ea typeface="Calibri" pitchFamily="34" charset="-122"/>
                <a:cs typeface="Calibri" pitchFamily="34" charset="-120"/>
              </a:rPr>
              <a:t>Inspection checklist</a:t>
            </a:r>
            <a:endParaRPr lang="en-US" sz="2100" dirty="0"/>
          </a:p>
        </p:txBody>
      </p:sp>
      <p:pic>
        <p:nvPicPr>
          <p:cNvPr id="21" name="a2_icon_1429" descr="preencoded.png">    </p:cNvPr>
          <p:cNvPicPr>
            <a:picLocks noChangeAspect="1"/>
          </p:cNvPicPr>
          <p:nvPr/>
        </p:nvPicPr>
        <p:blipFill>
          <a:blip r:embed="rId5"/>
          <a:stretch>
            <a:fillRect/>
          </a:stretch>
        </p:blipFill>
        <p:spPr>
          <a:xfrm>
            <a:off x="5943600" y="2039112"/>
            <a:ext cx="384048" cy="384048"/>
          </a:xfrm>
          <a:prstGeom prst="rect">
            <a:avLst/>
          </a:prstGeom>
        </p:spPr>
      </p:pic>
      <p:sp>
        <p:nvSpPr>
          <p:cNvPr id="22" name="a2_txt_1430"/>
          <p:cNvSpPr txBox="1"/>
          <p:nvPr/>
        </p:nvSpPr>
        <p:spPr>
          <a:xfrm>
            <a:off x="6446520" y="1965960"/>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Permit posted, valid, all signatures?</a:t>
            </a:r>
            <a:endParaRPr lang="en-US" sz="1600" dirty="0"/>
          </a:p>
        </p:txBody>
      </p:sp>
      <p:pic>
        <p:nvPicPr>
          <p:cNvPr id="23" name="a2_icon_1431" descr="preencoded.png">    </p:cNvPr>
          <p:cNvPicPr>
            <a:picLocks noChangeAspect="1"/>
          </p:cNvPicPr>
          <p:nvPr/>
        </p:nvPicPr>
        <p:blipFill>
          <a:blip r:embed="rId6"/>
          <a:stretch>
            <a:fillRect/>
          </a:stretch>
        </p:blipFill>
        <p:spPr>
          <a:xfrm>
            <a:off x="5943600" y="2642616"/>
            <a:ext cx="384048" cy="384048"/>
          </a:xfrm>
          <a:prstGeom prst="rect">
            <a:avLst/>
          </a:prstGeom>
        </p:spPr>
      </p:pic>
      <p:sp>
        <p:nvSpPr>
          <p:cNvPr id="24" name="a2_txt_1432"/>
          <p:cNvSpPr txBox="1"/>
          <p:nvPr/>
        </p:nvSpPr>
        <p:spPr>
          <a:xfrm>
            <a:off x="6446520" y="2569464"/>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Work exactly as described?</a:t>
            </a:r>
            <a:endParaRPr lang="en-US" sz="1600" dirty="0"/>
          </a:p>
        </p:txBody>
      </p:sp>
      <p:pic>
        <p:nvPicPr>
          <p:cNvPr id="25" name="a2_icon_1433" descr="preencoded.png">    </p:cNvPr>
          <p:cNvPicPr>
            <a:picLocks noChangeAspect="1"/>
          </p:cNvPicPr>
          <p:nvPr/>
        </p:nvPicPr>
        <p:blipFill>
          <a:blip r:embed="rId7"/>
          <a:stretch>
            <a:fillRect/>
          </a:stretch>
        </p:blipFill>
        <p:spPr>
          <a:xfrm>
            <a:off x="5943600" y="3246120"/>
            <a:ext cx="384048" cy="384048"/>
          </a:xfrm>
          <a:prstGeom prst="rect">
            <a:avLst/>
          </a:prstGeom>
        </p:spPr>
      </p:pic>
      <p:sp>
        <p:nvSpPr>
          <p:cNvPr id="26" name="a2_txt_1434"/>
          <p:cNvSpPr txBox="1"/>
          <p:nvPr/>
        </p:nvSpPr>
        <p:spPr>
          <a:xfrm>
            <a:off x="6446520" y="3172968"/>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Isolations locked? Monitor on &amp; safe? Fire watch alert? Ventilation running?</a:t>
            </a:r>
            <a:endParaRPr lang="en-US" sz="1600" dirty="0"/>
          </a:p>
        </p:txBody>
      </p:sp>
      <p:pic>
        <p:nvPicPr>
          <p:cNvPr id="27" name="a2_icon_1435" descr="preencoded.png">    </p:cNvPr>
          <p:cNvPicPr>
            <a:picLocks noChangeAspect="1"/>
          </p:cNvPicPr>
          <p:nvPr/>
        </p:nvPicPr>
        <p:blipFill>
          <a:blip r:embed="rId8"/>
          <a:stretch>
            <a:fillRect/>
          </a:stretch>
        </p:blipFill>
        <p:spPr>
          <a:xfrm>
            <a:off x="5943600" y="3849624"/>
            <a:ext cx="384048" cy="384048"/>
          </a:xfrm>
          <a:prstGeom prst="rect">
            <a:avLst/>
          </a:prstGeom>
        </p:spPr>
      </p:pic>
      <p:sp>
        <p:nvSpPr>
          <p:cNvPr id="28" name="a2_txt_1436"/>
          <p:cNvSpPr txBox="1"/>
          <p:nvPr/>
        </p:nvSpPr>
        <p:spPr>
          <a:xfrm>
            <a:off x="6446520" y="3776472"/>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Correct PPE worn properly?</a:t>
            </a:r>
            <a:endParaRPr lang="en-US" sz="1600" dirty="0"/>
          </a:p>
        </p:txBody>
      </p:sp>
      <p:pic>
        <p:nvPicPr>
          <p:cNvPr id="29" name="a2_icon_1437" descr="preencoded.png">    </p:cNvPr>
          <p:cNvPicPr>
            <a:picLocks noChangeAspect="1"/>
          </p:cNvPicPr>
          <p:nvPr/>
        </p:nvPicPr>
        <p:blipFill>
          <a:blip r:embed="rId9"/>
          <a:stretch>
            <a:fillRect/>
          </a:stretch>
        </p:blipFill>
        <p:spPr>
          <a:xfrm>
            <a:off x="5943600" y="4453128"/>
            <a:ext cx="384048" cy="384048"/>
          </a:xfrm>
          <a:prstGeom prst="rect">
            <a:avLst/>
          </a:prstGeom>
        </p:spPr>
      </p:pic>
      <p:sp>
        <p:nvSpPr>
          <p:cNvPr id="30" name="a2_txt_1438"/>
          <p:cNvSpPr txBox="1"/>
          <p:nvPr/>
        </p:nvSpPr>
        <p:spPr>
          <a:xfrm>
            <a:off x="6446520" y="4379976"/>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Area tidy, access &amp; escape clear?</a:t>
            </a:r>
            <a:endParaRPr lang="en-US" sz="1600" dirty="0"/>
          </a:p>
        </p:txBody>
      </p:sp>
      <p:pic>
        <p:nvPicPr>
          <p:cNvPr id="31" name="a2_icon_1439" descr="preencoded.png">    </p:cNvPr>
          <p:cNvPicPr>
            <a:picLocks noChangeAspect="1"/>
          </p:cNvPicPr>
          <p:nvPr/>
        </p:nvPicPr>
        <p:blipFill>
          <a:blip r:embed="rId10"/>
          <a:stretch>
            <a:fillRect/>
          </a:stretch>
        </p:blipFill>
        <p:spPr>
          <a:xfrm>
            <a:off x="5943600" y="5056632"/>
            <a:ext cx="384048" cy="384048"/>
          </a:xfrm>
          <a:prstGeom prst="rect">
            <a:avLst/>
          </a:prstGeom>
        </p:spPr>
      </p:pic>
      <p:sp>
        <p:nvSpPr>
          <p:cNvPr id="32" name="a2_txt_1440"/>
          <p:cNvSpPr txBox="1"/>
          <p:nvPr/>
        </p:nvSpPr>
        <p:spPr>
          <a:xfrm>
            <a:off x="6446520" y="4983480"/>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Workers alert, not rushed or tired?</a:t>
            </a:r>
            <a:endParaRPr lang="en-US" sz="1600" dirty="0"/>
          </a:p>
        </p:txBody>
      </p:sp>
      <p:pic>
        <p:nvPicPr>
          <p:cNvPr id="33" name="a2_icon_1441" descr="preencoded.png">    </p:cNvPr>
          <p:cNvPicPr>
            <a:picLocks noChangeAspect="1"/>
          </p:cNvPicPr>
          <p:nvPr/>
        </p:nvPicPr>
        <p:blipFill>
          <a:blip r:embed="rId11"/>
          <a:stretch>
            <a:fillRect/>
          </a:stretch>
        </p:blipFill>
        <p:spPr>
          <a:xfrm>
            <a:off x="5943600" y="5660136"/>
            <a:ext cx="384048" cy="384048"/>
          </a:xfrm>
          <a:prstGeom prst="rect">
            <a:avLst/>
          </a:prstGeom>
        </p:spPr>
      </p:pic>
      <p:sp>
        <p:nvSpPr>
          <p:cNvPr id="34" name="a2_txt_1442"/>
          <p:cNvSpPr txBox="1"/>
          <p:nvPr/>
        </p:nvSpPr>
        <p:spPr>
          <a:xfrm>
            <a:off x="6446520" y="5586984"/>
            <a:ext cx="5074920" cy="548640"/>
          </a:xfrm>
          <a:prstGeom prst="rect">
            <a:avLst/>
          </a:prstGeom>
          <a:noFill/>
          <a:ln/>
        </p:spPr>
        <p:txBody>
          <a:bodyPr wrap="square" lIns="635" tIns="635" rIns="635" bIns="635"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Weather, lighting or conditions changed?</a:t>
            </a:r>
            <a:endParaRPr lang="en-US" sz="1600" dirty="0"/>
          </a:p>
        </p:txBody>
      </p:sp>
      <p:sp>
        <p:nvSpPr>
          <p:cNvPr id="3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4" grpId="0" animBg="1"/>
      <p:bldP spid="26" grpId="0" animBg="1"/>
      <p:bldP spid="28" grpId="0" animBg="1"/>
      <p:bldP spid="30" grpId="0" animBg="1"/>
      <p:bldP spid="32" grpId="0" animBg="1"/>
      <p:bldP spid="3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When Conditions Change – 3 Levels of Response</a:t>
            </a:r>
            <a:endParaRPr lang="en-US" sz="3200" dirty="0"/>
          </a:p>
        </p:txBody>
      </p:sp>
      <p:sp>
        <p:nvSpPr>
          <p:cNvPr id="3" name="a1_box_1443"/>
          <p:cNvSpPr/>
          <p:nvPr/>
        </p:nvSpPr>
        <p:spPr>
          <a:xfrm>
            <a:off x="548640" y="1280160"/>
            <a:ext cx="3564026" cy="493776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box_1444"/>
          <p:cNvSpPr/>
          <p:nvPr/>
        </p:nvSpPr>
        <p:spPr>
          <a:xfrm>
            <a:off x="548640" y="1280160"/>
            <a:ext cx="3564026" cy="1143000"/>
          </a:xfrm>
          <a:prstGeom prst="rect">
            <a:avLst/>
          </a:prstGeom>
          <a:solidFill>
            <a:srgbClr val="2E7D32"/>
          </a:solidFill>
          <a:ln/>
        </p:spPr>
      </p:sp>
      <p:pic>
        <p:nvPicPr>
          <p:cNvPr id="5" name="a1_icon_1445" descr="preencoded.png">    </p:cNvPr>
          <p:cNvPicPr>
            <a:picLocks noChangeAspect="1"/>
          </p:cNvPicPr>
          <p:nvPr/>
        </p:nvPicPr>
        <p:blipFill>
          <a:blip r:embed="rId1"/>
          <a:stretch>
            <a:fillRect/>
          </a:stretch>
        </p:blipFill>
        <p:spPr>
          <a:xfrm>
            <a:off x="731520" y="1463040"/>
            <a:ext cx="731520" cy="731520"/>
          </a:xfrm>
          <a:prstGeom prst="rect">
            <a:avLst/>
          </a:prstGeom>
        </p:spPr>
      </p:pic>
      <p:sp>
        <p:nvSpPr>
          <p:cNvPr id="6" name="a1_txt_1446"/>
          <p:cNvSpPr txBox="1"/>
          <p:nvPr/>
        </p:nvSpPr>
        <p:spPr>
          <a:xfrm>
            <a:off x="1600200" y="1280160"/>
            <a:ext cx="2421026" cy="114300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MINOR</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Control still effective</a:t>
            </a:r>
            <a:endParaRPr lang="en-US" sz="2000" dirty="0"/>
          </a:p>
        </p:txBody>
      </p:sp>
      <p:sp>
        <p:nvSpPr>
          <p:cNvPr id="7" name="a1_txt_1447"/>
          <p:cNvSpPr txBox="1"/>
          <p:nvPr/>
        </p:nvSpPr>
        <p:spPr>
          <a:xfrm>
            <a:off x="731520" y="2560320"/>
            <a:ext cx="3198266" cy="160020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Example: non-critical PPE damaged; identical replacement available</a:t>
            </a:r>
            <a:endParaRPr lang="en-US" sz="1600" dirty="0"/>
          </a:p>
        </p:txBody>
      </p:sp>
      <p:sp>
        <p:nvSpPr>
          <p:cNvPr id="8" name="a1_box_1448"/>
          <p:cNvSpPr/>
          <p:nvPr/>
        </p:nvSpPr>
        <p:spPr>
          <a:xfrm>
            <a:off x="685800" y="4251960"/>
            <a:ext cx="3289706" cy="1828800"/>
          </a:xfrm>
          <a:prstGeom prst="roundRect">
            <a:avLst>
              <a:gd name="adj" fmla="val 6000"/>
            </a:avLst>
          </a:prstGeom>
          <a:solidFill>
            <a:srgbClr val="F3F6F8"/>
          </a:solidFill>
          <a:ln/>
        </p:spPr>
      </p:sp>
      <p:sp>
        <p:nvSpPr>
          <p:cNvPr id="9" name="a1_txt_1449"/>
          <p:cNvSpPr txBox="1"/>
          <p:nvPr/>
        </p:nvSpPr>
        <p:spPr>
          <a:xfrm>
            <a:off x="777240" y="4297680"/>
            <a:ext cx="3106826" cy="173736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Receiver approves substitution, tells crew, may note on permit – work continues</a:t>
            </a:r>
            <a:endParaRPr lang="en-US" sz="1600" dirty="0"/>
          </a:p>
        </p:txBody>
      </p:sp>
      <p:sp>
        <p:nvSpPr>
          <p:cNvPr id="10" name="a2_box_1450"/>
          <p:cNvSpPr/>
          <p:nvPr/>
        </p:nvSpPr>
        <p:spPr>
          <a:xfrm>
            <a:off x="4313834" y="1280160"/>
            <a:ext cx="3564026" cy="493776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1" name="a2_box_1451"/>
          <p:cNvSpPr/>
          <p:nvPr/>
        </p:nvSpPr>
        <p:spPr>
          <a:xfrm>
            <a:off x="4313834" y="1280160"/>
            <a:ext cx="3564026" cy="1143000"/>
          </a:xfrm>
          <a:prstGeom prst="rect">
            <a:avLst/>
          </a:prstGeom>
          <a:solidFill>
            <a:srgbClr val="F2A900"/>
          </a:solidFill>
          <a:ln/>
        </p:spPr>
      </p:sp>
      <p:pic>
        <p:nvPicPr>
          <p:cNvPr id="12" name="a2_icon_1452" descr="preencoded.png">    </p:cNvPr>
          <p:cNvPicPr>
            <a:picLocks noChangeAspect="1"/>
          </p:cNvPicPr>
          <p:nvPr/>
        </p:nvPicPr>
        <p:blipFill>
          <a:blip r:embed="rId2"/>
          <a:stretch>
            <a:fillRect/>
          </a:stretch>
        </p:blipFill>
        <p:spPr>
          <a:xfrm>
            <a:off x="4496714" y="1463040"/>
            <a:ext cx="731520" cy="731520"/>
          </a:xfrm>
          <a:prstGeom prst="rect">
            <a:avLst/>
          </a:prstGeom>
        </p:spPr>
      </p:pic>
      <p:sp>
        <p:nvSpPr>
          <p:cNvPr id="13" name="a2_txt_1453"/>
          <p:cNvSpPr txBox="1"/>
          <p:nvPr/>
        </p:nvSpPr>
        <p:spPr>
          <a:xfrm>
            <a:off x="5365394" y="1280160"/>
            <a:ext cx="2421026" cy="114300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SIGNIFICANT</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Control compromised or new hazard</a:t>
            </a:r>
            <a:endParaRPr lang="en-US" sz="2000" dirty="0"/>
          </a:p>
        </p:txBody>
      </p:sp>
      <p:sp>
        <p:nvSpPr>
          <p:cNvPr id="14" name="a2_txt_1454"/>
          <p:cNvSpPr txBox="1"/>
          <p:nvPr/>
        </p:nvSpPr>
        <p:spPr>
          <a:xfrm>
            <a:off x="4496714" y="2560320"/>
            <a:ext cx="3198266" cy="160020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Examples: unexpected pipe found behind insulation; rain starts during outdoor electrical work; monitor reads 5% LEL</a:t>
            </a:r>
            <a:endParaRPr lang="en-US" sz="1600" dirty="0"/>
          </a:p>
        </p:txBody>
      </p:sp>
      <p:sp>
        <p:nvSpPr>
          <p:cNvPr id="15" name="a2_box_1455"/>
          <p:cNvSpPr/>
          <p:nvPr/>
        </p:nvSpPr>
        <p:spPr>
          <a:xfrm>
            <a:off x="4450994" y="4251960"/>
            <a:ext cx="3289706" cy="1828800"/>
          </a:xfrm>
          <a:prstGeom prst="roundRect">
            <a:avLst>
              <a:gd name="adj" fmla="val 6000"/>
            </a:avLst>
          </a:prstGeom>
          <a:solidFill>
            <a:srgbClr val="F3F6F8"/>
          </a:solidFill>
          <a:ln/>
        </p:spPr>
      </p:sp>
      <p:sp>
        <p:nvSpPr>
          <p:cNvPr id="16" name="a2_txt_1456"/>
          <p:cNvSpPr txBox="1"/>
          <p:nvPr/>
        </p:nvSpPr>
        <p:spPr>
          <a:xfrm>
            <a:off x="4542434" y="4297680"/>
            <a:ext cx="3106826" cy="173736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STOP → secure → notify Issuer → joint re-assessment → amend &amp; revalidate, or cancel and raise a new permit</a:t>
            </a:r>
            <a:endParaRPr lang="en-US" sz="1600" dirty="0"/>
          </a:p>
        </p:txBody>
      </p:sp>
      <p:sp>
        <p:nvSpPr>
          <p:cNvPr id="17" name="a3_box_1457"/>
          <p:cNvSpPr/>
          <p:nvPr/>
        </p:nvSpPr>
        <p:spPr>
          <a:xfrm>
            <a:off x="8079029" y="1280160"/>
            <a:ext cx="3564026" cy="493776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8" name="a3_box_1458"/>
          <p:cNvSpPr/>
          <p:nvPr/>
        </p:nvSpPr>
        <p:spPr>
          <a:xfrm>
            <a:off x="8079029" y="1280160"/>
            <a:ext cx="3564026" cy="1143000"/>
          </a:xfrm>
          <a:prstGeom prst="rect">
            <a:avLst/>
          </a:prstGeom>
          <a:solidFill>
            <a:srgbClr val="C0392B"/>
          </a:solidFill>
          <a:ln/>
        </p:spPr>
      </p:sp>
      <p:pic>
        <p:nvPicPr>
          <p:cNvPr id="19" name="a3_icon_1459" descr="preencoded.png">    </p:cNvPr>
          <p:cNvPicPr>
            <a:picLocks noChangeAspect="1"/>
          </p:cNvPicPr>
          <p:nvPr/>
        </p:nvPicPr>
        <p:blipFill>
          <a:blip r:embed="rId3"/>
          <a:stretch>
            <a:fillRect/>
          </a:stretch>
        </p:blipFill>
        <p:spPr>
          <a:xfrm>
            <a:off x="8261909" y="1463040"/>
            <a:ext cx="731520" cy="731520"/>
          </a:xfrm>
          <a:prstGeom prst="rect">
            <a:avLst/>
          </a:prstGeom>
        </p:spPr>
      </p:pic>
      <p:sp>
        <p:nvSpPr>
          <p:cNvPr id="20" name="a3_txt_1460"/>
          <p:cNvSpPr txBox="1"/>
          <p:nvPr/>
        </p:nvSpPr>
        <p:spPr>
          <a:xfrm>
            <a:off x="9130589" y="1280160"/>
            <a:ext cx="2421026" cy="114300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MAJOR</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Emergency</a:t>
            </a:r>
            <a:endParaRPr lang="en-US" sz="2000" dirty="0"/>
          </a:p>
        </p:txBody>
      </p:sp>
      <p:sp>
        <p:nvSpPr>
          <p:cNvPr id="21" name="a3_txt_1461"/>
          <p:cNvSpPr txBox="1"/>
          <p:nvPr/>
        </p:nvSpPr>
        <p:spPr>
          <a:xfrm>
            <a:off x="8261909" y="2560320"/>
            <a:ext cx="3198266" cy="160020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Examples: major leak, fire, gas alarm, structural instability, medical emergency</a:t>
            </a:r>
            <a:endParaRPr lang="en-US" sz="1600" dirty="0"/>
          </a:p>
        </p:txBody>
      </p:sp>
      <p:sp>
        <p:nvSpPr>
          <p:cNvPr id="22" name="a3_box_1462"/>
          <p:cNvSpPr/>
          <p:nvPr/>
        </p:nvSpPr>
        <p:spPr>
          <a:xfrm>
            <a:off x="8216189" y="4251960"/>
            <a:ext cx="3289706" cy="1828800"/>
          </a:xfrm>
          <a:prstGeom prst="roundRect">
            <a:avLst>
              <a:gd name="adj" fmla="val 6000"/>
            </a:avLst>
          </a:prstGeom>
          <a:solidFill>
            <a:srgbClr val="F3F6F8"/>
          </a:solidFill>
          <a:ln/>
        </p:spPr>
      </p:sp>
      <p:sp>
        <p:nvSpPr>
          <p:cNvPr id="23" name="a3_txt_1463"/>
          <p:cNvSpPr txBox="1"/>
          <p:nvPr/>
        </p:nvSpPr>
        <p:spPr>
          <a:xfrm>
            <a:off x="8307629" y="4297680"/>
            <a:ext cx="3106826" cy="173736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Evacuate to muster point → activate ERP → permit is void → investigation afterwards</a:t>
            </a:r>
            <a:endParaRPr lang="en-US" sz="1600" dirty="0"/>
          </a:p>
        </p:txBody>
      </p:sp>
      <p:sp>
        <p:nvSpPr>
          <p:cNvPr id="2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Stop Work Authority &amp; Permit Suspension</a:t>
            </a:r>
            <a:endParaRPr lang="en-US" sz="3200" dirty="0"/>
          </a:p>
        </p:txBody>
      </p:sp>
      <p:sp>
        <p:nvSpPr>
          <p:cNvPr id="3" name="box_1464"/>
          <p:cNvSpPr/>
          <p:nvPr/>
        </p:nvSpPr>
        <p:spPr>
          <a:xfrm>
            <a:off x="548640" y="1280160"/>
            <a:ext cx="4846320" cy="4937760"/>
          </a:xfrm>
          <a:prstGeom prst="roundRect">
            <a:avLst>
              <a:gd name="adj" fmla="val 2264"/>
            </a:avLst>
          </a:prstGeom>
          <a:solidFill>
            <a:srgbClr val="C0392B"/>
          </a:solidFill>
          <a:ln/>
        </p:spPr>
      </p:sp>
      <p:pic>
        <p:nvPicPr>
          <p:cNvPr id="4" name="icon_1465" descr="preencoded.png">    </p:cNvPr>
          <p:cNvPicPr>
            <a:picLocks noChangeAspect="1"/>
          </p:cNvPicPr>
          <p:nvPr/>
        </p:nvPicPr>
        <p:blipFill>
          <a:blip r:embed="rId1"/>
          <a:stretch>
            <a:fillRect/>
          </a:stretch>
        </p:blipFill>
        <p:spPr>
          <a:xfrm>
            <a:off x="2331720" y="1508760"/>
            <a:ext cx="1280160" cy="1280160"/>
          </a:xfrm>
          <a:prstGeom prst="rect">
            <a:avLst/>
          </a:prstGeom>
        </p:spPr>
      </p:pic>
      <p:sp>
        <p:nvSpPr>
          <p:cNvPr id="5" name="txt_1466"/>
          <p:cNvSpPr txBox="1"/>
          <p:nvPr/>
        </p:nvSpPr>
        <p:spPr>
          <a:xfrm>
            <a:off x="548640" y="2880360"/>
            <a:ext cx="4846320" cy="548640"/>
          </a:xfrm>
          <a:prstGeom prst="rect">
            <a:avLst/>
          </a:prstGeom>
          <a:noFill/>
          <a:ln/>
        </p:spPr>
        <p:txBody>
          <a:bodyPr wrap="square" lIns="635" tIns="635" rIns="635" bIns="635" rtlCol="0" anchor="t"/>
          <a:lstStyle/>
          <a:p>
            <a:pPr algn="ctr" indent="0" marL="0">
              <a:buNone/>
            </a:pPr>
            <a:r>
              <a:rPr lang="en-US" sz="2400" b="1" dirty="0">
                <a:solidFill>
                  <a:srgbClr val="FFFFFF"/>
                </a:solidFill>
                <a:latin typeface="Calibri" pitchFamily="34" charset="0"/>
                <a:ea typeface="Calibri" pitchFamily="34" charset="-122"/>
                <a:cs typeface="Calibri" pitchFamily="34" charset="-120"/>
              </a:rPr>
              <a:t>STOP WORK AUTHORITY</a:t>
            </a:r>
            <a:endParaRPr lang="en-US" sz="2400" dirty="0"/>
          </a:p>
        </p:txBody>
      </p:sp>
      <p:sp>
        <p:nvSpPr>
          <p:cNvPr id="6" name="txt_1467"/>
          <p:cNvSpPr txBox="1"/>
          <p:nvPr/>
        </p:nvSpPr>
        <p:spPr>
          <a:xfrm>
            <a:off x="822960" y="3474720"/>
            <a:ext cx="4297680"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rgbClr val="FFE3C7"/>
                </a:solidFill>
                <a:latin typeface="Calibri" pitchFamily="34" charset="0"/>
                <a:ea typeface="Calibri" pitchFamily="34" charset="-122"/>
                <a:cs typeface="Calibri" pitchFamily="34" charset="-120"/>
              </a:rPr>
              <a:t>Who: </a:t>
            </a:r>
            <a:pPr indent="0" marL="0">
              <a:buNone/>
            </a:pPr>
            <a:r>
              <a:rPr lang="en-US" sz="1700" dirty="0">
                <a:solidFill>
                  <a:srgbClr val="FFFFFF"/>
                </a:solidFill>
                <a:latin typeface="Calibri" pitchFamily="34" charset="0"/>
                <a:ea typeface="Calibri" pitchFamily="34" charset="-122"/>
                <a:cs typeface="Calibri" pitchFamily="34" charset="-120"/>
              </a:rPr>
              <a:t>ANY worker, any time – apprentice, contractor or visitor</a:t>
            </a:r>
            <a:endParaRPr lang="en-US" sz="1700" dirty="0"/>
          </a:p>
          <a:p>
            <a:pPr marL="228600" indent="-228600">
              <a:spcAft>
                <a:spcPts val="800"/>
              </a:spcAft>
              <a:buSzPct val="100000"/>
              <a:buChar char="•"/>
            </a:pPr>
            <a:r>
              <a:rPr lang="en-US" sz="1700" b="1" dirty="0">
                <a:solidFill>
                  <a:srgbClr val="FFE3C7"/>
                </a:solidFill>
                <a:latin typeface="Calibri" pitchFamily="34" charset="0"/>
                <a:ea typeface="Calibri" pitchFamily="34" charset="-122"/>
                <a:cs typeface="Calibri" pitchFamily="34" charset="-120"/>
              </a:rPr>
              <a:t>How: </a:t>
            </a:r>
            <a:pPr indent="0" marL="0">
              <a:buNone/>
            </a:pPr>
            <a:r>
              <a:rPr lang="en-US" sz="1700" dirty="0">
                <a:solidFill>
                  <a:srgbClr val="FFFFFF"/>
                </a:solidFill>
                <a:latin typeface="Calibri" pitchFamily="34" charset="0"/>
                <a:ea typeface="Calibri" pitchFamily="34" charset="-122"/>
                <a:cs typeface="Calibri" pitchFamily="34" charset="-120"/>
              </a:rPr>
              <a:t>say “STOP WORK” + the reason – “Stop work! I smell gas.”</a:t>
            </a:r>
            <a:endParaRPr lang="en-US" sz="1700" dirty="0"/>
          </a:p>
          <a:p>
            <a:pPr marL="228600" indent="-228600">
              <a:spcAft>
                <a:spcPts val="800"/>
              </a:spcAft>
              <a:buSzPct val="100000"/>
              <a:buChar char="•"/>
            </a:pPr>
            <a:r>
              <a:rPr lang="en-US" sz="1700" b="1" dirty="0">
                <a:solidFill>
                  <a:srgbClr val="FFE3C7"/>
                </a:solidFill>
                <a:latin typeface="Calibri" pitchFamily="34" charset="0"/>
                <a:ea typeface="Calibri" pitchFamily="34" charset="-122"/>
                <a:cs typeface="Calibri" pitchFamily="34" charset="-120"/>
              </a:rPr>
              <a:t>Response: </a:t>
            </a:r>
            <a:pPr indent="0" marL="0">
              <a:buNone/>
            </a:pPr>
            <a:r>
              <a:rPr lang="en-US" sz="1700" dirty="0">
                <a:solidFill>
                  <a:srgbClr val="FFFFFF"/>
                </a:solidFill>
                <a:latin typeface="Calibri" pitchFamily="34" charset="0"/>
                <a:ea typeface="Calibri" pitchFamily="34" charset="-122"/>
                <a:cs typeface="Calibri" pitchFamily="34" charset="-120"/>
              </a:rPr>
              <a:t>work stops at once. No debate, no ridicule, no repercussions</a:t>
            </a:r>
            <a:endParaRPr lang="en-US" sz="1700" dirty="0"/>
          </a:p>
        </p:txBody>
      </p:sp>
      <p:sp>
        <p:nvSpPr>
          <p:cNvPr id="7" name="txt_1468"/>
          <p:cNvSpPr txBox="1"/>
          <p:nvPr/>
        </p:nvSpPr>
        <p:spPr>
          <a:xfrm>
            <a:off x="5669280" y="1280160"/>
            <a:ext cx="5943600" cy="457200"/>
          </a:xfrm>
          <a:prstGeom prst="rect">
            <a:avLst/>
          </a:prstGeom>
          <a:noFill/>
          <a:ln/>
        </p:spPr>
        <p:txBody>
          <a:bodyPr wrap="square" lIns="635" tIns="635" rIns="635" bIns="635" rtlCol="0" anchor="t"/>
          <a:lstStyle/>
          <a:p>
            <a:pPr indent="0" marL="0">
              <a:buNone/>
            </a:pPr>
            <a:r>
              <a:rPr lang="en-US" sz="2000" b="1" dirty="0">
                <a:solidFill>
                  <a:srgbClr val="0B2A3C"/>
                </a:solidFill>
                <a:latin typeface="Calibri" pitchFamily="34" charset="0"/>
                <a:ea typeface="Calibri" pitchFamily="34" charset="-122"/>
                <a:cs typeface="Calibri" pitchFamily="34" charset="-120"/>
              </a:rPr>
              <a:t>Formal suspension – 5 steps</a:t>
            </a:r>
            <a:endParaRPr lang="en-US" sz="2000" dirty="0"/>
          </a:p>
        </p:txBody>
      </p:sp>
      <p:sp>
        <p:nvSpPr>
          <p:cNvPr id="8" name="a1w_box_1469"/>
          <p:cNvSpPr/>
          <p:nvPr/>
        </p:nvSpPr>
        <p:spPr>
          <a:xfrm>
            <a:off x="5669280" y="1828800"/>
            <a:ext cx="5971032" cy="777240"/>
          </a:xfrm>
          <a:prstGeom prst="roundRect">
            <a:avLst>
              <a:gd name="adj" fmla="val 14118"/>
            </a:avLst>
          </a:prstGeom>
          <a:solidFill>
            <a:srgbClr val="FFFFFF"/>
          </a:solidFill>
          <a:ln w="12700">
            <a:solidFill>
              <a:srgbClr val="C9D3D9"/>
            </a:solidFill>
            <a:prstDash val="solid"/>
          </a:ln>
        </p:spPr>
      </p:sp>
      <p:sp>
        <p:nvSpPr>
          <p:cNvPr id="9" name="a1w_box_1470"/>
          <p:cNvSpPr/>
          <p:nvPr/>
        </p:nvSpPr>
        <p:spPr>
          <a:xfrm>
            <a:off x="5669280" y="1828800"/>
            <a:ext cx="1554480" cy="777240"/>
          </a:xfrm>
          <a:prstGeom prst="rect">
            <a:avLst/>
          </a:prstGeom>
          <a:solidFill>
            <a:srgbClr val="0B2A3C"/>
          </a:solidFill>
          <a:ln/>
        </p:spPr>
      </p:sp>
      <p:sp>
        <p:nvSpPr>
          <p:cNvPr id="10" name="a1w_txt_1471"/>
          <p:cNvSpPr txBox="1"/>
          <p:nvPr/>
        </p:nvSpPr>
        <p:spPr>
          <a:xfrm>
            <a:off x="5715000" y="1828800"/>
            <a:ext cx="1463040" cy="777240"/>
          </a:xfrm>
          <a:prstGeom prst="rect">
            <a:avLst/>
          </a:prstGeom>
          <a:noFill/>
          <a:ln/>
        </p:spPr>
        <p:txBody>
          <a:bodyPr wrap="square" lIns="635" tIns="635" rIns="635" bIns="635"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 Notify</a:t>
            </a:r>
            <a:endParaRPr lang="en-US" sz="1700" dirty="0"/>
          </a:p>
        </p:txBody>
      </p:sp>
      <p:sp>
        <p:nvSpPr>
          <p:cNvPr id="11" name="a1w_txt_1472"/>
          <p:cNvSpPr txBox="1"/>
          <p:nvPr/>
        </p:nvSpPr>
        <p:spPr>
          <a:xfrm>
            <a:off x="7315200" y="1828800"/>
            <a:ext cx="4251960" cy="77724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Receiver tells the Issuer: work stopped, permit suspended</a:t>
            </a:r>
            <a:endParaRPr lang="en-US" sz="1500" dirty="0"/>
          </a:p>
        </p:txBody>
      </p:sp>
      <p:sp>
        <p:nvSpPr>
          <p:cNvPr id="12" name="a2w_box_1473"/>
          <p:cNvSpPr/>
          <p:nvPr/>
        </p:nvSpPr>
        <p:spPr>
          <a:xfrm>
            <a:off x="5669280" y="2715768"/>
            <a:ext cx="5971032" cy="777240"/>
          </a:xfrm>
          <a:prstGeom prst="roundRect">
            <a:avLst>
              <a:gd name="adj" fmla="val 14118"/>
            </a:avLst>
          </a:prstGeom>
          <a:solidFill>
            <a:srgbClr val="FFFFFF"/>
          </a:solidFill>
          <a:ln w="12700">
            <a:solidFill>
              <a:srgbClr val="C9D3D9"/>
            </a:solidFill>
            <a:prstDash val="solid"/>
          </a:ln>
        </p:spPr>
      </p:sp>
      <p:sp>
        <p:nvSpPr>
          <p:cNvPr id="13" name="a2w_box_1474"/>
          <p:cNvSpPr/>
          <p:nvPr/>
        </p:nvSpPr>
        <p:spPr>
          <a:xfrm>
            <a:off x="5669280" y="2715768"/>
            <a:ext cx="1554480" cy="777240"/>
          </a:xfrm>
          <a:prstGeom prst="rect">
            <a:avLst/>
          </a:prstGeom>
          <a:solidFill>
            <a:srgbClr val="0B2A3C"/>
          </a:solidFill>
          <a:ln/>
        </p:spPr>
      </p:sp>
      <p:sp>
        <p:nvSpPr>
          <p:cNvPr id="14" name="a2w_txt_1475"/>
          <p:cNvSpPr txBox="1"/>
          <p:nvPr/>
        </p:nvSpPr>
        <p:spPr>
          <a:xfrm>
            <a:off x="5715000" y="2715768"/>
            <a:ext cx="1463040" cy="777240"/>
          </a:xfrm>
          <a:prstGeom prst="rect">
            <a:avLst/>
          </a:prstGeom>
          <a:noFill/>
          <a:ln/>
        </p:spPr>
        <p:txBody>
          <a:bodyPr wrap="square" lIns="635" tIns="635" rIns="635" bIns="635"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 Secure</a:t>
            </a:r>
            <a:endParaRPr lang="en-US" sz="1700" dirty="0"/>
          </a:p>
        </p:txBody>
      </p:sp>
      <p:sp>
        <p:nvSpPr>
          <p:cNvPr id="15" name="a2w_txt_1476"/>
          <p:cNvSpPr txBox="1"/>
          <p:nvPr/>
        </p:nvSpPr>
        <p:spPr>
          <a:xfrm>
            <a:off x="7315200" y="2715768"/>
            <a:ext cx="4251960" cy="77724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Tools down, equipment de-energised if possible, barricade</a:t>
            </a:r>
            <a:endParaRPr lang="en-US" sz="1500" dirty="0"/>
          </a:p>
        </p:txBody>
      </p:sp>
      <p:sp>
        <p:nvSpPr>
          <p:cNvPr id="16" name="a3w_box_1477"/>
          <p:cNvSpPr/>
          <p:nvPr/>
        </p:nvSpPr>
        <p:spPr>
          <a:xfrm>
            <a:off x="5669280" y="3602736"/>
            <a:ext cx="5971032" cy="777240"/>
          </a:xfrm>
          <a:prstGeom prst="roundRect">
            <a:avLst>
              <a:gd name="adj" fmla="val 14118"/>
            </a:avLst>
          </a:prstGeom>
          <a:solidFill>
            <a:srgbClr val="FFFFFF"/>
          </a:solidFill>
          <a:ln w="12700">
            <a:solidFill>
              <a:srgbClr val="C9D3D9"/>
            </a:solidFill>
            <a:prstDash val="solid"/>
          </a:ln>
        </p:spPr>
      </p:sp>
      <p:sp>
        <p:nvSpPr>
          <p:cNvPr id="17" name="a3w_box_1478"/>
          <p:cNvSpPr/>
          <p:nvPr/>
        </p:nvSpPr>
        <p:spPr>
          <a:xfrm>
            <a:off x="5669280" y="3602736"/>
            <a:ext cx="1554480" cy="777240"/>
          </a:xfrm>
          <a:prstGeom prst="rect">
            <a:avLst/>
          </a:prstGeom>
          <a:solidFill>
            <a:srgbClr val="0B2A3C"/>
          </a:solidFill>
          <a:ln/>
        </p:spPr>
      </p:sp>
      <p:sp>
        <p:nvSpPr>
          <p:cNvPr id="18" name="a3w_txt_1479"/>
          <p:cNvSpPr txBox="1"/>
          <p:nvPr/>
        </p:nvSpPr>
        <p:spPr>
          <a:xfrm>
            <a:off x="5715000" y="3602736"/>
            <a:ext cx="1463040" cy="777240"/>
          </a:xfrm>
          <a:prstGeom prst="rect">
            <a:avLst/>
          </a:prstGeom>
          <a:noFill/>
          <a:ln/>
        </p:spPr>
        <p:txBody>
          <a:bodyPr wrap="square" lIns="635" tIns="635" rIns="635" bIns="635"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3 Document</a:t>
            </a:r>
            <a:endParaRPr lang="en-US" sz="1700" dirty="0"/>
          </a:p>
        </p:txBody>
      </p:sp>
      <p:sp>
        <p:nvSpPr>
          <p:cNvPr id="19" name="a3w_txt_1480"/>
          <p:cNvSpPr txBox="1"/>
          <p:nvPr/>
        </p:nvSpPr>
        <p:spPr>
          <a:xfrm>
            <a:off x="7315200" y="3602736"/>
            <a:ext cx="4251960" cy="77724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Permit marked SUSPENDED – time, date, reason, initials</a:t>
            </a:r>
            <a:endParaRPr lang="en-US" sz="1500" dirty="0"/>
          </a:p>
        </p:txBody>
      </p:sp>
      <p:sp>
        <p:nvSpPr>
          <p:cNvPr id="20" name="a4w_box_1481"/>
          <p:cNvSpPr/>
          <p:nvPr/>
        </p:nvSpPr>
        <p:spPr>
          <a:xfrm>
            <a:off x="5669280" y="4489704"/>
            <a:ext cx="5971032" cy="777240"/>
          </a:xfrm>
          <a:prstGeom prst="roundRect">
            <a:avLst>
              <a:gd name="adj" fmla="val 14118"/>
            </a:avLst>
          </a:prstGeom>
          <a:solidFill>
            <a:srgbClr val="FFFFFF"/>
          </a:solidFill>
          <a:ln w="12700">
            <a:solidFill>
              <a:srgbClr val="C9D3D9"/>
            </a:solidFill>
            <a:prstDash val="solid"/>
          </a:ln>
        </p:spPr>
      </p:sp>
      <p:sp>
        <p:nvSpPr>
          <p:cNvPr id="21" name="a4w_box_1482"/>
          <p:cNvSpPr/>
          <p:nvPr/>
        </p:nvSpPr>
        <p:spPr>
          <a:xfrm>
            <a:off x="5669280" y="4489704"/>
            <a:ext cx="1554480" cy="777240"/>
          </a:xfrm>
          <a:prstGeom prst="rect">
            <a:avLst/>
          </a:prstGeom>
          <a:solidFill>
            <a:srgbClr val="0B2A3C"/>
          </a:solidFill>
          <a:ln/>
        </p:spPr>
      </p:sp>
      <p:sp>
        <p:nvSpPr>
          <p:cNvPr id="22" name="a4w_txt_1483"/>
          <p:cNvSpPr txBox="1"/>
          <p:nvPr/>
        </p:nvSpPr>
        <p:spPr>
          <a:xfrm>
            <a:off x="5715000" y="4489704"/>
            <a:ext cx="1463040" cy="777240"/>
          </a:xfrm>
          <a:prstGeom prst="rect">
            <a:avLst/>
          </a:prstGeom>
          <a:noFill/>
          <a:ln/>
        </p:spPr>
        <p:txBody>
          <a:bodyPr wrap="square" lIns="635" tIns="635" rIns="635" bIns="635"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 Investigate</a:t>
            </a:r>
            <a:endParaRPr lang="en-US" sz="1700" dirty="0"/>
          </a:p>
        </p:txBody>
      </p:sp>
      <p:sp>
        <p:nvSpPr>
          <p:cNvPr id="23" name="a4w_txt_1484"/>
          <p:cNvSpPr txBox="1"/>
          <p:nvPr/>
        </p:nvSpPr>
        <p:spPr>
          <a:xfrm>
            <a:off x="7315200" y="4489704"/>
            <a:ext cx="4251960" cy="77724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Same permit after amendment, or a new permit?</a:t>
            </a:r>
            <a:endParaRPr lang="en-US" sz="1500" dirty="0"/>
          </a:p>
        </p:txBody>
      </p:sp>
      <p:sp>
        <p:nvSpPr>
          <p:cNvPr id="24" name="a5w_box_1485"/>
          <p:cNvSpPr/>
          <p:nvPr/>
        </p:nvSpPr>
        <p:spPr>
          <a:xfrm>
            <a:off x="5669280" y="5376672"/>
            <a:ext cx="5971032" cy="777240"/>
          </a:xfrm>
          <a:prstGeom prst="roundRect">
            <a:avLst>
              <a:gd name="adj" fmla="val 14118"/>
            </a:avLst>
          </a:prstGeom>
          <a:solidFill>
            <a:srgbClr val="FFFFFF"/>
          </a:solidFill>
          <a:ln w="12700">
            <a:solidFill>
              <a:srgbClr val="C9D3D9"/>
            </a:solidFill>
            <a:prstDash val="solid"/>
          </a:ln>
        </p:spPr>
      </p:sp>
      <p:sp>
        <p:nvSpPr>
          <p:cNvPr id="25" name="a5w_box_1486"/>
          <p:cNvSpPr/>
          <p:nvPr/>
        </p:nvSpPr>
        <p:spPr>
          <a:xfrm>
            <a:off x="5669280" y="5376672"/>
            <a:ext cx="1554480" cy="777240"/>
          </a:xfrm>
          <a:prstGeom prst="rect">
            <a:avLst/>
          </a:prstGeom>
          <a:solidFill>
            <a:srgbClr val="0B2A3C"/>
          </a:solidFill>
          <a:ln/>
        </p:spPr>
      </p:sp>
      <p:sp>
        <p:nvSpPr>
          <p:cNvPr id="26" name="a5w_txt_1487"/>
          <p:cNvSpPr txBox="1"/>
          <p:nvPr/>
        </p:nvSpPr>
        <p:spPr>
          <a:xfrm>
            <a:off x="5715000" y="5376672"/>
            <a:ext cx="1463040" cy="777240"/>
          </a:xfrm>
          <a:prstGeom prst="rect">
            <a:avLst/>
          </a:prstGeom>
          <a:noFill/>
          <a:ln/>
        </p:spPr>
        <p:txBody>
          <a:bodyPr wrap="square" lIns="635" tIns="635" rIns="635" bIns="635"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5 Restart</a:t>
            </a:r>
            <a:endParaRPr lang="en-US" sz="1700" dirty="0"/>
          </a:p>
        </p:txBody>
      </p:sp>
      <p:sp>
        <p:nvSpPr>
          <p:cNvPr id="27" name="a5w_txt_1488"/>
          <p:cNvSpPr txBox="1"/>
          <p:nvPr/>
        </p:nvSpPr>
        <p:spPr>
          <a:xfrm>
            <a:off x="7315200" y="5376672"/>
            <a:ext cx="4251960" cy="777240"/>
          </a:xfrm>
          <a:prstGeom prst="rect">
            <a:avLst/>
          </a:prstGeom>
          <a:noFill/>
          <a:ln/>
        </p:spPr>
        <p:txBody>
          <a:bodyPr wrap="square" lIns="635" tIns="635" rIns="635" bIns="635" rtlCol="0" anchor="ctr"/>
          <a:lstStyle/>
          <a:p>
            <a:pPr indent="0" marL="0">
              <a:buNone/>
            </a:pPr>
            <a:r>
              <a:rPr lang="en-US" sz="1500" dirty="0">
                <a:solidFill>
                  <a:srgbClr val="1B2730"/>
                </a:solidFill>
                <a:latin typeface="Calibri" pitchFamily="34" charset="0"/>
                <a:ea typeface="Calibri" pitchFamily="34" charset="-122"/>
                <a:cs typeface="Calibri" pitchFamily="34" charset="-120"/>
              </a:rPr>
              <a:t>Joint revalidation + NEW crew briefing; “WORK RESUMED” initialled</a:t>
            </a:r>
            <a:endParaRPr lang="en-US" sz="1500" dirty="0"/>
          </a:p>
        </p:txBody>
      </p:sp>
      <p:sp>
        <p:nvSpPr>
          <p:cNvPr id="2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500"/>
                                        <p:tgtEl>
                                          <p:spTgt spid="20"/>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left)">
                                      <p:cBhvr>
                                        <p:cTn id="63" dur="500"/>
                                        <p:tgtEl>
                                          <p:spTgt spid="24"/>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wipe(left)">
                                      <p:cBhvr>
                                        <p:cTn id="69" dur="500"/>
                                        <p:tgtEl>
                                          <p:spTgt spid="26"/>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Shift Change – Never Leave the Work Unattended</a:t>
            </a:r>
            <a:endParaRPr lang="en-US" sz="3200" dirty="0"/>
          </a:p>
        </p:txBody>
      </p:sp>
      <p:sp>
        <p:nvSpPr>
          <p:cNvPr id="3" name="a1_box_1489"/>
          <p:cNvSpPr/>
          <p:nvPr/>
        </p:nvSpPr>
        <p:spPr>
          <a:xfrm>
            <a:off x="548640" y="1280160"/>
            <a:ext cx="6949440" cy="1280160"/>
          </a:xfrm>
          <a:prstGeom prst="roundRect">
            <a:avLst>
              <a:gd name="adj" fmla="val 857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circ_1490"/>
          <p:cNvSpPr/>
          <p:nvPr/>
        </p:nvSpPr>
        <p:spPr>
          <a:xfrm>
            <a:off x="713232" y="1554480"/>
            <a:ext cx="731520" cy="731520"/>
          </a:xfrm>
          <a:prstGeom prst="ellipse">
            <a:avLst/>
          </a:prstGeom>
          <a:solidFill>
            <a:srgbClr val="E8771E"/>
          </a:solidFill>
          <a:ln/>
        </p:spPr>
      </p:sp>
      <p:pic>
        <p:nvPicPr>
          <p:cNvPr id="5" name="a1_icon_1491" descr="preencoded.png">    </p:cNvPr>
          <p:cNvPicPr>
            <a:picLocks noChangeAspect="1"/>
          </p:cNvPicPr>
          <p:nvPr/>
        </p:nvPicPr>
        <p:blipFill>
          <a:blip r:embed="rId1"/>
          <a:stretch>
            <a:fillRect/>
          </a:stretch>
        </p:blipFill>
        <p:spPr>
          <a:xfrm>
            <a:off x="877824" y="1719072"/>
            <a:ext cx="402336" cy="402336"/>
          </a:xfrm>
          <a:prstGeom prst="rect">
            <a:avLst/>
          </a:prstGeom>
        </p:spPr>
      </p:pic>
      <p:sp>
        <p:nvSpPr>
          <p:cNvPr id="6" name="a1_txt_1492"/>
          <p:cNvSpPr txBox="1"/>
          <p:nvPr/>
        </p:nvSpPr>
        <p:spPr>
          <a:xfrm>
            <a:off x="1600200" y="1325880"/>
            <a:ext cx="5760720" cy="11887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Receiver → Receiver</a:t>
            </a:r>
            <a:endParaRPr lang="en-US" sz="2000" dirty="0"/>
          </a:p>
          <a:p>
            <a:pPr indent="0" marL="0">
              <a:buNone/>
            </a:pPr>
            <a:r>
              <a:rPr lang="en-US" sz="1500" dirty="0">
                <a:solidFill>
                  <a:srgbClr val="1B2730"/>
                </a:solidFill>
                <a:latin typeface="Calibri" pitchFamily="34" charset="0"/>
                <a:ea typeface="Calibri" pitchFamily="34" charset="-122"/>
                <a:cs typeface="Calibri" pitchFamily="34" charset="-120"/>
              </a:rPr>
              <a:t>Walk the site together; face-to-face brief: work done &amp; remaining, status of every control, issues &amp; near misses; review the permit; incoming Receiver SIGNS the handover block</a:t>
            </a:r>
            <a:endParaRPr lang="en-US" sz="2000" dirty="0"/>
          </a:p>
        </p:txBody>
      </p:sp>
      <p:sp>
        <p:nvSpPr>
          <p:cNvPr id="7" name="a2_box_1493"/>
          <p:cNvSpPr/>
          <p:nvPr/>
        </p:nvSpPr>
        <p:spPr>
          <a:xfrm>
            <a:off x="548640" y="2651760"/>
            <a:ext cx="6949440" cy="1280160"/>
          </a:xfrm>
          <a:prstGeom prst="roundRect">
            <a:avLst>
              <a:gd name="adj" fmla="val 857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8" name="a2_circ_1494"/>
          <p:cNvSpPr/>
          <p:nvPr/>
        </p:nvSpPr>
        <p:spPr>
          <a:xfrm>
            <a:off x="713232" y="2926080"/>
            <a:ext cx="731520" cy="731520"/>
          </a:xfrm>
          <a:prstGeom prst="ellipse">
            <a:avLst/>
          </a:prstGeom>
          <a:solidFill>
            <a:srgbClr val="0F6E7A"/>
          </a:solidFill>
          <a:ln/>
        </p:spPr>
      </p:sp>
      <p:pic>
        <p:nvPicPr>
          <p:cNvPr id="9" name="a2_icon_1495" descr="preencoded.png">    </p:cNvPr>
          <p:cNvPicPr>
            <a:picLocks noChangeAspect="1"/>
          </p:cNvPicPr>
          <p:nvPr/>
        </p:nvPicPr>
        <p:blipFill>
          <a:blip r:embed="rId2"/>
          <a:stretch>
            <a:fillRect/>
          </a:stretch>
        </p:blipFill>
        <p:spPr>
          <a:xfrm>
            <a:off x="877824" y="3090672"/>
            <a:ext cx="402336" cy="402336"/>
          </a:xfrm>
          <a:prstGeom prst="rect">
            <a:avLst/>
          </a:prstGeom>
        </p:spPr>
      </p:pic>
      <p:sp>
        <p:nvSpPr>
          <p:cNvPr id="10" name="a2_txt_1496"/>
          <p:cNvSpPr txBox="1"/>
          <p:nvPr/>
        </p:nvSpPr>
        <p:spPr>
          <a:xfrm>
            <a:off x="1600200" y="2697480"/>
            <a:ext cx="5760720" cy="11887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Issuer → Issuer</a:t>
            </a:r>
            <a:endParaRPr lang="en-US" sz="2000" dirty="0"/>
          </a:p>
          <a:p>
            <a:pPr indent="0" marL="0">
              <a:buNone/>
            </a:pPr>
            <a:r>
              <a:rPr lang="en-US" sz="1500" dirty="0">
                <a:solidFill>
                  <a:srgbClr val="1B2730"/>
                </a:solidFill>
                <a:latin typeface="Calibri" pitchFamily="34" charset="0"/>
                <a:ea typeface="Calibri" pitchFamily="34" charset="-122"/>
                <a:cs typeface="Calibri" pitchFamily="34" charset="-120"/>
              </a:rPr>
              <a:t>Permit log reviewed in the operations handover; high-risk permits &amp; those near expiry highlighted; incoming Issuer takes responsibility for all permits in the area</a:t>
            </a:r>
            <a:endParaRPr lang="en-US" sz="2000" dirty="0"/>
          </a:p>
        </p:txBody>
      </p:sp>
      <p:sp>
        <p:nvSpPr>
          <p:cNvPr id="11" name="a3_box_1497"/>
          <p:cNvSpPr/>
          <p:nvPr/>
        </p:nvSpPr>
        <p:spPr>
          <a:xfrm>
            <a:off x="548640" y="4023360"/>
            <a:ext cx="6949440" cy="1280160"/>
          </a:xfrm>
          <a:prstGeom prst="roundRect">
            <a:avLst>
              <a:gd name="adj" fmla="val 8571"/>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2" name="a3_circ_1498"/>
          <p:cNvSpPr/>
          <p:nvPr/>
        </p:nvSpPr>
        <p:spPr>
          <a:xfrm>
            <a:off x="713232" y="4297680"/>
            <a:ext cx="731520" cy="731520"/>
          </a:xfrm>
          <a:prstGeom prst="ellipse">
            <a:avLst/>
          </a:prstGeom>
          <a:solidFill>
            <a:srgbClr val="2E7D32"/>
          </a:solidFill>
          <a:ln/>
        </p:spPr>
      </p:sp>
      <p:pic>
        <p:nvPicPr>
          <p:cNvPr id="13" name="a3_icon_1499" descr="preencoded.png">    </p:cNvPr>
          <p:cNvPicPr>
            <a:picLocks noChangeAspect="1"/>
          </p:cNvPicPr>
          <p:nvPr/>
        </p:nvPicPr>
        <p:blipFill>
          <a:blip r:embed="rId3"/>
          <a:stretch>
            <a:fillRect/>
          </a:stretch>
        </p:blipFill>
        <p:spPr>
          <a:xfrm>
            <a:off x="877824" y="4462272"/>
            <a:ext cx="402336" cy="402336"/>
          </a:xfrm>
          <a:prstGeom prst="rect">
            <a:avLst/>
          </a:prstGeom>
        </p:spPr>
      </p:pic>
      <p:sp>
        <p:nvSpPr>
          <p:cNvPr id="14" name="a3_txt_1500"/>
          <p:cNvSpPr txBox="1"/>
          <p:nvPr/>
        </p:nvSpPr>
        <p:spPr>
          <a:xfrm>
            <a:off x="1600200" y="4069080"/>
            <a:ext cx="5760720" cy="118872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New crew</a:t>
            </a:r>
            <a:endParaRPr lang="en-US" sz="2000" dirty="0"/>
          </a:p>
          <a:p>
            <a:pPr indent="0" marL="0">
              <a:buNone/>
            </a:pPr>
            <a:r>
              <a:rPr lang="en-US" sz="1500" dirty="0">
                <a:solidFill>
                  <a:srgbClr val="1B2730"/>
                </a:solidFill>
                <a:latin typeface="Calibri" pitchFamily="34" charset="0"/>
                <a:ea typeface="Calibri" pitchFamily="34" charset="-122"/>
                <a:cs typeface="Calibri" pitchFamily="34" charset="-120"/>
              </a:rPr>
              <a:t>FULL toolbox talk for the new crew, even if work is continuous. New members sign on. Never assume knowledge carries over.</a:t>
            </a:r>
            <a:endParaRPr lang="en-US" sz="2000" dirty="0"/>
          </a:p>
        </p:txBody>
      </p:sp>
      <p:sp>
        <p:nvSpPr>
          <p:cNvPr id="15" name="a4_box_1501"/>
          <p:cNvSpPr/>
          <p:nvPr/>
        </p:nvSpPr>
        <p:spPr>
          <a:xfrm>
            <a:off x="7726680" y="1280160"/>
            <a:ext cx="3913632" cy="4937760"/>
          </a:xfrm>
          <a:prstGeom prst="roundRect">
            <a:avLst>
              <a:gd name="adj" fmla="val 2804"/>
            </a:avLst>
          </a:prstGeom>
          <a:solidFill>
            <a:srgbClr val="0B2A3C"/>
          </a:solidFill>
          <a:ln/>
        </p:spPr>
      </p:sp>
      <p:pic>
        <p:nvPicPr>
          <p:cNvPr id="16" name="a4_icon_1502" descr="preencoded.png">    </p:cNvPr>
          <p:cNvPicPr>
            <a:picLocks noChangeAspect="1"/>
          </p:cNvPicPr>
          <p:nvPr/>
        </p:nvPicPr>
        <p:blipFill>
          <a:blip r:embed="rId4"/>
          <a:stretch>
            <a:fillRect/>
          </a:stretch>
        </p:blipFill>
        <p:spPr>
          <a:xfrm>
            <a:off x="9235440" y="1463040"/>
            <a:ext cx="868680" cy="868680"/>
          </a:xfrm>
          <a:prstGeom prst="rect">
            <a:avLst/>
          </a:prstGeom>
        </p:spPr>
      </p:pic>
      <p:sp>
        <p:nvSpPr>
          <p:cNvPr id="17" name="a4_txt_1503"/>
          <p:cNvSpPr txBox="1"/>
          <p:nvPr/>
        </p:nvSpPr>
        <p:spPr>
          <a:xfrm>
            <a:off x="7909560" y="2560320"/>
            <a:ext cx="3566160" cy="3474720"/>
          </a:xfrm>
          <a:prstGeom prst="rect">
            <a:avLst/>
          </a:prstGeom>
          <a:noFill/>
          <a:ln/>
        </p:spPr>
        <p:txBody>
          <a:bodyPr wrap="square" lIns="635" tIns="635" rIns="635" bIns="635" rtlCol="0" anchor="t"/>
          <a:lstStyle/>
          <a:p>
            <a:pPr indent="0" marL="0">
              <a:buNone/>
            </a:pPr>
            <a:r>
              <a:rPr lang="en-US" sz="2000" b="1" dirty="0">
                <a:solidFill>
                  <a:srgbClr val="E8771E"/>
                </a:solidFill>
                <a:latin typeface="Calibri" pitchFamily="34" charset="0"/>
                <a:ea typeface="Calibri" pitchFamily="34" charset="-122"/>
                <a:cs typeface="Calibri" pitchFamily="34" charset="-120"/>
              </a:rPr>
              <a:t>THE GOLDEN RULE</a:t>
            </a:r>
            <a:endParaRPr lang="en-US" sz="2000" dirty="0"/>
          </a:p>
          <a:p>
            <a:pPr indent="0" marL="0">
              <a:buNone/>
            </a:pPr>
            <a:r>
              <a:rPr lang="en-US" sz="2000" dirty="0">
                <a:solidFill>
                  <a:srgbClr val="FFFFFF"/>
                </a:solidFill>
                <a:latin typeface="Calibri" pitchFamily="34" charset="0"/>
                <a:ea typeface="Calibri" pitchFamily="34" charset="-122"/>
                <a:cs typeface="Calibri" pitchFamily="34" charset="-120"/>
              </a:rPr>
              <a:t>If the incoming Receiver is not there to accept the handover, the outgoing Receiver cannot leave – work may need to be safely suspended.</a:t>
            </a:r>
            <a:endParaRPr lang="en-US" sz="2000" dirty="0"/>
          </a:p>
        </p:txBody>
      </p:sp>
      <p:sp>
        <p:nvSpPr>
          <p:cNvPr id="18" name="a4_txt_1504"/>
          <p:cNvSpPr txBox="1"/>
          <p:nvPr/>
        </p:nvSpPr>
        <p:spPr>
          <a:xfrm>
            <a:off x="548640" y="5413248"/>
            <a:ext cx="6949440" cy="804672"/>
          </a:xfrm>
          <a:prstGeom prst="rect">
            <a:avLst/>
          </a:prstGeom>
          <a:noFill/>
          <a:ln/>
        </p:spPr>
        <p:txBody>
          <a:bodyPr wrap="square" lIns="635" tIns="635" rIns="635" bIns="635" rtlCol="0" anchor="ctr"/>
          <a:lstStyle/>
          <a:p>
            <a:pPr indent="0" marL="0">
              <a:buNone/>
            </a:pPr>
            <a:r>
              <a:rPr lang="en-US" sz="1600" i="1" dirty="0">
                <a:solidFill>
                  <a:srgbClr val="5B6B75"/>
                </a:solidFill>
                <a:latin typeface="Calibri" pitchFamily="34" charset="0"/>
                <a:ea typeface="Calibri" pitchFamily="34" charset="-122"/>
                <a:cs typeface="Calibri" pitchFamily="34" charset="-120"/>
              </a:rPr>
              <a:t>Example handover line: “The blind is in at Flange F-205, confirmed at 08:00. The gas monitor has been stable at 0% LEL.”</a:t>
            </a:r>
            <a:endParaRPr lang="en-US" sz="1600" dirty="0"/>
          </a:p>
        </p:txBody>
      </p:sp>
      <p:sp>
        <p:nvSpPr>
          <p:cNvPr id="1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7" grpId="0" animBg="1"/>
      <p:bldP spid="1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Plant Scenario: Conditions Change</a:t>
            </a:r>
            <a:endParaRPr lang="en-US" sz="3200" dirty="0"/>
          </a:p>
        </p:txBody>
      </p:sp>
      <p:sp>
        <p:nvSpPr>
          <p:cNvPr id="3" name="box_1505"/>
          <p:cNvSpPr/>
          <p:nvPr/>
        </p:nvSpPr>
        <p:spPr>
          <a:xfrm>
            <a:off x="548640" y="1280160"/>
            <a:ext cx="11094415" cy="1234440"/>
          </a:xfrm>
          <a:prstGeom prst="roundRect">
            <a:avLst>
              <a:gd name="adj" fmla="val 8889"/>
            </a:avLst>
          </a:prstGeom>
          <a:solidFill>
            <a:srgbClr val="0B2A3C"/>
          </a:solidFill>
          <a:ln/>
        </p:spPr>
      </p:sp>
      <p:pic>
        <p:nvPicPr>
          <p:cNvPr id="4" name="icon_1506"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1507"/>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During flange work on a gas line, the wind changes direction and a worker notices a gas smell.</a:t>
            </a:r>
            <a:endParaRPr lang="en-US" sz="1800" dirty="0"/>
          </a:p>
        </p:txBody>
      </p:sp>
      <p:sp>
        <p:nvSpPr>
          <p:cNvPr id="6" name="txt_1508"/>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should happen now?</a:t>
            </a:r>
            <a:endParaRPr lang="en-US" sz="2400" dirty="0"/>
          </a:p>
        </p:txBody>
      </p:sp>
      <p:sp>
        <p:nvSpPr>
          <p:cNvPr id="7" name="txt_1509"/>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1510"/>
          <p:cNvSpPr/>
          <p:nvPr/>
        </p:nvSpPr>
        <p:spPr>
          <a:xfrm>
            <a:off x="548640" y="306324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1511"/>
          <p:cNvSpPr/>
          <p:nvPr/>
        </p:nvSpPr>
        <p:spPr>
          <a:xfrm>
            <a:off x="548640" y="3063240"/>
            <a:ext cx="685800" cy="628650"/>
          </a:xfrm>
          <a:prstGeom prst="rect">
            <a:avLst/>
          </a:prstGeom>
          <a:solidFill>
            <a:srgbClr val="C0392B"/>
          </a:solidFill>
          <a:ln/>
        </p:spPr>
      </p:sp>
      <p:pic>
        <p:nvPicPr>
          <p:cNvPr id="10" name="a1_icon_1512" descr="preencoded.png">    </p:cNvPr>
          <p:cNvPicPr>
            <a:picLocks noChangeAspect="1"/>
          </p:cNvPicPr>
          <p:nvPr/>
        </p:nvPicPr>
        <p:blipFill>
          <a:blip r:embed="rId2"/>
          <a:stretch>
            <a:fillRect/>
          </a:stretch>
        </p:blipFill>
        <p:spPr>
          <a:xfrm>
            <a:off x="704088" y="3185541"/>
            <a:ext cx="384048" cy="384048"/>
          </a:xfrm>
          <a:prstGeom prst="rect">
            <a:avLst/>
          </a:prstGeom>
        </p:spPr>
      </p:pic>
      <p:sp>
        <p:nvSpPr>
          <p:cNvPr id="11" name="a1_txt_1513"/>
          <p:cNvSpPr txBox="1"/>
          <p:nvPr/>
        </p:nvSpPr>
        <p:spPr>
          <a:xfrm>
            <a:off x="1371600" y="3108960"/>
            <a:ext cx="10134295" cy="53721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1  Stop: </a:t>
            </a:r>
            <a:pPr indent="0" marL="0">
              <a:buNone/>
            </a:pPr>
            <a:r>
              <a:rPr lang="en-US" sz="1700" dirty="0">
                <a:solidFill>
                  <a:srgbClr val="1B2730"/>
                </a:solidFill>
                <a:latin typeface="Calibri" pitchFamily="34" charset="0"/>
                <a:ea typeface="Calibri" pitchFamily="34" charset="-122"/>
                <a:cs typeface="Calibri" pitchFamily="34" charset="-120"/>
              </a:rPr>
              <a:t>Anyone can call “STOP WORK! I smell gas.” Work stops immediately.</a:t>
            </a:r>
            <a:endParaRPr lang="en-US" sz="1700" dirty="0"/>
          </a:p>
        </p:txBody>
      </p:sp>
      <p:sp>
        <p:nvSpPr>
          <p:cNvPr id="12" name="a2_box_1514"/>
          <p:cNvSpPr/>
          <p:nvPr/>
        </p:nvSpPr>
        <p:spPr>
          <a:xfrm>
            <a:off x="548640" y="392049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1515"/>
          <p:cNvSpPr/>
          <p:nvPr/>
        </p:nvSpPr>
        <p:spPr>
          <a:xfrm>
            <a:off x="548640" y="3920490"/>
            <a:ext cx="685800" cy="628650"/>
          </a:xfrm>
          <a:prstGeom prst="rect">
            <a:avLst/>
          </a:prstGeom>
          <a:solidFill>
            <a:srgbClr val="E8771E"/>
          </a:solidFill>
          <a:ln/>
        </p:spPr>
      </p:sp>
      <p:pic>
        <p:nvPicPr>
          <p:cNvPr id="14" name="a2_icon_1516" descr="preencoded.png">    </p:cNvPr>
          <p:cNvPicPr>
            <a:picLocks noChangeAspect="1"/>
          </p:cNvPicPr>
          <p:nvPr/>
        </p:nvPicPr>
        <p:blipFill>
          <a:blip r:embed="rId3"/>
          <a:stretch>
            <a:fillRect/>
          </a:stretch>
        </p:blipFill>
        <p:spPr>
          <a:xfrm>
            <a:off x="704088" y="4042791"/>
            <a:ext cx="384048" cy="384048"/>
          </a:xfrm>
          <a:prstGeom prst="rect">
            <a:avLst/>
          </a:prstGeom>
        </p:spPr>
      </p:pic>
      <p:sp>
        <p:nvSpPr>
          <p:cNvPr id="15" name="a2_txt_1517"/>
          <p:cNvSpPr txBox="1"/>
          <p:nvPr/>
        </p:nvSpPr>
        <p:spPr>
          <a:xfrm>
            <a:off x="1371600" y="3966210"/>
            <a:ext cx="10134295" cy="537210"/>
          </a:xfrm>
          <a:prstGeom prst="rect">
            <a:avLst/>
          </a:prstGeom>
          <a:noFill/>
          <a:ln/>
        </p:spPr>
        <p:txBody>
          <a:bodyPr wrap="square" lIns="635" tIns="635" rIns="635" bIns="635" rtlCol="0" anchor="ctr"/>
          <a:lstStyle/>
          <a:p>
            <a:pPr indent="0" marL="0">
              <a:buNone/>
            </a:pPr>
            <a:r>
              <a:rPr lang="en-US" sz="1700" b="1" dirty="0">
                <a:solidFill>
                  <a:srgbClr val="E8771E"/>
                </a:solidFill>
                <a:latin typeface="Calibri" pitchFamily="34" charset="0"/>
                <a:ea typeface="Calibri" pitchFamily="34" charset="-122"/>
                <a:cs typeface="Calibri" pitchFamily="34" charset="-120"/>
              </a:rPr>
              <a:t>2  Secure &amp; notify: </a:t>
            </a:r>
            <a:pPr indent="0" marL="0">
              <a:buNone/>
            </a:pPr>
            <a:r>
              <a:rPr lang="en-US" sz="1700" dirty="0">
                <a:solidFill>
                  <a:srgbClr val="1B2730"/>
                </a:solidFill>
                <a:latin typeface="Calibri" pitchFamily="34" charset="0"/>
                <a:ea typeface="Calibri" pitchFamily="34" charset="-122"/>
                <a:cs typeface="Calibri" pitchFamily="34" charset="-120"/>
              </a:rPr>
              <a:t>Make the site safe; Receiver notifies the Issuer; permit SUSPENDED.</a:t>
            </a:r>
            <a:endParaRPr lang="en-US" sz="1700" dirty="0"/>
          </a:p>
        </p:txBody>
      </p:sp>
      <p:sp>
        <p:nvSpPr>
          <p:cNvPr id="16" name="a3_box_1518"/>
          <p:cNvSpPr/>
          <p:nvPr/>
        </p:nvSpPr>
        <p:spPr>
          <a:xfrm>
            <a:off x="548640" y="477774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1519"/>
          <p:cNvSpPr/>
          <p:nvPr/>
        </p:nvSpPr>
        <p:spPr>
          <a:xfrm>
            <a:off x="548640" y="4777740"/>
            <a:ext cx="685800" cy="628650"/>
          </a:xfrm>
          <a:prstGeom prst="rect">
            <a:avLst/>
          </a:prstGeom>
          <a:solidFill>
            <a:srgbClr val="C0392B"/>
          </a:solidFill>
          <a:ln/>
        </p:spPr>
      </p:sp>
      <p:pic>
        <p:nvPicPr>
          <p:cNvPr id="18" name="a3_icon_1520" descr="preencoded.png">    </p:cNvPr>
          <p:cNvPicPr>
            <a:picLocks noChangeAspect="1"/>
          </p:cNvPicPr>
          <p:nvPr/>
        </p:nvPicPr>
        <p:blipFill>
          <a:blip r:embed="rId4"/>
          <a:stretch>
            <a:fillRect/>
          </a:stretch>
        </p:blipFill>
        <p:spPr>
          <a:xfrm>
            <a:off x="704088" y="4900041"/>
            <a:ext cx="384048" cy="384048"/>
          </a:xfrm>
          <a:prstGeom prst="rect">
            <a:avLst/>
          </a:prstGeom>
        </p:spPr>
      </p:pic>
      <p:sp>
        <p:nvSpPr>
          <p:cNvPr id="19" name="a3_txt_1521"/>
          <p:cNvSpPr txBox="1"/>
          <p:nvPr/>
        </p:nvSpPr>
        <p:spPr>
          <a:xfrm>
            <a:off x="1371600" y="4823460"/>
            <a:ext cx="10134295" cy="53721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3  If the alarm sounds or a release is seen: </a:t>
            </a:r>
            <a:pPr indent="0" marL="0">
              <a:buNone/>
            </a:pPr>
            <a:r>
              <a:rPr lang="en-US" sz="1700" dirty="0">
                <a:solidFill>
                  <a:srgbClr val="1B2730"/>
                </a:solidFill>
                <a:latin typeface="Calibri" pitchFamily="34" charset="0"/>
                <a:ea typeface="Calibri" pitchFamily="34" charset="-122"/>
                <a:cs typeface="Calibri" pitchFamily="34" charset="-120"/>
              </a:rPr>
              <a:t>Emergency – evacuate upwind/uphill to the WSAP and raise the alarm.</a:t>
            </a:r>
            <a:endParaRPr lang="en-US" sz="1700" dirty="0"/>
          </a:p>
        </p:txBody>
      </p:sp>
      <p:sp>
        <p:nvSpPr>
          <p:cNvPr id="20" name="a4_box_1522"/>
          <p:cNvSpPr/>
          <p:nvPr/>
        </p:nvSpPr>
        <p:spPr>
          <a:xfrm>
            <a:off x="548640" y="5634990"/>
            <a:ext cx="11094415" cy="628650"/>
          </a:xfrm>
          <a:prstGeom prst="roundRect">
            <a:avLst>
              <a:gd name="adj" fmla="val 17455"/>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1523"/>
          <p:cNvSpPr/>
          <p:nvPr/>
        </p:nvSpPr>
        <p:spPr>
          <a:xfrm>
            <a:off x="548640" y="5634990"/>
            <a:ext cx="685800" cy="628650"/>
          </a:xfrm>
          <a:prstGeom prst="rect">
            <a:avLst/>
          </a:prstGeom>
          <a:solidFill>
            <a:srgbClr val="2E7D32"/>
          </a:solidFill>
          <a:ln/>
        </p:spPr>
      </p:sp>
      <p:pic>
        <p:nvPicPr>
          <p:cNvPr id="22" name="a4_icon_1524" descr="preencoded.png">    </p:cNvPr>
          <p:cNvPicPr>
            <a:picLocks noChangeAspect="1"/>
          </p:cNvPicPr>
          <p:nvPr/>
        </p:nvPicPr>
        <p:blipFill>
          <a:blip r:embed="rId5"/>
          <a:stretch>
            <a:fillRect/>
          </a:stretch>
        </p:blipFill>
        <p:spPr>
          <a:xfrm>
            <a:off x="704088" y="5757291"/>
            <a:ext cx="384048" cy="384048"/>
          </a:xfrm>
          <a:prstGeom prst="rect">
            <a:avLst/>
          </a:prstGeom>
        </p:spPr>
      </p:pic>
      <p:sp>
        <p:nvSpPr>
          <p:cNvPr id="23" name="a4_txt_1525"/>
          <p:cNvSpPr txBox="1"/>
          <p:nvPr/>
        </p:nvSpPr>
        <p:spPr>
          <a:xfrm>
            <a:off x="1371600" y="5680710"/>
            <a:ext cx="10134295" cy="537210"/>
          </a:xfrm>
          <a:prstGeom prst="rect">
            <a:avLst/>
          </a:prstGeom>
          <a:noFill/>
          <a:ln/>
        </p:spPr>
        <p:txBody>
          <a:bodyPr wrap="square" lIns="635" tIns="635" rIns="635" bIns="635" rtlCol="0" anchor="ctr"/>
          <a:lstStyle/>
          <a:p>
            <a:pPr indent="0" marL="0">
              <a:buNone/>
            </a:pPr>
            <a:r>
              <a:rPr lang="en-US" sz="1700" b="1" dirty="0">
                <a:solidFill>
                  <a:srgbClr val="2E7D32"/>
                </a:solidFill>
                <a:latin typeface="Calibri" pitchFamily="34" charset="0"/>
                <a:ea typeface="Calibri" pitchFamily="34" charset="-122"/>
                <a:cs typeface="Calibri" pitchFamily="34" charset="-120"/>
              </a:rPr>
              <a:t>4  Restart only after: </a:t>
            </a:r>
            <a:pPr indent="0" marL="0">
              <a:buNone/>
            </a:pPr>
            <a:r>
              <a:rPr lang="en-US" sz="1700" dirty="0">
                <a:solidFill>
                  <a:srgbClr val="1B2730"/>
                </a:solidFill>
                <a:latin typeface="Calibri" pitchFamily="34" charset="0"/>
                <a:ea typeface="Calibri" pitchFamily="34" charset="-122"/>
                <a:cs typeface="Calibri" pitchFamily="34" charset="-120"/>
              </a:rPr>
              <a:t>Joint re-assessment, revalidation and a new briefing – or a new permit.</a:t>
            </a:r>
            <a:endParaRPr lang="en-US" sz="1700" dirty="0"/>
          </a:p>
        </p:txBody>
      </p:sp>
      <p:sp>
        <p:nvSpPr>
          <p:cNvPr id="2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circ_1526"/>
          <p:cNvSpPr/>
          <p:nvPr/>
        </p:nvSpPr>
        <p:spPr>
          <a:xfrm>
            <a:off x="548640" y="2011680"/>
            <a:ext cx="1371600" cy="1371600"/>
          </a:xfrm>
          <a:prstGeom prst="ellipse">
            <a:avLst/>
          </a:prstGeom>
          <a:solidFill>
            <a:srgbClr val="E8771E"/>
          </a:solidFill>
          <a:ln/>
        </p:spPr>
      </p:sp>
      <p:pic>
        <p:nvPicPr>
          <p:cNvPr id="3" name="icon_1527"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528"/>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11</a:t>
            </a:r>
            <a:endParaRPr lang="en-US" sz="1800" dirty="0"/>
          </a:p>
        </p:txBody>
      </p:sp>
      <p:sp>
        <p:nvSpPr>
          <p:cNvPr id="5" name="txt_1529"/>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Completing the Job: Extend, Cancel or Close</a:t>
            </a:r>
            <a:endParaRPr lang="en-US" sz="4000" dirty="0"/>
          </a:p>
        </p:txBody>
      </p:sp>
      <p:sp>
        <p:nvSpPr>
          <p:cNvPr id="6" name="txt_1530"/>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The formal end of the safe envelope</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Three Ways a Permit Ends</a:t>
            </a:r>
            <a:endParaRPr lang="en-US" sz="3200" dirty="0"/>
          </a:p>
        </p:txBody>
      </p:sp>
      <p:sp>
        <p:nvSpPr>
          <p:cNvPr id="3" name="a1_box_1531"/>
          <p:cNvSpPr/>
          <p:nvPr/>
        </p:nvSpPr>
        <p:spPr>
          <a:xfrm>
            <a:off x="548640" y="1280160"/>
            <a:ext cx="3564026" cy="493776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_box_1532"/>
          <p:cNvSpPr/>
          <p:nvPr/>
        </p:nvSpPr>
        <p:spPr>
          <a:xfrm>
            <a:off x="548640" y="1280160"/>
            <a:ext cx="3564026" cy="1188720"/>
          </a:xfrm>
          <a:prstGeom prst="rect">
            <a:avLst/>
          </a:prstGeom>
          <a:solidFill>
            <a:srgbClr val="000000"/>
          </a:solidFill>
          <a:ln/>
        </p:spPr>
      </p:sp>
      <p:pic>
        <p:nvPicPr>
          <p:cNvPr id="5" name="a1_icon_1533" descr="preencoded.png">    </p:cNvPr>
          <p:cNvPicPr>
            <a:picLocks noChangeAspect="1"/>
          </p:cNvPicPr>
          <p:nvPr/>
        </p:nvPicPr>
        <p:blipFill>
          <a:blip r:embed="rId1"/>
          <a:stretch>
            <a:fillRect/>
          </a:stretch>
        </p:blipFill>
        <p:spPr>
          <a:xfrm>
            <a:off x="731520" y="1481328"/>
            <a:ext cx="777240" cy="777240"/>
          </a:xfrm>
          <a:prstGeom prst="rect">
            <a:avLst/>
          </a:prstGeom>
        </p:spPr>
      </p:pic>
      <p:sp>
        <p:nvSpPr>
          <p:cNvPr id="6" name="a1_txt_1534"/>
          <p:cNvSpPr txBox="1"/>
          <p:nvPr/>
        </p:nvSpPr>
        <p:spPr>
          <a:xfrm>
            <a:off x="1645920" y="1280160"/>
            <a:ext cx="2375306" cy="1188720"/>
          </a:xfrm>
          <a:prstGeom prst="rect">
            <a:avLst/>
          </a:prstGeom>
          <a:noFill/>
          <a:ln/>
        </p:spPr>
        <p:txBody>
          <a:bodyPr wrap="square" lIns="635" tIns="635" rIns="635" bIns="635"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CLOSURE</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Normal completion</a:t>
            </a:r>
            <a:endParaRPr lang="en-US" sz="2000" dirty="0"/>
          </a:p>
        </p:txBody>
      </p:sp>
      <p:sp>
        <p:nvSpPr>
          <p:cNvPr id="7" name="a1_txt_1535"/>
          <p:cNvSpPr txBox="1"/>
          <p:nvPr/>
        </p:nvSpPr>
        <p:spPr>
          <a:xfrm>
            <a:off x="731520" y="2651760"/>
            <a:ext cx="3198266" cy="3474720"/>
          </a:xfrm>
          <a:prstGeom prst="rect">
            <a:avLst/>
          </a:prstGeom>
          <a:noFill/>
          <a:ln/>
        </p:spPr>
        <p:txBody>
          <a:bodyPr wrap="square" lIns="635" tIns="635" rIns="635" bIns="635" rtlCol="0" anchor="t"/>
          <a:lstStyle/>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Final joint walkdown</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Site clean; blinds removed; flanges re-bolted</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Personal locks off only after Issuer confirms</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Both sign; time recorded</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Logged CLOSED; archived (often 3–5 yrs)</a:t>
            </a:r>
            <a:endParaRPr lang="en-US" sz="1900" dirty="0"/>
          </a:p>
        </p:txBody>
      </p:sp>
      <p:sp>
        <p:nvSpPr>
          <p:cNvPr id="8" name="a2_box_1536"/>
          <p:cNvSpPr/>
          <p:nvPr/>
        </p:nvSpPr>
        <p:spPr>
          <a:xfrm>
            <a:off x="4313834" y="1280160"/>
            <a:ext cx="3564026" cy="493776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_box_1537"/>
          <p:cNvSpPr/>
          <p:nvPr/>
        </p:nvSpPr>
        <p:spPr>
          <a:xfrm>
            <a:off x="4313834" y="1280160"/>
            <a:ext cx="3564026" cy="1188720"/>
          </a:xfrm>
          <a:prstGeom prst="rect">
            <a:avLst/>
          </a:prstGeom>
          <a:solidFill>
            <a:srgbClr val="000000"/>
          </a:solidFill>
          <a:ln/>
        </p:spPr>
      </p:sp>
      <p:pic>
        <p:nvPicPr>
          <p:cNvPr id="10" name="a2_icon_1538" descr="preencoded.png">    </p:cNvPr>
          <p:cNvPicPr>
            <a:picLocks noChangeAspect="1"/>
          </p:cNvPicPr>
          <p:nvPr/>
        </p:nvPicPr>
        <p:blipFill>
          <a:blip r:embed="rId2"/>
          <a:stretch>
            <a:fillRect/>
          </a:stretch>
        </p:blipFill>
        <p:spPr>
          <a:xfrm>
            <a:off x="4496714" y="1481328"/>
            <a:ext cx="777240" cy="777240"/>
          </a:xfrm>
          <a:prstGeom prst="rect">
            <a:avLst/>
          </a:prstGeom>
        </p:spPr>
      </p:pic>
      <p:sp>
        <p:nvSpPr>
          <p:cNvPr id="11" name="a2_txt_1539"/>
          <p:cNvSpPr txBox="1"/>
          <p:nvPr/>
        </p:nvSpPr>
        <p:spPr>
          <a:xfrm>
            <a:off x="5411114" y="1280160"/>
            <a:ext cx="2375306" cy="1188720"/>
          </a:xfrm>
          <a:prstGeom prst="rect">
            <a:avLst/>
          </a:prstGeom>
          <a:noFill/>
          <a:ln/>
        </p:spPr>
        <p:txBody>
          <a:bodyPr wrap="square" lIns="635" tIns="635" rIns="635" bIns="635"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EXTENSION / REVALIDATION</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Work continues beyond validity</a:t>
            </a:r>
            <a:endParaRPr lang="en-US" sz="2000" dirty="0"/>
          </a:p>
        </p:txBody>
      </p:sp>
      <p:sp>
        <p:nvSpPr>
          <p:cNvPr id="12" name="a2_txt_1540"/>
          <p:cNvSpPr txBox="1"/>
          <p:nvPr/>
        </p:nvSpPr>
        <p:spPr>
          <a:xfrm>
            <a:off x="4496714" y="2651760"/>
            <a:ext cx="3198266" cy="3474720"/>
          </a:xfrm>
          <a:prstGeom prst="rect">
            <a:avLst/>
          </a:prstGeom>
          <a:noFill/>
          <a:ln/>
        </p:spPr>
        <p:txBody>
          <a:bodyPr wrap="square" lIns="635" tIns="635" rIns="635" bIns="635" rtlCol="0" anchor="t"/>
          <a:lstStyle/>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Receiver asks BEFORE expiry</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Fresh joint walkdown</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Re-verify controls (fresh gas test, isolations)</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Issuer signs new expiry</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NEVER automatic</a:t>
            </a:r>
            <a:endParaRPr lang="en-US" sz="1900" dirty="0"/>
          </a:p>
        </p:txBody>
      </p:sp>
      <p:sp>
        <p:nvSpPr>
          <p:cNvPr id="13" name="a3_box_1541"/>
          <p:cNvSpPr/>
          <p:nvPr/>
        </p:nvSpPr>
        <p:spPr>
          <a:xfrm>
            <a:off x="8079029" y="1280160"/>
            <a:ext cx="3564026" cy="4937760"/>
          </a:xfrm>
          <a:prstGeom prst="roundRect">
            <a:avLst>
              <a:gd name="adj" fmla="val 3079"/>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_box_1542"/>
          <p:cNvSpPr/>
          <p:nvPr/>
        </p:nvSpPr>
        <p:spPr>
          <a:xfrm>
            <a:off x="8079029" y="1280160"/>
            <a:ext cx="3564026" cy="1188720"/>
          </a:xfrm>
          <a:prstGeom prst="rect">
            <a:avLst/>
          </a:prstGeom>
          <a:solidFill>
            <a:srgbClr val="000000"/>
          </a:solidFill>
          <a:ln/>
        </p:spPr>
      </p:sp>
      <p:pic>
        <p:nvPicPr>
          <p:cNvPr id="15" name="a3_icon_1543" descr="preencoded.png">    </p:cNvPr>
          <p:cNvPicPr>
            <a:picLocks noChangeAspect="1"/>
          </p:cNvPicPr>
          <p:nvPr/>
        </p:nvPicPr>
        <p:blipFill>
          <a:blip r:embed="rId3"/>
          <a:stretch>
            <a:fillRect/>
          </a:stretch>
        </p:blipFill>
        <p:spPr>
          <a:xfrm>
            <a:off x="8261909" y="1481328"/>
            <a:ext cx="777240" cy="777240"/>
          </a:xfrm>
          <a:prstGeom prst="rect">
            <a:avLst/>
          </a:prstGeom>
        </p:spPr>
      </p:pic>
      <p:sp>
        <p:nvSpPr>
          <p:cNvPr id="16" name="a3_txt_1544"/>
          <p:cNvSpPr txBox="1"/>
          <p:nvPr/>
        </p:nvSpPr>
        <p:spPr>
          <a:xfrm>
            <a:off x="9176309" y="1280160"/>
            <a:ext cx="2375306" cy="1188720"/>
          </a:xfrm>
          <a:prstGeom prst="rect">
            <a:avLst/>
          </a:prstGeom>
          <a:noFill/>
          <a:ln/>
        </p:spPr>
        <p:txBody>
          <a:bodyPr wrap="square" lIns="635" tIns="635" rIns="635" bIns="635"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CANCELLATION</a:t>
            </a:r>
            <a:endParaRPr lang="en-US" sz="2000" dirty="0"/>
          </a:p>
          <a:p>
            <a:pPr indent="0" marL="0">
              <a:buNone/>
            </a:pPr>
            <a:r>
              <a:rPr lang="en-US" sz="1500" dirty="0">
                <a:solidFill>
                  <a:srgbClr val="FFFFFF"/>
                </a:solidFill>
                <a:latin typeface="Calibri" pitchFamily="34" charset="0"/>
                <a:ea typeface="Calibri" pitchFamily="34" charset="-122"/>
                <a:cs typeface="Calibri" pitchFamily="34" charset="-120"/>
              </a:rPr>
              <a:t>Work stopped or not started</a:t>
            </a:r>
            <a:endParaRPr lang="en-US" sz="2000" dirty="0"/>
          </a:p>
        </p:txBody>
      </p:sp>
      <p:sp>
        <p:nvSpPr>
          <p:cNvPr id="17" name="a3_txt_1545"/>
          <p:cNvSpPr txBox="1"/>
          <p:nvPr/>
        </p:nvSpPr>
        <p:spPr>
          <a:xfrm>
            <a:off x="8261909" y="2651760"/>
            <a:ext cx="3198266" cy="3474720"/>
          </a:xfrm>
          <a:prstGeom prst="rect">
            <a:avLst/>
          </a:prstGeom>
          <a:noFill/>
          <a:ln/>
        </p:spPr>
        <p:txBody>
          <a:bodyPr wrap="square" lIns="635" tIns="635" rIns="635" bIns="635" rtlCol="0" anchor="t"/>
          <a:lstStyle/>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Conditions changed before start</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Work stopped – won’t resume on this permit</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Significant scope / hazard change</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Site made safe; both sign with reason</a:t>
            </a:r>
            <a:endParaRPr lang="en-US" sz="1900" dirty="0"/>
          </a:p>
          <a:p>
            <a:pPr marL="228600" indent="-228600">
              <a:spcAft>
                <a:spcPts val="1000"/>
              </a:spcAft>
              <a:buSzPct val="100000"/>
              <a:buChar char="•"/>
            </a:pPr>
            <a:r>
              <a:rPr lang="en-US" sz="1900" dirty="0">
                <a:solidFill>
                  <a:srgbClr val="1B2730"/>
                </a:solidFill>
                <a:latin typeface="Calibri" pitchFamily="34" charset="0"/>
                <a:ea typeface="Calibri" pitchFamily="34" charset="-122"/>
                <a:cs typeface="Calibri" pitchFamily="34" charset="-120"/>
              </a:rPr>
              <a:t>Archived as CANCELLED</a:t>
            </a:r>
            <a:endParaRPr lang="en-US" sz="19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Closing a Permit – Step by Step</a:t>
            </a:r>
            <a:endParaRPr lang="en-US" sz="3200" dirty="0"/>
          </a:p>
        </p:txBody>
      </p:sp>
      <p:sp>
        <p:nvSpPr>
          <p:cNvPr id="3" name="a1w_box_1546"/>
          <p:cNvSpPr/>
          <p:nvPr/>
        </p:nvSpPr>
        <p:spPr>
          <a:xfrm>
            <a:off x="548640" y="1280160"/>
            <a:ext cx="1711909" cy="329184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a1w_box_1547"/>
          <p:cNvSpPr/>
          <p:nvPr/>
        </p:nvSpPr>
        <p:spPr>
          <a:xfrm>
            <a:off x="548640" y="1280160"/>
            <a:ext cx="1711909" cy="566928"/>
          </a:xfrm>
          <a:prstGeom prst="rect">
            <a:avLst/>
          </a:prstGeom>
          <a:solidFill>
            <a:srgbClr val="0F6E7A"/>
          </a:solidFill>
          <a:ln/>
        </p:spPr>
      </p:sp>
      <p:sp>
        <p:nvSpPr>
          <p:cNvPr id="5" name="a1w_txt_1548"/>
          <p:cNvSpPr txBox="1"/>
          <p:nvPr/>
        </p:nvSpPr>
        <p:spPr>
          <a:xfrm>
            <a:off x="621792"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Finish</a:t>
            </a:r>
            <a:endParaRPr lang="en-US" sz="1700" dirty="0"/>
          </a:p>
        </p:txBody>
      </p:sp>
      <p:pic>
        <p:nvPicPr>
          <p:cNvPr id="6" name="a1w_icon_1549" descr="preencoded.png">    </p:cNvPr>
          <p:cNvPicPr>
            <a:picLocks noChangeAspect="1"/>
          </p:cNvPicPr>
          <p:nvPr/>
        </p:nvPicPr>
        <p:blipFill>
          <a:blip r:embed="rId1"/>
          <a:stretch>
            <a:fillRect/>
          </a:stretch>
        </p:blipFill>
        <p:spPr>
          <a:xfrm>
            <a:off x="1130275" y="1993392"/>
            <a:ext cx="548640" cy="548640"/>
          </a:xfrm>
          <a:prstGeom prst="rect">
            <a:avLst/>
          </a:prstGeom>
        </p:spPr>
      </p:pic>
      <p:sp>
        <p:nvSpPr>
          <p:cNvPr id="7" name="a1w_txt_1550"/>
          <p:cNvSpPr txBox="1"/>
          <p:nvPr/>
        </p:nvSpPr>
        <p:spPr>
          <a:xfrm>
            <a:off x="640080" y="2606040"/>
            <a:ext cx="1529029" cy="19202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Receiver confirms all work done</a:t>
            </a:r>
            <a:endParaRPr lang="en-US" sz="1600" dirty="0"/>
          </a:p>
        </p:txBody>
      </p:sp>
      <p:sp>
        <p:nvSpPr>
          <p:cNvPr id="8" name="a2w_box_1551"/>
          <p:cNvSpPr/>
          <p:nvPr/>
        </p:nvSpPr>
        <p:spPr>
          <a:xfrm>
            <a:off x="2425141" y="1280160"/>
            <a:ext cx="1711909" cy="329184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2w_box_1552"/>
          <p:cNvSpPr/>
          <p:nvPr/>
        </p:nvSpPr>
        <p:spPr>
          <a:xfrm>
            <a:off x="2425141" y="1280160"/>
            <a:ext cx="1711909" cy="566928"/>
          </a:xfrm>
          <a:prstGeom prst="rect">
            <a:avLst/>
          </a:prstGeom>
          <a:solidFill>
            <a:srgbClr val="0F6E7A"/>
          </a:solidFill>
          <a:ln/>
        </p:spPr>
      </p:sp>
      <p:sp>
        <p:nvSpPr>
          <p:cNvPr id="10" name="a2w_txt_1553"/>
          <p:cNvSpPr txBox="1"/>
          <p:nvPr/>
        </p:nvSpPr>
        <p:spPr>
          <a:xfrm>
            <a:off x="2498293"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  Clean up</a:t>
            </a:r>
            <a:endParaRPr lang="en-US" sz="1700" dirty="0"/>
          </a:p>
        </p:txBody>
      </p:sp>
      <p:pic>
        <p:nvPicPr>
          <p:cNvPr id="11" name="a2w_icon_1554" descr="preencoded.png">    </p:cNvPr>
          <p:cNvPicPr>
            <a:picLocks noChangeAspect="1"/>
          </p:cNvPicPr>
          <p:nvPr/>
        </p:nvPicPr>
        <p:blipFill>
          <a:blip r:embed="rId2"/>
          <a:stretch>
            <a:fillRect/>
          </a:stretch>
        </p:blipFill>
        <p:spPr>
          <a:xfrm>
            <a:off x="3006776" y="1993392"/>
            <a:ext cx="548640" cy="548640"/>
          </a:xfrm>
          <a:prstGeom prst="rect">
            <a:avLst/>
          </a:prstGeom>
        </p:spPr>
      </p:pic>
      <p:sp>
        <p:nvSpPr>
          <p:cNvPr id="12" name="a2w_txt_1555"/>
          <p:cNvSpPr txBox="1"/>
          <p:nvPr/>
        </p:nvSpPr>
        <p:spPr>
          <a:xfrm>
            <a:off x="2516581" y="2606040"/>
            <a:ext cx="1529029" cy="19202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Tools, debris, slag removed; people out</a:t>
            </a:r>
            <a:endParaRPr lang="en-US" sz="1600" dirty="0"/>
          </a:p>
        </p:txBody>
      </p:sp>
      <p:sp>
        <p:nvSpPr>
          <p:cNvPr id="13" name="a3w_box_1556"/>
          <p:cNvSpPr/>
          <p:nvPr/>
        </p:nvSpPr>
        <p:spPr>
          <a:xfrm>
            <a:off x="4301642" y="1280160"/>
            <a:ext cx="1711909" cy="329184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3w_box_1557"/>
          <p:cNvSpPr/>
          <p:nvPr/>
        </p:nvSpPr>
        <p:spPr>
          <a:xfrm>
            <a:off x="4301642" y="1280160"/>
            <a:ext cx="1711909" cy="566928"/>
          </a:xfrm>
          <a:prstGeom prst="rect">
            <a:avLst/>
          </a:prstGeom>
          <a:solidFill>
            <a:srgbClr val="0F6E7A"/>
          </a:solidFill>
          <a:ln/>
        </p:spPr>
      </p:sp>
      <p:sp>
        <p:nvSpPr>
          <p:cNvPr id="15" name="a3w_txt_1558"/>
          <p:cNvSpPr txBox="1"/>
          <p:nvPr/>
        </p:nvSpPr>
        <p:spPr>
          <a:xfrm>
            <a:off x="4374794"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  Inform</a:t>
            </a:r>
            <a:endParaRPr lang="en-US" sz="1700" dirty="0"/>
          </a:p>
        </p:txBody>
      </p:sp>
      <p:pic>
        <p:nvPicPr>
          <p:cNvPr id="16" name="a3w_icon_1559" descr="preencoded.png">    </p:cNvPr>
          <p:cNvPicPr>
            <a:picLocks noChangeAspect="1"/>
          </p:cNvPicPr>
          <p:nvPr/>
        </p:nvPicPr>
        <p:blipFill>
          <a:blip r:embed="rId3"/>
          <a:stretch>
            <a:fillRect/>
          </a:stretch>
        </p:blipFill>
        <p:spPr>
          <a:xfrm>
            <a:off x="4883277" y="1993392"/>
            <a:ext cx="548640" cy="548640"/>
          </a:xfrm>
          <a:prstGeom prst="rect">
            <a:avLst/>
          </a:prstGeom>
        </p:spPr>
      </p:pic>
      <p:sp>
        <p:nvSpPr>
          <p:cNvPr id="17" name="a3w_txt_1560"/>
          <p:cNvSpPr txBox="1"/>
          <p:nvPr/>
        </p:nvSpPr>
        <p:spPr>
          <a:xfrm>
            <a:off x="4393082" y="2606040"/>
            <a:ext cx="1529029" cy="19202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Tell Issuer – locks still ON</a:t>
            </a:r>
            <a:endParaRPr lang="en-US" sz="1600" dirty="0"/>
          </a:p>
        </p:txBody>
      </p:sp>
      <p:sp>
        <p:nvSpPr>
          <p:cNvPr id="18" name="a4w_box_1561"/>
          <p:cNvSpPr/>
          <p:nvPr/>
        </p:nvSpPr>
        <p:spPr>
          <a:xfrm>
            <a:off x="6178144" y="1280160"/>
            <a:ext cx="1711909" cy="329184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9" name="a4w_box_1562"/>
          <p:cNvSpPr/>
          <p:nvPr/>
        </p:nvSpPr>
        <p:spPr>
          <a:xfrm>
            <a:off x="6178144" y="1280160"/>
            <a:ext cx="1711909" cy="566928"/>
          </a:xfrm>
          <a:prstGeom prst="rect">
            <a:avLst/>
          </a:prstGeom>
          <a:solidFill>
            <a:srgbClr val="E8771E"/>
          </a:solidFill>
          <a:ln/>
        </p:spPr>
      </p:sp>
      <p:sp>
        <p:nvSpPr>
          <p:cNvPr id="20" name="a4w_txt_1563"/>
          <p:cNvSpPr txBox="1"/>
          <p:nvPr/>
        </p:nvSpPr>
        <p:spPr>
          <a:xfrm>
            <a:off x="6251296"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Walk down</a:t>
            </a:r>
            <a:endParaRPr lang="en-US" sz="1700" dirty="0"/>
          </a:p>
        </p:txBody>
      </p:sp>
      <p:pic>
        <p:nvPicPr>
          <p:cNvPr id="21" name="a4w_icon_1564" descr="preencoded.png">    </p:cNvPr>
          <p:cNvPicPr>
            <a:picLocks noChangeAspect="1"/>
          </p:cNvPicPr>
          <p:nvPr/>
        </p:nvPicPr>
        <p:blipFill>
          <a:blip r:embed="rId4"/>
          <a:stretch>
            <a:fillRect/>
          </a:stretch>
        </p:blipFill>
        <p:spPr>
          <a:xfrm>
            <a:off x="6759778" y="1993392"/>
            <a:ext cx="548640" cy="548640"/>
          </a:xfrm>
          <a:prstGeom prst="rect">
            <a:avLst/>
          </a:prstGeom>
        </p:spPr>
      </p:pic>
      <p:sp>
        <p:nvSpPr>
          <p:cNvPr id="22" name="a4w_txt_1565"/>
          <p:cNvSpPr txBox="1"/>
          <p:nvPr/>
        </p:nvSpPr>
        <p:spPr>
          <a:xfrm>
            <a:off x="6269584" y="2606040"/>
            <a:ext cx="1529029" cy="19202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Joint final inspection; restoration verified</a:t>
            </a:r>
            <a:endParaRPr lang="en-US" sz="1600" dirty="0"/>
          </a:p>
        </p:txBody>
      </p:sp>
      <p:sp>
        <p:nvSpPr>
          <p:cNvPr id="23" name="a5w_box_1566"/>
          <p:cNvSpPr/>
          <p:nvPr/>
        </p:nvSpPr>
        <p:spPr>
          <a:xfrm>
            <a:off x="8054645" y="1280160"/>
            <a:ext cx="1711909" cy="329184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4" name="a5w_box_1567"/>
          <p:cNvSpPr/>
          <p:nvPr/>
        </p:nvSpPr>
        <p:spPr>
          <a:xfrm>
            <a:off x="8054645" y="1280160"/>
            <a:ext cx="1711909" cy="566928"/>
          </a:xfrm>
          <a:prstGeom prst="rect">
            <a:avLst/>
          </a:prstGeom>
          <a:solidFill>
            <a:srgbClr val="E8771E"/>
          </a:solidFill>
          <a:ln/>
        </p:spPr>
      </p:sp>
      <p:sp>
        <p:nvSpPr>
          <p:cNvPr id="25" name="a5w_txt_1568"/>
          <p:cNvSpPr txBox="1"/>
          <p:nvPr/>
        </p:nvSpPr>
        <p:spPr>
          <a:xfrm>
            <a:off x="8127797"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  Unlock</a:t>
            </a:r>
            <a:endParaRPr lang="en-US" sz="1700" dirty="0"/>
          </a:p>
        </p:txBody>
      </p:sp>
      <p:pic>
        <p:nvPicPr>
          <p:cNvPr id="26" name="a5w_icon_1569" descr="preencoded.png">    </p:cNvPr>
          <p:cNvPicPr>
            <a:picLocks noChangeAspect="1"/>
          </p:cNvPicPr>
          <p:nvPr/>
        </p:nvPicPr>
        <p:blipFill>
          <a:blip r:embed="rId5"/>
          <a:stretch>
            <a:fillRect/>
          </a:stretch>
        </p:blipFill>
        <p:spPr>
          <a:xfrm>
            <a:off x="8636279" y="1993392"/>
            <a:ext cx="548640" cy="548640"/>
          </a:xfrm>
          <a:prstGeom prst="rect">
            <a:avLst/>
          </a:prstGeom>
        </p:spPr>
      </p:pic>
      <p:sp>
        <p:nvSpPr>
          <p:cNvPr id="27" name="a5w_txt_1570"/>
          <p:cNvSpPr txBox="1"/>
          <p:nvPr/>
        </p:nvSpPr>
        <p:spPr>
          <a:xfrm>
            <a:off x="8146085" y="2606040"/>
            <a:ext cx="1529029" cy="19202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Personal locks off only after Issuer OK</a:t>
            </a:r>
            <a:endParaRPr lang="en-US" sz="1600" dirty="0"/>
          </a:p>
        </p:txBody>
      </p:sp>
      <p:sp>
        <p:nvSpPr>
          <p:cNvPr id="28" name="a6w_box_1571"/>
          <p:cNvSpPr/>
          <p:nvPr/>
        </p:nvSpPr>
        <p:spPr>
          <a:xfrm>
            <a:off x="9931146" y="1280160"/>
            <a:ext cx="1711909" cy="3291840"/>
          </a:xfrm>
          <a:prstGeom prst="roundRect">
            <a:avLst>
              <a:gd name="adj" fmla="val 641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w_box_1572"/>
          <p:cNvSpPr/>
          <p:nvPr/>
        </p:nvSpPr>
        <p:spPr>
          <a:xfrm>
            <a:off x="9931146" y="1280160"/>
            <a:ext cx="1711909" cy="566928"/>
          </a:xfrm>
          <a:prstGeom prst="rect">
            <a:avLst/>
          </a:prstGeom>
          <a:solidFill>
            <a:srgbClr val="2E7D32"/>
          </a:solidFill>
          <a:ln/>
        </p:spPr>
      </p:sp>
      <p:sp>
        <p:nvSpPr>
          <p:cNvPr id="30" name="a6w_txt_1573"/>
          <p:cNvSpPr txBox="1"/>
          <p:nvPr/>
        </p:nvSpPr>
        <p:spPr>
          <a:xfrm>
            <a:off x="10004298" y="1298448"/>
            <a:ext cx="1565605" cy="530352"/>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  Sign &amp; log</a:t>
            </a:r>
            <a:endParaRPr lang="en-US" sz="1700" dirty="0"/>
          </a:p>
        </p:txBody>
      </p:sp>
      <p:pic>
        <p:nvPicPr>
          <p:cNvPr id="31" name="a6w_icon_1574" descr="preencoded.png">    </p:cNvPr>
          <p:cNvPicPr>
            <a:picLocks noChangeAspect="1"/>
          </p:cNvPicPr>
          <p:nvPr/>
        </p:nvPicPr>
        <p:blipFill>
          <a:blip r:embed="rId6"/>
          <a:stretch>
            <a:fillRect/>
          </a:stretch>
        </p:blipFill>
        <p:spPr>
          <a:xfrm>
            <a:off x="10512781" y="1993392"/>
            <a:ext cx="548640" cy="548640"/>
          </a:xfrm>
          <a:prstGeom prst="rect">
            <a:avLst/>
          </a:prstGeom>
        </p:spPr>
      </p:pic>
      <p:sp>
        <p:nvSpPr>
          <p:cNvPr id="32" name="a6w_txt_1575"/>
          <p:cNvSpPr txBox="1"/>
          <p:nvPr/>
        </p:nvSpPr>
        <p:spPr>
          <a:xfrm>
            <a:off x="10022586" y="2606040"/>
            <a:ext cx="1529029" cy="1920240"/>
          </a:xfrm>
          <a:prstGeom prst="rect">
            <a:avLst/>
          </a:prstGeom>
          <a:noFill/>
          <a:ln/>
        </p:spPr>
        <p:txBody>
          <a:bodyPr wrap="square" lIns="635" tIns="635" rIns="635" bIns="635" rtlCol="0" anchor="t"/>
          <a:lstStyle/>
          <a:p>
            <a:pPr algn="ctr" indent="0" marL="0">
              <a:buNone/>
            </a:pPr>
            <a:r>
              <a:rPr lang="en-US" sz="1600" dirty="0">
                <a:solidFill>
                  <a:srgbClr val="1B2730"/>
                </a:solidFill>
                <a:latin typeface="Calibri" pitchFamily="34" charset="0"/>
                <a:ea typeface="Calibri" pitchFamily="34" charset="-122"/>
                <a:cs typeface="Calibri" pitchFamily="34" charset="-120"/>
              </a:rPr>
              <a:t>Both sign; CLOSED in log; archived</a:t>
            </a:r>
            <a:endParaRPr lang="en-US" sz="1600" dirty="0"/>
          </a:p>
        </p:txBody>
      </p:sp>
      <p:sp>
        <p:nvSpPr>
          <p:cNvPr id="33" name="a7_box_1576"/>
          <p:cNvSpPr/>
          <p:nvPr/>
        </p:nvSpPr>
        <p:spPr>
          <a:xfrm>
            <a:off x="548640" y="4846320"/>
            <a:ext cx="11094415" cy="1371600"/>
          </a:xfrm>
          <a:prstGeom prst="roundRect">
            <a:avLst>
              <a:gd name="adj" fmla="val 8000"/>
            </a:avLst>
          </a:prstGeom>
          <a:solidFill>
            <a:srgbClr val="0B2A3C"/>
          </a:solidFill>
          <a:ln/>
        </p:spPr>
      </p:sp>
      <p:sp>
        <p:nvSpPr>
          <p:cNvPr id="34" name="a7_txt_1577"/>
          <p:cNvSpPr txBox="1"/>
          <p:nvPr/>
        </p:nvSpPr>
        <p:spPr>
          <a:xfrm>
            <a:off x="822960" y="4846320"/>
            <a:ext cx="10545775" cy="1371600"/>
          </a:xfrm>
          <a:prstGeom prst="rect">
            <a:avLst/>
          </a:prstGeom>
          <a:noFill/>
          <a:ln/>
        </p:spPr>
        <p:txBody>
          <a:bodyPr wrap="square" lIns="635" tIns="635" rIns="635" bIns="635" rtlCol="0" anchor="ctr"/>
          <a:lstStyle/>
          <a:p>
            <a:pPr indent="0" marL="0">
              <a:buNone/>
            </a:pPr>
            <a:r>
              <a:rPr lang="en-US" sz="2100" b="1" dirty="0">
                <a:solidFill>
                  <a:srgbClr val="E8771E"/>
                </a:solidFill>
                <a:latin typeface="Calibri" pitchFamily="34" charset="0"/>
                <a:ea typeface="Calibri" pitchFamily="34" charset="-122"/>
                <a:cs typeface="Calibri" pitchFamily="34" charset="-120"/>
              </a:rPr>
              <a:t>The Issuer’s closure signature </a:t>
            </a:r>
            <a:pPr indent="0" marL="0">
              <a:buNone/>
            </a:pPr>
            <a:r>
              <a:rPr lang="en-US" sz="2100" dirty="0">
                <a:solidFill>
                  <a:srgbClr val="FFFFFF"/>
                </a:solidFill>
                <a:latin typeface="Calibri" pitchFamily="34" charset="0"/>
                <a:ea typeface="Calibri" pitchFamily="34" charset="-122"/>
                <a:cs typeface="Calibri" pitchFamily="34" charset="-120"/>
              </a:rPr>
              <a:t>is the legal moment when responsibility for the workspace returns from Maintenance to Operations.</a:t>
            </a:r>
            <a:endParaRPr lang="en-US" sz="2100" dirty="0"/>
          </a:p>
        </p:txBody>
      </p:sp>
      <p:sp>
        <p:nvSpPr>
          <p:cNvPr id="3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left)">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left)">
                                      <p:cBhvr>
                                        <p:cTn id="75" dur="500"/>
                                        <p:tgtEl>
                                          <p:spTgt spid="2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left)">
                                      <p:cBhvr>
                                        <p:cTn id="78" dur="500"/>
                                        <p:tgtEl>
                                          <p:spTgt spid="24"/>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wipe(left)">
                                      <p:cBhvr>
                                        <p:cTn id="81" dur="500"/>
                                        <p:tgtEl>
                                          <p:spTgt spid="25"/>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ipe(left)">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left)">
                                      <p:cBhvr>
                                        <p:cTn id="92" dur="500"/>
                                        <p:tgtEl>
                                          <p:spTgt spid="28"/>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left)">
                                      <p:cBhvr>
                                        <p:cTn id="95" dur="500"/>
                                        <p:tgtEl>
                                          <p:spTgt spid="29"/>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wipe(left)">
                                      <p:cBhvr>
                                        <p:cTn id="98" dur="500"/>
                                        <p:tgtEl>
                                          <p:spTgt spid="30"/>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wipe(left)">
                                      <p:cBhvr>
                                        <p:cTn id="101" dur="500"/>
                                        <p:tgtEl>
                                          <p:spTgt spid="31"/>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left)">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Trainer Question: Job Done Early</a:t>
            </a:r>
            <a:endParaRPr lang="en-US" sz="3200" dirty="0"/>
          </a:p>
        </p:txBody>
      </p:sp>
      <p:sp>
        <p:nvSpPr>
          <p:cNvPr id="3" name="box_1578"/>
          <p:cNvSpPr/>
          <p:nvPr/>
        </p:nvSpPr>
        <p:spPr>
          <a:xfrm>
            <a:off x="548640" y="1280160"/>
            <a:ext cx="11094415" cy="1234440"/>
          </a:xfrm>
          <a:prstGeom prst="roundRect">
            <a:avLst>
              <a:gd name="adj" fmla="val 8889"/>
            </a:avLst>
          </a:prstGeom>
          <a:solidFill>
            <a:srgbClr val="0B2A3C"/>
          </a:solidFill>
          <a:ln/>
        </p:spPr>
      </p:sp>
      <p:pic>
        <p:nvPicPr>
          <p:cNvPr id="4" name="icon_1579"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1580"/>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The pump seal job finished at 15:30. The permit is valid until 16:30.</a:t>
            </a:r>
            <a:endParaRPr lang="en-US" sz="1800" dirty="0"/>
          </a:p>
        </p:txBody>
      </p:sp>
      <p:sp>
        <p:nvSpPr>
          <p:cNvPr id="6" name="txt_1581"/>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Can the team remove their locks and go home?</a:t>
            </a:r>
            <a:endParaRPr lang="en-US" sz="2400" dirty="0"/>
          </a:p>
        </p:txBody>
      </p:sp>
      <p:sp>
        <p:nvSpPr>
          <p:cNvPr id="7" name="txt_1582"/>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1583"/>
          <p:cNvSpPr/>
          <p:nvPr/>
        </p:nvSpPr>
        <p:spPr>
          <a:xfrm>
            <a:off x="548640" y="3063240"/>
            <a:ext cx="11094415"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1584"/>
          <p:cNvSpPr/>
          <p:nvPr/>
        </p:nvSpPr>
        <p:spPr>
          <a:xfrm>
            <a:off x="548640" y="3063240"/>
            <a:ext cx="685800" cy="914400"/>
          </a:xfrm>
          <a:prstGeom prst="rect">
            <a:avLst/>
          </a:prstGeom>
          <a:solidFill>
            <a:srgbClr val="C0392B"/>
          </a:solidFill>
          <a:ln/>
        </p:spPr>
      </p:sp>
      <p:pic>
        <p:nvPicPr>
          <p:cNvPr id="10" name="a1_icon_1585" descr="preencoded.png">    </p:cNvPr>
          <p:cNvPicPr>
            <a:picLocks noChangeAspect="1"/>
          </p:cNvPicPr>
          <p:nvPr/>
        </p:nvPicPr>
        <p:blipFill>
          <a:blip r:embed="rId2"/>
          <a:stretch>
            <a:fillRect/>
          </a:stretch>
        </p:blipFill>
        <p:spPr>
          <a:xfrm>
            <a:off x="704088" y="3328416"/>
            <a:ext cx="384048" cy="384048"/>
          </a:xfrm>
          <a:prstGeom prst="rect">
            <a:avLst/>
          </a:prstGeom>
        </p:spPr>
      </p:pic>
      <p:sp>
        <p:nvSpPr>
          <p:cNvPr id="11" name="a1_txt_1586"/>
          <p:cNvSpPr txBox="1"/>
          <p:nvPr/>
        </p:nvSpPr>
        <p:spPr>
          <a:xfrm>
            <a:off x="1371600" y="3108960"/>
            <a:ext cx="10134295" cy="822960"/>
          </a:xfrm>
          <a:prstGeom prst="rect">
            <a:avLst/>
          </a:prstGeom>
          <a:noFill/>
          <a:ln/>
        </p:spPr>
        <p:txBody>
          <a:bodyPr wrap="square" lIns="635" tIns="635" rIns="635" bIns="635" rtlCol="0" anchor="ctr"/>
          <a:lstStyle/>
          <a:p>
            <a:pPr indent="0" marL="0">
              <a:buNone/>
            </a:pPr>
            <a:r>
              <a:rPr lang="en-US" sz="1900" b="1" dirty="0">
                <a:solidFill>
                  <a:srgbClr val="C0392B"/>
                </a:solidFill>
                <a:latin typeface="Calibri" pitchFamily="34" charset="0"/>
                <a:ea typeface="Calibri" pitchFamily="34" charset="-122"/>
                <a:cs typeface="Calibri" pitchFamily="34" charset="-120"/>
              </a:rPr>
              <a:t>NO. </a:t>
            </a:r>
            <a:pPr indent="0" marL="0">
              <a:buNone/>
            </a:pPr>
            <a:r>
              <a:rPr lang="en-US" sz="1900" dirty="0">
                <a:solidFill>
                  <a:srgbClr val="1B2730"/>
                </a:solidFill>
                <a:latin typeface="Calibri" pitchFamily="34" charset="0"/>
                <a:ea typeface="Calibri" pitchFamily="34" charset="-122"/>
                <a:cs typeface="Calibri" pitchFamily="34" charset="-120"/>
              </a:rPr>
              <a:t>Locks stay on. The Receiver informs the Issuer the site is ready for inspection and handback.</a:t>
            </a:r>
            <a:endParaRPr lang="en-US" sz="1900" dirty="0"/>
          </a:p>
        </p:txBody>
      </p:sp>
      <p:sp>
        <p:nvSpPr>
          <p:cNvPr id="12" name="a2_box_1587"/>
          <p:cNvSpPr/>
          <p:nvPr/>
        </p:nvSpPr>
        <p:spPr>
          <a:xfrm>
            <a:off x="548640" y="4206240"/>
            <a:ext cx="11094415"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1588"/>
          <p:cNvSpPr/>
          <p:nvPr/>
        </p:nvSpPr>
        <p:spPr>
          <a:xfrm>
            <a:off x="548640" y="4206240"/>
            <a:ext cx="685800" cy="914400"/>
          </a:xfrm>
          <a:prstGeom prst="rect">
            <a:avLst/>
          </a:prstGeom>
          <a:solidFill>
            <a:srgbClr val="E8771E"/>
          </a:solidFill>
          <a:ln/>
        </p:spPr>
      </p:sp>
      <p:pic>
        <p:nvPicPr>
          <p:cNvPr id="14" name="a2_icon_1589" descr="preencoded.png">    </p:cNvPr>
          <p:cNvPicPr>
            <a:picLocks noChangeAspect="1"/>
          </p:cNvPicPr>
          <p:nvPr/>
        </p:nvPicPr>
        <p:blipFill>
          <a:blip r:embed="rId3"/>
          <a:stretch>
            <a:fillRect/>
          </a:stretch>
        </p:blipFill>
        <p:spPr>
          <a:xfrm>
            <a:off x="704088" y="4471416"/>
            <a:ext cx="384048" cy="384048"/>
          </a:xfrm>
          <a:prstGeom prst="rect">
            <a:avLst/>
          </a:prstGeom>
        </p:spPr>
      </p:pic>
      <p:sp>
        <p:nvSpPr>
          <p:cNvPr id="15" name="a2_txt_1590"/>
          <p:cNvSpPr txBox="1"/>
          <p:nvPr/>
        </p:nvSpPr>
        <p:spPr>
          <a:xfrm>
            <a:off x="1371600" y="4251960"/>
            <a:ext cx="10134295" cy="822960"/>
          </a:xfrm>
          <a:prstGeom prst="rect">
            <a:avLst/>
          </a:prstGeom>
          <a:noFill/>
          <a:ln/>
        </p:spPr>
        <p:txBody>
          <a:bodyPr wrap="square" lIns="635" tIns="635" rIns="635" bIns="635" rtlCol="0" anchor="ctr"/>
          <a:lstStyle/>
          <a:p>
            <a:pPr indent="0" marL="0">
              <a:buNone/>
            </a:pPr>
            <a:r>
              <a:rPr lang="en-US" sz="1900" b="1" dirty="0">
                <a:solidFill>
                  <a:srgbClr val="E8771E"/>
                </a:solidFill>
                <a:latin typeface="Calibri" pitchFamily="34" charset="0"/>
                <a:ea typeface="Calibri" pitchFamily="34" charset="-122"/>
                <a:cs typeface="Calibri" pitchFamily="34" charset="-120"/>
              </a:rPr>
              <a:t>Next: </a:t>
            </a:r>
            <a:pPr indent="0" marL="0">
              <a:buNone/>
            </a:pPr>
            <a:r>
              <a:rPr lang="en-US" sz="1900" dirty="0">
                <a:solidFill>
                  <a:srgbClr val="1B2730"/>
                </a:solidFill>
                <a:latin typeface="Calibri" pitchFamily="34" charset="0"/>
                <a:ea typeface="Calibri" pitchFamily="34" charset="-122"/>
                <a:cs typeface="Calibri" pitchFamily="34" charset="-120"/>
              </a:rPr>
              <a:t>Joint final walkdown – restoration verified (blind removed, flange re-bolted, area clean).</a:t>
            </a:r>
            <a:endParaRPr lang="en-US" sz="1900" dirty="0"/>
          </a:p>
        </p:txBody>
      </p:sp>
      <p:sp>
        <p:nvSpPr>
          <p:cNvPr id="16" name="a3_box_1591"/>
          <p:cNvSpPr/>
          <p:nvPr/>
        </p:nvSpPr>
        <p:spPr>
          <a:xfrm>
            <a:off x="548640" y="5349240"/>
            <a:ext cx="11094415"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1592"/>
          <p:cNvSpPr/>
          <p:nvPr/>
        </p:nvSpPr>
        <p:spPr>
          <a:xfrm>
            <a:off x="548640" y="5349240"/>
            <a:ext cx="685800" cy="914400"/>
          </a:xfrm>
          <a:prstGeom prst="rect">
            <a:avLst/>
          </a:prstGeom>
          <a:solidFill>
            <a:srgbClr val="2E7D32"/>
          </a:solidFill>
          <a:ln/>
        </p:spPr>
      </p:sp>
      <p:pic>
        <p:nvPicPr>
          <p:cNvPr id="18" name="a3_icon_1593" descr="preencoded.png">    </p:cNvPr>
          <p:cNvPicPr>
            <a:picLocks noChangeAspect="1"/>
          </p:cNvPicPr>
          <p:nvPr/>
        </p:nvPicPr>
        <p:blipFill>
          <a:blip r:embed="rId4"/>
          <a:stretch>
            <a:fillRect/>
          </a:stretch>
        </p:blipFill>
        <p:spPr>
          <a:xfrm>
            <a:off x="704088" y="5614416"/>
            <a:ext cx="384048" cy="384048"/>
          </a:xfrm>
          <a:prstGeom prst="rect">
            <a:avLst/>
          </a:prstGeom>
        </p:spPr>
      </p:pic>
      <p:sp>
        <p:nvSpPr>
          <p:cNvPr id="19" name="a3_txt_1594"/>
          <p:cNvSpPr txBox="1"/>
          <p:nvPr/>
        </p:nvSpPr>
        <p:spPr>
          <a:xfrm>
            <a:off x="1371600" y="5394960"/>
            <a:ext cx="10134295" cy="822960"/>
          </a:xfrm>
          <a:prstGeom prst="rect">
            <a:avLst/>
          </a:prstGeom>
          <a:noFill/>
          <a:ln/>
        </p:spPr>
        <p:txBody>
          <a:bodyPr wrap="square" lIns="635" tIns="635" rIns="635" bIns="635" rtlCol="0" anchor="ctr"/>
          <a:lstStyle/>
          <a:p>
            <a:pPr indent="0" marL="0">
              <a:buNone/>
            </a:pPr>
            <a:r>
              <a:rPr lang="en-US" sz="1900" b="1" dirty="0">
                <a:solidFill>
                  <a:srgbClr val="2E7D32"/>
                </a:solidFill>
                <a:latin typeface="Calibri" pitchFamily="34" charset="0"/>
                <a:ea typeface="Calibri" pitchFamily="34" charset="-122"/>
                <a:cs typeface="Calibri" pitchFamily="34" charset="-120"/>
              </a:rPr>
              <a:t>Then: </a:t>
            </a:r>
            <a:pPr indent="0" marL="0">
              <a:buNone/>
            </a:pPr>
            <a:r>
              <a:rPr lang="en-US" sz="1900" dirty="0">
                <a:solidFill>
                  <a:srgbClr val="1B2730"/>
                </a:solidFill>
                <a:latin typeface="Calibri" pitchFamily="34" charset="0"/>
                <a:ea typeface="Calibri" pitchFamily="34" charset="-122"/>
                <a:cs typeface="Calibri" pitchFamily="34" charset="-120"/>
              </a:rPr>
              <a:t>Personal locks removed after Issuer’s OK; both sign closure; logged CLOSED.</a:t>
            </a:r>
            <a:endParaRPr lang="en-US" sz="1900" dirty="0"/>
          </a:p>
        </p:txBody>
      </p:sp>
      <p:sp>
        <p:nvSpPr>
          <p:cNvPr id="20"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circ_1595"/>
          <p:cNvSpPr/>
          <p:nvPr/>
        </p:nvSpPr>
        <p:spPr>
          <a:xfrm>
            <a:off x="548640" y="2011680"/>
            <a:ext cx="1371600" cy="1371600"/>
          </a:xfrm>
          <a:prstGeom prst="ellipse">
            <a:avLst/>
          </a:prstGeom>
          <a:solidFill>
            <a:srgbClr val="E8771E"/>
          </a:solidFill>
          <a:ln/>
        </p:spPr>
      </p:sp>
      <p:pic>
        <p:nvPicPr>
          <p:cNvPr id="3" name="icon_1596"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597"/>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12</a:t>
            </a:r>
            <a:endParaRPr lang="en-US" sz="1800" dirty="0"/>
          </a:p>
        </p:txBody>
      </p:sp>
      <p:sp>
        <p:nvSpPr>
          <p:cNvPr id="5" name="txt_1598"/>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Records, Audits &amp; Competence</a:t>
            </a:r>
            <a:endParaRPr lang="en-US" sz="4000" dirty="0"/>
          </a:p>
        </p:txBody>
      </p:sp>
      <p:sp>
        <p:nvSpPr>
          <p:cNvPr id="6" name="txt_1599"/>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How the system proves itself – and keeps improving</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Good Permit Paperwork</a:t>
            </a:r>
            <a:endParaRPr lang="en-US" sz="3200" dirty="0"/>
          </a:p>
        </p:txBody>
      </p:sp>
      <p:sp>
        <p:nvSpPr>
          <p:cNvPr id="3" name="box_1600"/>
          <p:cNvSpPr/>
          <p:nvPr/>
        </p:nvSpPr>
        <p:spPr>
          <a:xfrm>
            <a:off x="548640" y="1280160"/>
            <a:ext cx="5486400" cy="2651760"/>
          </a:xfrm>
          <a:prstGeom prst="roundRect">
            <a:avLst>
              <a:gd name="adj" fmla="val 4138"/>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1601"/>
          <p:cNvSpPr/>
          <p:nvPr/>
        </p:nvSpPr>
        <p:spPr>
          <a:xfrm>
            <a:off x="731520" y="1463040"/>
            <a:ext cx="685800" cy="685800"/>
          </a:xfrm>
          <a:prstGeom prst="ellipse">
            <a:avLst/>
          </a:prstGeom>
          <a:solidFill>
            <a:srgbClr val="0F6E7A"/>
          </a:solidFill>
          <a:ln/>
        </p:spPr>
      </p:sp>
      <p:pic>
        <p:nvPicPr>
          <p:cNvPr id="5" name="icon_1602"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1603"/>
          <p:cNvSpPr txBox="1"/>
          <p:nvPr/>
        </p:nvSpPr>
        <p:spPr>
          <a:xfrm>
            <a:off x="1581912" y="1444752"/>
            <a:ext cx="431596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What every permit contains</a:t>
            </a:r>
            <a:endParaRPr lang="en-US" sz="2000" dirty="0"/>
          </a:p>
        </p:txBody>
      </p:sp>
      <p:sp>
        <p:nvSpPr>
          <p:cNvPr id="7" name="txt_1604"/>
          <p:cNvSpPr txBox="1"/>
          <p:nvPr/>
        </p:nvSpPr>
        <p:spPr>
          <a:xfrm>
            <a:off x="777240" y="2221992"/>
            <a:ext cx="5074920" cy="161848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Number &amp; type · exact location &amp; description (with exclusions) · hazards &amp; specific controls · PPE · emergency info · Issuer &amp; Receiver signatures with times · validity, extension, handover &amp; suspension blocks · closure section</a:t>
            </a:r>
            <a:endParaRPr lang="en-US" sz="1600" dirty="0"/>
          </a:p>
        </p:txBody>
      </p:sp>
      <p:sp>
        <p:nvSpPr>
          <p:cNvPr id="8" name="box_1605"/>
          <p:cNvSpPr/>
          <p:nvPr/>
        </p:nvSpPr>
        <p:spPr>
          <a:xfrm>
            <a:off x="548640" y="4069080"/>
            <a:ext cx="5486400" cy="2148840"/>
          </a:xfrm>
          <a:prstGeom prst="roundRect">
            <a:avLst>
              <a:gd name="adj" fmla="val 5106"/>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circ_1606"/>
          <p:cNvSpPr/>
          <p:nvPr/>
        </p:nvSpPr>
        <p:spPr>
          <a:xfrm>
            <a:off x="731520" y="4251960"/>
            <a:ext cx="685800" cy="685800"/>
          </a:xfrm>
          <a:prstGeom prst="ellipse">
            <a:avLst/>
          </a:prstGeom>
          <a:solidFill>
            <a:srgbClr val="0B2A3C"/>
          </a:solidFill>
          <a:ln/>
        </p:spPr>
      </p:sp>
      <p:pic>
        <p:nvPicPr>
          <p:cNvPr id="10" name="icon_1607" descr="preencoded.png">    </p:cNvPr>
          <p:cNvPicPr>
            <a:picLocks noChangeAspect="1"/>
          </p:cNvPicPr>
          <p:nvPr/>
        </p:nvPicPr>
        <p:blipFill>
          <a:blip r:embed="rId2"/>
          <a:stretch>
            <a:fillRect/>
          </a:stretch>
        </p:blipFill>
        <p:spPr>
          <a:xfrm>
            <a:off x="885825" y="4406265"/>
            <a:ext cx="377190" cy="377190"/>
          </a:xfrm>
          <a:prstGeom prst="rect">
            <a:avLst/>
          </a:prstGeom>
        </p:spPr>
      </p:pic>
      <p:sp>
        <p:nvSpPr>
          <p:cNvPr id="11" name="txt_1608"/>
          <p:cNvSpPr txBox="1"/>
          <p:nvPr/>
        </p:nvSpPr>
        <p:spPr>
          <a:xfrm>
            <a:off x="1581912" y="4233672"/>
            <a:ext cx="4315968" cy="685800"/>
          </a:xfrm>
          <a:prstGeom prst="rect">
            <a:avLst/>
          </a:prstGeom>
          <a:noFill/>
          <a:ln/>
        </p:spPr>
        <p:txBody>
          <a:bodyPr wrap="square" lIns="635" tIns="635" rIns="635" bIns="635" rtlCol="0" anchor="ctr"/>
          <a:lstStyle/>
          <a:p>
            <a:pPr indent="0" marL="0">
              <a:buNone/>
            </a:pPr>
            <a:r>
              <a:rPr lang="en-US" sz="2000" b="1" dirty="0">
                <a:solidFill>
                  <a:srgbClr val="0B2A3C"/>
                </a:solidFill>
                <a:latin typeface="Calibri" pitchFamily="34" charset="0"/>
                <a:ea typeface="Calibri" pitchFamily="34" charset="-122"/>
                <a:cs typeface="Calibri" pitchFamily="34" charset="-120"/>
              </a:rPr>
              <a:t>Attached certificates</a:t>
            </a:r>
            <a:endParaRPr lang="en-US" sz="2000" dirty="0"/>
          </a:p>
        </p:txBody>
      </p:sp>
      <p:sp>
        <p:nvSpPr>
          <p:cNvPr id="12" name="txt_1609"/>
          <p:cNvSpPr txBox="1"/>
          <p:nvPr/>
        </p:nvSpPr>
        <p:spPr>
          <a:xfrm>
            <a:off x="777240" y="5010912"/>
            <a:ext cx="5074920" cy="1115568"/>
          </a:xfrm>
          <a:prstGeom prst="rect">
            <a:avLst/>
          </a:prstGeom>
          <a:noFill/>
          <a:ln/>
        </p:spPr>
        <p:txBody>
          <a:bodyPr wrap="square" lIns="635" tIns="635" rIns="635" bIns="635" rtlCol="0" anchor="t"/>
          <a:lstStyle/>
          <a:p>
            <a:pPr indent="0" marL="0">
              <a:buNone/>
            </a:pPr>
            <a:r>
              <a:rPr lang="en-US" sz="1600" dirty="0">
                <a:solidFill>
                  <a:srgbClr val="1B2730"/>
                </a:solidFill>
                <a:latin typeface="Calibri" pitchFamily="34" charset="0"/>
                <a:ea typeface="Calibri" pitchFamily="34" charset="-122"/>
                <a:cs typeface="Calibri" pitchFamily="34" charset="-120"/>
              </a:rPr>
              <a:t>Isolation Certificate · Gas Test Certificate · Confined Space checklist &amp; Attendant log · Fire Watch log · JSA · Method statement – same permit number</a:t>
            </a:r>
            <a:endParaRPr lang="en-US" sz="1600" dirty="0"/>
          </a:p>
        </p:txBody>
      </p:sp>
      <p:sp>
        <p:nvSpPr>
          <p:cNvPr id="13" name="txt_1610"/>
          <p:cNvSpPr txBox="1"/>
          <p:nvPr/>
        </p:nvSpPr>
        <p:spPr>
          <a:xfrm>
            <a:off x="6263640" y="1280160"/>
            <a:ext cx="2560320" cy="411480"/>
          </a:xfrm>
          <a:prstGeom prst="rect">
            <a:avLst/>
          </a:prstGeom>
          <a:noFill/>
          <a:ln/>
        </p:spPr>
        <p:txBody>
          <a:bodyPr wrap="square" lIns="635" tIns="635" rIns="635" bIns="635" rtlCol="0" anchor="t"/>
          <a:lstStyle/>
          <a:p>
            <a:pPr indent="0" marL="0">
              <a:buNone/>
            </a:pPr>
            <a:r>
              <a:rPr lang="en-US" sz="2000" b="1" dirty="0">
                <a:solidFill>
                  <a:srgbClr val="2E7D32"/>
                </a:solidFill>
                <a:latin typeface="Calibri" pitchFamily="34" charset="0"/>
                <a:ea typeface="Calibri" pitchFamily="34" charset="-122"/>
                <a:cs typeface="Calibri" pitchFamily="34" charset="-120"/>
              </a:rPr>
              <a:t>Rules</a:t>
            </a:r>
            <a:endParaRPr lang="en-US" sz="2000" dirty="0"/>
          </a:p>
        </p:txBody>
      </p:sp>
      <p:sp>
        <p:nvSpPr>
          <p:cNvPr id="14" name="txt_1611"/>
          <p:cNvSpPr txBox="1"/>
          <p:nvPr/>
        </p:nvSpPr>
        <p:spPr>
          <a:xfrm>
            <a:off x="6263640" y="1691640"/>
            <a:ext cx="5376672" cy="205740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No blank fields – write N/A</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Times in 24-h format, in logical order</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Changes: single line, initial, date – no white-out</a:t>
            </a:r>
            <a:endParaRPr lang="en-US" sz="1600" dirty="0"/>
          </a:p>
          <a:p>
            <a:pPr marL="228600" indent="-228600">
              <a:spcAft>
                <a:spcPts val="600"/>
              </a:spcAft>
              <a:buSzPct val="100000"/>
              <a:buChar char="•"/>
            </a:pPr>
            <a:r>
              <a:rPr lang="en-US" sz="1600" dirty="0">
                <a:solidFill>
                  <a:srgbClr val="1B2730"/>
                </a:solidFill>
                <a:latin typeface="Calibri" pitchFamily="34" charset="0"/>
                <a:ea typeface="Calibri" pitchFamily="34" charset="-122"/>
                <a:cs typeface="Calibri" pitchFamily="34" charset="-120"/>
              </a:rPr>
              <a:t>e-PTW? A printed copy is still posted at site</a:t>
            </a:r>
            <a:endParaRPr lang="en-US" sz="1600" dirty="0"/>
          </a:p>
        </p:txBody>
      </p:sp>
      <p:sp>
        <p:nvSpPr>
          <p:cNvPr id="15" name="a1_box_1612"/>
          <p:cNvSpPr/>
          <p:nvPr/>
        </p:nvSpPr>
        <p:spPr>
          <a:xfrm>
            <a:off x="6263640" y="3840480"/>
            <a:ext cx="5376672" cy="2377440"/>
          </a:xfrm>
          <a:prstGeom prst="roundRect">
            <a:avLst>
              <a:gd name="adj" fmla="val 4615"/>
            </a:avLst>
          </a:prstGeom>
          <a:solidFill>
            <a:srgbClr val="F8E0DD"/>
          </a:solidFill>
          <a:ln/>
        </p:spPr>
      </p:sp>
      <p:sp>
        <p:nvSpPr>
          <p:cNvPr id="16" name="a1_txt_1613"/>
          <p:cNvSpPr txBox="1"/>
          <p:nvPr/>
        </p:nvSpPr>
        <p:spPr>
          <a:xfrm>
            <a:off x="6446520" y="3886200"/>
            <a:ext cx="4572000" cy="411480"/>
          </a:xfrm>
          <a:prstGeom prst="rect">
            <a:avLst/>
          </a:prstGeom>
          <a:noFill/>
          <a:ln/>
        </p:spPr>
        <p:txBody>
          <a:bodyPr wrap="square" lIns="635" tIns="635" rIns="635" bIns="635" rtlCol="0" anchor="t"/>
          <a:lstStyle/>
          <a:p>
            <a:pPr indent="0" marL="0">
              <a:buNone/>
            </a:pPr>
            <a:r>
              <a:rPr lang="en-US" sz="1900" b="1" dirty="0">
                <a:solidFill>
                  <a:srgbClr val="C0392B"/>
                </a:solidFill>
                <a:latin typeface="Calibri" pitchFamily="34" charset="0"/>
                <a:ea typeface="Calibri" pitchFamily="34" charset="-122"/>
                <a:cs typeface="Calibri" pitchFamily="34" charset="-120"/>
              </a:rPr>
              <a:t>Common failures</a:t>
            </a:r>
            <a:endParaRPr lang="en-US" sz="1900" dirty="0"/>
          </a:p>
        </p:txBody>
      </p:sp>
      <p:sp>
        <p:nvSpPr>
          <p:cNvPr id="17" name="a1_txt_1614"/>
          <p:cNvSpPr txBox="1"/>
          <p:nvPr/>
        </p:nvSpPr>
        <p:spPr>
          <a:xfrm>
            <a:off x="6446520" y="4297680"/>
            <a:ext cx="5029200" cy="1874520"/>
          </a:xfrm>
          <a:prstGeom prst="rect">
            <a:avLst/>
          </a:prstGeom>
          <a:noFill/>
          <a:ln/>
        </p:spPr>
        <p:txBody>
          <a:bodyPr wrap="square" lIns="635" tIns="635" rIns="635" bIns="635" rtlCol="0" anchor="t"/>
          <a:lstStyle/>
          <a:p>
            <a:pPr marL="228600" indent="-228600">
              <a:spcAft>
                <a:spcPts val="200"/>
              </a:spcAft>
              <a:buSzPct val="100000"/>
              <a:buChar char="•"/>
            </a:pPr>
            <a:r>
              <a:rPr lang="en-US" sz="1600" dirty="0">
                <a:solidFill>
                  <a:srgbClr val="1B2730"/>
                </a:solidFill>
                <a:latin typeface="Calibri" pitchFamily="34" charset="0"/>
                <a:ea typeface="Calibri" pitchFamily="34" charset="-122"/>
                <a:cs typeface="Calibri" pitchFamily="34" charset="-120"/>
              </a:rPr>
              <a:t>Vague description – “work on pump”</a:t>
            </a:r>
            <a:endParaRPr lang="en-US" sz="1600" dirty="0"/>
          </a:p>
          <a:p>
            <a:pPr marL="228600" indent="-228600">
              <a:spcAft>
                <a:spcPts val="200"/>
              </a:spcAft>
              <a:buSzPct val="100000"/>
              <a:buChar char="•"/>
            </a:pPr>
            <a:r>
              <a:rPr lang="en-US" sz="1600" dirty="0">
                <a:solidFill>
                  <a:srgbClr val="1B2730"/>
                </a:solidFill>
                <a:latin typeface="Calibri" pitchFamily="34" charset="0"/>
                <a:ea typeface="Calibri" pitchFamily="34" charset="-122"/>
                <a:cs typeface="Calibri" pitchFamily="34" charset="-120"/>
              </a:rPr>
              <a:t>Missing signatures, times or dates</a:t>
            </a:r>
            <a:endParaRPr lang="en-US" sz="1600" dirty="0"/>
          </a:p>
          <a:p>
            <a:pPr marL="228600" indent="-228600">
              <a:spcAft>
                <a:spcPts val="200"/>
              </a:spcAft>
              <a:buSzPct val="100000"/>
              <a:buChar char="•"/>
            </a:pPr>
            <a:r>
              <a:rPr lang="en-US" sz="1600" dirty="0">
                <a:solidFill>
                  <a:srgbClr val="1B2730"/>
                </a:solidFill>
                <a:latin typeface="Calibri" pitchFamily="34" charset="0"/>
                <a:ea typeface="Calibri" pitchFamily="34" charset="-122"/>
                <a:cs typeface="Calibri" pitchFamily="34" charset="-120"/>
              </a:rPr>
              <a:t>Certificates missing or unsigned</a:t>
            </a:r>
            <a:endParaRPr lang="en-US" sz="1600" dirty="0"/>
          </a:p>
          <a:p>
            <a:pPr marL="228600" indent="-228600">
              <a:spcAft>
                <a:spcPts val="200"/>
              </a:spcAft>
              <a:buSzPct val="100000"/>
              <a:buChar char="•"/>
            </a:pPr>
            <a:r>
              <a:rPr lang="en-US" sz="1600" dirty="0">
                <a:solidFill>
                  <a:srgbClr val="1B2730"/>
                </a:solidFill>
                <a:latin typeface="Calibri" pitchFamily="34" charset="0"/>
                <a:ea typeface="Calibri" pitchFamily="34" charset="-122"/>
                <a:cs typeface="Calibri" pitchFamily="34" charset="-120"/>
              </a:rPr>
              <a:t>Conditions changed by scribbling</a:t>
            </a:r>
            <a:endParaRPr lang="en-US" sz="1600" dirty="0"/>
          </a:p>
          <a:p>
            <a:pPr marL="228600" indent="-228600">
              <a:spcAft>
                <a:spcPts val="200"/>
              </a:spcAft>
              <a:buSzPct val="100000"/>
              <a:buChar char="•"/>
            </a:pPr>
            <a:r>
              <a:rPr lang="en-US" sz="1600" dirty="0">
                <a:solidFill>
                  <a:srgbClr val="1B2730"/>
                </a:solidFill>
                <a:latin typeface="Calibri" pitchFamily="34" charset="0"/>
                <a:ea typeface="Calibri" pitchFamily="34" charset="-122"/>
                <a:cs typeface="Calibri" pitchFamily="34" charset="-120"/>
              </a:rPr>
              <a:t>No record of the pre-job briefing</a:t>
            </a:r>
            <a:endParaRPr lang="en-US" sz="1600" dirty="0"/>
          </a:p>
        </p:txBody>
      </p:sp>
      <p:sp>
        <p:nvSpPr>
          <p:cNvPr id="1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Checking &amp; Improving the System</a:t>
            </a:r>
            <a:endParaRPr lang="en-US" sz="3200" dirty="0"/>
          </a:p>
        </p:txBody>
      </p:sp>
      <p:sp>
        <p:nvSpPr>
          <p:cNvPr id="3" name="box_1615"/>
          <p:cNvSpPr/>
          <p:nvPr/>
        </p:nvSpPr>
        <p:spPr>
          <a:xfrm>
            <a:off x="548640" y="1280160"/>
            <a:ext cx="3657600" cy="4937760"/>
          </a:xfrm>
          <a:prstGeom prst="roundRect">
            <a:avLst>
              <a:gd name="adj" fmla="val 3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4" name="circ_1616"/>
          <p:cNvSpPr/>
          <p:nvPr/>
        </p:nvSpPr>
        <p:spPr>
          <a:xfrm>
            <a:off x="731520" y="1463040"/>
            <a:ext cx="685800" cy="685800"/>
          </a:xfrm>
          <a:prstGeom prst="ellipse">
            <a:avLst/>
          </a:prstGeom>
          <a:solidFill>
            <a:srgbClr val="0F6E7A"/>
          </a:solidFill>
          <a:ln/>
        </p:spPr>
      </p:sp>
      <p:pic>
        <p:nvPicPr>
          <p:cNvPr id="5" name="icon_1617" descr="preencoded.png">    </p:cNvPr>
          <p:cNvPicPr>
            <a:picLocks noChangeAspect="1"/>
          </p:cNvPicPr>
          <p:nvPr/>
        </p:nvPicPr>
        <p:blipFill>
          <a:blip r:embed="rId1"/>
          <a:stretch>
            <a:fillRect/>
          </a:stretch>
        </p:blipFill>
        <p:spPr>
          <a:xfrm>
            <a:off x="885825" y="1617345"/>
            <a:ext cx="377190" cy="377190"/>
          </a:xfrm>
          <a:prstGeom prst="rect">
            <a:avLst/>
          </a:prstGeom>
        </p:spPr>
      </p:pic>
      <p:sp>
        <p:nvSpPr>
          <p:cNvPr id="6" name="txt_1618"/>
          <p:cNvSpPr txBox="1"/>
          <p:nvPr/>
        </p:nvSpPr>
        <p:spPr>
          <a:xfrm>
            <a:off x="1581912" y="1444752"/>
            <a:ext cx="2487168"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3 lines of defence</a:t>
            </a:r>
            <a:endParaRPr lang="en-US" sz="1900" dirty="0"/>
          </a:p>
        </p:txBody>
      </p:sp>
      <p:sp>
        <p:nvSpPr>
          <p:cNvPr id="7" name="txt_1619"/>
          <p:cNvSpPr txBox="1"/>
          <p:nvPr/>
        </p:nvSpPr>
        <p:spPr>
          <a:xfrm>
            <a:off x="731520" y="2240280"/>
            <a:ext cx="3337560" cy="3840480"/>
          </a:xfrm>
          <a:prstGeom prst="rect">
            <a:avLst/>
          </a:prstGeom>
          <a:noFill/>
          <a:ln/>
        </p:spPr>
        <p:txBody>
          <a:bodyPr wrap="square" lIns="635" tIns="635" rIns="635" bIns="635" rtlCol="0" anchor="t"/>
          <a:lstStyle/>
          <a:p>
            <a:pPr marL="228600" indent="-228600">
              <a:spcAft>
                <a:spcPts val="1000"/>
              </a:spcAft>
              <a:buSzPct val="100000"/>
              <a:buChar char="•"/>
            </a:pPr>
            <a:r>
              <a:rPr lang="en-US" sz="1900" b="1" dirty="0">
                <a:solidFill>
                  <a:srgbClr val="1B2730"/>
                </a:solidFill>
                <a:latin typeface="Calibri" pitchFamily="34" charset="0"/>
                <a:ea typeface="Calibri" pitchFamily="34" charset="-122"/>
                <a:cs typeface="Calibri" pitchFamily="34" charset="-120"/>
              </a:rPr>
              <a:t>1st: </a:t>
            </a:r>
            <a:pPr indent="0" marL="0">
              <a:buNone/>
            </a:pPr>
            <a:r>
              <a:rPr lang="en-US" sz="1900" dirty="0">
                <a:solidFill>
                  <a:srgbClr val="1B2730"/>
                </a:solidFill>
                <a:latin typeface="Calibri" pitchFamily="34" charset="0"/>
                <a:ea typeface="Calibri" pitchFamily="34" charset="-122"/>
                <a:cs typeface="Calibri" pitchFamily="34" charset="-120"/>
              </a:rPr>
              <a:t>Issuers &amp; Receivers – daily checks, walkdowns, handovers</a:t>
            </a:r>
            <a:endParaRPr lang="en-US" sz="1900" dirty="0"/>
          </a:p>
          <a:p>
            <a:pPr marL="228600" indent="-228600">
              <a:spcAft>
                <a:spcPts val="1000"/>
              </a:spcAft>
              <a:buSzPct val="100000"/>
              <a:buChar char="•"/>
            </a:pPr>
            <a:r>
              <a:rPr lang="en-US" sz="1900" b="1" dirty="0">
                <a:solidFill>
                  <a:srgbClr val="1B2730"/>
                </a:solidFill>
                <a:latin typeface="Calibri" pitchFamily="34" charset="0"/>
                <a:ea typeface="Calibri" pitchFamily="34" charset="-122"/>
                <a:cs typeface="Calibri" pitchFamily="34" charset="-120"/>
              </a:rPr>
              <a:t>2nd: </a:t>
            </a:r>
            <a:pPr indent="0" marL="0">
              <a:buNone/>
            </a:pPr>
            <a:r>
              <a:rPr lang="en-US" sz="1900" dirty="0">
                <a:solidFill>
                  <a:srgbClr val="1B2730"/>
                </a:solidFill>
                <a:latin typeface="Calibri" pitchFamily="34" charset="0"/>
                <a:ea typeface="Calibri" pitchFamily="34" charset="-122"/>
                <a:cs typeface="Calibri" pitchFamily="34" charset="-120"/>
              </a:rPr>
              <a:t>HSE internal audits – system, field and trace audits</a:t>
            </a:r>
            <a:endParaRPr lang="en-US" sz="1900" dirty="0"/>
          </a:p>
          <a:p>
            <a:pPr marL="228600" indent="-228600">
              <a:spcAft>
                <a:spcPts val="1000"/>
              </a:spcAft>
              <a:buSzPct val="100000"/>
              <a:buChar char="•"/>
            </a:pPr>
            <a:r>
              <a:rPr lang="en-US" sz="1900" b="1" dirty="0">
                <a:solidFill>
                  <a:srgbClr val="1B2730"/>
                </a:solidFill>
                <a:latin typeface="Calibri" pitchFamily="34" charset="0"/>
                <a:ea typeface="Calibri" pitchFamily="34" charset="-122"/>
                <a:cs typeface="Calibri" pitchFamily="34" charset="-120"/>
              </a:rPr>
              <a:t>3rd: </a:t>
            </a:r>
            <a:pPr indent="0" marL="0">
              <a:buNone/>
            </a:pPr>
            <a:r>
              <a:rPr lang="en-US" sz="1900" dirty="0">
                <a:solidFill>
                  <a:srgbClr val="1B2730"/>
                </a:solidFill>
                <a:latin typeface="Calibri" pitchFamily="34" charset="0"/>
                <a:ea typeface="Calibri" pitchFamily="34" charset="-122"/>
                <a:cs typeface="Calibri" pitchFamily="34" charset="-120"/>
              </a:rPr>
              <a:t>External – regulators, corporate, third party</a:t>
            </a:r>
            <a:endParaRPr lang="en-US" sz="1900" dirty="0"/>
          </a:p>
        </p:txBody>
      </p:sp>
      <p:sp>
        <p:nvSpPr>
          <p:cNvPr id="8" name="a1_box_1620"/>
          <p:cNvSpPr/>
          <p:nvPr/>
        </p:nvSpPr>
        <p:spPr>
          <a:xfrm>
            <a:off x="4389120" y="1280160"/>
            <a:ext cx="3657600" cy="4937760"/>
          </a:xfrm>
          <a:prstGeom prst="roundRect">
            <a:avLst>
              <a:gd name="adj" fmla="val 3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circ_1621"/>
          <p:cNvSpPr/>
          <p:nvPr/>
        </p:nvSpPr>
        <p:spPr>
          <a:xfrm>
            <a:off x="4572000" y="1463040"/>
            <a:ext cx="685800" cy="685800"/>
          </a:xfrm>
          <a:prstGeom prst="ellipse">
            <a:avLst/>
          </a:prstGeom>
          <a:solidFill>
            <a:srgbClr val="C0392B"/>
          </a:solidFill>
          <a:ln/>
        </p:spPr>
      </p:sp>
      <p:pic>
        <p:nvPicPr>
          <p:cNvPr id="10" name="a1_icon_1622" descr="preencoded.png">    </p:cNvPr>
          <p:cNvPicPr>
            <a:picLocks noChangeAspect="1"/>
          </p:cNvPicPr>
          <p:nvPr/>
        </p:nvPicPr>
        <p:blipFill>
          <a:blip r:embed="rId2"/>
          <a:stretch>
            <a:fillRect/>
          </a:stretch>
        </p:blipFill>
        <p:spPr>
          <a:xfrm>
            <a:off x="4726305" y="1617345"/>
            <a:ext cx="377190" cy="377190"/>
          </a:xfrm>
          <a:prstGeom prst="rect">
            <a:avLst/>
          </a:prstGeom>
        </p:spPr>
      </p:pic>
      <p:sp>
        <p:nvSpPr>
          <p:cNvPr id="11" name="a1_txt_1623"/>
          <p:cNvSpPr txBox="1"/>
          <p:nvPr/>
        </p:nvSpPr>
        <p:spPr>
          <a:xfrm>
            <a:off x="5422392" y="1444752"/>
            <a:ext cx="2487168"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Audit findings</a:t>
            </a:r>
            <a:endParaRPr lang="en-US" sz="1900" dirty="0"/>
          </a:p>
        </p:txBody>
      </p:sp>
      <p:sp>
        <p:nvSpPr>
          <p:cNvPr id="12" name="a1_txt_1624"/>
          <p:cNvSpPr txBox="1"/>
          <p:nvPr/>
        </p:nvSpPr>
        <p:spPr>
          <a:xfrm>
            <a:off x="4572000" y="2240280"/>
            <a:ext cx="3337560" cy="3840480"/>
          </a:xfrm>
          <a:prstGeom prst="rect">
            <a:avLst/>
          </a:prstGeom>
          <a:noFill/>
          <a:ln/>
        </p:spPr>
        <p:txBody>
          <a:bodyPr wrap="square" lIns="635" tIns="635" rIns="635" bIns="635" rtlCol="0" anchor="t"/>
          <a:lstStyle/>
          <a:p>
            <a:pPr marL="228600" indent="-228600">
              <a:spcAft>
                <a:spcPts val="1000"/>
              </a:spcAft>
              <a:buSzPct val="100000"/>
              <a:buChar char="•"/>
            </a:pPr>
            <a:r>
              <a:rPr lang="en-US" sz="1800" b="1" dirty="0">
                <a:solidFill>
                  <a:srgbClr val="1B2730"/>
                </a:solidFill>
                <a:latin typeface="Calibri" pitchFamily="34" charset="0"/>
                <a:ea typeface="Calibri" pitchFamily="34" charset="-122"/>
                <a:cs typeface="Calibri" pitchFamily="34" charset="-120"/>
              </a:rPr>
              <a:t>MAJOR: </a:t>
            </a:r>
            <a:pPr indent="0" marL="0">
              <a:buNone/>
            </a:pPr>
            <a:r>
              <a:rPr lang="en-US" sz="1800" dirty="0">
                <a:solidFill>
                  <a:srgbClr val="1B2730"/>
                </a:solidFill>
                <a:latin typeface="Calibri" pitchFamily="34" charset="0"/>
                <a:ea typeface="Calibri" pitchFamily="34" charset="-122"/>
                <a:cs typeface="Calibri" pitchFamily="34" charset="-120"/>
              </a:rPr>
              <a:t>e.g. work without a required permit; no isolation; falsified gas test; no briefing → STOP work</a:t>
            </a:r>
            <a:endParaRPr lang="en-US" sz="1800" dirty="0"/>
          </a:p>
          <a:p>
            <a:pPr marL="228600" indent="-228600">
              <a:spcAft>
                <a:spcPts val="1000"/>
              </a:spcAft>
              <a:buSzPct val="100000"/>
              <a:buChar char="•"/>
            </a:pPr>
            <a:r>
              <a:rPr lang="en-US" sz="1800" b="1" dirty="0">
                <a:solidFill>
                  <a:srgbClr val="1B2730"/>
                </a:solidFill>
                <a:latin typeface="Calibri" pitchFamily="34" charset="0"/>
                <a:ea typeface="Calibri" pitchFamily="34" charset="-122"/>
                <a:cs typeface="Calibri" pitchFamily="34" charset="-120"/>
              </a:rPr>
              <a:t>MINOR: </a:t>
            </a:r>
            <a:pPr indent="0" marL="0">
              <a:buNone/>
            </a:pPr>
            <a:r>
              <a:rPr lang="en-US" sz="1800" dirty="0">
                <a:solidFill>
                  <a:srgbClr val="1B2730"/>
                </a:solidFill>
                <a:latin typeface="Calibri" pitchFamily="34" charset="0"/>
                <a:ea typeface="Calibri" pitchFamily="34" charset="-122"/>
                <a:cs typeface="Calibri" pitchFamily="34" charset="-120"/>
              </a:rPr>
              <a:t>e.g. permit not posted; missing non-critical signature</a:t>
            </a:r>
            <a:endParaRPr lang="en-US" sz="1800" dirty="0"/>
          </a:p>
          <a:p>
            <a:pPr marL="228600" indent="-228600">
              <a:spcAft>
                <a:spcPts val="1000"/>
              </a:spcAft>
              <a:buSzPct val="100000"/>
              <a:buChar char="•"/>
            </a:pPr>
            <a:r>
              <a:rPr lang="en-US" sz="1800" b="1" dirty="0">
                <a:solidFill>
                  <a:srgbClr val="1B2730"/>
                </a:solidFill>
                <a:latin typeface="Calibri" pitchFamily="34" charset="0"/>
                <a:ea typeface="Calibri" pitchFamily="34" charset="-122"/>
                <a:cs typeface="Calibri" pitchFamily="34" charset="-120"/>
              </a:rPr>
              <a:t>OFI: </a:t>
            </a:r>
            <a:pPr indent="0" marL="0">
              <a:buNone/>
            </a:pPr>
            <a:r>
              <a:rPr lang="en-US" sz="1800" dirty="0">
                <a:solidFill>
                  <a:srgbClr val="1B2730"/>
                </a:solidFill>
                <a:latin typeface="Calibri" pitchFamily="34" charset="0"/>
                <a:ea typeface="Calibri" pitchFamily="34" charset="-122"/>
                <a:cs typeface="Calibri" pitchFamily="34" charset="-120"/>
              </a:rPr>
              <a:t>an idea to improve</a:t>
            </a:r>
            <a:endParaRPr lang="en-US" sz="1800" dirty="0"/>
          </a:p>
        </p:txBody>
      </p:sp>
      <p:sp>
        <p:nvSpPr>
          <p:cNvPr id="13" name="a2_box_1625"/>
          <p:cNvSpPr/>
          <p:nvPr/>
        </p:nvSpPr>
        <p:spPr>
          <a:xfrm>
            <a:off x="8229600" y="1280160"/>
            <a:ext cx="3410712" cy="4937760"/>
          </a:xfrm>
          <a:prstGeom prst="roundRect">
            <a:avLst>
              <a:gd name="adj" fmla="val 3217"/>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4" name="a2_circ_1626"/>
          <p:cNvSpPr/>
          <p:nvPr/>
        </p:nvSpPr>
        <p:spPr>
          <a:xfrm>
            <a:off x="8412480" y="1463040"/>
            <a:ext cx="685800" cy="685800"/>
          </a:xfrm>
          <a:prstGeom prst="ellipse">
            <a:avLst/>
          </a:prstGeom>
          <a:solidFill>
            <a:srgbClr val="2E7D32"/>
          </a:solidFill>
          <a:ln/>
        </p:spPr>
      </p:sp>
      <p:pic>
        <p:nvPicPr>
          <p:cNvPr id="15" name="a2_icon_1627" descr="preencoded.png">    </p:cNvPr>
          <p:cNvPicPr>
            <a:picLocks noChangeAspect="1"/>
          </p:cNvPicPr>
          <p:nvPr/>
        </p:nvPicPr>
        <p:blipFill>
          <a:blip r:embed="rId3"/>
          <a:stretch>
            <a:fillRect/>
          </a:stretch>
        </p:blipFill>
        <p:spPr>
          <a:xfrm>
            <a:off x="8566785" y="1617345"/>
            <a:ext cx="377190" cy="377190"/>
          </a:xfrm>
          <a:prstGeom prst="rect">
            <a:avLst/>
          </a:prstGeom>
        </p:spPr>
      </p:pic>
      <p:sp>
        <p:nvSpPr>
          <p:cNvPr id="16" name="a2_txt_1628"/>
          <p:cNvSpPr txBox="1"/>
          <p:nvPr/>
        </p:nvSpPr>
        <p:spPr>
          <a:xfrm>
            <a:off x="9262872" y="1444752"/>
            <a:ext cx="2240280" cy="685800"/>
          </a:xfrm>
          <a:prstGeom prst="rect">
            <a:avLst/>
          </a:prstGeom>
          <a:noFill/>
          <a:ln/>
        </p:spPr>
        <p:txBody>
          <a:bodyPr wrap="square" lIns="635" tIns="635" rIns="635" bIns="635" rtlCol="0" anchor="ctr"/>
          <a:lstStyle/>
          <a:p>
            <a:pPr indent="0" marL="0">
              <a:buNone/>
            </a:pPr>
            <a:r>
              <a:rPr lang="en-US" sz="1900" b="1" dirty="0">
                <a:solidFill>
                  <a:srgbClr val="0B2A3C"/>
                </a:solidFill>
                <a:latin typeface="Calibri" pitchFamily="34" charset="0"/>
                <a:ea typeface="Calibri" pitchFamily="34" charset="-122"/>
                <a:cs typeface="Calibri" pitchFamily="34" charset="-120"/>
              </a:rPr>
              <a:t>After every job</a:t>
            </a:r>
            <a:endParaRPr lang="en-US" sz="1900" dirty="0"/>
          </a:p>
        </p:txBody>
      </p:sp>
      <p:sp>
        <p:nvSpPr>
          <p:cNvPr id="17" name="a2_txt_1629"/>
          <p:cNvSpPr txBox="1"/>
          <p:nvPr/>
        </p:nvSpPr>
        <p:spPr>
          <a:xfrm>
            <a:off x="8412480" y="2240280"/>
            <a:ext cx="3108960" cy="2377440"/>
          </a:xfrm>
          <a:prstGeom prst="rect">
            <a:avLst/>
          </a:prstGeom>
          <a:noFill/>
          <a:ln/>
        </p:spPr>
        <p:txBody>
          <a:bodyPr wrap="square" lIns="635" tIns="635" rIns="635" bIns="635" rtlCol="0" anchor="t"/>
          <a:lstStyle/>
          <a:p>
            <a:pPr marL="342900" indent="-342900">
              <a:spcAft>
                <a:spcPts val="800"/>
              </a:spcAft>
              <a:buSzPct val="100000"/>
              <a:buFont typeface="+mj-lt"/>
              <a:buAutoNum type="arabicPeriod" startAt="1"/>
            </a:pPr>
            <a:r>
              <a:rPr lang="en-US" sz="1900" dirty="0">
                <a:solidFill>
                  <a:srgbClr val="1B2730"/>
                </a:solidFill>
                <a:latin typeface="Calibri" pitchFamily="34" charset="0"/>
                <a:ea typeface="Calibri" pitchFamily="34" charset="-122"/>
                <a:cs typeface="Calibri" pitchFamily="34" charset="-120"/>
              </a:rPr>
              <a:t>What went well?</a:t>
            </a:r>
            <a:endParaRPr lang="en-US" sz="1900" dirty="0"/>
          </a:p>
          <a:p>
            <a:pPr marL="342900" indent="-342900">
              <a:spcAft>
                <a:spcPts val="800"/>
              </a:spcAft>
              <a:buSzPct val="100000"/>
              <a:buFont typeface="+mj-lt"/>
              <a:buAutoNum type="arabicPeriod" startAt="1"/>
            </a:pPr>
            <a:r>
              <a:rPr lang="en-US" sz="1900" dirty="0">
                <a:solidFill>
                  <a:srgbClr val="1B2730"/>
                </a:solidFill>
                <a:latin typeface="Calibri" pitchFamily="34" charset="0"/>
                <a:ea typeface="Calibri" pitchFamily="34" charset="-122"/>
                <a:cs typeface="Calibri" pitchFamily="34" charset="-120"/>
              </a:rPr>
              <a:t>What surprised us?</a:t>
            </a:r>
            <a:endParaRPr lang="en-US" sz="1900" dirty="0"/>
          </a:p>
          <a:p>
            <a:pPr marL="342900" indent="-342900">
              <a:spcAft>
                <a:spcPts val="800"/>
              </a:spcAft>
              <a:buSzPct val="100000"/>
              <a:buFont typeface="+mj-lt"/>
              <a:buAutoNum type="arabicPeriod" startAt="1"/>
            </a:pPr>
            <a:r>
              <a:rPr lang="en-US" sz="1900" dirty="0">
                <a:solidFill>
                  <a:srgbClr val="1B2730"/>
                </a:solidFill>
                <a:latin typeface="Calibri" pitchFamily="34" charset="0"/>
                <a:ea typeface="Calibri" pitchFamily="34" charset="-122"/>
                <a:cs typeface="Calibri" pitchFamily="34" charset="-120"/>
              </a:rPr>
              <a:t>What would we do differently?</a:t>
            </a:r>
            <a:endParaRPr lang="en-US" sz="1900" dirty="0"/>
          </a:p>
          <a:p>
            <a:pPr marL="342900" indent="-342900">
              <a:spcAft>
                <a:spcPts val="800"/>
              </a:spcAft>
              <a:buSzPct val="100000"/>
              <a:buFont typeface="+mj-lt"/>
              <a:buAutoNum type="arabicPeriod" startAt="1"/>
            </a:pPr>
            <a:r>
              <a:rPr lang="en-US" sz="1900" dirty="0">
                <a:solidFill>
                  <a:srgbClr val="1B2730"/>
                </a:solidFill>
                <a:latin typeface="Calibri" pitchFamily="34" charset="0"/>
                <a:ea typeface="Calibri" pitchFamily="34" charset="-122"/>
                <a:cs typeface="Calibri" pitchFamily="34" charset="-120"/>
              </a:rPr>
              <a:t>Any system issues?</a:t>
            </a:r>
            <a:endParaRPr lang="en-US" sz="1900" dirty="0"/>
          </a:p>
        </p:txBody>
      </p:sp>
      <p:sp>
        <p:nvSpPr>
          <p:cNvPr id="18" name="a2_txt_1630"/>
          <p:cNvSpPr txBox="1"/>
          <p:nvPr/>
        </p:nvSpPr>
        <p:spPr>
          <a:xfrm>
            <a:off x="8412480" y="4754880"/>
            <a:ext cx="3108960" cy="1371600"/>
          </a:xfrm>
          <a:prstGeom prst="rect">
            <a:avLst/>
          </a:prstGeom>
          <a:noFill/>
          <a:ln/>
        </p:spPr>
        <p:txBody>
          <a:bodyPr wrap="square" lIns="635" tIns="635" rIns="635" bIns="635" rtlCol="0" anchor="t"/>
          <a:lstStyle/>
          <a:p>
            <a:pPr indent="0" marL="0">
              <a:buNone/>
            </a:pPr>
            <a:r>
              <a:rPr lang="en-US" sz="1700" b="1" i="1" dirty="0">
                <a:solidFill>
                  <a:srgbClr val="2E7D32"/>
                </a:solidFill>
                <a:latin typeface="Calibri" pitchFamily="34" charset="0"/>
                <a:ea typeface="Calibri" pitchFamily="34" charset="-122"/>
                <a:cs typeface="Calibri" pitchFamily="34" charset="-120"/>
              </a:rPr>
              <a:t>A near miss is a free lesson – report it.</a:t>
            </a:r>
            <a:endParaRPr lang="en-US" sz="1700" dirty="0"/>
          </a:p>
        </p:txBody>
      </p:sp>
      <p:sp>
        <p:nvSpPr>
          <p:cNvPr id="19"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Training &amp; Competence – “Show Me, Don’t Tell Me”</a:t>
            </a:r>
            <a:endParaRPr lang="en-US" sz="3200" dirty="0"/>
          </a:p>
        </p:txBody>
      </p:sp>
      <p:sp>
        <p:nvSpPr>
          <p:cNvPr id="3" name="a1w_box_1631"/>
          <p:cNvSpPr/>
          <p:nvPr/>
        </p:nvSpPr>
        <p:spPr>
          <a:xfrm>
            <a:off x="548640" y="1280160"/>
            <a:ext cx="2743200" cy="914400"/>
          </a:xfrm>
          <a:prstGeom prst="roundRect">
            <a:avLst>
              <a:gd name="adj" fmla="val 12000"/>
            </a:avLst>
          </a:prstGeom>
          <a:solidFill>
            <a:srgbClr val="0F6E7A"/>
          </a:solidFill>
          <a:ln/>
        </p:spPr>
      </p:sp>
      <p:sp>
        <p:nvSpPr>
          <p:cNvPr id="4" name="a1w_txt_1632"/>
          <p:cNvSpPr txBox="1"/>
          <p:nvPr/>
        </p:nvSpPr>
        <p:spPr>
          <a:xfrm>
            <a:off x="685800" y="1280160"/>
            <a:ext cx="2468880" cy="914400"/>
          </a:xfrm>
          <a:prstGeom prst="rect">
            <a:avLst/>
          </a:prstGeom>
          <a:noFill/>
          <a:ln/>
        </p:spPr>
        <p:txBody>
          <a:bodyPr wrap="square" lIns="635" tIns="635" rIns="635" bIns="635" rtlCol="0" anchor="ctr"/>
          <a:lstStyle/>
          <a:p>
            <a:pPr indent="0" marL="0">
              <a:buNone/>
            </a:pPr>
            <a:r>
              <a:rPr lang="en-US" sz="1800" b="1" dirty="0">
                <a:solidFill>
                  <a:srgbClr val="FFE3C7"/>
                </a:solidFill>
                <a:latin typeface="Calibri" pitchFamily="34" charset="0"/>
                <a:ea typeface="Calibri" pitchFamily="34" charset="-122"/>
                <a:cs typeface="Calibri" pitchFamily="34" charset="-120"/>
              </a:rPr>
              <a:t>TIER 1  </a:t>
            </a:r>
            <a:pPr indent="0" marL="0">
              <a:buNone/>
            </a:pPr>
            <a:r>
              <a:rPr lang="en-US" sz="1800" b="1" dirty="0">
                <a:solidFill>
                  <a:srgbClr val="FFFFFF"/>
                </a:solidFill>
                <a:latin typeface="Calibri" pitchFamily="34" charset="0"/>
                <a:ea typeface="Calibri" pitchFamily="34" charset="-122"/>
                <a:cs typeface="Calibri" pitchFamily="34" charset="-120"/>
              </a:rPr>
              <a:t>General awareness</a:t>
            </a:r>
            <a:endParaRPr lang="en-US" sz="1800" dirty="0"/>
          </a:p>
        </p:txBody>
      </p:sp>
      <p:sp>
        <p:nvSpPr>
          <p:cNvPr id="5" name="a1w_txt_1633"/>
          <p:cNvSpPr txBox="1"/>
          <p:nvPr/>
        </p:nvSpPr>
        <p:spPr>
          <a:xfrm>
            <a:off x="3474720" y="1280160"/>
            <a:ext cx="8168335" cy="9144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Everyone on site · 1–2 h</a:t>
            </a:r>
            <a:endParaRPr lang="en-US" sz="1600" dirty="0"/>
          </a:p>
          <a:p>
            <a:pPr indent="0" marL="0">
              <a:buNone/>
            </a:pPr>
            <a:r>
              <a:rPr lang="en-US" sz="1500" dirty="0">
                <a:solidFill>
                  <a:srgbClr val="1B2730"/>
                </a:solidFill>
                <a:latin typeface="Calibri" pitchFamily="34" charset="0"/>
                <a:ea typeface="Calibri" pitchFamily="34" charset="-122"/>
                <a:cs typeface="Calibri" pitchFamily="34" charset="-120"/>
              </a:rPr>
              <a:t>Purpose, Life Saving Rule, alarms, Stop Work Authority, how to recognise a permit</a:t>
            </a:r>
            <a:endParaRPr lang="en-US" sz="1600" dirty="0"/>
          </a:p>
        </p:txBody>
      </p:sp>
      <p:sp>
        <p:nvSpPr>
          <p:cNvPr id="6" name="a2w_box_1634"/>
          <p:cNvSpPr/>
          <p:nvPr/>
        </p:nvSpPr>
        <p:spPr>
          <a:xfrm>
            <a:off x="548640" y="2304288"/>
            <a:ext cx="3200400" cy="914400"/>
          </a:xfrm>
          <a:prstGeom prst="roundRect">
            <a:avLst>
              <a:gd name="adj" fmla="val 12000"/>
            </a:avLst>
          </a:prstGeom>
          <a:solidFill>
            <a:srgbClr val="0F6E7A"/>
          </a:solidFill>
          <a:ln/>
        </p:spPr>
      </p:sp>
      <p:sp>
        <p:nvSpPr>
          <p:cNvPr id="7" name="a2w_txt_1635"/>
          <p:cNvSpPr txBox="1"/>
          <p:nvPr/>
        </p:nvSpPr>
        <p:spPr>
          <a:xfrm>
            <a:off x="685800" y="2304288"/>
            <a:ext cx="2926080" cy="914400"/>
          </a:xfrm>
          <a:prstGeom prst="rect">
            <a:avLst/>
          </a:prstGeom>
          <a:noFill/>
          <a:ln/>
        </p:spPr>
        <p:txBody>
          <a:bodyPr wrap="square" lIns="635" tIns="635" rIns="635" bIns="635" rtlCol="0" anchor="ctr"/>
          <a:lstStyle/>
          <a:p>
            <a:pPr indent="0" marL="0">
              <a:buNone/>
            </a:pPr>
            <a:r>
              <a:rPr lang="en-US" sz="1800" b="1" dirty="0">
                <a:solidFill>
                  <a:srgbClr val="FFE3C7"/>
                </a:solidFill>
                <a:latin typeface="Calibri" pitchFamily="34" charset="0"/>
                <a:ea typeface="Calibri" pitchFamily="34" charset="-122"/>
                <a:cs typeface="Calibri" pitchFamily="34" charset="-120"/>
              </a:rPr>
              <a:t>TIER 2  </a:t>
            </a:r>
            <a:pPr indent="0" marL="0">
              <a:buNone/>
            </a:pPr>
            <a:r>
              <a:rPr lang="en-US" sz="1800" b="1" dirty="0">
                <a:solidFill>
                  <a:srgbClr val="FFFFFF"/>
                </a:solidFill>
                <a:latin typeface="Calibri" pitchFamily="34" charset="0"/>
                <a:ea typeface="Calibri" pitchFamily="34" charset="-122"/>
                <a:cs typeface="Calibri" pitchFamily="34" charset="-120"/>
              </a:rPr>
              <a:t>PTW user</a:t>
            </a:r>
            <a:endParaRPr lang="en-US" sz="1800" dirty="0"/>
          </a:p>
        </p:txBody>
      </p:sp>
      <p:sp>
        <p:nvSpPr>
          <p:cNvPr id="8" name="a2w_txt_1636"/>
          <p:cNvSpPr txBox="1"/>
          <p:nvPr/>
        </p:nvSpPr>
        <p:spPr>
          <a:xfrm>
            <a:off x="3931920" y="2304288"/>
            <a:ext cx="7711135" cy="9144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Workers under permits · 4–8 h</a:t>
            </a:r>
            <a:endParaRPr lang="en-US" sz="1600" dirty="0"/>
          </a:p>
          <a:p>
            <a:pPr indent="0" marL="0">
              <a:buNone/>
            </a:pPr>
            <a:r>
              <a:rPr lang="en-US" sz="1500" dirty="0">
                <a:solidFill>
                  <a:srgbClr val="1B2730"/>
                </a:solidFill>
                <a:latin typeface="Calibri" pitchFamily="34" charset="0"/>
                <a:ea typeface="Calibri" pitchFamily="34" charset="-122"/>
                <a:cs typeface="Calibri" pitchFamily="34" charset="-120"/>
              </a:rPr>
              <a:t>Forms &amp; certificates, roles, toolbox talks, reading a live permit, gas monitors</a:t>
            </a:r>
            <a:endParaRPr lang="en-US" sz="1600" dirty="0"/>
          </a:p>
        </p:txBody>
      </p:sp>
      <p:sp>
        <p:nvSpPr>
          <p:cNvPr id="9" name="a3w_box_1637"/>
          <p:cNvSpPr/>
          <p:nvPr/>
        </p:nvSpPr>
        <p:spPr>
          <a:xfrm>
            <a:off x="548640" y="3328416"/>
            <a:ext cx="3657600" cy="914400"/>
          </a:xfrm>
          <a:prstGeom prst="roundRect">
            <a:avLst>
              <a:gd name="adj" fmla="val 12000"/>
            </a:avLst>
          </a:prstGeom>
          <a:solidFill>
            <a:srgbClr val="E8771E"/>
          </a:solidFill>
          <a:ln/>
        </p:spPr>
      </p:sp>
      <p:sp>
        <p:nvSpPr>
          <p:cNvPr id="10" name="a3w_txt_1638"/>
          <p:cNvSpPr txBox="1"/>
          <p:nvPr/>
        </p:nvSpPr>
        <p:spPr>
          <a:xfrm>
            <a:off x="685800" y="3328416"/>
            <a:ext cx="3383280" cy="914400"/>
          </a:xfrm>
          <a:prstGeom prst="rect">
            <a:avLst/>
          </a:prstGeom>
          <a:noFill/>
          <a:ln/>
        </p:spPr>
        <p:txBody>
          <a:bodyPr wrap="square" lIns="635" tIns="635" rIns="635" bIns="635" rtlCol="0" anchor="ctr"/>
          <a:lstStyle/>
          <a:p>
            <a:pPr indent="0" marL="0">
              <a:buNone/>
            </a:pPr>
            <a:r>
              <a:rPr lang="en-US" sz="1800" b="1" dirty="0">
                <a:solidFill>
                  <a:srgbClr val="FFE3C7"/>
                </a:solidFill>
                <a:latin typeface="Calibri" pitchFamily="34" charset="0"/>
                <a:ea typeface="Calibri" pitchFamily="34" charset="-122"/>
                <a:cs typeface="Calibri" pitchFamily="34" charset="-120"/>
              </a:rPr>
              <a:t>TIER 3  </a:t>
            </a:r>
            <a:pPr indent="0" marL="0">
              <a:buNone/>
            </a:pPr>
            <a:r>
              <a:rPr lang="en-US" sz="1800" b="1" dirty="0">
                <a:solidFill>
                  <a:srgbClr val="FFFFFF"/>
                </a:solidFill>
                <a:latin typeface="Calibri" pitchFamily="34" charset="0"/>
                <a:ea typeface="Calibri" pitchFamily="34" charset="-122"/>
                <a:cs typeface="Calibri" pitchFamily="34" charset="-120"/>
              </a:rPr>
              <a:t>Role authorisation</a:t>
            </a:r>
            <a:endParaRPr lang="en-US" sz="1800" dirty="0"/>
          </a:p>
        </p:txBody>
      </p:sp>
      <p:sp>
        <p:nvSpPr>
          <p:cNvPr id="11" name="a3w_txt_1639"/>
          <p:cNvSpPr txBox="1"/>
          <p:nvPr/>
        </p:nvSpPr>
        <p:spPr>
          <a:xfrm>
            <a:off x="4389120" y="3328416"/>
            <a:ext cx="7253935" cy="9144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Issuer, Receiver, Isolator, Attendant, Fire Watch · 16–40 h</a:t>
            </a:r>
            <a:endParaRPr lang="en-US" sz="1600" dirty="0"/>
          </a:p>
          <a:p>
            <a:pPr indent="0" marL="0">
              <a:buNone/>
            </a:pPr>
            <a:r>
              <a:rPr lang="en-US" sz="1500" dirty="0">
                <a:solidFill>
                  <a:srgbClr val="1B2730"/>
                </a:solidFill>
                <a:latin typeface="Calibri" pitchFamily="34" charset="0"/>
                <a:ea typeface="Calibri" pitchFamily="34" charset="-122"/>
                <a:cs typeface="Calibri" pitchFamily="34" charset="-120"/>
              </a:rPr>
              <a:t>Deep role skills + assessment + mentoring</a:t>
            </a:r>
            <a:endParaRPr lang="en-US" sz="1600" dirty="0"/>
          </a:p>
        </p:txBody>
      </p:sp>
      <p:sp>
        <p:nvSpPr>
          <p:cNvPr id="12" name="a4w_box_1640"/>
          <p:cNvSpPr/>
          <p:nvPr/>
        </p:nvSpPr>
        <p:spPr>
          <a:xfrm>
            <a:off x="548640" y="4352544"/>
            <a:ext cx="4114800" cy="914400"/>
          </a:xfrm>
          <a:prstGeom prst="roundRect">
            <a:avLst>
              <a:gd name="adj" fmla="val 12000"/>
            </a:avLst>
          </a:prstGeom>
          <a:solidFill>
            <a:srgbClr val="0B2A3C"/>
          </a:solidFill>
          <a:ln/>
        </p:spPr>
      </p:sp>
      <p:sp>
        <p:nvSpPr>
          <p:cNvPr id="13" name="a4w_txt_1641"/>
          <p:cNvSpPr txBox="1"/>
          <p:nvPr/>
        </p:nvSpPr>
        <p:spPr>
          <a:xfrm>
            <a:off x="685800" y="4352544"/>
            <a:ext cx="3840480" cy="914400"/>
          </a:xfrm>
          <a:prstGeom prst="rect">
            <a:avLst/>
          </a:prstGeom>
          <a:noFill/>
          <a:ln/>
        </p:spPr>
        <p:txBody>
          <a:bodyPr wrap="square" lIns="635" tIns="635" rIns="635" bIns="635" rtlCol="0" anchor="ctr"/>
          <a:lstStyle/>
          <a:p>
            <a:pPr indent="0" marL="0">
              <a:buNone/>
            </a:pPr>
            <a:r>
              <a:rPr lang="en-US" sz="1800" b="1" dirty="0">
                <a:solidFill>
                  <a:srgbClr val="FFE3C7"/>
                </a:solidFill>
                <a:latin typeface="Calibri" pitchFamily="34" charset="0"/>
                <a:ea typeface="Calibri" pitchFamily="34" charset="-122"/>
                <a:cs typeface="Calibri" pitchFamily="34" charset="-120"/>
              </a:rPr>
              <a:t>TIER 4  </a:t>
            </a:r>
            <a:pPr indent="0" marL="0">
              <a:buNone/>
            </a:pPr>
            <a:r>
              <a:rPr lang="en-US" sz="1800" b="1" dirty="0">
                <a:solidFill>
                  <a:srgbClr val="FFFFFF"/>
                </a:solidFill>
                <a:latin typeface="Calibri" pitchFamily="34" charset="0"/>
                <a:ea typeface="Calibri" pitchFamily="34" charset="-122"/>
                <a:cs typeface="Calibri" pitchFamily="34" charset="-120"/>
              </a:rPr>
              <a:t>Auditor &amp; trainer</a:t>
            </a:r>
            <a:endParaRPr lang="en-US" sz="1800" dirty="0"/>
          </a:p>
        </p:txBody>
      </p:sp>
      <p:sp>
        <p:nvSpPr>
          <p:cNvPr id="14" name="a4w_txt_1642"/>
          <p:cNvSpPr txBox="1"/>
          <p:nvPr/>
        </p:nvSpPr>
        <p:spPr>
          <a:xfrm>
            <a:off x="4846320" y="4352544"/>
            <a:ext cx="6796735" cy="914400"/>
          </a:xfrm>
          <a:prstGeom prst="rect">
            <a:avLst/>
          </a:prstGeom>
          <a:noFill/>
          <a:ln/>
        </p:spPr>
        <p:txBody>
          <a:bodyPr wrap="square" lIns="635" tIns="635" rIns="635" bIns="635" rtlCol="0" anchor="ctr"/>
          <a:lstStyle/>
          <a:p>
            <a:pPr indent="0" marL="0">
              <a:buNone/>
            </a:pPr>
            <a:r>
              <a:rPr lang="en-US" sz="1600" b="1" dirty="0">
                <a:solidFill>
                  <a:srgbClr val="0B2A3C"/>
                </a:solidFill>
                <a:latin typeface="Calibri" pitchFamily="34" charset="0"/>
                <a:ea typeface="Calibri" pitchFamily="34" charset="-122"/>
                <a:cs typeface="Calibri" pitchFamily="34" charset="-120"/>
              </a:rPr>
              <a:t>HSE, senior supervisors</a:t>
            </a:r>
            <a:endParaRPr lang="en-US" sz="1600" dirty="0"/>
          </a:p>
          <a:p>
            <a:pPr indent="0" marL="0">
              <a:buNone/>
            </a:pPr>
            <a:r>
              <a:rPr lang="en-US" sz="1500" dirty="0">
                <a:solidFill>
                  <a:srgbClr val="1B2730"/>
                </a:solidFill>
                <a:latin typeface="Calibri" pitchFamily="34" charset="0"/>
                <a:ea typeface="Calibri" pitchFamily="34" charset="-122"/>
                <a:cs typeface="Calibri" pitchFamily="34" charset="-120"/>
              </a:rPr>
              <a:t>Audit, root cause, training delivery</a:t>
            </a:r>
            <a:endParaRPr lang="en-US" sz="1600" dirty="0"/>
          </a:p>
        </p:txBody>
      </p:sp>
      <p:sp>
        <p:nvSpPr>
          <p:cNvPr id="15" name="a5_box_1643"/>
          <p:cNvSpPr/>
          <p:nvPr/>
        </p:nvSpPr>
        <p:spPr>
          <a:xfrm>
            <a:off x="548640" y="5440680"/>
            <a:ext cx="11094415" cy="777240"/>
          </a:xfrm>
          <a:prstGeom prst="roundRect">
            <a:avLst>
              <a:gd name="adj" fmla="val 14118"/>
            </a:avLst>
          </a:prstGeom>
          <a:solidFill>
            <a:srgbClr val="0B2A3C"/>
          </a:solidFill>
          <a:ln/>
        </p:spPr>
      </p:sp>
      <p:sp>
        <p:nvSpPr>
          <p:cNvPr id="16" name="a5_txt_1644"/>
          <p:cNvSpPr txBox="1"/>
          <p:nvPr/>
        </p:nvSpPr>
        <p:spPr>
          <a:xfrm>
            <a:off x="731520" y="5440680"/>
            <a:ext cx="10728655" cy="77724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Competency is proven by observation · role &amp; area specific · re-certified every 2–3 years · listed in the Competency Register</a:t>
            </a:r>
            <a:endParaRPr lang="en-US" sz="1800" dirty="0"/>
          </a:p>
        </p:txBody>
      </p:sp>
      <p:sp>
        <p:nvSpPr>
          <p:cNvPr id="1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circ_1645"/>
          <p:cNvSpPr/>
          <p:nvPr/>
        </p:nvSpPr>
        <p:spPr>
          <a:xfrm>
            <a:off x="548640" y="2011680"/>
            <a:ext cx="1371600" cy="1371600"/>
          </a:xfrm>
          <a:prstGeom prst="ellipse">
            <a:avLst/>
          </a:prstGeom>
          <a:solidFill>
            <a:srgbClr val="E8771E"/>
          </a:solidFill>
          <a:ln/>
        </p:spPr>
      </p:sp>
      <p:pic>
        <p:nvPicPr>
          <p:cNvPr id="3" name="icon_1646" descr="preencoded.png">    </p:cNvPr>
          <p:cNvPicPr>
            <a:picLocks noChangeAspect="1"/>
          </p:cNvPicPr>
          <p:nvPr/>
        </p:nvPicPr>
        <p:blipFill>
          <a:blip r:embed="rId1"/>
          <a:stretch>
            <a:fillRect/>
          </a:stretch>
        </p:blipFill>
        <p:spPr>
          <a:xfrm>
            <a:off x="857250" y="2320290"/>
            <a:ext cx="754380" cy="754380"/>
          </a:xfrm>
          <a:prstGeom prst="rect">
            <a:avLst/>
          </a:prstGeom>
        </p:spPr>
      </p:pic>
      <p:sp>
        <p:nvSpPr>
          <p:cNvPr id="4" name="txt_1647"/>
          <p:cNvSpPr txBox="1"/>
          <p:nvPr/>
        </p:nvSpPr>
        <p:spPr>
          <a:xfrm>
            <a:off x="2286000" y="1920240"/>
            <a:ext cx="8229600" cy="457200"/>
          </a:xfrm>
          <a:prstGeom prst="rect">
            <a:avLst/>
          </a:prstGeom>
          <a:noFill/>
          <a:ln/>
        </p:spPr>
        <p:txBody>
          <a:bodyPr wrap="square" lIns="635" tIns="635" rIns="635" bIns="635" rtlCol="0" anchor="t"/>
          <a:lstStyle/>
          <a:p>
            <a:pPr indent="0" marL="0">
              <a:buNone/>
            </a:pPr>
            <a:r>
              <a:rPr lang="en-US" sz="1800" b="1" spc="400" kern="0" dirty="0">
                <a:solidFill>
                  <a:srgbClr val="E8771E"/>
                </a:solidFill>
                <a:latin typeface="Calibri" pitchFamily="34" charset="0"/>
                <a:ea typeface="Calibri" pitchFamily="34" charset="-122"/>
                <a:cs typeface="Calibri" pitchFamily="34" charset="-120"/>
              </a:rPr>
              <a:t>SECTION 13</a:t>
            </a:r>
            <a:endParaRPr lang="en-US" sz="1800" dirty="0"/>
          </a:p>
        </p:txBody>
      </p:sp>
      <p:sp>
        <p:nvSpPr>
          <p:cNvPr id="5" name="txt_1648"/>
          <p:cNvSpPr txBox="1"/>
          <p:nvPr/>
        </p:nvSpPr>
        <p:spPr>
          <a:xfrm>
            <a:off x="2286000" y="2331720"/>
            <a:ext cx="9326880" cy="1005840"/>
          </a:xfrm>
          <a:prstGeom prst="rect">
            <a:avLst/>
          </a:prstGeom>
          <a:noFill/>
          <a:ln/>
        </p:spPr>
        <p:txBody>
          <a:bodyPr wrap="square" lIns="635" tIns="635" rIns="635" bIns="635" rtlCol="0" anchor="ctr"/>
          <a:lstStyle/>
          <a:p>
            <a:pPr indent="0" marL="0">
              <a:buNone/>
            </a:pPr>
            <a:r>
              <a:rPr lang="en-US" sz="4000" b="1" dirty="0">
                <a:solidFill>
                  <a:srgbClr val="FFFFFF"/>
                </a:solidFill>
                <a:latin typeface="Arial" pitchFamily="34" charset="0"/>
                <a:ea typeface="Arial" pitchFamily="34" charset="-122"/>
                <a:cs typeface="Arial" pitchFamily="34" charset="-120"/>
              </a:rPr>
              <a:t>Practical Scenarios &amp; Key Takeaways</a:t>
            </a:r>
            <a:endParaRPr lang="en-US" sz="4000" dirty="0"/>
          </a:p>
        </p:txBody>
      </p:sp>
      <p:sp>
        <p:nvSpPr>
          <p:cNvPr id="6" name="txt_1649"/>
          <p:cNvSpPr txBox="1"/>
          <p:nvPr/>
        </p:nvSpPr>
        <p:spPr>
          <a:xfrm>
            <a:off x="2286000" y="3429000"/>
            <a:ext cx="9144000" cy="1097280"/>
          </a:xfrm>
          <a:prstGeom prst="rect">
            <a:avLst/>
          </a:prstGeom>
          <a:noFill/>
          <a:ln/>
        </p:spPr>
        <p:txBody>
          <a:bodyPr wrap="square" lIns="635" tIns="635" rIns="635" bIns="635" rtlCol="0" anchor="t"/>
          <a:lstStyle/>
          <a:p>
            <a:pPr indent="0" marL="0">
              <a:buNone/>
            </a:pPr>
            <a:r>
              <a:rPr lang="en-US" sz="2200" dirty="0">
                <a:solidFill>
                  <a:srgbClr val="C9D8E2"/>
                </a:solidFill>
                <a:latin typeface="Calibri" pitchFamily="34" charset="0"/>
                <a:ea typeface="Calibri" pitchFamily="34" charset="-122"/>
                <a:cs typeface="Calibri" pitchFamily="34" charset="-120"/>
              </a:rPr>
              <a:t>Apply what you have learned to real plant situations</a:t>
            </a:r>
            <a:endParaRPr lang="en-US" sz="2200" dirty="0"/>
          </a:p>
        </p:txBody>
      </p:sp>
      <p:sp>
        <p:nvSpPr>
          <p:cNvPr id="7"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Scenario: Entering a Process Vessel</a:t>
            </a:r>
            <a:endParaRPr lang="en-US" sz="3200" dirty="0"/>
          </a:p>
        </p:txBody>
      </p:sp>
      <p:sp>
        <p:nvSpPr>
          <p:cNvPr id="3" name="box_1650"/>
          <p:cNvSpPr/>
          <p:nvPr/>
        </p:nvSpPr>
        <p:spPr>
          <a:xfrm>
            <a:off x="548640" y="1280160"/>
            <a:ext cx="11094415" cy="1234440"/>
          </a:xfrm>
          <a:prstGeom prst="roundRect">
            <a:avLst>
              <a:gd name="adj" fmla="val 8889"/>
            </a:avLst>
          </a:prstGeom>
          <a:solidFill>
            <a:srgbClr val="0B2A3C"/>
          </a:solidFill>
          <a:ln/>
        </p:spPr>
      </p:sp>
      <p:pic>
        <p:nvPicPr>
          <p:cNvPr id="4" name="icon_1651"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1652"/>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A team must enter vessel V-205 in the gas plant for inspection. It previously contained process gas that may include H₂S.</a:t>
            </a:r>
            <a:endParaRPr lang="en-US" sz="1800" dirty="0"/>
          </a:p>
        </p:txBody>
      </p:sp>
      <p:sp>
        <p:nvSpPr>
          <p:cNvPr id="6" name="txt_1653"/>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must be in place before and during entry?</a:t>
            </a:r>
            <a:endParaRPr lang="en-US" sz="2400" dirty="0"/>
          </a:p>
        </p:txBody>
      </p:sp>
      <p:sp>
        <p:nvSpPr>
          <p:cNvPr id="7" name="txt_1654"/>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1655"/>
          <p:cNvSpPr/>
          <p:nvPr/>
        </p:nvSpPr>
        <p:spPr>
          <a:xfrm>
            <a:off x="548640"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1656"/>
          <p:cNvSpPr/>
          <p:nvPr/>
        </p:nvSpPr>
        <p:spPr>
          <a:xfrm>
            <a:off x="548640" y="3063240"/>
            <a:ext cx="685800" cy="914400"/>
          </a:xfrm>
          <a:prstGeom prst="rect">
            <a:avLst/>
          </a:prstGeom>
          <a:solidFill>
            <a:srgbClr val="0F6E7A"/>
          </a:solidFill>
          <a:ln/>
        </p:spPr>
      </p:sp>
      <p:pic>
        <p:nvPicPr>
          <p:cNvPr id="10" name="a1_icon_1657" descr="preencoded.png">    </p:cNvPr>
          <p:cNvPicPr>
            <a:picLocks noChangeAspect="1"/>
          </p:cNvPicPr>
          <p:nvPr/>
        </p:nvPicPr>
        <p:blipFill>
          <a:blip r:embed="rId2"/>
          <a:stretch>
            <a:fillRect/>
          </a:stretch>
        </p:blipFill>
        <p:spPr>
          <a:xfrm>
            <a:off x="704088" y="3328416"/>
            <a:ext cx="384048" cy="384048"/>
          </a:xfrm>
          <a:prstGeom prst="rect">
            <a:avLst/>
          </a:prstGeom>
        </p:spPr>
      </p:pic>
      <p:sp>
        <p:nvSpPr>
          <p:cNvPr id="11" name="a1_txt_1658"/>
          <p:cNvSpPr txBox="1"/>
          <p:nvPr/>
        </p:nvSpPr>
        <p:spPr>
          <a:xfrm>
            <a:off x="1371600" y="3108960"/>
            <a:ext cx="4472788" cy="822960"/>
          </a:xfrm>
          <a:prstGeom prst="rect">
            <a:avLst/>
          </a:prstGeom>
          <a:noFill/>
          <a:ln/>
        </p:spPr>
        <p:txBody>
          <a:bodyPr wrap="square" lIns="635" tIns="635" rIns="635" bIns="635" rtlCol="0" anchor="ctr"/>
          <a:lstStyle/>
          <a:p>
            <a:pPr indent="0" marL="0">
              <a:buNone/>
            </a:pPr>
            <a:r>
              <a:rPr lang="en-US" sz="1600" b="1" dirty="0">
                <a:solidFill>
                  <a:srgbClr val="0F6E7A"/>
                </a:solidFill>
                <a:latin typeface="Calibri" pitchFamily="34" charset="0"/>
                <a:ea typeface="Calibri" pitchFamily="34" charset="-122"/>
                <a:cs typeface="Calibri" pitchFamily="34" charset="-120"/>
              </a:rPr>
              <a:t>Permit: </a:t>
            </a:r>
            <a:pPr indent="0" marL="0">
              <a:buNone/>
            </a:pPr>
            <a:r>
              <a:rPr lang="en-US" sz="1600" dirty="0">
                <a:solidFill>
                  <a:srgbClr val="1B2730"/>
                </a:solidFill>
                <a:latin typeface="Calibri" pitchFamily="34" charset="0"/>
                <a:ea typeface="Calibri" pitchFamily="34" charset="-122"/>
                <a:cs typeface="Calibri" pitchFamily="34" charset="-120"/>
              </a:rPr>
              <a:t>Confined Space Entry permit/certificate + Isolation Certificate (combined under the master permit)</a:t>
            </a:r>
            <a:endParaRPr lang="en-US" sz="1600" dirty="0"/>
          </a:p>
        </p:txBody>
      </p:sp>
      <p:sp>
        <p:nvSpPr>
          <p:cNvPr id="12" name="a2_box_1659"/>
          <p:cNvSpPr/>
          <p:nvPr/>
        </p:nvSpPr>
        <p:spPr>
          <a:xfrm>
            <a:off x="6210148"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1660"/>
          <p:cNvSpPr/>
          <p:nvPr/>
        </p:nvSpPr>
        <p:spPr>
          <a:xfrm>
            <a:off x="6210148" y="3063240"/>
            <a:ext cx="685800" cy="914400"/>
          </a:xfrm>
          <a:prstGeom prst="rect">
            <a:avLst/>
          </a:prstGeom>
          <a:solidFill>
            <a:srgbClr val="0F6E7A"/>
          </a:solidFill>
          <a:ln/>
        </p:spPr>
      </p:sp>
      <p:pic>
        <p:nvPicPr>
          <p:cNvPr id="14" name="a2_icon_1661" descr="preencoded.png">    </p:cNvPr>
          <p:cNvPicPr>
            <a:picLocks noChangeAspect="1"/>
          </p:cNvPicPr>
          <p:nvPr/>
        </p:nvPicPr>
        <p:blipFill>
          <a:blip r:embed="rId3"/>
          <a:stretch>
            <a:fillRect/>
          </a:stretch>
        </p:blipFill>
        <p:spPr>
          <a:xfrm>
            <a:off x="6365596" y="3328416"/>
            <a:ext cx="384048" cy="384048"/>
          </a:xfrm>
          <a:prstGeom prst="rect">
            <a:avLst/>
          </a:prstGeom>
        </p:spPr>
      </p:pic>
      <p:sp>
        <p:nvSpPr>
          <p:cNvPr id="15" name="a2_txt_1662"/>
          <p:cNvSpPr txBox="1"/>
          <p:nvPr/>
        </p:nvSpPr>
        <p:spPr>
          <a:xfrm>
            <a:off x="7033108" y="3108960"/>
            <a:ext cx="4472788" cy="822960"/>
          </a:xfrm>
          <a:prstGeom prst="rect">
            <a:avLst/>
          </a:prstGeom>
          <a:noFill/>
          <a:ln/>
        </p:spPr>
        <p:txBody>
          <a:bodyPr wrap="square" lIns="635" tIns="635" rIns="635" bIns="635" rtlCol="0" anchor="ctr"/>
          <a:lstStyle/>
          <a:p>
            <a:pPr indent="0" marL="0">
              <a:buNone/>
            </a:pPr>
            <a:r>
              <a:rPr lang="en-US" sz="1600" b="1" dirty="0">
                <a:solidFill>
                  <a:srgbClr val="0F6E7A"/>
                </a:solidFill>
                <a:latin typeface="Calibri" pitchFamily="34" charset="0"/>
                <a:ea typeface="Calibri" pitchFamily="34" charset="-122"/>
                <a:cs typeface="Calibri" pitchFamily="34" charset="-120"/>
              </a:rPr>
              <a:t>Isolate &amp; prepare: </a:t>
            </a:r>
            <a:pPr indent="0" marL="0">
              <a:buNone/>
            </a:pPr>
            <a:r>
              <a:rPr lang="en-US" sz="1600" dirty="0">
                <a:solidFill>
                  <a:srgbClr val="1B2730"/>
                </a:solidFill>
                <a:latin typeface="Calibri" pitchFamily="34" charset="0"/>
                <a:ea typeface="Calibri" pitchFamily="34" charset="-122"/>
                <a:cs typeface="Calibri" pitchFamily="34" charset="-120"/>
              </a:rPr>
              <a:t>Lock out all energy; blind/disconnect all piping; clean &amp; purge; continuous forced ventilation</a:t>
            </a:r>
            <a:endParaRPr lang="en-US" sz="1600" dirty="0"/>
          </a:p>
        </p:txBody>
      </p:sp>
      <p:sp>
        <p:nvSpPr>
          <p:cNvPr id="16" name="a3_box_1663"/>
          <p:cNvSpPr/>
          <p:nvPr/>
        </p:nvSpPr>
        <p:spPr>
          <a:xfrm>
            <a:off x="548640"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1664"/>
          <p:cNvSpPr/>
          <p:nvPr/>
        </p:nvSpPr>
        <p:spPr>
          <a:xfrm>
            <a:off x="548640" y="4206240"/>
            <a:ext cx="685800" cy="914400"/>
          </a:xfrm>
          <a:prstGeom prst="rect">
            <a:avLst/>
          </a:prstGeom>
          <a:solidFill>
            <a:srgbClr val="6A1B9A"/>
          </a:solidFill>
          <a:ln/>
        </p:spPr>
      </p:sp>
      <p:pic>
        <p:nvPicPr>
          <p:cNvPr id="18" name="a3_icon_1665" descr="preencoded.png">    </p:cNvPr>
          <p:cNvPicPr>
            <a:picLocks noChangeAspect="1"/>
          </p:cNvPicPr>
          <p:nvPr/>
        </p:nvPicPr>
        <p:blipFill>
          <a:blip r:embed="rId4"/>
          <a:stretch>
            <a:fillRect/>
          </a:stretch>
        </p:blipFill>
        <p:spPr>
          <a:xfrm>
            <a:off x="704088" y="4471416"/>
            <a:ext cx="384048" cy="384048"/>
          </a:xfrm>
          <a:prstGeom prst="rect">
            <a:avLst/>
          </a:prstGeom>
        </p:spPr>
      </p:pic>
      <p:sp>
        <p:nvSpPr>
          <p:cNvPr id="19" name="a3_txt_1666"/>
          <p:cNvSpPr txBox="1"/>
          <p:nvPr/>
        </p:nvSpPr>
        <p:spPr>
          <a:xfrm>
            <a:off x="1371600" y="4251960"/>
            <a:ext cx="4472788" cy="822960"/>
          </a:xfrm>
          <a:prstGeom prst="rect">
            <a:avLst/>
          </a:prstGeom>
          <a:noFill/>
          <a:ln/>
        </p:spPr>
        <p:txBody>
          <a:bodyPr wrap="square" lIns="635" tIns="635" rIns="635" bIns="635" rtlCol="0" anchor="ctr"/>
          <a:lstStyle/>
          <a:p>
            <a:pPr indent="0" marL="0">
              <a:buNone/>
            </a:pPr>
            <a:r>
              <a:rPr lang="en-US" sz="1600" b="1" dirty="0">
                <a:solidFill>
                  <a:srgbClr val="6A1B9A"/>
                </a:solidFill>
                <a:latin typeface="Calibri" pitchFamily="34" charset="0"/>
                <a:ea typeface="Calibri" pitchFamily="34" charset="-122"/>
                <a:cs typeface="Calibri" pitchFamily="34" charset="-120"/>
              </a:rPr>
              <a:t>Gas test: </a:t>
            </a:r>
            <a:pPr indent="0" marL="0">
              <a:buNone/>
            </a:pPr>
            <a:r>
              <a:rPr lang="en-US" sz="1600" dirty="0">
                <a:solidFill>
                  <a:srgbClr val="1B2730"/>
                </a:solidFill>
                <a:latin typeface="Calibri" pitchFamily="34" charset="0"/>
                <a:ea typeface="Calibri" pitchFamily="34" charset="-122"/>
                <a:cs typeface="Calibri" pitchFamily="34" charset="-120"/>
              </a:rPr>
              <a:t>O₂ → LEL → toxics (H₂S) at top, middle, bottom; results on the Gas Test Certificate</a:t>
            </a:r>
            <a:endParaRPr lang="en-US" sz="1600" dirty="0"/>
          </a:p>
        </p:txBody>
      </p:sp>
      <p:sp>
        <p:nvSpPr>
          <p:cNvPr id="20" name="a4_box_1667"/>
          <p:cNvSpPr/>
          <p:nvPr/>
        </p:nvSpPr>
        <p:spPr>
          <a:xfrm>
            <a:off x="6210148"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1668"/>
          <p:cNvSpPr/>
          <p:nvPr/>
        </p:nvSpPr>
        <p:spPr>
          <a:xfrm>
            <a:off x="6210148" y="4206240"/>
            <a:ext cx="685800" cy="914400"/>
          </a:xfrm>
          <a:prstGeom prst="rect">
            <a:avLst/>
          </a:prstGeom>
          <a:solidFill>
            <a:srgbClr val="E8771E"/>
          </a:solidFill>
          <a:ln/>
        </p:spPr>
      </p:sp>
      <p:pic>
        <p:nvPicPr>
          <p:cNvPr id="22" name="a4_icon_1669" descr="preencoded.png">    </p:cNvPr>
          <p:cNvPicPr>
            <a:picLocks noChangeAspect="1"/>
          </p:cNvPicPr>
          <p:nvPr/>
        </p:nvPicPr>
        <p:blipFill>
          <a:blip r:embed="rId5"/>
          <a:stretch>
            <a:fillRect/>
          </a:stretch>
        </p:blipFill>
        <p:spPr>
          <a:xfrm>
            <a:off x="6365596" y="4471416"/>
            <a:ext cx="384048" cy="384048"/>
          </a:xfrm>
          <a:prstGeom prst="rect">
            <a:avLst/>
          </a:prstGeom>
        </p:spPr>
      </p:pic>
      <p:sp>
        <p:nvSpPr>
          <p:cNvPr id="23" name="a4_txt_1670"/>
          <p:cNvSpPr txBox="1"/>
          <p:nvPr/>
        </p:nvSpPr>
        <p:spPr>
          <a:xfrm>
            <a:off x="7033108" y="4251960"/>
            <a:ext cx="4472788" cy="822960"/>
          </a:xfrm>
          <a:prstGeom prst="rect">
            <a:avLst/>
          </a:prstGeom>
          <a:noFill/>
          <a:ln/>
        </p:spPr>
        <p:txBody>
          <a:bodyPr wrap="square" lIns="635" tIns="635" rIns="635" bIns="635" rtlCol="0" anchor="ctr"/>
          <a:lstStyle/>
          <a:p>
            <a:pPr indent="0" marL="0">
              <a:buNone/>
            </a:pPr>
            <a:r>
              <a:rPr lang="en-US" sz="1600" b="1" dirty="0">
                <a:solidFill>
                  <a:srgbClr val="E8771E"/>
                </a:solidFill>
                <a:latin typeface="Calibri" pitchFamily="34" charset="0"/>
                <a:ea typeface="Calibri" pitchFamily="34" charset="-122"/>
                <a:cs typeface="Calibri" pitchFamily="34" charset="-120"/>
              </a:rPr>
              <a:t>People: </a:t>
            </a:r>
            <a:pPr indent="0" marL="0">
              <a:buNone/>
            </a:pPr>
            <a:r>
              <a:rPr lang="en-US" sz="1600" dirty="0">
                <a:solidFill>
                  <a:srgbClr val="1B2730"/>
                </a:solidFill>
                <a:latin typeface="Calibri" pitchFamily="34" charset="0"/>
                <a:ea typeface="Calibri" pitchFamily="34" charset="-122"/>
                <a:cs typeface="Calibri" pitchFamily="34" charset="-120"/>
              </a:rPr>
              <a:t>Entrant(s) – e.g. max 2 inside V-205; Attendant outside (never enters); Entry Supervisor</a:t>
            </a:r>
            <a:endParaRPr lang="en-US" sz="1600" dirty="0"/>
          </a:p>
        </p:txBody>
      </p:sp>
      <p:sp>
        <p:nvSpPr>
          <p:cNvPr id="24" name="a5_box_1671"/>
          <p:cNvSpPr/>
          <p:nvPr/>
        </p:nvSpPr>
        <p:spPr>
          <a:xfrm>
            <a:off x="548640"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5" name="a5_box_1672"/>
          <p:cNvSpPr/>
          <p:nvPr/>
        </p:nvSpPr>
        <p:spPr>
          <a:xfrm>
            <a:off x="548640" y="5349240"/>
            <a:ext cx="685800" cy="914400"/>
          </a:xfrm>
          <a:prstGeom prst="rect">
            <a:avLst/>
          </a:prstGeom>
          <a:solidFill>
            <a:srgbClr val="C0392B"/>
          </a:solidFill>
          <a:ln/>
        </p:spPr>
      </p:sp>
      <p:pic>
        <p:nvPicPr>
          <p:cNvPr id="26" name="a5_icon_1673" descr="preencoded.png">    </p:cNvPr>
          <p:cNvPicPr>
            <a:picLocks noChangeAspect="1"/>
          </p:cNvPicPr>
          <p:nvPr/>
        </p:nvPicPr>
        <p:blipFill>
          <a:blip r:embed="rId6"/>
          <a:stretch>
            <a:fillRect/>
          </a:stretch>
        </p:blipFill>
        <p:spPr>
          <a:xfrm>
            <a:off x="704088" y="5614416"/>
            <a:ext cx="384048" cy="384048"/>
          </a:xfrm>
          <a:prstGeom prst="rect">
            <a:avLst/>
          </a:prstGeom>
        </p:spPr>
      </p:pic>
      <p:sp>
        <p:nvSpPr>
          <p:cNvPr id="27" name="a5_txt_1674"/>
          <p:cNvSpPr txBox="1"/>
          <p:nvPr/>
        </p:nvSpPr>
        <p:spPr>
          <a:xfrm>
            <a:off x="1371600" y="5394960"/>
            <a:ext cx="4472788" cy="822960"/>
          </a:xfrm>
          <a:prstGeom prst="rect">
            <a:avLst/>
          </a:prstGeom>
          <a:noFill/>
          <a:ln/>
        </p:spPr>
        <p:txBody>
          <a:bodyPr wrap="square" lIns="635" tIns="635" rIns="635" bIns="635"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Rescue: </a:t>
            </a:r>
            <a:pPr indent="0" marL="0">
              <a:buNone/>
            </a:pPr>
            <a:r>
              <a:rPr lang="en-US" sz="1600" dirty="0">
                <a:solidFill>
                  <a:srgbClr val="1B2730"/>
                </a:solidFill>
                <a:latin typeface="Calibri" pitchFamily="34" charset="0"/>
                <a:ea typeface="Calibri" pitchFamily="34" charset="-122"/>
                <a:cs typeface="Calibri" pitchFamily="34" charset="-120"/>
              </a:rPr>
              <a:t>Tripod, winch, harnesses, SCBA; rescue team on alert; non-entry rescue first</a:t>
            </a:r>
            <a:endParaRPr lang="en-US" sz="1600" dirty="0"/>
          </a:p>
        </p:txBody>
      </p:sp>
      <p:sp>
        <p:nvSpPr>
          <p:cNvPr id="28" name="a6_box_1675"/>
          <p:cNvSpPr/>
          <p:nvPr/>
        </p:nvSpPr>
        <p:spPr>
          <a:xfrm>
            <a:off x="6210148"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box_1676"/>
          <p:cNvSpPr/>
          <p:nvPr/>
        </p:nvSpPr>
        <p:spPr>
          <a:xfrm>
            <a:off x="6210148" y="5349240"/>
            <a:ext cx="685800" cy="914400"/>
          </a:xfrm>
          <a:prstGeom prst="rect">
            <a:avLst/>
          </a:prstGeom>
          <a:solidFill>
            <a:srgbClr val="2E7D32"/>
          </a:solidFill>
          <a:ln/>
        </p:spPr>
      </p:sp>
      <p:pic>
        <p:nvPicPr>
          <p:cNvPr id="30" name="a6_icon_1677" descr="preencoded.png">    </p:cNvPr>
          <p:cNvPicPr>
            <a:picLocks noChangeAspect="1"/>
          </p:cNvPicPr>
          <p:nvPr/>
        </p:nvPicPr>
        <p:blipFill>
          <a:blip r:embed="rId7"/>
          <a:stretch>
            <a:fillRect/>
          </a:stretch>
        </p:blipFill>
        <p:spPr>
          <a:xfrm>
            <a:off x="6365596" y="5614416"/>
            <a:ext cx="384048" cy="384048"/>
          </a:xfrm>
          <a:prstGeom prst="rect">
            <a:avLst/>
          </a:prstGeom>
        </p:spPr>
      </p:pic>
      <p:sp>
        <p:nvSpPr>
          <p:cNvPr id="31" name="a6_txt_1678"/>
          <p:cNvSpPr txBox="1"/>
          <p:nvPr/>
        </p:nvSpPr>
        <p:spPr>
          <a:xfrm>
            <a:off x="7033108" y="5394960"/>
            <a:ext cx="4472788" cy="822960"/>
          </a:xfrm>
          <a:prstGeom prst="rect">
            <a:avLst/>
          </a:prstGeom>
          <a:noFill/>
          <a:ln/>
        </p:spPr>
        <p:txBody>
          <a:bodyPr wrap="square" lIns="635" tIns="635" rIns="635" bIns="635" rtlCol="0" anchor="ctr"/>
          <a:lstStyle/>
          <a:p>
            <a:pPr indent="0" marL="0">
              <a:buNone/>
            </a:pPr>
            <a:r>
              <a:rPr lang="en-US" sz="1600" b="1" dirty="0">
                <a:solidFill>
                  <a:srgbClr val="2E7D32"/>
                </a:solidFill>
                <a:latin typeface="Calibri" pitchFamily="34" charset="0"/>
                <a:ea typeface="Calibri" pitchFamily="34" charset="-122"/>
                <a:cs typeface="Calibri" pitchFamily="34" charset="-120"/>
              </a:rPr>
              <a:t>During: </a:t>
            </a:r>
            <a:pPr indent="0" marL="0">
              <a:buNone/>
            </a:pPr>
            <a:r>
              <a:rPr lang="en-US" sz="1600" dirty="0">
                <a:solidFill>
                  <a:srgbClr val="1B2730"/>
                </a:solidFill>
                <a:latin typeface="Calibri" pitchFamily="34" charset="0"/>
                <a:ea typeface="Calibri" pitchFamily="34" charset="-122"/>
                <a:cs typeface="Calibri" pitchFamily="34" charset="-120"/>
              </a:rPr>
              <a:t>Continuous monitoring; re-test after breaks; 1 entry / max 4 h; suspend if conditions change</a:t>
            </a:r>
            <a:endParaRPr lang="en-US" sz="1600" dirty="0"/>
          </a:p>
        </p:txBody>
      </p:sp>
      <p:sp>
        <p:nvSpPr>
          <p:cNvPr id="32"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Scenario: Hot Work Near Operating Equipment</a:t>
            </a:r>
            <a:endParaRPr lang="en-US" sz="3200" dirty="0"/>
          </a:p>
        </p:txBody>
      </p:sp>
      <p:sp>
        <p:nvSpPr>
          <p:cNvPr id="3" name="box_1679"/>
          <p:cNvSpPr/>
          <p:nvPr/>
        </p:nvSpPr>
        <p:spPr>
          <a:xfrm>
            <a:off x="548640" y="1280160"/>
            <a:ext cx="11094415" cy="1234440"/>
          </a:xfrm>
          <a:prstGeom prst="roundRect">
            <a:avLst>
              <a:gd name="adj" fmla="val 8889"/>
            </a:avLst>
          </a:prstGeom>
          <a:solidFill>
            <a:srgbClr val="0B2A3C"/>
          </a:solidFill>
          <a:ln/>
        </p:spPr>
      </p:sp>
      <p:pic>
        <p:nvPicPr>
          <p:cNvPr id="4" name="icon_1680"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1681"/>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Maintenance wants to weld a support near operating gas-treatment equipment. Production pressure is high – “just start, we’ll do the permit after.”</a:t>
            </a:r>
            <a:endParaRPr lang="en-US" sz="1800" dirty="0"/>
          </a:p>
        </p:txBody>
      </p:sp>
      <p:sp>
        <p:nvSpPr>
          <p:cNvPr id="6" name="txt_1682"/>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must happen?</a:t>
            </a:r>
            <a:endParaRPr lang="en-US" sz="2400" dirty="0"/>
          </a:p>
        </p:txBody>
      </p:sp>
      <p:sp>
        <p:nvSpPr>
          <p:cNvPr id="7" name="txt_1683"/>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1684"/>
          <p:cNvSpPr/>
          <p:nvPr/>
        </p:nvSpPr>
        <p:spPr>
          <a:xfrm>
            <a:off x="548640"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1685"/>
          <p:cNvSpPr/>
          <p:nvPr/>
        </p:nvSpPr>
        <p:spPr>
          <a:xfrm>
            <a:off x="548640" y="3063240"/>
            <a:ext cx="685800" cy="914400"/>
          </a:xfrm>
          <a:prstGeom prst="rect">
            <a:avLst/>
          </a:prstGeom>
          <a:solidFill>
            <a:srgbClr val="C0392B"/>
          </a:solidFill>
          <a:ln/>
        </p:spPr>
      </p:sp>
      <p:pic>
        <p:nvPicPr>
          <p:cNvPr id="10" name="a1_icon_1686" descr="preencoded.png">    </p:cNvPr>
          <p:cNvPicPr>
            <a:picLocks noChangeAspect="1"/>
          </p:cNvPicPr>
          <p:nvPr/>
        </p:nvPicPr>
        <p:blipFill>
          <a:blip r:embed="rId2"/>
          <a:stretch>
            <a:fillRect/>
          </a:stretch>
        </p:blipFill>
        <p:spPr>
          <a:xfrm>
            <a:off x="704088" y="3328416"/>
            <a:ext cx="384048" cy="384048"/>
          </a:xfrm>
          <a:prstGeom prst="rect">
            <a:avLst/>
          </a:prstGeom>
        </p:spPr>
      </p:pic>
      <p:sp>
        <p:nvSpPr>
          <p:cNvPr id="11" name="a1_txt_1687"/>
          <p:cNvSpPr txBox="1"/>
          <p:nvPr/>
        </p:nvSpPr>
        <p:spPr>
          <a:xfrm>
            <a:off x="1371600" y="3108960"/>
            <a:ext cx="4472788" cy="822960"/>
          </a:xfrm>
          <a:prstGeom prst="rect">
            <a:avLst/>
          </a:prstGeom>
          <a:noFill/>
          <a:ln/>
        </p:spPr>
        <p:txBody>
          <a:bodyPr wrap="square" lIns="635" tIns="635" rIns="635" bIns="635"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Stop: </a:t>
            </a:r>
            <a:pPr indent="0" marL="0">
              <a:buNone/>
            </a:pPr>
            <a:r>
              <a:rPr lang="en-US" sz="1600" dirty="0">
                <a:solidFill>
                  <a:srgbClr val="1B2730"/>
                </a:solidFill>
                <a:latin typeface="Calibri" pitchFamily="34" charset="0"/>
                <a:ea typeface="Calibri" pitchFamily="34" charset="-122"/>
                <a:cs typeface="Calibri" pitchFamily="34" charset="-120"/>
              </a:rPr>
              <a:t>No valid Hot Work Permit = Life Saving Rule breach. Use Stop Work Authority.</a:t>
            </a:r>
            <a:endParaRPr lang="en-US" sz="1600" dirty="0"/>
          </a:p>
        </p:txBody>
      </p:sp>
      <p:sp>
        <p:nvSpPr>
          <p:cNvPr id="12" name="a2_box_1688"/>
          <p:cNvSpPr/>
          <p:nvPr/>
        </p:nvSpPr>
        <p:spPr>
          <a:xfrm>
            <a:off x="6210148"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1689"/>
          <p:cNvSpPr/>
          <p:nvPr/>
        </p:nvSpPr>
        <p:spPr>
          <a:xfrm>
            <a:off x="6210148" y="3063240"/>
            <a:ext cx="685800" cy="914400"/>
          </a:xfrm>
          <a:prstGeom prst="rect">
            <a:avLst/>
          </a:prstGeom>
          <a:solidFill>
            <a:srgbClr val="0F6E7A"/>
          </a:solidFill>
          <a:ln/>
        </p:spPr>
      </p:sp>
      <p:pic>
        <p:nvPicPr>
          <p:cNvPr id="14" name="a2_icon_1690" descr="preencoded.png">    </p:cNvPr>
          <p:cNvPicPr>
            <a:picLocks noChangeAspect="1"/>
          </p:cNvPicPr>
          <p:nvPr/>
        </p:nvPicPr>
        <p:blipFill>
          <a:blip r:embed="rId3"/>
          <a:stretch>
            <a:fillRect/>
          </a:stretch>
        </p:blipFill>
        <p:spPr>
          <a:xfrm>
            <a:off x="6365596" y="3328416"/>
            <a:ext cx="384048" cy="384048"/>
          </a:xfrm>
          <a:prstGeom prst="rect">
            <a:avLst/>
          </a:prstGeom>
        </p:spPr>
      </p:pic>
      <p:sp>
        <p:nvSpPr>
          <p:cNvPr id="15" name="a2_txt_1691"/>
          <p:cNvSpPr txBox="1"/>
          <p:nvPr/>
        </p:nvSpPr>
        <p:spPr>
          <a:xfrm>
            <a:off x="7033108" y="3108960"/>
            <a:ext cx="4472788" cy="822960"/>
          </a:xfrm>
          <a:prstGeom prst="rect">
            <a:avLst/>
          </a:prstGeom>
          <a:noFill/>
          <a:ln/>
        </p:spPr>
        <p:txBody>
          <a:bodyPr wrap="square" lIns="635" tIns="635" rIns="635" bIns="635" rtlCol="0" anchor="ctr"/>
          <a:lstStyle/>
          <a:p>
            <a:pPr indent="0" marL="0">
              <a:buNone/>
            </a:pPr>
            <a:r>
              <a:rPr lang="en-US" sz="1600" b="1" dirty="0">
                <a:solidFill>
                  <a:srgbClr val="0F6E7A"/>
                </a:solidFill>
                <a:latin typeface="Calibri" pitchFamily="34" charset="0"/>
                <a:ea typeface="Calibri" pitchFamily="34" charset="-122"/>
                <a:cs typeface="Calibri" pitchFamily="34" charset="-120"/>
              </a:rPr>
              <a:t>Plan: </a:t>
            </a:r>
            <a:pPr indent="0" marL="0">
              <a:buNone/>
            </a:pPr>
            <a:r>
              <a:rPr lang="en-US" sz="1600" dirty="0">
                <a:solidFill>
                  <a:srgbClr val="1B2730"/>
                </a:solidFill>
                <a:latin typeface="Calibri" pitchFamily="34" charset="0"/>
                <a:ea typeface="Calibri" pitchFamily="34" charset="-122"/>
                <a:cs typeface="Calibri" pitchFamily="34" charset="-120"/>
              </a:rPr>
              <a:t>Can it be eliminated or substituted (e.g. hydraulic cutter, workshop)? JSA; SIMOPS check with nearby operations.</a:t>
            </a:r>
            <a:endParaRPr lang="en-US" sz="1600" dirty="0"/>
          </a:p>
        </p:txBody>
      </p:sp>
      <p:sp>
        <p:nvSpPr>
          <p:cNvPr id="16" name="a3_box_1692"/>
          <p:cNvSpPr/>
          <p:nvPr/>
        </p:nvSpPr>
        <p:spPr>
          <a:xfrm>
            <a:off x="548640"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1693"/>
          <p:cNvSpPr/>
          <p:nvPr/>
        </p:nvSpPr>
        <p:spPr>
          <a:xfrm>
            <a:off x="548640" y="4206240"/>
            <a:ext cx="685800" cy="914400"/>
          </a:xfrm>
          <a:prstGeom prst="rect">
            <a:avLst/>
          </a:prstGeom>
          <a:solidFill>
            <a:srgbClr val="E8771E"/>
          </a:solidFill>
          <a:ln/>
        </p:spPr>
      </p:sp>
      <p:pic>
        <p:nvPicPr>
          <p:cNvPr id="18" name="a3_icon_1694" descr="preencoded.png">    </p:cNvPr>
          <p:cNvPicPr>
            <a:picLocks noChangeAspect="1"/>
          </p:cNvPicPr>
          <p:nvPr/>
        </p:nvPicPr>
        <p:blipFill>
          <a:blip r:embed="rId4"/>
          <a:stretch>
            <a:fillRect/>
          </a:stretch>
        </p:blipFill>
        <p:spPr>
          <a:xfrm>
            <a:off x="704088" y="4471416"/>
            <a:ext cx="384048" cy="384048"/>
          </a:xfrm>
          <a:prstGeom prst="rect">
            <a:avLst/>
          </a:prstGeom>
        </p:spPr>
      </p:pic>
      <p:sp>
        <p:nvSpPr>
          <p:cNvPr id="19" name="a3_txt_1695"/>
          <p:cNvSpPr txBox="1"/>
          <p:nvPr/>
        </p:nvSpPr>
        <p:spPr>
          <a:xfrm>
            <a:off x="1371600" y="4251960"/>
            <a:ext cx="4472788" cy="822960"/>
          </a:xfrm>
          <a:prstGeom prst="rect">
            <a:avLst/>
          </a:prstGeom>
          <a:noFill/>
          <a:ln/>
        </p:spPr>
        <p:txBody>
          <a:bodyPr wrap="square" lIns="635" tIns="635" rIns="635" bIns="635" rtlCol="0" anchor="ctr"/>
          <a:lstStyle/>
          <a:p>
            <a:pPr indent="0" marL="0">
              <a:buNone/>
            </a:pPr>
            <a:r>
              <a:rPr lang="en-US" sz="1600" b="1" dirty="0">
                <a:solidFill>
                  <a:srgbClr val="E8771E"/>
                </a:solidFill>
                <a:latin typeface="Calibri" pitchFamily="34" charset="0"/>
                <a:ea typeface="Calibri" pitchFamily="34" charset="-122"/>
                <a:cs typeface="Calibri" pitchFamily="34" charset="-120"/>
              </a:rPr>
              <a:t>Control: </a:t>
            </a:r>
            <a:pPr indent="0" marL="0">
              <a:buNone/>
            </a:pPr>
            <a:r>
              <a:rPr lang="en-US" sz="1600" dirty="0">
                <a:solidFill>
                  <a:srgbClr val="1B2730"/>
                </a:solidFill>
                <a:latin typeface="Calibri" pitchFamily="34" charset="0"/>
                <a:ea typeface="Calibri" pitchFamily="34" charset="-122"/>
                <a:cs typeface="Calibri" pitchFamily="34" charset="-120"/>
              </a:rPr>
              <a:t>Continuous gas monitoring (stop &gt; 10% LEL); combustibles cleared/covered 15 m; openings covered.</a:t>
            </a:r>
            <a:endParaRPr lang="en-US" sz="1600" dirty="0"/>
          </a:p>
        </p:txBody>
      </p:sp>
      <p:sp>
        <p:nvSpPr>
          <p:cNvPr id="20" name="a4_box_1696"/>
          <p:cNvSpPr/>
          <p:nvPr/>
        </p:nvSpPr>
        <p:spPr>
          <a:xfrm>
            <a:off x="6210148"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1697"/>
          <p:cNvSpPr/>
          <p:nvPr/>
        </p:nvSpPr>
        <p:spPr>
          <a:xfrm>
            <a:off x="6210148" y="4206240"/>
            <a:ext cx="685800" cy="914400"/>
          </a:xfrm>
          <a:prstGeom prst="rect">
            <a:avLst/>
          </a:prstGeom>
          <a:solidFill>
            <a:srgbClr val="C0392B"/>
          </a:solidFill>
          <a:ln/>
        </p:spPr>
      </p:sp>
      <p:pic>
        <p:nvPicPr>
          <p:cNvPr id="22" name="a4_icon_1698" descr="preencoded.png">    </p:cNvPr>
          <p:cNvPicPr>
            <a:picLocks noChangeAspect="1"/>
          </p:cNvPicPr>
          <p:nvPr/>
        </p:nvPicPr>
        <p:blipFill>
          <a:blip r:embed="rId5"/>
          <a:stretch>
            <a:fillRect/>
          </a:stretch>
        </p:blipFill>
        <p:spPr>
          <a:xfrm>
            <a:off x="6365596" y="4471416"/>
            <a:ext cx="384048" cy="384048"/>
          </a:xfrm>
          <a:prstGeom prst="rect">
            <a:avLst/>
          </a:prstGeom>
        </p:spPr>
      </p:pic>
      <p:sp>
        <p:nvSpPr>
          <p:cNvPr id="23" name="a4_txt_1699"/>
          <p:cNvSpPr txBox="1"/>
          <p:nvPr/>
        </p:nvSpPr>
        <p:spPr>
          <a:xfrm>
            <a:off x="7033108" y="4251960"/>
            <a:ext cx="4472788" cy="822960"/>
          </a:xfrm>
          <a:prstGeom prst="rect">
            <a:avLst/>
          </a:prstGeom>
          <a:noFill/>
          <a:ln/>
        </p:spPr>
        <p:txBody>
          <a:bodyPr wrap="square" lIns="635" tIns="635" rIns="635" bIns="635"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Fire readiness: </a:t>
            </a:r>
            <a:pPr indent="0" marL="0">
              <a:buNone/>
            </a:pPr>
            <a:r>
              <a:rPr lang="en-US" sz="1600" dirty="0">
                <a:solidFill>
                  <a:srgbClr val="1B2730"/>
                </a:solidFill>
                <a:latin typeface="Calibri" pitchFamily="34" charset="0"/>
                <a:ea typeface="Calibri" pitchFamily="34" charset="-122"/>
                <a:cs typeface="Calibri" pitchFamily="34" charset="-120"/>
              </a:rPr>
              <a:t>Dedicated fire watch with 9 kg extinguisher + radio, during and 60 min after; extinguishers &amp; hose ready.</a:t>
            </a:r>
            <a:endParaRPr lang="en-US" sz="1600" dirty="0"/>
          </a:p>
        </p:txBody>
      </p:sp>
      <p:sp>
        <p:nvSpPr>
          <p:cNvPr id="24" name="a5_box_1700"/>
          <p:cNvSpPr/>
          <p:nvPr/>
        </p:nvSpPr>
        <p:spPr>
          <a:xfrm>
            <a:off x="548640"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5" name="a5_box_1701"/>
          <p:cNvSpPr/>
          <p:nvPr/>
        </p:nvSpPr>
        <p:spPr>
          <a:xfrm>
            <a:off x="548640" y="5349240"/>
            <a:ext cx="685800" cy="914400"/>
          </a:xfrm>
          <a:prstGeom prst="rect">
            <a:avLst/>
          </a:prstGeom>
          <a:solidFill>
            <a:srgbClr val="C0392B"/>
          </a:solidFill>
          <a:ln/>
        </p:spPr>
      </p:sp>
      <p:pic>
        <p:nvPicPr>
          <p:cNvPr id="26" name="a5_icon_1702" descr="preencoded.png">    </p:cNvPr>
          <p:cNvPicPr>
            <a:picLocks noChangeAspect="1"/>
          </p:cNvPicPr>
          <p:nvPr/>
        </p:nvPicPr>
        <p:blipFill>
          <a:blip r:embed="rId6"/>
          <a:stretch>
            <a:fillRect/>
          </a:stretch>
        </p:blipFill>
        <p:spPr>
          <a:xfrm>
            <a:off x="704088" y="5614416"/>
            <a:ext cx="384048" cy="384048"/>
          </a:xfrm>
          <a:prstGeom prst="rect">
            <a:avLst/>
          </a:prstGeom>
        </p:spPr>
      </p:pic>
      <p:sp>
        <p:nvSpPr>
          <p:cNvPr id="27" name="a5_txt_1703"/>
          <p:cNvSpPr txBox="1"/>
          <p:nvPr/>
        </p:nvSpPr>
        <p:spPr>
          <a:xfrm>
            <a:off x="1371600" y="5394960"/>
            <a:ext cx="4472788" cy="822960"/>
          </a:xfrm>
          <a:prstGeom prst="rect">
            <a:avLst/>
          </a:prstGeom>
          <a:noFill/>
          <a:ln/>
        </p:spPr>
        <p:txBody>
          <a:bodyPr wrap="square" lIns="635" tIns="635" rIns="635" bIns="635"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Forbidden if: </a:t>
            </a:r>
            <a:pPr indent="0" marL="0">
              <a:buNone/>
            </a:pPr>
            <a:r>
              <a:rPr lang="en-US" sz="1600" dirty="0">
                <a:solidFill>
                  <a:srgbClr val="1B2730"/>
                </a:solidFill>
                <a:latin typeface="Calibri" pitchFamily="34" charset="0"/>
                <a:ea typeface="Calibri" pitchFamily="34" charset="-122"/>
                <a:cs typeface="Calibri" pitchFamily="34" charset="-120"/>
              </a:rPr>
              <a:t>Hazardous transfers, active hydrocarbon releases, or unsafe gas test.</a:t>
            </a:r>
            <a:endParaRPr lang="en-US" sz="1600" dirty="0"/>
          </a:p>
        </p:txBody>
      </p:sp>
      <p:sp>
        <p:nvSpPr>
          <p:cNvPr id="28" name="a6_box_1704"/>
          <p:cNvSpPr/>
          <p:nvPr/>
        </p:nvSpPr>
        <p:spPr>
          <a:xfrm>
            <a:off x="6210148"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box_1705"/>
          <p:cNvSpPr/>
          <p:nvPr/>
        </p:nvSpPr>
        <p:spPr>
          <a:xfrm>
            <a:off x="6210148" y="5349240"/>
            <a:ext cx="685800" cy="914400"/>
          </a:xfrm>
          <a:prstGeom prst="rect">
            <a:avLst/>
          </a:prstGeom>
          <a:solidFill>
            <a:srgbClr val="2E7D32"/>
          </a:solidFill>
          <a:ln/>
        </p:spPr>
      </p:sp>
      <p:pic>
        <p:nvPicPr>
          <p:cNvPr id="30" name="a6_icon_1706" descr="preencoded.png">    </p:cNvPr>
          <p:cNvPicPr>
            <a:picLocks noChangeAspect="1"/>
          </p:cNvPicPr>
          <p:nvPr/>
        </p:nvPicPr>
        <p:blipFill>
          <a:blip r:embed="rId7"/>
          <a:stretch>
            <a:fillRect/>
          </a:stretch>
        </p:blipFill>
        <p:spPr>
          <a:xfrm>
            <a:off x="6365596" y="5614416"/>
            <a:ext cx="384048" cy="384048"/>
          </a:xfrm>
          <a:prstGeom prst="rect">
            <a:avLst/>
          </a:prstGeom>
        </p:spPr>
      </p:pic>
      <p:sp>
        <p:nvSpPr>
          <p:cNvPr id="31" name="a6_txt_1707"/>
          <p:cNvSpPr txBox="1"/>
          <p:nvPr/>
        </p:nvSpPr>
        <p:spPr>
          <a:xfrm>
            <a:off x="7033108" y="5394960"/>
            <a:ext cx="4472788" cy="822960"/>
          </a:xfrm>
          <a:prstGeom prst="rect">
            <a:avLst/>
          </a:prstGeom>
          <a:noFill/>
          <a:ln/>
        </p:spPr>
        <p:txBody>
          <a:bodyPr wrap="square" lIns="635" tIns="635" rIns="635" bIns="635" rtlCol="0" anchor="ctr"/>
          <a:lstStyle/>
          <a:p>
            <a:pPr indent="0" marL="0">
              <a:buNone/>
            </a:pPr>
            <a:r>
              <a:rPr lang="en-US" sz="1600" b="1" dirty="0">
                <a:solidFill>
                  <a:srgbClr val="2E7D32"/>
                </a:solidFill>
                <a:latin typeface="Calibri" pitchFamily="34" charset="0"/>
                <a:ea typeface="Calibri" pitchFamily="34" charset="-122"/>
                <a:cs typeface="Calibri" pitchFamily="34" charset="-120"/>
              </a:rPr>
              <a:t>Validity: </a:t>
            </a:r>
            <a:pPr indent="0" marL="0">
              <a:buNone/>
            </a:pPr>
            <a:r>
              <a:rPr lang="en-US" sz="1600" dirty="0">
                <a:solidFill>
                  <a:srgbClr val="1B2730"/>
                </a:solidFill>
                <a:latin typeface="Calibri" pitchFamily="34" charset="0"/>
                <a:ea typeface="Calibri" pitchFamily="34" charset="-122"/>
                <a:cs typeface="Calibri" pitchFamily="34" charset="-120"/>
              </a:rPr>
              <a:t>One shift (max 12 h); revalidate after breaks or changes such as wind.</a:t>
            </a:r>
            <a:endParaRPr lang="en-US" sz="1600" dirty="0"/>
          </a:p>
        </p:txBody>
      </p:sp>
      <p:sp>
        <p:nvSpPr>
          <p:cNvPr id="32"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Common PTW Mistakes – and the Right Way</a:t>
            </a:r>
            <a:endParaRPr lang="en-US" sz="3200" dirty="0"/>
          </a:p>
        </p:txBody>
      </p:sp>
      <p:sp>
        <p:nvSpPr>
          <p:cNvPr id="3" name="txt_1708"/>
          <p:cNvSpPr txBox="1"/>
          <p:nvPr/>
        </p:nvSpPr>
        <p:spPr>
          <a:xfrm>
            <a:off x="1234440" y="1188720"/>
            <a:ext cx="4572000" cy="365760"/>
          </a:xfrm>
          <a:prstGeom prst="rect">
            <a:avLst/>
          </a:prstGeom>
          <a:noFill/>
          <a:ln/>
        </p:spPr>
        <p:txBody>
          <a:bodyPr wrap="square" lIns="635" tIns="635" rIns="635" bIns="635" rtlCol="0" anchor="t"/>
          <a:lstStyle/>
          <a:p>
            <a:pPr indent="0" marL="0">
              <a:buNone/>
            </a:pPr>
            <a:r>
              <a:rPr lang="en-US" sz="1600" b="1" dirty="0">
                <a:solidFill>
                  <a:srgbClr val="C0392B"/>
                </a:solidFill>
                <a:latin typeface="Calibri" pitchFamily="34" charset="0"/>
                <a:ea typeface="Calibri" pitchFamily="34" charset="-122"/>
                <a:cs typeface="Calibri" pitchFamily="34" charset="-120"/>
              </a:rPr>
              <a:t>MISTAKE</a:t>
            </a:r>
            <a:endParaRPr lang="en-US" sz="1600" dirty="0"/>
          </a:p>
        </p:txBody>
      </p:sp>
      <p:sp>
        <p:nvSpPr>
          <p:cNvPr id="4" name="txt_1709"/>
          <p:cNvSpPr txBox="1"/>
          <p:nvPr/>
        </p:nvSpPr>
        <p:spPr>
          <a:xfrm>
            <a:off x="6537960" y="1188720"/>
            <a:ext cx="4572000" cy="365760"/>
          </a:xfrm>
          <a:prstGeom prst="rect">
            <a:avLst/>
          </a:prstGeom>
          <a:noFill/>
          <a:ln/>
        </p:spPr>
        <p:txBody>
          <a:bodyPr wrap="square" lIns="635" tIns="635" rIns="635" bIns="635" rtlCol="0" anchor="t"/>
          <a:lstStyle/>
          <a:p>
            <a:pPr indent="0" marL="0">
              <a:buNone/>
            </a:pPr>
            <a:r>
              <a:rPr lang="en-US" sz="1600" b="1" dirty="0">
                <a:solidFill>
                  <a:srgbClr val="2E7D32"/>
                </a:solidFill>
                <a:latin typeface="Calibri" pitchFamily="34" charset="0"/>
                <a:ea typeface="Calibri" pitchFamily="34" charset="-122"/>
                <a:cs typeface="Calibri" pitchFamily="34" charset="-120"/>
              </a:rPr>
              <a:t>RIGHT WAY</a:t>
            </a:r>
            <a:endParaRPr lang="en-US" sz="1600" dirty="0"/>
          </a:p>
        </p:txBody>
      </p:sp>
      <p:pic>
        <p:nvPicPr>
          <p:cNvPr id="5" name="a1_icon_1710" descr="preencoded.png">    </p:cNvPr>
          <p:cNvPicPr>
            <a:picLocks noChangeAspect="1"/>
          </p:cNvPicPr>
          <p:nvPr/>
        </p:nvPicPr>
        <p:blipFill>
          <a:blip r:embed="rId1"/>
          <a:stretch>
            <a:fillRect/>
          </a:stretch>
        </p:blipFill>
        <p:spPr>
          <a:xfrm>
            <a:off x="548640" y="1691640"/>
            <a:ext cx="365760" cy="365760"/>
          </a:xfrm>
          <a:prstGeom prst="rect">
            <a:avLst/>
          </a:prstGeom>
        </p:spPr>
      </p:pic>
      <p:sp>
        <p:nvSpPr>
          <p:cNvPr id="6" name="a1_txt_1711"/>
          <p:cNvSpPr txBox="1"/>
          <p:nvPr/>
        </p:nvSpPr>
        <p:spPr>
          <a:xfrm>
            <a:off x="1051560" y="1600200"/>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Treating the permit as a tick-box</a:t>
            </a:r>
            <a:endParaRPr lang="en-US" sz="1800" dirty="0"/>
          </a:p>
        </p:txBody>
      </p:sp>
      <p:pic>
        <p:nvPicPr>
          <p:cNvPr id="7" name="a1_icon_1712" descr="preencoded.png">    </p:cNvPr>
          <p:cNvPicPr>
            <a:picLocks noChangeAspect="1"/>
          </p:cNvPicPr>
          <p:nvPr/>
        </p:nvPicPr>
        <p:blipFill>
          <a:blip r:embed="rId2"/>
          <a:stretch>
            <a:fillRect/>
          </a:stretch>
        </p:blipFill>
        <p:spPr>
          <a:xfrm>
            <a:off x="5715000" y="1709928"/>
            <a:ext cx="320040" cy="320040"/>
          </a:xfrm>
          <a:prstGeom prst="rect">
            <a:avLst/>
          </a:prstGeom>
        </p:spPr>
      </p:pic>
      <p:pic>
        <p:nvPicPr>
          <p:cNvPr id="8" name="a1_icon_1713" descr="preencoded.png">    </p:cNvPr>
          <p:cNvPicPr>
            <a:picLocks noChangeAspect="1"/>
          </p:cNvPicPr>
          <p:nvPr/>
        </p:nvPicPr>
        <p:blipFill>
          <a:blip r:embed="rId3"/>
          <a:stretch>
            <a:fillRect/>
          </a:stretch>
        </p:blipFill>
        <p:spPr>
          <a:xfrm>
            <a:off x="6172200" y="1691640"/>
            <a:ext cx="365760" cy="365760"/>
          </a:xfrm>
          <a:prstGeom prst="rect">
            <a:avLst/>
          </a:prstGeom>
        </p:spPr>
      </p:pic>
      <p:sp>
        <p:nvSpPr>
          <p:cNvPr id="9" name="a1_txt_1714"/>
          <p:cNvSpPr txBox="1"/>
          <p:nvPr/>
        </p:nvSpPr>
        <p:spPr>
          <a:xfrm>
            <a:off x="6675120" y="1600200"/>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Walk, check and verify on site before signing</a:t>
            </a:r>
            <a:endParaRPr lang="en-US" sz="1800" dirty="0"/>
          </a:p>
        </p:txBody>
      </p:sp>
      <p:pic>
        <p:nvPicPr>
          <p:cNvPr id="10" name="a2_icon_1715" descr="preencoded.png">    </p:cNvPr>
          <p:cNvPicPr>
            <a:picLocks noChangeAspect="1"/>
          </p:cNvPicPr>
          <p:nvPr/>
        </p:nvPicPr>
        <p:blipFill>
          <a:blip r:embed="rId4"/>
          <a:stretch>
            <a:fillRect/>
          </a:stretch>
        </p:blipFill>
        <p:spPr>
          <a:xfrm>
            <a:off x="548640" y="2276856"/>
            <a:ext cx="365760" cy="365760"/>
          </a:xfrm>
          <a:prstGeom prst="rect">
            <a:avLst/>
          </a:prstGeom>
        </p:spPr>
      </p:pic>
      <p:sp>
        <p:nvSpPr>
          <p:cNvPr id="11" name="a2_txt_1716"/>
          <p:cNvSpPr txBox="1"/>
          <p:nvPr/>
        </p:nvSpPr>
        <p:spPr>
          <a:xfrm>
            <a:off x="1051560" y="2185416"/>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Verbal “go ahead”</a:t>
            </a:r>
            <a:endParaRPr lang="en-US" sz="1800" dirty="0"/>
          </a:p>
        </p:txBody>
      </p:sp>
      <p:pic>
        <p:nvPicPr>
          <p:cNvPr id="12" name="a2_icon_1717" descr="preencoded.png">    </p:cNvPr>
          <p:cNvPicPr>
            <a:picLocks noChangeAspect="1"/>
          </p:cNvPicPr>
          <p:nvPr/>
        </p:nvPicPr>
        <p:blipFill>
          <a:blip r:embed="rId5"/>
          <a:stretch>
            <a:fillRect/>
          </a:stretch>
        </p:blipFill>
        <p:spPr>
          <a:xfrm>
            <a:off x="5715000" y="2295144"/>
            <a:ext cx="320040" cy="320040"/>
          </a:xfrm>
          <a:prstGeom prst="rect">
            <a:avLst/>
          </a:prstGeom>
        </p:spPr>
      </p:pic>
      <p:pic>
        <p:nvPicPr>
          <p:cNvPr id="13" name="a2_icon_1718" descr="preencoded.png">    </p:cNvPr>
          <p:cNvPicPr>
            <a:picLocks noChangeAspect="1"/>
          </p:cNvPicPr>
          <p:nvPr/>
        </p:nvPicPr>
        <p:blipFill>
          <a:blip r:embed="rId6"/>
          <a:stretch>
            <a:fillRect/>
          </a:stretch>
        </p:blipFill>
        <p:spPr>
          <a:xfrm>
            <a:off x="6172200" y="2276856"/>
            <a:ext cx="365760" cy="365760"/>
          </a:xfrm>
          <a:prstGeom prst="rect">
            <a:avLst/>
          </a:prstGeom>
        </p:spPr>
      </p:pic>
      <p:sp>
        <p:nvSpPr>
          <p:cNvPr id="14" name="a2_txt_1719"/>
          <p:cNvSpPr txBox="1"/>
          <p:nvPr/>
        </p:nvSpPr>
        <p:spPr>
          <a:xfrm>
            <a:off x="6675120" y="2185416"/>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Only a signed, valid permit authorises work</a:t>
            </a:r>
            <a:endParaRPr lang="en-US" sz="1800" dirty="0"/>
          </a:p>
        </p:txBody>
      </p:sp>
      <p:pic>
        <p:nvPicPr>
          <p:cNvPr id="15" name="a3_icon_1720" descr="preencoded.png">    </p:cNvPr>
          <p:cNvPicPr>
            <a:picLocks noChangeAspect="1"/>
          </p:cNvPicPr>
          <p:nvPr/>
        </p:nvPicPr>
        <p:blipFill>
          <a:blip r:embed="rId7"/>
          <a:stretch>
            <a:fillRect/>
          </a:stretch>
        </p:blipFill>
        <p:spPr>
          <a:xfrm>
            <a:off x="548640" y="2862072"/>
            <a:ext cx="365760" cy="365760"/>
          </a:xfrm>
          <a:prstGeom prst="rect">
            <a:avLst/>
          </a:prstGeom>
        </p:spPr>
      </p:pic>
      <p:sp>
        <p:nvSpPr>
          <p:cNvPr id="16" name="a3_txt_1721"/>
          <p:cNvSpPr txBox="1"/>
          <p:nvPr/>
        </p:nvSpPr>
        <p:spPr>
          <a:xfrm>
            <a:off x="1051560" y="2770632"/>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Vague scope: “work on pump”</a:t>
            </a:r>
            <a:endParaRPr lang="en-US" sz="1800" dirty="0"/>
          </a:p>
        </p:txBody>
      </p:sp>
      <p:pic>
        <p:nvPicPr>
          <p:cNvPr id="17" name="a3_icon_1722" descr="preencoded.png">    </p:cNvPr>
          <p:cNvPicPr>
            <a:picLocks noChangeAspect="1"/>
          </p:cNvPicPr>
          <p:nvPr/>
        </p:nvPicPr>
        <p:blipFill>
          <a:blip r:embed="rId8"/>
          <a:stretch>
            <a:fillRect/>
          </a:stretch>
        </p:blipFill>
        <p:spPr>
          <a:xfrm>
            <a:off x="5715000" y="2880360"/>
            <a:ext cx="320040" cy="320040"/>
          </a:xfrm>
          <a:prstGeom prst="rect">
            <a:avLst/>
          </a:prstGeom>
        </p:spPr>
      </p:pic>
      <p:pic>
        <p:nvPicPr>
          <p:cNvPr id="18" name="a3_icon_1723" descr="preencoded.png">    </p:cNvPr>
          <p:cNvPicPr>
            <a:picLocks noChangeAspect="1"/>
          </p:cNvPicPr>
          <p:nvPr/>
        </p:nvPicPr>
        <p:blipFill>
          <a:blip r:embed="rId9"/>
          <a:stretch>
            <a:fillRect/>
          </a:stretch>
        </p:blipFill>
        <p:spPr>
          <a:xfrm>
            <a:off x="6172200" y="2862072"/>
            <a:ext cx="365760" cy="365760"/>
          </a:xfrm>
          <a:prstGeom prst="rect">
            <a:avLst/>
          </a:prstGeom>
        </p:spPr>
      </p:pic>
      <p:sp>
        <p:nvSpPr>
          <p:cNvPr id="19" name="a3_txt_1724"/>
          <p:cNvSpPr txBox="1"/>
          <p:nvPr/>
        </p:nvSpPr>
        <p:spPr>
          <a:xfrm>
            <a:off x="6675120" y="2770632"/>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Exact tag, location and exclusions</a:t>
            </a:r>
            <a:endParaRPr lang="en-US" sz="1800" dirty="0"/>
          </a:p>
        </p:txBody>
      </p:sp>
      <p:pic>
        <p:nvPicPr>
          <p:cNvPr id="20" name="a4_icon_1725" descr="preencoded.png">    </p:cNvPr>
          <p:cNvPicPr>
            <a:picLocks noChangeAspect="1"/>
          </p:cNvPicPr>
          <p:nvPr/>
        </p:nvPicPr>
        <p:blipFill>
          <a:blip r:embed="rId10"/>
          <a:stretch>
            <a:fillRect/>
          </a:stretch>
        </p:blipFill>
        <p:spPr>
          <a:xfrm>
            <a:off x="548640" y="3447288"/>
            <a:ext cx="365760" cy="365760"/>
          </a:xfrm>
          <a:prstGeom prst="rect">
            <a:avLst/>
          </a:prstGeom>
        </p:spPr>
      </p:pic>
      <p:sp>
        <p:nvSpPr>
          <p:cNvPr id="21" name="a4_txt_1726"/>
          <p:cNvSpPr txBox="1"/>
          <p:nvPr/>
        </p:nvSpPr>
        <p:spPr>
          <a:xfrm>
            <a:off x="1051560" y="3355848"/>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One valve for a hazardous line</a:t>
            </a:r>
            <a:endParaRPr lang="en-US" sz="1800" dirty="0"/>
          </a:p>
        </p:txBody>
      </p:sp>
      <p:pic>
        <p:nvPicPr>
          <p:cNvPr id="22" name="a4_icon_1727" descr="preencoded.png">    </p:cNvPr>
          <p:cNvPicPr>
            <a:picLocks noChangeAspect="1"/>
          </p:cNvPicPr>
          <p:nvPr/>
        </p:nvPicPr>
        <p:blipFill>
          <a:blip r:embed="rId11"/>
          <a:stretch>
            <a:fillRect/>
          </a:stretch>
        </p:blipFill>
        <p:spPr>
          <a:xfrm>
            <a:off x="5715000" y="3465576"/>
            <a:ext cx="320040" cy="320040"/>
          </a:xfrm>
          <a:prstGeom prst="rect">
            <a:avLst/>
          </a:prstGeom>
        </p:spPr>
      </p:pic>
      <p:pic>
        <p:nvPicPr>
          <p:cNvPr id="23" name="a4_icon_1728" descr="preencoded.png">    </p:cNvPr>
          <p:cNvPicPr>
            <a:picLocks noChangeAspect="1"/>
          </p:cNvPicPr>
          <p:nvPr/>
        </p:nvPicPr>
        <p:blipFill>
          <a:blip r:embed="rId12"/>
          <a:stretch>
            <a:fillRect/>
          </a:stretch>
        </p:blipFill>
        <p:spPr>
          <a:xfrm>
            <a:off x="6172200" y="3447288"/>
            <a:ext cx="365760" cy="365760"/>
          </a:xfrm>
          <a:prstGeom prst="rect">
            <a:avLst/>
          </a:prstGeom>
        </p:spPr>
      </p:pic>
      <p:sp>
        <p:nvSpPr>
          <p:cNvPr id="24" name="a4_txt_1729"/>
          <p:cNvSpPr txBox="1"/>
          <p:nvPr/>
        </p:nvSpPr>
        <p:spPr>
          <a:xfrm>
            <a:off x="6675120" y="3355848"/>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Positive isolation, locked, tagged, VOI</a:t>
            </a:r>
            <a:endParaRPr lang="en-US" sz="1800" dirty="0"/>
          </a:p>
        </p:txBody>
      </p:sp>
      <p:pic>
        <p:nvPicPr>
          <p:cNvPr id="25" name="a5_icon_1730" descr="preencoded.png">    </p:cNvPr>
          <p:cNvPicPr>
            <a:picLocks noChangeAspect="1"/>
          </p:cNvPicPr>
          <p:nvPr/>
        </p:nvPicPr>
        <p:blipFill>
          <a:blip r:embed="rId13"/>
          <a:stretch>
            <a:fillRect/>
          </a:stretch>
        </p:blipFill>
        <p:spPr>
          <a:xfrm>
            <a:off x="548640" y="4032504"/>
            <a:ext cx="365760" cy="365760"/>
          </a:xfrm>
          <a:prstGeom prst="rect">
            <a:avLst/>
          </a:prstGeom>
        </p:spPr>
      </p:pic>
      <p:sp>
        <p:nvSpPr>
          <p:cNvPr id="26" name="a5_txt_1731"/>
          <p:cNvSpPr txBox="1"/>
          <p:nvPr/>
        </p:nvSpPr>
        <p:spPr>
          <a:xfrm>
            <a:off x="1051560" y="3941064"/>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Skipping or rushing the briefing</a:t>
            </a:r>
            <a:endParaRPr lang="en-US" sz="1800" dirty="0"/>
          </a:p>
        </p:txBody>
      </p:sp>
      <p:pic>
        <p:nvPicPr>
          <p:cNvPr id="27" name="a5_icon_1732" descr="preencoded.png">    </p:cNvPr>
          <p:cNvPicPr>
            <a:picLocks noChangeAspect="1"/>
          </p:cNvPicPr>
          <p:nvPr/>
        </p:nvPicPr>
        <p:blipFill>
          <a:blip r:embed="rId14"/>
          <a:stretch>
            <a:fillRect/>
          </a:stretch>
        </p:blipFill>
        <p:spPr>
          <a:xfrm>
            <a:off x="5715000" y="4050792"/>
            <a:ext cx="320040" cy="320040"/>
          </a:xfrm>
          <a:prstGeom prst="rect">
            <a:avLst/>
          </a:prstGeom>
        </p:spPr>
      </p:pic>
      <p:pic>
        <p:nvPicPr>
          <p:cNvPr id="28" name="a5_icon_1733" descr="preencoded.png">    </p:cNvPr>
          <p:cNvPicPr>
            <a:picLocks noChangeAspect="1"/>
          </p:cNvPicPr>
          <p:nvPr/>
        </p:nvPicPr>
        <p:blipFill>
          <a:blip r:embed="rId15"/>
          <a:stretch>
            <a:fillRect/>
          </a:stretch>
        </p:blipFill>
        <p:spPr>
          <a:xfrm>
            <a:off x="6172200" y="4032504"/>
            <a:ext cx="365760" cy="365760"/>
          </a:xfrm>
          <a:prstGeom prst="rect">
            <a:avLst/>
          </a:prstGeom>
        </p:spPr>
      </p:pic>
      <p:sp>
        <p:nvSpPr>
          <p:cNvPr id="29" name="a5_txt_1734"/>
          <p:cNvSpPr txBox="1"/>
          <p:nvPr/>
        </p:nvSpPr>
        <p:spPr>
          <a:xfrm>
            <a:off x="6675120" y="3941064"/>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TRAHC toolbox talk with every worker</a:t>
            </a:r>
            <a:endParaRPr lang="en-US" sz="1800" dirty="0"/>
          </a:p>
        </p:txBody>
      </p:sp>
      <p:pic>
        <p:nvPicPr>
          <p:cNvPr id="30" name="a6_icon_1735" descr="preencoded.png">    </p:cNvPr>
          <p:cNvPicPr>
            <a:picLocks noChangeAspect="1"/>
          </p:cNvPicPr>
          <p:nvPr/>
        </p:nvPicPr>
        <p:blipFill>
          <a:blip r:embed="rId16"/>
          <a:stretch>
            <a:fillRect/>
          </a:stretch>
        </p:blipFill>
        <p:spPr>
          <a:xfrm>
            <a:off x="548640" y="4617720"/>
            <a:ext cx="365760" cy="365760"/>
          </a:xfrm>
          <a:prstGeom prst="rect">
            <a:avLst/>
          </a:prstGeom>
        </p:spPr>
      </p:pic>
      <p:sp>
        <p:nvSpPr>
          <p:cNvPr id="31" name="a6_txt_1736"/>
          <p:cNvSpPr txBox="1"/>
          <p:nvPr/>
        </p:nvSpPr>
        <p:spPr>
          <a:xfrm>
            <a:off x="1051560" y="4526280"/>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Working past expiry or scope</a:t>
            </a:r>
            <a:endParaRPr lang="en-US" sz="1800" dirty="0"/>
          </a:p>
        </p:txBody>
      </p:sp>
      <p:pic>
        <p:nvPicPr>
          <p:cNvPr id="32" name="a6_icon_1737" descr="preencoded.png">    </p:cNvPr>
          <p:cNvPicPr>
            <a:picLocks noChangeAspect="1"/>
          </p:cNvPicPr>
          <p:nvPr/>
        </p:nvPicPr>
        <p:blipFill>
          <a:blip r:embed="rId17"/>
          <a:stretch>
            <a:fillRect/>
          </a:stretch>
        </p:blipFill>
        <p:spPr>
          <a:xfrm>
            <a:off x="5715000" y="4636008"/>
            <a:ext cx="320040" cy="320040"/>
          </a:xfrm>
          <a:prstGeom prst="rect">
            <a:avLst/>
          </a:prstGeom>
        </p:spPr>
      </p:pic>
      <p:pic>
        <p:nvPicPr>
          <p:cNvPr id="33" name="a6_icon_1738" descr="preencoded.png">    </p:cNvPr>
          <p:cNvPicPr>
            <a:picLocks noChangeAspect="1"/>
          </p:cNvPicPr>
          <p:nvPr/>
        </p:nvPicPr>
        <p:blipFill>
          <a:blip r:embed="rId18"/>
          <a:stretch>
            <a:fillRect/>
          </a:stretch>
        </p:blipFill>
        <p:spPr>
          <a:xfrm>
            <a:off x="6172200" y="4617720"/>
            <a:ext cx="365760" cy="365760"/>
          </a:xfrm>
          <a:prstGeom prst="rect">
            <a:avLst/>
          </a:prstGeom>
        </p:spPr>
      </p:pic>
      <p:sp>
        <p:nvSpPr>
          <p:cNvPr id="34" name="a6_txt_1739"/>
          <p:cNvSpPr txBox="1"/>
          <p:nvPr/>
        </p:nvSpPr>
        <p:spPr>
          <a:xfrm>
            <a:off x="6675120" y="4526280"/>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Stop, request revalidation or new permit</a:t>
            </a:r>
            <a:endParaRPr lang="en-US" sz="1800" dirty="0"/>
          </a:p>
        </p:txBody>
      </p:sp>
      <p:pic>
        <p:nvPicPr>
          <p:cNvPr id="35" name="a7_icon_1740" descr="preencoded.png">    </p:cNvPr>
          <p:cNvPicPr>
            <a:picLocks noChangeAspect="1"/>
          </p:cNvPicPr>
          <p:nvPr/>
        </p:nvPicPr>
        <p:blipFill>
          <a:blip r:embed="rId19"/>
          <a:stretch>
            <a:fillRect/>
          </a:stretch>
        </p:blipFill>
        <p:spPr>
          <a:xfrm>
            <a:off x="548640" y="5202936"/>
            <a:ext cx="365760" cy="365760"/>
          </a:xfrm>
          <a:prstGeom prst="rect">
            <a:avLst/>
          </a:prstGeom>
        </p:spPr>
      </p:pic>
      <p:sp>
        <p:nvSpPr>
          <p:cNvPr id="36" name="a7_txt_1741"/>
          <p:cNvSpPr txBox="1"/>
          <p:nvPr/>
        </p:nvSpPr>
        <p:spPr>
          <a:xfrm>
            <a:off x="1051560" y="5111496"/>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Leaving at shift change</a:t>
            </a:r>
            <a:endParaRPr lang="en-US" sz="1800" dirty="0"/>
          </a:p>
        </p:txBody>
      </p:sp>
      <p:pic>
        <p:nvPicPr>
          <p:cNvPr id="37" name="a7_icon_1742" descr="preencoded.png">    </p:cNvPr>
          <p:cNvPicPr>
            <a:picLocks noChangeAspect="1"/>
          </p:cNvPicPr>
          <p:nvPr/>
        </p:nvPicPr>
        <p:blipFill>
          <a:blip r:embed="rId20"/>
          <a:stretch>
            <a:fillRect/>
          </a:stretch>
        </p:blipFill>
        <p:spPr>
          <a:xfrm>
            <a:off x="5715000" y="5221224"/>
            <a:ext cx="320040" cy="320040"/>
          </a:xfrm>
          <a:prstGeom prst="rect">
            <a:avLst/>
          </a:prstGeom>
        </p:spPr>
      </p:pic>
      <p:pic>
        <p:nvPicPr>
          <p:cNvPr id="38" name="a7_icon_1743" descr="preencoded.png">    </p:cNvPr>
          <p:cNvPicPr>
            <a:picLocks noChangeAspect="1"/>
          </p:cNvPicPr>
          <p:nvPr/>
        </p:nvPicPr>
        <p:blipFill>
          <a:blip r:embed="rId21"/>
          <a:stretch>
            <a:fillRect/>
          </a:stretch>
        </p:blipFill>
        <p:spPr>
          <a:xfrm>
            <a:off x="6172200" y="5202936"/>
            <a:ext cx="365760" cy="365760"/>
          </a:xfrm>
          <a:prstGeom prst="rect">
            <a:avLst/>
          </a:prstGeom>
        </p:spPr>
      </p:pic>
      <p:sp>
        <p:nvSpPr>
          <p:cNvPr id="39" name="a7_txt_1744"/>
          <p:cNvSpPr txBox="1"/>
          <p:nvPr/>
        </p:nvSpPr>
        <p:spPr>
          <a:xfrm>
            <a:off x="6675120" y="5111496"/>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Face-to-face handover; never unattended</a:t>
            </a:r>
            <a:endParaRPr lang="en-US" sz="1800" dirty="0"/>
          </a:p>
        </p:txBody>
      </p:sp>
      <p:pic>
        <p:nvPicPr>
          <p:cNvPr id="40" name="a8_icon_1745" descr="preencoded.png">    </p:cNvPr>
          <p:cNvPicPr>
            <a:picLocks noChangeAspect="1"/>
          </p:cNvPicPr>
          <p:nvPr/>
        </p:nvPicPr>
        <p:blipFill>
          <a:blip r:embed="rId22"/>
          <a:stretch>
            <a:fillRect/>
          </a:stretch>
        </p:blipFill>
        <p:spPr>
          <a:xfrm>
            <a:off x="548640" y="5788152"/>
            <a:ext cx="365760" cy="365760"/>
          </a:xfrm>
          <a:prstGeom prst="rect">
            <a:avLst/>
          </a:prstGeom>
        </p:spPr>
      </p:pic>
      <p:sp>
        <p:nvSpPr>
          <p:cNvPr id="41" name="a8_txt_1746"/>
          <p:cNvSpPr txBox="1"/>
          <p:nvPr/>
        </p:nvSpPr>
        <p:spPr>
          <a:xfrm>
            <a:off x="1051560" y="5696712"/>
            <a:ext cx="4937760" cy="512064"/>
          </a:xfrm>
          <a:prstGeom prst="rect">
            <a:avLst/>
          </a:prstGeom>
          <a:noFill/>
          <a:ln/>
        </p:spPr>
        <p:txBody>
          <a:bodyPr wrap="square" lIns="635" tIns="635" rIns="635" bIns="635" rtlCol="0" anchor="ctr"/>
          <a:lstStyle/>
          <a:p>
            <a:pPr indent="0" marL="0">
              <a:buNone/>
            </a:pPr>
            <a:r>
              <a:rPr lang="en-US" sz="1800" dirty="0">
                <a:solidFill>
                  <a:srgbClr val="1B2730"/>
                </a:solidFill>
                <a:latin typeface="Calibri" pitchFamily="34" charset="0"/>
                <a:ea typeface="Calibri" pitchFamily="34" charset="-122"/>
                <a:cs typeface="Calibri" pitchFamily="34" charset="-120"/>
              </a:rPr>
              <a:t>Locks off before final inspection</a:t>
            </a:r>
            <a:endParaRPr lang="en-US" sz="1800" dirty="0"/>
          </a:p>
        </p:txBody>
      </p:sp>
      <p:pic>
        <p:nvPicPr>
          <p:cNvPr id="42" name="a8_icon_1747" descr="preencoded.png">    </p:cNvPr>
          <p:cNvPicPr>
            <a:picLocks noChangeAspect="1"/>
          </p:cNvPicPr>
          <p:nvPr/>
        </p:nvPicPr>
        <p:blipFill>
          <a:blip r:embed="rId23"/>
          <a:stretch>
            <a:fillRect/>
          </a:stretch>
        </p:blipFill>
        <p:spPr>
          <a:xfrm>
            <a:off x="5715000" y="5806440"/>
            <a:ext cx="320040" cy="320040"/>
          </a:xfrm>
          <a:prstGeom prst="rect">
            <a:avLst/>
          </a:prstGeom>
        </p:spPr>
      </p:pic>
      <p:pic>
        <p:nvPicPr>
          <p:cNvPr id="43" name="a8_icon_1748" descr="preencoded.png">    </p:cNvPr>
          <p:cNvPicPr>
            <a:picLocks noChangeAspect="1"/>
          </p:cNvPicPr>
          <p:nvPr/>
        </p:nvPicPr>
        <p:blipFill>
          <a:blip r:embed="rId24"/>
          <a:stretch>
            <a:fillRect/>
          </a:stretch>
        </p:blipFill>
        <p:spPr>
          <a:xfrm>
            <a:off x="6172200" y="5788152"/>
            <a:ext cx="365760" cy="365760"/>
          </a:xfrm>
          <a:prstGeom prst="rect">
            <a:avLst/>
          </a:prstGeom>
        </p:spPr>
      </p:pic>
      <p:sp>
        <p:nvSpPr>
          <p:cNvPr id="44" name="a8_txt_1749"/>
          <p:cNvSpPr txBox="1"/>
          <p:nvPr/>
        </p:nvSpPr>
        <p:spPr>
          <a:xfrm>
            <a:off x="6675120" y="5696712"/>
            <a:ext cx="4965192" cy="512064"/>
          </a:xfrm>
          <a:prstGeom prst="rect">
            <a:avLst/>
          </a:prstGeom>
          <a:noFill/>
          <a:ln/>
        </p:spPr>
        <p:txBody>
          <a:bodyPr wrap="square" lIns="635" tIns="635" rIns="635" bIns="635" rtlCol="0" anchor="ctr"/>
          <a:lstStyle/>
          <a:p>
            <a:pPr indent="0" marL="0">
              <a:buNone/>
            </a:pPr>
            <a:r>
              <a:rPr lang="en-US" sz="1800" b="1" dirty="0">
                <a:solidFill>
                  <a:srgbClr val="0B2A3C"/>
                </a:solidFill>
                <a:latin typeface="Calibri" pitchFamily="34" charset="0"/>
                <a:ea typeface="Calibri" pitchFamily="34" charset="-122"/>
                <a:cs typeface="Calibri" pitchFamily="34" charset="-120"/>
              </a:rPr>
              <a:t>Issuer’s walkdown first, then unlock</a:t>
            </a:r>
            <a:endParaRPr lang="en-US" sz="1800" dirty="0"/>
          </a:p>
        </p:txBody>
      </p:sp>
      <p:sp>
        <p:nvSpPr>
          <p:cNvPr id="4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50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50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500"/>
                                        <p:tgtEl>
                                          <p:spTgt spid="37"/>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500"/>
                                        <p:tgtEl>
                                          <p:spTgt spid="3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500"/>
                                        <p:tgtEl>
                                          <p:spTgt spid="39"/>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500"/>
                                        <p:tgtEl>
                                          <p:spTgt spid="4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00"/>
                                        <p:tgtEl>
                                          <p:spTgt spid="4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fade">
                                      <p:cBhvr>
                                        <p:cTn id="132" dur="500"/>
                                        <p:tgtEl>
                                          <p:spTgt spid="4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500"/>
                                        <p:tgtEl>
                                          <p:spTgt spid="43"/>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4"/>
                                        </p:tgtEl>
                                        <p:attrNameLst>
                                          <p:attrName>style.visibility</p:attrName>
                                        </p:attrNameLst>
                                      </p:cBhvr>
                                      <p:to>
                                        <p:strVal val="visible"/>
                                      </p:to>
                                    </p:set>
                                    <p:animEffect transition="in" filter="fade">
                                      <p:cBhvr>
                                        <p:cTn id="13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4" grpId="0" animBg="1"/>
      <p:bldP spid="16" grpId="0" animBg="1"/>
      <p:bldP spid="19" grpId="0" animBg="1"/>
      <p:bldP spid="21" grpId="0" animBg="1"/>
      <p:bldP spid="24" grpId="0" animBg="1"/>
      <p:bldP spid="26" grpId="0" animBg="1"/>
      <p:bldP spid="29" grpId="0" animBg="1"/>
      <p:bldP spid="31" grpId="0" animBg="1"/>
      <p:bldP spid="34" grpId="0" animBg="1"/>
      <p:bldP spid="36" grpId="0" animBg="1"/>
      <p:bldP spid="39" grpId="0" animBg="1"/>
      <p:bldP spid="41" grpId="0" animBg="1"/>
      <p:bldP spid="4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xt_1750"/>
          <p:cNvSpPr txBox="1"/>
          <p:nvPr/>
        </p:nvSpPr>
        <p:spPr>
          <a:xfrm>
            <a:off x="548640" y="411480"/>
            <a:ext cx="11094415" cy="731520"/>
          </a:xfrm>
          <a:prstGeom prst="rect">
            <a:avLst/>
          </a:prstGeom>
          <a:noFill/>
          <a:ln/>
        </p:spPr>
        <p:txBody>
          <a:bodyPr wrap="square" lIns="635" tIns="635" rIns="635" bIns="635" rtlCol="0" anchor="t"/>
          <a:lstStyle/>
          <a:p>
            <a:pPr indent="0" marL="0">
              <a:buNone/>
            </a:pPr>
            <a:r>
              <a:rPr lang="en-US" sz="3200" b="1" dirty="0">
                <a:solidFill>
                  <a:srgbClr val="FFFFFF"/>
                </a:solidFill>
                <a:latin typeface="Arial" pitchFamily="34" charset="0"/>
                <a:ea typeface="Arial" pitchFamily="34" charset="-122"/>
                <a:cs typeface="Arial" pitchFamily="34" charset="-120"/>
              </a:rPr>
              <a:t>10 PTW Golden Rules to Remember</a:t>
            </a:r>
            <a:endParaRPr lang="en-US" sz="3200" dirty="0"/>
          </a:p>
        </p:txBody>
      </p:sp>
      <p:sp>
        <p:nvSpPr>
          <p:cNvPr id="3" name="a1_box_1751"/>
          <p:cNvSpPr/>
          <p:nvPr/>
        </p:nvSpPr>
        <p:spPr>
          <a:xfrm>
            <a:off x="548640" y="1325880"/>
            <a:ext cx="5440680" cy="841248"/>
          </a:xfrm>
          <a:prstGeom prst="roundRect">
            <a:avLst>
              <a:gd name="adj" fmla="val 13043"/>
            </a:avLst>
          </a:prstGeom>
          <a:solidFill>
            <a:srgbClr val="123B52"/>
          </a:solidFill>
          <a:ln w="12700">
            <a:solidFill>
              <a:srgbClr val="2C5873"/>
            </a:solidFill>
            <a:prstDash val="solid"/>
          </a:ln>
        </p:spPr>
      </p:sp>
      <p:sp>
        <p:nvSpPr>
          <p:cNvPr id="4" name="a1_box_1752"/>
          <p:cNvSpPr/>
          <p:nvPr/>
        </p:nvSpPr>
        <p:spPr>
          <a:xfrm>
            <a:off x="548640" y="1325880"/>
            <a:ext cx="841248" cy="841248"/>
          </a:xfrm>
          <a:prstGeom prst="rect">
            <a:avLst/>
          </a:prstGeom>
          <a:solidFill>
            <a:srgbClr val="E8771E"/>
          </a:solidFill>
          <a:ln/>
        </p:spPr>
      </p:sp>
      <p:sp>
        <p:nvSpPr>
          <p:cNvPr id="5" name="a1_txt_1753"/>
          <p:cNvSpPr txBox="1"/>
          <p:nvPr/>
        </p:nvSpPr>
        <p:spPr>
          <a:xfrm>
            <a:off x="548640" y="1325880"/>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6" name="a1_txt_1754"/>
          <p:cNvSpPr txBox="1"/>
          <p:nvPr/>
        </p:nvSpPr>
        <p:spPr>
          <a:xfrm>
            <a:off x="1554480" y="1325880"/>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No valid permit = no work</a:t>
            </a:r>
            <a:endParaRPr lang="en-US" sz="2000" dirty="0"/>
          </a:p>
        </p:txBody>
      </p:sp>
      <p:sp>
        <p:nvSpPr>
          <p:cNvPr id="7" name="a2_box_1755"/>
          <p:cNvSpPr/>
          <p:nvPr/>
        </p:nvSpPr>
        <p:spPr>
          <a:xfrm>
            <a:off x="548640" y="2295144"/>
            <a:ext cx="5440680" cy="841248"/>
          </a:xfrm>
          <a:prstGeom prst="roundRect">
            <a:avLst>
              <a:gd name="adj" fmla="val 13043"/>
            </a:avLst>
          </a:prstGeom>
          <a:solidFill>
            <a:srgbClr val="123B52"/>
          </a:solidFill>
          <a:ln w="12700">
            <a:solidFill>
              <a:srgbClr val="2C5873"/>
            </a:solidFill>
            <a:prstDash val="solid"/>
          </a:ln>
        </p:spPr>
      </p:sp>
      <p:sp>
        <p:nvSpPr>
          <p:cNvPr id="8" name="a2_box_1756"/>
          <p:cNvSpPr/>
          <p:nvPr/>
        </p:nvSpPr>
        <p:spPr>
          <a:xfrm>
            <a:off x="548640" y="2295144"/>
            <a:ext cx="841248" cy="841248"/>
          </a:xfrm>
          <a:prstGeom prst="rect">
            <a:avLst/>
          </a:prstGeom>
          <a:solidFill>
            <a:srgbClr val="E8771E"/>
          </a:solidFill>
          <a:ln/>
        </p:spPr>
      </p:sp>
      <p:sp>
        <p:nvSpPr>
          <p:cNvPr id="9" name="a2_txt_1757"/>
          <p:cNvSpPr txBox="1"/>
          <p:nvPr/>
        </p:nvSpPr>
        <p:spPr>
          <a:xfrm>
            <a:off x="548640" y="2295144"/>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0" name="a2_txt_1758"/>
          <p:cNvSpPr txBox="1"/>
          <p:nvPr/>
        </p:nvSpPr>
        <p:spPr>
          <a:xfrm>
            <a:off x="1554480" y="2295144"/>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Know your permit: what, where, when, who</a:t>
            </a:r>
            <a:endParaRPr lang="en-US" sz="2000" dirty="0"/>
          </a:p>
        </p:txBody>
      </p:sp>
      <p:sp>
        <p:nvSpPr>
          <p:cNvPr id="11" name="a3_box_1759"/>
          <p:cNvSpPr/>
          <p:nvPr/>
        </p:nvSpPr>
        <p:spPr>
          <a:xfrm>
            <a:off x="548640" y="3264408"/>
            <a:ext cx="5440680" cy="841248"/>
          </a:xfrm>
          <a:prstGeom prst="roundRect">
            <a:avLst>
              <a:gd name="adj" fmla="val 13043"/>
            </a:avLst>
          </a:prstGeom>
          <a:solidFill>
            <a:srgbClr val="123B52"/>
          </a:solidFill>
          <a:ln w="12700">
            <a:solidFill>
              <a:srgbClr val="2C5873"/>
            </a:solidFill>
            <a:prstDash val="solid"/>
          </a:ln>
        </p:spPr>
      </p:sp>
      <p:sp>
        <p:nvSpPr>
          <p:cNvPr id="12" name="a3_box_1760"/>
          <p:cNvSpPr/>
          <p:nvPr/>
        </p:nvSpPr>
        <p:spPr>
          <a:xfrm>
            <a:off x="548640" y="3264408"/>
            <a:ext cx="841248" cy="841248"/>
          </a:xfrm>
          <a:prstGeom prst="rect">
            <a:avLst/>
          </a:prstGeom>
          <a:solidFill>
            <a:srgbClr val="E8771E"/>
          </a:solidFill>
          <a:ln/>
        </p:spPr>
      </p:sp>
      <p:sp>
        <p:nvSpPr>
          <p:cNvPr id="13" name="a3_txt_1761"/>
          <p:cNvSpPr txBox="1"/>
          <p:nvPr/>
        </p:nvSpPr>
        <p:spPr>
          <a:xfrm>
            <a:off x="548640" y="3264408"/>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4" name="a3_txt_1762"/>
          <p:cNvSpPr txBox="1"/>
          <p:nvPr/>
        </p:nvSpPr>
        <p:spPr>
          <a:xfrm>
            <a:off x="1554480" y="3264408"/>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Hazards found, controls VERIFIED on site</a:t>
            </a:r>
            <a:endParaRPr lang="en-US" sz="2000" dirty="0"/>
          </a:p>
        </p:txBody>
      </p:sp>
      <p:sp>
        <p:nvSpPr>
          <p:cNvPr id="15" name="a4_box_1763"/>
          <p:cNvSpPr/>
          <p:nvPr/>
        </p:nvSpPr>
        <p:spPr>
          <a:xfrm>
            <a:off x="548640" y="4233672"/>
            <a:ext cx="5440680" cy="841248"/>
          </a:xfrm>
          <a:prstGeom prst="roundRect">
            <a:avLst>
              <a:gd name="adj" fmla="val 13043"/>
            </a:avLst>
          </a:prstGeom>
          <a:solidFill>
            <a:srgbClr val="123B52"/>
          </a:solidFill>
          <a:ln w="12700">
            <a:solidFill>
              <a:srgbClr val="2C5873"/>
            </a:solidFill>
            <a:prstDash val="solid"/>
          </a:ln>
        </p:spPr>
      </p:sp>
      <p:sp>
        <p:nvSpPr>
          <p:cNvPr id="16" name="a4_box_1764"/>
          <p:cNvSpPr/>
          <p:nvPr/>
        </p:nvSpPr>
        <p:spPr>
          <a:xfrm>
            <a:off x="548640" y="4233672"/>
            <a:ext cx="841248" cy="841248"/>
          </a:xfrm>
          <a:prstGeom prst="rect">
            <a:avLst/>
          </a:prstGeom>
          <a:solidFill>
            <a:srgbClr val="E8771E"/>
          </a:solidFill>
          <a:ln/>
        </p:spPr>
      </p:sp>
      <p:sp>
        <p:nvSpPr>
          <p:cNvPr id="17" name="a4_txt_1765"/>
          <p:cNvSpPr txBox="1"/>
          <p:nvPr/>
        </p:nvSpPr>
        <p:spPr>
          <a:xfrm>
            <a:off x="548640" y="4233672"/>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18" name="a4_txt_1766"/>
          <p:cNvSpPr txBox="1"/>
          <p:nvPr/>
        </p:nvSpPr>
        <p:spPr>
          <a:xfrm>
            <a:off x="1554480" y="4233672"/>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Positive isolation, personal lock, VOI</a:t>
            </a:r>
            <a:endParaRPr lang="en-US" sz="2000" dirty="0"/>
          </a:p>
        </p:txBody>
      </p:sp>
      <p:sp>
        <p:nvSpPr>
          <p:cNvPr id="19" name="a5_box_1767"/>
          <p:cNvSpPr/>
          <p:nvPr/>
        </p:nvSpPr>
        <p:spPr>
          <a:xfrm>
            <a:off x="548640" y="5202936"/>
            <a:ext cx="5440680" cy="841248"/>
          </a:xfrm>
          <a:prstGeom prst="roundRect">
            <a:avLst>
              <a:gd name="adj" fmla="val 13043"/>
            </a:avLst>
          </a:prstGeom>
          <a:solidFill>
            <a:srgbClr val="123B52"/>
          </a:solidFill>
          <a:ln w="12700">
            <a:solidFill>
              <a:srgbClr val="2C5873"/>
            </a:solidFill>
            <a:prstDash val="solid"/>
          </a:ln>
        </p:spPr>
      </p:sp>
      <p:sp>
        <p:nvSpPr>
          <p:cNvPr id="20" name="a5_box_1768"/>
          <p:cNvSpPr/>
          <p:nvPr/>
        </p:nvSpPr>
        <p:spPr>
          <a:xfrm>
            <a:off x="548640" y="5202936"/>
            <a:ext cx="841248" cy="841248"/>
          </a:xfrm>
          <a:prstGeom prst="rect">
            <a:avLst/>
          </a:prstGeom>
          <a:solidFill>
            <a:srgbClr val="E8771E"/>
          </a:solidFill>
          <a:ln/>
        </p:spPr>
      </p:sp>
      <p:sp>
        <p:nvSpPr>
          <p:cNvPr id="21" name="a5_txt_1769"/>
          <p:cNvSpPr txBox="1"/>
          <p:nvPr/>
        </p:nvSpPr>
        <p:spPr>
          <a:xfrm>
            <a:off x="548640" y="5202936"/>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22" name="a5_txt_1770"/>
          <p:cNvSpPr txBox="1"/>
          <p:nvPr/>
        </p:nvSpPr>
        <p:spPr>
          <a:xfrm>
            <a:off x="1554480" y="5202936"/>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Test the air – O₂, LEL, toxics</a:t>
            </a:r>
            <a:endParaRPr lang="en-US" sz="2000" dirty="0"/>
          </a:p>
        </p:txBody>
      </p:sp>
      <p:sp>
        <p:nvSpPr>
          <p:cNvPr id="23" name="a6_box_1771"/>
          <p:cNvSpPr/>
          <p:nvPr/>
        </p:nvSpPr>
        <p:spPr>
          <a:xfrm>
            <a:off x="6199632" y="1325880"/>
            <a:ext cx="5440680" cy="841248"/>
          </a:xfrm>
          <a:prstGeom prst="roundRect">
            <a:avLst>
              <a:gd name="adj" fmla="val 13043"/>
            </a:avLst>
          </a:prstGeom>
          <a:solidFill>
            <a:srgbClr val="123B52"/>
          </a:solidFill>
          <a:ln w="12700">
            <a:solidFill>
              <a:srgbClr val="2C5873"/>
            </a:solidFill>
            <a:prstDash val="solid"/>
          </a:ln>
        </p:spPr>
      </p:sp>
      <p:sp>
        <p:nvSpPr>
          <p:cNvPr id="24" name="a6_box_1772"/>
          <p:cNvSpPr/>
          <p:nvPr/>
        </p:nvSpPr>
        <p:spPr>
          <a:xfrm>
            <a:off x="6199632" y="1325880"/>
            <a:ext cx="841248" cy="841248"/>
          </a:xfrm>
          <a:prstGeom prst="rect">
            <a:avLst/>
          </a:prstGeom>
          <a:solidFill>
            <a:srgbClr val="E8771E"/>
          </a:solidFill>
          <a:ln/>
        </p:spPr>
      </p:sp>
      <p:sp>
        <p:nvSpPr>
          <p:cNvPr id="25" name="a6_txt_1773"/>
          <p:cNvSpPr txBox="1"/>
          <p:nvPr/>
        </p:nvSpPr>
        <p:spPr>
          <a:xfrm>
            <a:off x="6199632" y="1325880"/>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p:txBody>
      </p:sp>
      <p:sp>
        <p:nvSpPr>
          <p:cNvPr id="26" name="a6_txt_1774"/>
          <p:cNvSpPr txBox="1"/>
          <p:nvPr/>
        </p:nvSpPr>
        <p:spPr>
          <a:xfrm>
            <a:off x="7205472" y="1325880"/>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Brief every worker (TRAHC)</a:t>
            </a:r>
            <a:endParaRPr lang="en-US" sz="2000" dirty="0"/>
          </a:p>
        </p:txBody>
      </p:sp>
      <p:sp>
        <p:nvSpPr>
          <p:cNvPr id="27" name="a7_box_1775"/>
          <p:cNvSpPr/>
          <p:nvPr/>
        </p:nvSpPr>
        <p:spPr>
          <a:xfrm>
            <a:off x="6199632" y="2295144"/>
            <a:ext cx="5440680" cy="841248"/>
          </a:xfrm>
          <a:prstGeom prst="roundRect">
            <a:avLst>
              <a:gd name="adj" fmla="val 13043"/>
            </a:avLst>
          </a:prstGeom>
          <a:solidFill>
            <a:srgbClr val="123B52"/>
          </a:solidFill>
          <a:ln w="12700">
            <a:solidFill>
              <a:srgbClr val="2C5873"/>
            </a:solidFill>
            <a:prstDash val="solid"/>
          </a:ln>
        </p:spPr>
      </p:sp>
      <p:sp>
        <p:nvSpPr>
          <p:cNvPr id="28" name="a7_box_1776"/>
          <p:cNvSpPr/>
          <p:nvPr/>
        </p:nvSpPr>
        <p:spPr>
          <a:xfrm>
            <a:off x="6199632" y="2295144"/>
            <a:ext cx="841248" cy="841248"/>
          </a:xfrm>
          <a:prstGeom prst="rect">
            <a:avLst/>
          </a:prstGeom>
          <a:solidFill>
            <a:srgbClr val="E8771E"/>
          </a:solidFill>
          <a:ln/>
        </p:spPr>
      </p:sp>
      <p:sp>
        <p:nvSpPr>
          <p:cNvPr id="29" name="a7_txt_1777"/>
          <p:cNvSpPr txBox="1"/>
          <p:nvPr/>
        </p:nvSpPr>
        <p:spPr>
          <a:xfrm>
            <a:off x="6199632" y="2295144"/>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7</a:t>
            </a:r>
            <a:endParaRPr lang="en-US" sz="2600" dirty="0"/>
          </a:p>
        </p:txBody>
      </p:sp>
      <p:sp>
        <p:nvSpPr>
          <p:cNvPr id="30" name="a7_txt_1778"/>
          <p:cNvSpPr txBox="1"/>
          <p:nvPr/>
        </p:nvSpPr>
        <p:spPr>
          <a:xfrm>
            <a:off x="7205472" y="2295144"/>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Stay inside the permit scope</a:t>
            </a:r>
            <a:endParaRPr lang="en-US" sz="2000" dirty="0"/>
          </a:p>
        </p:txBody>
      </p:sp>
      <p:sp>
        <p:nvSpPr>
          <p:cNvPr id="31" name="a8_box_1779"/>
          <p:cNvSpPr/>
          <p:nvPr/>
        </p:nvSpPr>
        <p:spPr>
          <a:xfrm>
            <a:off x="6199632" y="3264408"/>
            <a:ext cx="5440680" cy="841248"/>
          </a:xfrm>
          <a:prstGeom prst="roundRect">
            <a:avLst>
              <a:gd name="adj" fmla="val 13043"/>
            </a:avLst>
          </a:prstGeom>
          <a:solidFill>
            <a:srgbClr val="123B52"/>
          </a:solidFill>
          <a:ln w="12700">
            <a:solidFill>
              <a:srgbClr val="2C5873"/>
            </a:solidFill>
            <a:prstDash val="solid"/>
          </a:ln>
        </p:spPr>
      </p:sp>
      <p:sp>
        <p:nvSpPr>
          <p:cNvPr id="32" name="a8_box_1780"/>
          <p:cNvSpPr/>
          <p:nvPr/>
        </p:nvSpPr>
        <p:spPr>
          <a:xfrm>
            <a:off x="6199632" y="3264408"/>
            <a:ext cx="841248" cy="841248"/>
          </a:xfrm>
          <a:prstGeom prst="rect">
            <a:avLst/>
          </a:prstGeom>
          <a:solidFill>
            <a:srgbClr val="E8771E"/>
          </a:solidFill>
          <a:ln/>
        </p:spPr>
      </p:sp>
      <p:sp>
        <p:nvSpPr>
          <p:cNvPr id="33" name="a8_txt_1781"/>
          <p:cNvSpPr txBox="1"/>
          <p:nvPr/>
        </p:nvSpPr>
        <p:spPr>
          <a:xfrm>
            <a:off x="6199632" y="3264408"/>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8</a:t>
            </a:r>
            <a:endParaRPr lang="en-US" sz="2600" dirty="0"/>
          </a:p>
        </p:txBody>
      </p:sp>
      <p:sp>
        <p:nvSpPr>
          <p:cNvPr id="34" name="a8_txt_1782"/>
          <p:cNvSpPr txBox="1"/>
          <p:nvPr/>
        </p:nvSpPr>
        <p:spPr>
          <a:xfrm>
            <a:off x="7205472" y="3264408"/>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Anything changes → STOP &amp; tell the Issuer</a:t>
            </a:r>
            <a:endParaRPr lang="en-US" sz="2000" dirty="0"/>
          </a:p>
        </p:txBody>
      </p:sp>
      <p:sp>
        <p:nvSpPr>
          <p:cNvPr id="35" name="a9_box_1783"/>
          <p:cNvSpPr/>
          <p:nvPr/>
        </p:nvSpPr>
        <p:spPr>
          <a:xfrm>
            <a:off x="6199632" y="4233672"/>
            <a:ext cx="5440680" cy="841248"/>
          </a:xfrm>
          <a:prstGeom prst="roundRect">
            <a:avLst>
              <a:gd name="adj" fmla="val 13043"/>
            </a:avLst>
          </a:prstGeom>
          <a:solidFill>
            <a:srgbClr val="123B52"/>
          </a:solidFill>
          <a:ln w="12700">
            <a:solidFill>
              <a:srgbClr val="2C5873"/>
            </a:solidFill>
            <a:prstDash val="solid"/>
          </a:ln>
        </p:spPr>
      </p:sp>
      <p:sp>
        <p:nvSpPr>
          <p:cNvPr id="36" name="a9_box_1784"/>
          <p:cNvSpPr/>
          <p:nvPr/>
        </p:nvSpPr>
        <p:spPr>
          <a:xfrm>
            <a:off x="6199632" y="4233672"/>
            <a:ext cx="841248" cy="841248"/>
          </a:xfrm>
          <a:prstGeom prst="rect">
            <a:avLst/>
          </a:prstGeom>
          <a:solidFill>
            <a:srgbClr val="E8771E"/>
          </a:solidFill>
          <a:ln/>
        </p:spPr>
      </p:sp>
      <p:sp>
        <p:nvSpPr>
          <p:cNvPr id="37" name="a9_txt_1785"/>
          <p:cNvSpPr txBox="1"/>
          <p:nvPr/>
        </p:nvSpPr>
        <p:spPr>
          <a:xfrm>
            <a:off x="6199632" y="4233672"/>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9</a:t>
            </a:r>
            <a:endParaRPr lang="en-US" sz="2600" dirty="0"/>
          </a:p>
        </p:txBody>
      </p:sp>
      <p:sp>
        <p:nvSpPr>
          <p:cNvPr id="38" name="a9_txt_1786"/>
          <p:cNvSpPr txBox="1"/>
          <p:nvPr/>
        </p:nvSpPr>
        <p:spPr>
          <a:xfrm>
            <a:off x="7205472" y="4233672"/>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Hand over face-to-face at shift change</a:t>
            </a:r>
            <a:endParaRPr lang="en-US" sz="2000" dirty="0"/>
          </a:p>
        </p:txBody>
      </p:sp>
      <p:sp>
        <p:nvSpPr>
          <p:cNvPr id="39" name="a10_box_1787"/>
          <p:cNvSpPr/>
          <p:nvPr/>
        </p:nvSpPr>
        <p:spPr>
          <a:xfrm>
            <a:off x="6199632" y="5202936"/>
            <a:ext cx="5440680" cy="841248"/>
          </a:xfrm>
          <a:prstGeom prst="roundRect">
            <a:avLst>
              <a:gd name="adj" fmla="val 13043"/>
            </a:avLst>
          </a:prstGeom>
          <a:solidFill>
            <a:srgbClr val="123B52"/>
          </a:solidFill>
          <a:ln w="12700">
            <a:solidFill>
              <a:srgbClr val="2C5873"/>
            </a:solidFill>
            <a:prstDash val="solid"/>
          </a:ln>
        </p:spPr>
      </p:sp>
      <p:sp>
        <p:nvSpPr>
          <p:cNvPr id="40" name="a10_box_1788"/>
          <p:cNvSpPr/>
          <p:nvPr/>
        </p:nvSpPr>
        <p:spPr>
          <a:xfrm>
            <a:off x="6199632" y="5202936"/>
            <a:ext cx="841248" cy="841248"/>
          </a:xfrm>
          <a:prstGeom prst="rect">
            <a:avLst/>
          </a:prstGeom>
          <a:solidFill>
            <a:srgbClr val="E8771E"/>
          </a:solidFill>
          <a:ln/>
        </p:spPr>
      </p:sp>
      <p:sp>
        <p:nvSpPr>
          <p:cNvPr id="41" name="a10_txt_1789"/>
          <p:cNvSpPr txBox="1"/>
          <p:nvPr/>
        </p:nvSpPr>
        <p:spPr>
          <a:xfrm>
            <a:off x="6199632" y="5202936"/>
            <a:ext cx="841248" cy="841248"/>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10</a:t>
            </a:r>
            <a:endParaRPr lang="en-US" sz="2600" dirty="0"/>
          </a:p>
        </p:txBody>
      </p:sp>
      <p:sp>
        <p:nvSpPr>
          <p:cNvPr id="42" name="a10_txt_1790"/>
          <p:cNvSpPr txBox="1"/>
          <p:nvPr/>
        </p:nvSpPr>
        <p:spPr>
          <a:xfrm>
            <a:off x="7205472" y="5202936"/>
            <a:ext cx="4343400" cy="841248"/>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Close formally – locks off last</a:t>
            </a:r>
            <a:endParaRPr lang="en-US" sz="2000" dirty="0"/>
          </a:p>
        </p:txBody>
      </p:sp>
      <p:sp>
        <p:nvSpPr>
          <p:cNvPr id="43"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500"/>
                                        <p:tgtEl>
                                          <p:spTgt spid="26"/>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00"/>
                                        <p:tgtEl>
                                          <p:spTgt spid="2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500"/>
                                        <p:tgtEl>
                                          <p:spTgt spid="2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500"/>
                                        <p:tgtEl>
                                          <p:spTgt spid="3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fade">
                                      <p:cBhvr>
                                        <p:cTn id="108" dur="500"/>
                                        <p:tgtEl>
                                          <p:spTgt spid="32"/>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500"/>
                                        <p:tgtEl>
                                          <p:spTgt spid="3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Effect transition="in" filter="fade">
                                      <p:cBhvr>
                                        <p:cTn id="114" dur="5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500"/>
                                        <p:tgtEl>
                                          <p:spTgt spid="3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fade">
                                      <p:cBhvr>
                                        <p:cTn id="122" dur="500"/>
                                        <p:tgtEl>
                                          <p:spTgt spid="3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500"/>
                                        <p:tgtEl>
                                          <p:spTgt spid="37"/>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8"/>
                                        </p:tgtEl>
                                        <p:attrNameLst>
                                          <p:attrName>style.visibility</p:attrName>
                                        </p:attrNameLst>
                                      </p:cBhvr>
                                      <p:to>
                                        <p:strVal val="visible"/>
                                      </p:to>
                                    </p:set>
                                    <p:animEffect transition="in" filter="fade">
                                      <p:cBhvr>
                                        <p:cTn id="128" dur="500"/>
                                        <p:tgtEl>
                                          <p:spTgt spid="38"/>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39"/>
                                        </p:tgtEl>
                                        <p:attrNameLst>
                                          <p:attrName>style.visibility</p:attrName>
                                        </p:attrNameLst>
                                      </p:cBhvr>
                                      <p:to>
                                        <p:strVal val="visible"/>
                                      </p:to>
                                    </p:set>
                                    <p:animEffect transition="in" filter="fade">
                                      <p:cBhvr>
                                        <p:cTn id="133" dur="500"/>
                                        <p:tgtEl>
                                          <p:spTgt spid="39"/>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fade">
                                      <p:cBhvr>
                                        <p:cTn id="136" dur="500"/>
                                        <p:tgtEl>
                                          <p:spTgt spid="40"/>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1"/>
                                        </p:tgtEl>
                                        <p:attrNameLst>
                                          <p:attrName>style.visibility</p:attrName>
                                        </p:attrNameLst>
                                      </p:cBhvr>
                                      <p:to>
                                        <p:strVal val="visible"/>
                                      </p:to>
                                    </p:set>
                                    <p:animEffect transition="in" filter="fade">
                                      <p:cBhvr>
                                        <p:cTn id="139" dur="500"/>
                                        <p:tgtEl>
                                          <p:spTgt spid="4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2"/>
                                        </p:tgtEl>
                                        <p:attrNameLst>
                                          <p:attrName>style.visibility</p:attrName>
                                        </p:attrNameLst>
                                      </p:cBhvr>
                                      <p:to>
                                        <p:strVal val="visible"/>
                                      </p:to>
                                    </p:set>
                                    <p:animEffect transition="in" filter="fade">
                                      <p:cBhvr>
                                        <p:cTn id="14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Final Quick-Fire Quiz</a:t>
            </a:r>
            <a:endParaRPr lang="en-US" sz="3200" dirty="0"/>
          </a:p>
        </p:txBody>
      </p:sp>
      <p:sp>
        <p:nvSpPr>
          <p:cNvPr id="3" name="box_1791"/>
          <p:cNvSpPr/>
          <p:nvPr/>
        </p:nvSpPr>
        <p:spPr>
          <a:xfrm>
            <a:off x="548640" y="1280160"/>
            <a:ext cx="11094415" cy="1234440"/>
          </a:xfrm>
          <a:prstGeom prst="roundRect">
            <a:avLst>
              <a:gd name="adj" fmla="val 8889"/>
            </a:avLst>
          </a:prstGeom>
          <a:solidFill>
            <a:srgbClr val="0B2A3C"/>
          </a:solidFill>
          <a:ln/>
        </p:spPr>
      </p:sp>
      <p:pic>
        <p:nvPicPr>
          <p:cNvPr id="4" name="icon_1792" descr="preencoded.png">    </p:cNvPr>
          <p:cNvPicPr>
            <a:picLocks noChangeAspect="1"/>
          </p:cNvPicPr>
          <p:nvPr/>
        </p:nvPicPr>
        <p:blipFill>
          <a:blip r:embed="rId1"/>
          <a:stretch>
            <a:fillRect/>
          </a:stretch>
        </p:blipFill>
        <p:spPr>
          <a:xfrm>
            <a:off x="822960" y="1463040"/>
            <a:ext cx="868680" cy="868680"/>
          </a:xfrm>
          <a:prstGeom prst="rect">
            <a:avLst/>
          </a:prstGeom>
        </p:spPr>
      </p:pic>
      <p:sp>
        <p:nvSpPr>
          <p:cNvPr id="5" name="txt_1793"/>
          <p:cNvSpPr txBox="1"/>
          <p:nvPr/>
        </p:nvSpPr>
        <p:spPr>
          <a:xfrm>
            <a:off x="1920240" y="1325880"/>
            <a:ext cx="9448495" cy="502920"/>
          </a:xfrm>
          <a:prstGeom prst="rect">
            <a:avLst/>
          </a:prstGeom>
          <a:noFill/>
          <a:ln/>
        </p:spPr>
        <p:txBody>
          <a:bodyPr wrap="square" lIns="635" tIns="635" rIns="635" bIns="635" rtlCol="0" anchor="ctr"/>
          <a:lstStyle/>
          <a:p>
            <a:pPr indent="0" marL="0">
              <a:buNone/>
            </a:pPr>
            <a:r>
              <a:rPr lang="en-US" sz="1800" dirty="0">
                <a:solidFill>
                  <a:srgbClr val="C9D8E2"/>
                </a:solidFill>
                <a:latin typeface="Calibri" pitchFamily="34" charset="0"/>
                <a:ea typeface="Calibri" pitchFamily="34" charset="-122"/>
                <a:cs typeface="Calibri" pitchFamily="34" charset="-120"/>
              </a:rPr>
              <a:t>Answer out loud – then click to check.</a:t>
            </a:r>
            <a:endParaRPr lang="en-US" sz="1800" dirty="0"/>
          </a:p>
        </p:txBody>
      </p:sp>
      <p:sp>
        <p:nvSpPr>
          <p:cNvPr id="6" name="txt_1794"/>
          <p:cNvSpPr txBox="1"/>
          <p:nvPr/>
        </p:nvSpPr>
        <p:spPr>
          <a:xfrm>
            <a:off x="1920240" y="1783080"/>
            <a:ext cx="9448495" cy="685800"/>
          </a:xfrm>
          <a:prstGeom prst="rect">
            <a:avLst/>
          </a:prstGeom>
          <a:noFill/>
          <a:ln/>
        </p:spPr>
        <p:txBody>
          <a:bodyPr wrap="square" lIns="635" tIns="635" rIns="635" bIns="635"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Test yourself!</a:t>
            </a:r>
            <a:endParaRPr lang="en-US" sz="2400" dirty="0"/>
          </a:p>
        </p:txBody>
      </p:sp>
      <p:sp>
        <p:nvSpPr>
          <p:cNvPr id="7" name="txt_1795"/>
          <p:cNvSpPr txBox="1"/>
          <p:nvPr/>
        </p:nvSpPr>
        <p:spPr>
          <a:xfrm>
            <a:off x="548640" y="2651760"/>
            <a:ext cx="7315200" cy="365760"/>
          </a:xfrm>
          <a:prstGeom prst="rect">
            <a:avLst/>
          </a:prstGeom>
          <a:noFill/>
          <a:ln/>
        </p:spPr>
        <p:txBody>
          <a:bodyPr wrap="square" lIns="635" tIns="635" rIns="635" bIns="635" rtlCol="0" anchor="t"/>
          <a:lstStyle/>
          <a:p>
            <a:pPr indent="0" marL="0">
              <a:buNone/>
            </a:pPr>
            <a:r>
              <a:rPr lang="en-US" sz="1600" i="1" dirty="0">
                <a:solidFill>
                  <a:srgbClr val="5B6B75"/>
                </a:solidFill>
                <a:latin typeface="Calibri" pitchFamily="34" charset="0"/>
                <a:ea typeface="Calibri" pitchFamily="34" charset="-122"/>
                <a:cs typeface="Calibri" pitchFamily="34" charset="-120"/>
              </a:rPr>
              <a:t>THINK FIRST… then click to reveal the answer</a:t>
            </a:r>
            <a:endParaRPr lang="en-US" sz="1600" dirty="0"/>
          </a:p>
        </p:txBody>
      </p:sp>
      <p:sp>
        <p:nvSpPr>
          <p:cNvPr id="8" name="a1_box_1796"/>
          <p:cNvSpPr/>
          <p:nvPr/>
        </p:nvSpPr>
        <p:spPr>
          <a:xfrm>
            <a:off x="548640"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9" name="a1_box_1797"/>
          <p:cNvSpPr/>
          <p:nvPr/>
        </p:nvSpPr>
        <p:spPr>
          <a:xfrm>
            <a:off x="548640" y="3063240"/>
            <a:ext cx="685800" cy="914400"/>
          </a:xfrm>
          <a:prstGeom prst="rect">
            <a:avLst/>
          </a:prstGeom>
          <a:solidFill>
            <a:srgbClr val="C0392B"/>
          </a:solidFill>
          <a:ln/>
        </p:spPr>
      </p:sp>
      <p:pic>
        <p:nvPicPr>
          <p:cNvPr id="10" name="a1_icon_1798" descr="preencoded.png">    </p:cNvPr>
          <p:cNvPicPr>
            <a:picLocks noChangeAspect="1"/>
          </p:cNvPicPr>
          <p:nvPr/>
        </p:nvPicPr>
        <p:blipFill>
          <a:blip r:embed="rId2"/>
          <a:stretch>
            <a:fillRect/>
          </a:stretch>
        </p:blipFill>
        <p:spPr>
          <a:xfrm>
            <a:off x="704088" y="3328416"/>
            <a:ext cx="384048" cy="384048"/>
          </a:xfrm>
          <a:prstGeom prst="rect">
            <a:avLst/>
          </a:prstGeom>
        </p:spPr>
      </p:pic>
      <p:sp>
        <p:nvSpPr>
          <p:cNvPr id="11" name="a1_txt_1799"/>
          <p:cNvSpPr txBox="1"/>
          <p:nvPr/>
        </p:nvSpPr>
        <p:spPr>
          <a:xfrm>
            <a:off x="1371600" y="3108960"/>
            <a:ext cx="4472788" cy="82296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What is the Life Saving Rule? </a:t>
            </a:r>
            <a:pPr indent="0" marL="0">
              <a:buNone/>
            </a:pPr>
            <a:r>
              <a:rPr lang="en-US" sz="1700" dirty="0">
                <a:solidFill>
                  <a:srgbClr val="1B2730"/>
                </a:solidFill>
                <a:latin typeface="Calibri" pitchFamily="34" charset="0"/>
                <a:ea typeface="Calibri" pitchFamily="34" charset="-122"/>
                <a:cs typeface="Calibri" pitchFamily="34" charset="-120"/>
              </a:rPr>
              <a:t>No work without a valid permit where a permit is required</a:t>
            </a:r>
            <a:endParaRPr lang="en-US" sz="1700" dirty="0"/>
          </a:p>
        </p:txBody>
      </p:sp>
      <p:sp>
        <p:nvSpPr>
          <p:cNvPr id="12" name="a2_box_1800"/>
          <p:cNvSpPr/>
          <p:nvPr/>
        </p:nvSpPr>
        <p:spPr>
          <a:xfrm>
            <a:off x="6210148" y="3063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3" name="a2_box_1801"/>
          <p:cNvSpPr/>
          <p:nvPr/>
        </p:nvSpPr>
        <p:spPr>
          <a:xfrm>
            <a:off x="6210148" y="3063240"/>
            <a:ext cx="685800" cy="914400"/>
          </a:xfrm>
          <a:prstGeom prst="rect">
            <a:avLst/>
          </a:prstGeom>
          <a:solidFill>
            <a:srgbClr val="6A1B9A"/>
          </a:solidFill>
          <a:ln/>
        </p:spPr>
      </p:sp>
      <p:pic>
        <p:nvPicPr>
          <p:cNvPr id="14" name="a2_icon_1802" descr="preencoded.png">    </p:cNvPr>
          <p:cNvPicPr>
            <a:picLocks noChangeAspect="1"/>
          </p:cNvPicPr>
          <p:nvPr/>
        </p:nvPicPr>
        <p:blipFill>
          <a:blip r:embed="rId3"/>
          <a:stretch>
            <a:fillRect/>
          </a:stretch>
        </p:blipFill>
        <p:spPr>
          <a:xfrm>
            <a:off x="6365596" y="3328416"/>
            <a:ext cx="384048" cy="384048"/>
          </a:xfrm>
          <a:prstGeom prst="rect">
            <a:avLst/>
          </a:prstGeom>
        </p:spPr>
      </p:pic>
      <p:sp>
        <p:nvSpPr>
          <p:cNvPr id="15" name="a2_txt_1803"/>
          <p:cNvSpPr txBox="1"/>
          <p:nvPr/>
        </p:nvSpPr>
        <p:spPr>
          <a:xfrm>
            <a:off x="7033108" y="3108960"/>
            <a:ext cx="4472788" cy="822960"/>
          </a:xfrm>
          <a:prstGeom prst="rect">
            <a:avLst/>
          </a:prstGeom>
          <a:noFill/>
          <a:ln/>
        </p:spPr>
        <p:txBody>
          <a:bodyPr wrap="square" lIns="635" tIns="635" rIns="635" bIns="635" rtlCol="0" anchor="ctr"/>
          <a:lstStyle/>
          <a:p>
            <a:pPr indent="0" marL="0">
              <a:buNone/>
            </a:pPr>
            <a:r>
              <a:rPr lang="en-US" sz="1700" b="1" dirty="0">
                <a:solidFill>
                  <a:srgbClr val="6A1B9A"/>
                </a:solidFill>
                <a:latin typeface="Calibri" pitchFamily="34" charset="0"/>
                <a:ea typeface="Calibri" pitchFamily="34" charset="-122"/>
                <a:cs typeface="Calibri" pitchFamily="34" charset="-120"/>
              </a:rPr>
              <a:t>Gas test order? </a:t>
            </a:r>
            <a:pPr indent="0" marL="0">
              <a:buNone/>
            </a:pPr>
            <a:r>
              <a:rPr lang="en-US" sz="1700" dirty="0">
                <a:solidFill>
                  <a:srgbClr val="1B2730"/>
                </a:solidFill>
                <a:latin typeface="Calibri" pitchFamily="34" charset="0"/>
                <a:ea typeface="Calibri" pitchFamily="34" charset="-122"/>
                <a:cs typeface="Calibri" pitchFamily="34" charset="-120"/>
              </a:rPr>
              <a:t>Oxygen → Flammables → Toxics</a:t>
            </a:r>
            <a:endParaRPr lang="en-US" sz="1700" dirty="0"/>
          </a:p>
        </p:txBody>
      </p:sp>
      <p:sp>
        <p:nvSpPr>
          <p:cNvPr id="16" name="a3_box_1804"/>
          <p:cNvSpPr/>
          <p:nvPr/>
        </p:nvSpPr>
        <p:spPr>
          <a:xfrm>
            <a:off x="548640"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17" name="a3_box_1805"/>
          <p:cNvSpPr/>
          <p:nvPr/>
        </p:nvSpPr>
        <p:spPr>
          <a:xfrm>
            <a:off x="548640" y="4206240"/>
            <a:ext cx="685800" cy="914400"/>
          </a:xfrm>
          <a:prstGeom prst="rect">
            <a:avLst/>
          </a:prstGeom>
          <a:solidFill>
            <a:srgbClr val="0F6E7A"/>
          </a:solidFill>
          <a:ln/>
        </p:spPr>
      </p:sp>
      <p:pic>
        <p:nvPicPr>
          <p:cNvPr id="18" name="a3_icon_1806" descr="preencoded.png">    </p:cNvPr>
          <p:cNvPicPr>
            <a:picLocks noChangeAspect="1"/>
          </p:cNvPicPr>
          <p:nvPr/>
        </p:nvPicPr>
        <p:blipFill>
          <a:blip r:embed="rId4"/>
          <a:stretch>
            <a:fillRect/>
          </a:stretch>
        </p:blipFill>
        <p:spPr>
          <a:xfrm>
            <a:off x="704088" y="4471416"/>
            <a:ext cx="384048" cy="384048"/>
          </a:xfrm>
          <a:prstGeom prst="rect">
            <a:avLst/>
          </a:prstGeom>
        </p:spPr>
      </p:pic>
      <p:sp>
        <p:nvSpPr>
          <p:cNvPr id="19" name="a3_txt_1807"/>
          <p:cNvSpPr txBox="1"/>
          <p:nvPr/>
        </p:nvSpPr>
        <p:spPr>
          <a:xfrm>
            <a:off x="1371600" y="4251960"/>
            <a:ext cx="4472788" cy="822960"/>
          </a:xfrm>
          <a:prstGeom prst="rect">
            <a:avLst/>
          </a:prstGeom>
          <a:noFill/>
          <a:ln/>
        </p:spPr>
        <p:txBody>
          <a:bodyPr wrap="square" lIns="635" tIns="635" rIns="635" bIns="635" rtlCol="0" anchor="ctr"/>
          <a:lstStyle/>
          <a:p>
            <a:pPr indent="0" marL="0">
              <a:buNone/>
            </a:pPr>
            <a:r>
              <a:rPr lang="en-US" sz="1700" b="1" dirty="0">
                <a:solidFill>
                  <a:srgbClr val="0F6E7A"/>
                </a:solidFill>
                <a:latin typeface="Calibri" pitchFamily="34" charset="0"/>
                <a:ea typeface="Calibri" pitchFamily="34" charset="-122"/>
                <a:cs typeface="Calibri" pitchFamily="34" charset="-120"/>
              </a:rPr>
              <a:t>Who signs first? </a:t>
            </a:r>
            <a:pPr indent="0" marL="0">
              <a:buNone/>
            </a:pPr>
            <a:r>
              <a:rPr lang="en-US" sz="1700" dirty="0">
                <a:solidFill>
                  <a:srgbClr val="1B2730"/>
                </a:solidFill>
                <a:latin typeface="Calibri" pitchFamily="34" charset="0"/>
                <a:ea typeface="Calibri" pitchFamily="34" charset="-122"/>
                <a:cs typeface="Calibri" pitchFamily="34" charset="-120"/>
              </a:rPr>
              <a:t>The Permit Issuer – after verifying the site</a:t>
            </a:r>
            <a:endParaRPr lang="en-US" sz="1700" dirty="0"/>
          </a:p>
        </p:txBody>
      </p:sp>
      <p:sp>
        <p:nvSpPr>
          <p:cNvPr id="20" name="a4_box_1808"/>
          <p:cNvSpPr/>
          <p:nvPr/>
        </p:nvSpPr>
        <p:spPr>
          <a:xfrm>
            <a:off x="6210148" y="4206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1" name="a4_box_1809"/>
          <p:cNvSpPr/>
          <p:nvPr/>
        </p:nvSpPr>
        <p:spPr>
          <a:xfrm>
            <a:off x="6210148" y="4206240"/>
            <a:ext cx="685800" cy="914400"/>
          </a:xfrm>
          <a:prstGeom prst="rect">
            <a:avLst/>
          </a:prstGeom>
          <a:solidFill>
            <a:srgbClr val="E8771E"/>
          </a:solidFill>
          <a:ln/>
        </p:spPr>
      </p:sp>
      <p:pic>
        <p:nvPicPr>
          <p:cNvPr id="22" name="a4_icon_1810" descr="preencoded.png">    </p:cNvPr>
          <p:cNvPicPr>
            <a:picLocks noChangeAspect="1"/>
          </p:cNvPicPr>
          <p:nvPr/>
        </p:nvPicPr>
        <p:blipFill>
          <a:blip r:embed="rId5"/>
          <a:stretch>
            <a:fillRect/>
          </a:stretch>
        </p:blipFill>
        <p:spPr>
          <a:xfrm>
            <a:off x="6365596" y="4471416"/>
            <a:ext cx="384048" cy="384048"/>
          </a:xfrm>
          <a:prstGeom prst="rect">
            <a:avLst/>
          </a:prstGeom>
        </p:spPr>
      </p:pic>
      <p:sp>
        <p:nvSpPr>
          <p:cNvPr id="23" name="a4_txt_1811"/>
          <p:cNvSpPr txBox="1"/>
          <p:nvPr/>
        </p:nvSpPr>
        <p:spPr>
          <a:xfrm>
            <a:off x="7033108" y="4251960"/>
            <a:ext cx="4472788" cy="822960"/>
          </a:xfrm>
          <a:prstGeom prst="rect">
            <a:avLst/>
          </a:prstGeom>
          <a:noFill/>
          <a:ln/>
        </p:spPr>
        <p:txBody>
          <a:bodyPr wrap="square" lIns="635" tIns="635" rIns="635" bIns="635" rtlCol="0" anchor="ctr"/>
          <a:lstStyle/>
          <a:p>
            <a:pPr indent="0" marL="0">
              <a:buNone/>
            </a:pPr>
            <a:r>
              <a:rPr lang="en-US" sz="1700" b="1" dirty="0">
                <a:solidFill>
                  <a:srgbClr val="E8771E"/>
                </a:solidFill>
                <a:latin typeface="Calibri" pitchFamily="34" charset="0"/>
                <a:ea typeface="Calibri" pitchFamily="34" charset="-122"/>
                <a:cs typeface="Calibri" pitchFamily="34" charset="-120"/>
              </a:rPr>
              <a:t>What is VOI? </a:t>
            </a:r>
            <a:pPr indent="0" marL="0">
              <a:buNone/>
            </a:pPr>
            <a:r>
              <a:rPr lang="en-US" sz="1700" dirty="0">
                <a:solidFill>
                  <a:srgbClr val="1B2730"/>
                </a:solidFill>
                <a:latin typeface="Calibri" pitchFamily="34" charset="0"/>
                <a:ea typeface="Calibri" pitchFamily="34" charset="-122"/>
                <a:cs typeface="Calibri" pitchFamily="34" charset="-120"/>
              </a:rPr>
              <a:t>Verification of Isolation – prove zero energy</a:t>
            </a:r>
            <a:endParaRPr lang="en-US" sz="1700" dirty="0"/>
          </a:p>
        </p:txBody>
      </p:sp>
      <p:sp>
        <p:nvSpPr>
          <p:cNvPr id="24" name="a5_box_1812"/>
          <p:cNvSpPr/>
          <p:nvPr/>
        </p:nvSpPr>
        <p:spPr>
          <a:xfrm>
            <a:off x="548640"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5" name="a5_box_1813"/>
          <p:cNvSpPr/>
          <p:nvPr/>
        </p:nvSpPr>
        <p:spPr>
          <a:xfrm>
            <a:off x="548640" y="5349240"/>
            <a:ext cx="685800" cy="914400"/>
          </a:xfrm>
          <a:prstGeom prst="rect">
            <a:avLst/>
          </a:prstGeom>
          <a:solidFill>
            <a:srgbClr val="C0392B"/>
          </a:solidFill>
          <a:ln/>
        </p:spPr>
      </p:sp>
      <p:pic>
        <p:nvPicPr>
          <p:cNvPr id="26" name="a5_icon_1814" descr="preencoded.png">    </p:cNvPr>
          <p:cNvPicPr>
            <a:picLocks noChangeAspect="1"/>
          </p:cNvPicPr>
          <p:nvPr/>
        </p:nvPicPr>
        <p:blipFill>
          <a:blip r:embed="rId6"/>
          <a:stretch>
            <a:fillRect/>
          </a:stretch>
        </p:blipFill>
        <p:spPr>
          <a:xfrm>
            <a:off x="704088" y="5614416"/>
            <a:ext cx="384048" cy="384048"/>
          </a:xfrm>
          <a:prstGeom prst="rect">
            <a:avLst/>
          </a:prstGeom>
        </p:spPr>
      </p:pic>
      <p:sp>
        <p:nvSpPr>
          <p:cNvPr id="27" name="a5_txt_1815"/>
          <p:cNvSpPr txBox="1"/>
          <p:nvPr/>
        </p:nvSpPr>
        <p:spPr>
          <a:xfrm>
            <a:off x="1371600" y="5394960"/>
            <a:ext cx="4472788" cy="822960"/>
          </a:xfrm>
          <a:prstGeom prst="rect">
            <a:avLst/>
          </a:prstGeom>
          <a:noFill/>
          <a:ln/>
        </p:spPr>
        <p:txBody>
          <a:bodyPr wrap="square" lIns="635" tIns="635" rIns="635" bIns="635"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Fire watch after hot work? </a:t>
            </a:r>
            <a:pPr indent="0" marL="0">
              <a:buNone/>
            </a:pPr>
            <a:r>
              <a:rPr lang="en-US" sz="1700" dirty="0">
                <a:solidFill>
                  <a:srgbClr val="1B2730"/>
                </a:solidFill>
                <a:latin typeface="Calibri" pitchFamily="34" charset="0"/>
                <a:ea typeface="Calibri" pitchFamily="34" charset="-122"/>
                <a:cs typeface="Calibri" pitchFamily="34" charset="-120"/>
              </a:rPr>
              <a:t>At least 60 minutes</a:t>
            </a:r>
            <a:endParaRPr lang="en-US" sz="1700" dirty="0"/>
          </a:p>
        </p:txBody>
      </p:sp>
      <p:sp>
        <p:nvSpPr>
          <p:cNvPr id="28" name="a6_box_1816"/>
          <p:cNvSpPr/>
          <p:nvPr/>
        </p:nvSpPr>
        <p:spPr>
          <a:xfrm>
            <a:off x="6210148" y="5349240"/>
            <a:ext cx="5432908" cy="914400"/>
          </a:xfrm>
          <a:prstGeom prst="roundRect">
            <a:avLst>
              <a:gd name="adj" fmla="val 12000"/>
            </a:avLst>
          </a:prstGeom>
          <a:solidFill>
            <a:srgbClr val="FFFFFF"/>
          </a:solidFill>
          <a:ln w="12700">
            <a:solidFill>
              <a:srgbClr val="C9D3D9"/>
            </a:solidFill>
            <a:prstDash val="solid"/>
          </a:ln>
          <a:effectLst>
            <a:outerShdw sx="100000" sy="100000" kx="0" ky="0" algn="bl" rotWithShape="0" blurRad="76200" dist="25400" dir="5400000">
              <a:srgbClr val="000000">
                <a:alpha val="15000"/>
              </a:srgbClr>
            </a:outerShdw>
          </a:effectLst>
        </p:spPr>
      </p:sp>
      <p:sp>
        <p:nvSpPr>
          <p:cNvPr id="29" name="a6_box_1817"/>
          <p:cNvSpPr/>
          <p:nvPr/>
        </p:nvSpPr>
        <p:spPr>
          <a:xfrm>
            <a:off x="6210148" y="5349240"/>
            <a:ext cx="685800" cy="914400"/>
          </a:xfrm>
          <a:prstGeom prst="rect">
            <a:avLst/>
          </a:prstGeom>
          <a:solidFill>
            <a:srgbClr val="2E7D32"/>
          </a:solidFill>
          <a:ln/>
        </p:spPr>
      </p:sp>
      <p:pic>
        <p:nvPicPr>
          <p:cNvPr id="30" name="a6_icon_1818" descr="preencoded.png">    </p:cNvPr>
          <p:cNvPicPr>
            <a:picLocks noChangeAspect="1"/>
          </p:cNvPicPr>
          <p:nvPr/>
        </p:nvPicPr>
        <p:blipFill>
          <a:blip r:embed="rId7"/>
          <a:stretch>
            <a:fillRect/>
          </a:stretch>
        </p:blipFill>
        <p:spPr>
          <a:xfrm>
            <a:off x="6365596" y="5614416"/>
            <a:ext cx="384048" cy="384048"/>
          </a:xfrm>
          <a:prstGeom prst="rect">
            <a:avLst/>
          </a:prstGeom>
        </p:spPr>
      </p:pic>
      <p:sp>
        <p:nvSpPr>
          <p:cNvPr id="31" name="a6_txt_1819"/>
          <p:cNvSpPr txBox="1"/>
          <p:nvPr/>
        </p:nvSpPr>
        <p:spPr>
          <a:xfrm>
            <a:off x="7033108" y="5394960"/>
            <a:ext cx="4472788" cy="822960"/>
          </a:xfrm>
          <a:prstGeom prst="rect">
            <a:avLst/>
          </a:prstGeom>
          <a:noFill/>
          <a:ln/>
        </p:spPr>
        <p:txBody>
          <a:bodyPr wrap="square" lIns="635" tIns="635" rIns="635" bIns="635" rtlCol="0" anchor="ctr"/>
          <a:lstStyle/>
          <a:p>
            <a:pPr indent="0" marL="0">
              <a:buNone/>
            </a:pPr>
            <a:r>
              <a:rPr lang="en-US" sz="1700" b="1" dirty="0">
                <a:solidFill>
                  <a:srgbClr val="2E7D32"/>
                </a:solidFill>
                <a:latin typeface="Calibri" pitchFamily="34" charset="0"/>
                <a:ea typeface="Calibri" pitchFamily="34" charset="-122"/>
                <a:cs typeface="Calibri" pitchFamily="34" charset="-120"/>
              </a:rPr>
              <a:t>Who can stop work? </a:t>
            </a:r>
            <a:pPr indent="0" marL="0">
              <a:buNone/>
            </a:pPr>
            <a:r>
              <a:rPr lang="en-US" sz="1700" dirty="0">
                <a:solidFill>
                  <a:srgbClr val="1B2730"/>
                </a:solidFill>
                <a:latin typeface="Calibri" pitchFamily="34" charset="0"/>
                <a:ea typeface="Calibri" pitchFamily="34" charset="-122"/>
                <a:cs typeface="Calibri" pitchFamily="34" charset="-120"/>
              </a:rPr>
              <a:t>Everyone – any time</a:t>
            </a:r>
            <a:endParaRPr lang="en-US" sz="1700" dirty="0"/>
          </a:p>
        </p:txBody>
      </p:sp>
      <p:sp>
        <p:nvSpPr>
          <p:cNvPr id="32"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box_1820"/>
          <p:cNvSpPr/>
          <p:nvPr/>
        </p:nvSpPr>
        <p:spPr>
          <a:xfrm>
            <a:off x="0" y="0"/>
            <a:ext cx="12191695" cy="6858000"/>
          </a:xfrm>
          <a:prstGeom prst="rect">
            <a:avLst/>
          </a:prstGeom>
          <a:solidFill>
            <a:srgbClr val="123B52"/>
          </a:solidFill>
          <a:ln/>
        </p:spPr>
      </p:sp>
      <p:sp>
        <p:nvSpPr>
          <p:cNvPr id="3" name="circ_1821"/>
          <p:cNvSpPr/>
          <p:nvPr/>
        </p:nvSpPr>
        <p:spPr>
          <a:xfrm>
            <a:off x="5501488" y="1097280"/>
            <a:ext cx="1188720" cy="1188720"/>
          </a:xfrm>
          <a:prstGeom prst="ellipse">
            <a:avLst/>
          </a:prstGeom>
          <a:solidFill>
            <a:srgbClr val="E8771E"/>
          </a:solidFill>
          <a:ln/>
        </p:spPr>
      </p:sp>
      <p:pic>
        <p:nvPicPr>
          <p:cNvPr id="4" name="icon_1822" descr="preencoded.png">    </p:cNvPr>
          <p:cNvPicPr>
            <a:picLocks noChangeAspect="1"/>
          </p:cNvPicPr>
          <p:nvPr/>
        </p:nvPicPr>
        <p:blipFill>
          <a:blip r:embed="rId1"/>
          <a:stretch>
            <a:fillRect/>
          </a:stretch>
        </p:blipFill>
        <p:spPr>
          <a:xfrm>
            <a:off x="5768950" y="1364742"/>
            <a:ext cx="653796" cy="653796"/>
          </a:xfrm>
          <a:prstGeom prst="rect">
            <a:avLst/>
          </a:prstGeom>
        </p:spPr>
      </p:pic>
      <p:sp>
        <p:nvSpPr>
          <p:cNvPr id="5" name="txt_1823"/>
          <p:cNvSpPr txBox="1"/>
          <p:nvPr/>
        </p:nvSpPr>
        <p:spPr>
          <a:xfrm>
            <a:off x="548640" y="2560320"/>
            <a:ext cx="11094415" cy="914400"/>
          </a:xfrm>
          <a:prstGeom prst="rect">
            <a:avLst/>
          </a:prstGeom>
          <a:noFill/>
          <a:ln/>
        </p:spPr>
        <p:txBody>
          <a:bodyPr wrap="square" lIns="635" tIns="635" rIns="635" bIns="635"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Sending everyone home safely</a:t>
            </a:r>
            <a:endParaRPr lang="en-US" sz="4000" dirty="0"/>
          </a:p>
        </p:txBody>
      </p:sp>
      <p:sp>
        <p:nvSpPr>
          <p:cNvPr id="6" name="txt_1824"/>
          <p:cNvSpPr txBox="1"/>
          <p:nvPr/>
        </p:nvSpPr>
        <p:spPr>
          <a:xfrm>
            <a:off x="1097280" y="3566160"/>
            <a:ext cx="9997135" cy="822960"/>
          </a:xfrm>
          <a:prstGeom prst="rect">
            <a:avLst/>
          </a:prstGeom>
          <a:noFill/>
          <a:ln/>
        </p:spPr>
        <p:txBody>
          <a:bodyPr wrap="square" lIns="635" tIns="635" rIns="635" bIns="635" rtlCol="0" anchor="t"/>
          <a:lstStyle/>
          <a:p>
            <a:pPr algn="ctr" indent="0" marL="0">
              <a:buNone/>
            </a:pPr>
            <a:r>
              <a:rPr lang="en-US" sz="2200" dirty="0">
                <a:solidFill>
                  <a:srgbClr val="DCE6EC"/>
                </a:solidFill>
                <a:latin typeface="Calibri" pitchFamily="34" charset="0"/>
                <a:ea typeface="Calibri" pitchFamily="34" charset="-122"/>
                <a:cs typeface="Calibri" pitchFamily="34" charset="-120"/>
              </a:rPr>
              <a:t>A permit is a safety process – plan it, verify it, communicate it, follow it, close it.</a:t>
            </a:r>
            <a:endParaRPr lang="en-US" sz="2200" dirty="0"/>
          </a:p>
        </p:txBody>
      </p:sp>
      <p:sp>
        <p:nvSpPr>
          <p:cNvPr id="7" name="txt_1825"/>
          <p:cNvSpPr txBox="1"/>
          <p:nvPr/>
        </p:nvSpPr>
        <p:spPr>
          <a:xfrm>
            <a:off x="548640" y="4754880"/>
            <a:ext cx="11094415" cy="731520"/>
          </a:xfrm>
          <a:prstGeom prst="rect">
            <a:avLst/>
          </a:prstGeom>
          <a:noFill/>
          <a:ln/>
        </p:spPr>
        <p:txBody>
          <a:bodyPr wrap="square" lIns="635" tIns="635" rIns="635" bIns="635" rtlCol="0" anchor="t"/>
          <a:lstStyle/>
          <a:p>
            <a:pPr algn="ctr" indent="0" marL="0">
              <a:buNone/>
            </a:pPr>
            <a:r>
              <a:rPr lang="en-US" sz="3000" b="1" dirty="0">
                <a:solidFill>
                  <a:srgbClr val="E8771E"/>
                </a:solidFill>
                <a:latin typeface="Calibri" pitchFamily="34" charset="0"/>
                <a:ea typeface="Calibri" pitchFamily="34" charset="-122"/>
                <a:cs typeface="Calibri" pitchFamily="34" charset="-120"/>
              </a:rPr>
              <a:t>Questions?</a:t>
            </a:r>
            <a:endParaRPr lang="en-US" sz="3000" dirty="0"/>
          </a:p>
        </p:txBody>
      </p:sp>
      <p:sp>
        <p:nvSpPr>
          <p:cNvPr id="8"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0"/>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rgbClr val="0B2A3C"/>
                </a:solidFill>
                <a:latin typeface="Arial" pitchFamily="34" charset="0"/>
                <a:ea typeface="Arial" pitchFamily="34" charset="-122"/>
                <a:cs typeface="Arial" pitchFamily="34" charset="-120"/>
              </a:rPr>
              <a:t>Glossary – Key Terms in Simple Words</a:t>
            </a:r>
            <a:endParaRPr lang="en-US" sz="3200" dirty="0"/>
          </a:p>
        </p:txBody>
      </p:sp>
      <p:graphicFrame>
        <p:nvGraphicFramePr>
          <p:cNvPr id="3" name="tbl_gloss"/>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188720"/>
                <a:gridCol w="4343400"/>
                <a:gridCol w="1188720"/>
                <a:gridCol w="4373575"/>
              </a:tblGrid>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PTW</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Permit to Work – formal written system to control high-risk work</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ppm</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Parts per million – unit for small gas concentrations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JSA / TRA</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Job Safety Analysis / Task Risk Assessment – job steps, hazards, controls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SIMOPS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Simultaneous Operations – conflicting activities close together</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LOTO</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Lock-Out Tag-Out – locking and tagging isolation points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SWA</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Stop Work Authority – everyone’s right to stop unsafe work</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VOI</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Verification of Isolation – test that proves zero energy</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ALARP</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As Low As Reasonably Practicable</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DBB</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Double Block &amp; Bleed – two closed valves with an open bleed between</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WSAP</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Worksite Assembly Point – first muster for headcount</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LEL</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Lower Explosive Limit – lowest gas level in air that can ignite</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MOC</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Management of Change</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FFFFFF"/>
                    </a:solidFill>
                  </a:tcPr>
                </a:tc>
              </a:tr>
              <a:tr h="694944">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H₂S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Hydrogen sulphide – a toxic gas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b="1" dirty="0">
                          <a:solidFill>
                            <a:srgbClr val="0F6E7A"/>
                          </a:solidFill>
                          <a:latin typeface="Calibri" pitchFamily="34" charset="0"/>
                          <a:ea typeface="Calibri" pitchFamily="34" charset="-122"/>
                          <a:cs typeface="Calibri" pitchFamily="34" charset="-120"/>
                        </a:rPr>
                        <a:t>SCBA</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c>
                  <a:txBody>
                    <a:bodyPr/>
                    <a:lstStyle/>
                    <a:p>
                      <a:pPr indent="0" marL="0">
                        <a:buNone/>
                      </a:pPr>
                      <a:r>
                        <a:rPr lang="en-US" sz="1600" dirty="0">
                          <a:solidFill>
                            <a:srgbClr val="1B2730"/>
                          </a:solidFill>
                          <a:latin typeface="Calibri" pitchFamily="34" charset="0"/>
                          <a:ea typeface="Calibri" pitchFamily="34" charset="-122"/>
                          <a:cs typeface="Calibri" pitchFamily="34" charset="-120"/>
                        </a:rPr>
                        <a:t>Self-Contained Breathing Apparatus</a:t>
                      </a:r>
                      <a:endParaRPr lang="en-US" sz="1600" dirty="0">
                        <a:latin typeface="Calibri" charset="0"/>
                        <a:ea typeface="Calibri" charset="0"/>
                        <a:cs typeface="Calibri" charset="0"/>
                      </a:endParaRPr>
                    </a:p>
                  </a:txBody>
                  <a:tcPr marL="91440" marR="91440" marT="36576" marB="36576" anchor="ctr">
                    <a:lnL w="9525" cap="flat" cmpd="sng" algn="ctr">
                      <a:solidFill>
                        <a:srgbClr val="C9D3D9"/>
                      </a:solidFill>
                      <a:prstDash val="solid"/>
                      <a:round/>
                      <a:headEnd type="none" w="med" len="med"/>
                      <a:tailEnd type="none" w="med" len="med"/>
                    </a:lnL>
                    <a:lnR w="9525" cap="flat" cmpd="sng" algn="ctr">
                      <a:solidFill>
                        <a:srgbClr val="C9D3D9"/>
                      </a:solidFill>
                      <a:prstDash val="solid"/>
                      <a:round/>
                      <a:headEnd type="none" w="med" len="med"/>
                      <a:tailEnd type="none" w="med" len="med"/>
                    </a:lnR>
                    <a:lnT w="9525" cap="flat" cmpd="sng" algn="ctr">
                      <a:solidFill>
                        <a:srgbClr val="C9D3D9"/>
                      </a:solidFill>
                      <a:prstDash val="solid"/>
                      <a:round/>
                      <a:headEnd type="none" w="med" len="med"/>
                      <a:tailEnd type="none" w="med" len="med"/>
                    </a:lnT>
                    <a:lnB w="9525" cap="flat" cmpd="sng" algn="ctr">
                      <a:solidFill>
                        <a:srgbClr val="C9D3D9"/>
                      </a:solidFill>
                      <a:prstDash val="solid"/>
                      <a:round/>
                      <a:headEnd type="none" w="med" len="med"/>
                      <a:tailEnd type="none" w="med" len="med"/>
                    </a:lnB>
                    <a:solidFill>
                      <a:srgbClr val="EEF3F6"/>
                    </a:solidFill>
                  </a:tcPr>
                </a:tc>
              </a:tr>
            </a:tbl>
          </a:graphicData>
        </a:graphic>
      </p:graphicFrame>
      <p:sp>
        <p:nvSpPr>
          <p:cNvPr id="4"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5"/>
                </a:solidFill>
                <a:latin typeface="Calibri"/>
                <a:ea typeface="Calibri"/>
                <a:cs typeface="Calibri"/>
              </a:defRPr>
            </a:lvl1pPr>
          </a:lstStyle>
          <a:p>
            <a:pPr algn="r"/>
            <a:fld id="{F7021451-1387-4CA6-816F-3879F97B5CBC}" type="slidenum">
              <a:rPr b="0" lang="en-US"/>
              <a:t>88</a:t>
            </a:fld>
            <a:endParaRPr lang="en-US"/>
          </a:p>
        </p:txBody>
      </p:sp>
    </p:spTree>
  </p:cSld>
  <p:clrMapOvr>
    <a:masterClrMapping/>
  </p:clrMapOvr>
  <p:transition spd="med">
    <p:fade/>
  </p:transition>
</p:sld>
</file>

<file path=ppt/theme/theme1.xml><?xml version="1.0" encoding="utf-8"?>
<a:theme xmlns:a="http://schemas.openxmlformats.org/drawingml/2006/main" name="PTW Gas Plant">
  <a:themeElements>
    <a:clrScheme name="PTW Gas Plant">
      <a:dk1>
        <a:srgbClr val="1B2730"/>
      </a:dk1>
      <a:lt1>
        <a:srgbClr val="FFFFFF"/>
      </a:lt1>
      <a:dk2>
        <a:srgbClr val="0B2A3C"/>
      </a:dk2>
      <a:lt2>
        <a:srgbClr val="F3F6F8"/>
      </a:lt2>
      <a:accent1>
        <a:srgbClr val="0F6E7A"/>
      </a:accent1>
      <a:accent2>
        <a:srgbClr val="E8771E"/>
      </a:accent2>
      <a:accent3>
        <a:srgbClr val="2E7D32"/>
      </a:accent3>
      <a:accent4>
        <a:srgbClr val="C0392B"/>
      </a:accent4>
      <a:accent5>
        <a:srgbClr val="F2A900"/>
      </a:accent5>
      <a:accent6>
        <a:srgbClr val="123B52"/>
      </a:accent6>
      <a:hlink>
        <a:srgbClr val="0F6E7A"/>
      </a:hlink>
      <a:folHlink>
        <a:srgbClr val="5B6B75"/>
      </a:folHlink>
    </a:clrScheme>
    <a:fontScheme name="PTW Gas Pla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Module 7 PTW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Permit to Work (PTW) – Beginner Training</dc:title>
  <dc:subject>PTW training for Gas Treatment plant personnel</dc:subject>
  <dc:creator>HSE Training – Module 7</dc:creator>
  <cp:lastModifiedBy>HSE Training – Module 7</cp:lastModifiedBy>
  <cp:revision>1</cp:revision>
  <dcterms:created xsi:type="dcterms:W3CDTF">2026-10-05T07:03:58Z</dcterms:created>
  <dcterms:modified xsi:type="dcterms:W3CDTF">2026-10-05T07:03:58Z</dcterms:modified>
</cp:coreProperties>
</file>