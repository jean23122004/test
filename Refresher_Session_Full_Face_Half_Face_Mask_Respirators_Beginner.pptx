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322777b-6a53-92ff-99b8-dcabc27a94ba}">
          <p14:sldIdLst>
            <p14:sldId id="256"/>
            <p14:sldId id="257"/>
          </p14:sldIdLst>
        </p14:section>
        <p14:section name="Types of Respirators" id="{222c0858-09cc-8523-4ff4-acc2eb65d2a6}">
          <p14:sldIdLst>
            <p14:sldId id="258"/>
            <p14:sldId id="259"/>
          </p14:sldIdLst>
        </p14:section>
        <p14:section name="APF &amp; MUC" id="{74cb3df7-6008-3719-bbe9-7e60eae59ed2}">
          <p14:sldIdLst>
            <p14:sldId id="260"/>
            <p14:sldId id="261"/>
            <p14:sldId id="262"/>
            <p14:sldId id="263"/>
            <p14:sldId id="264"/>
          </p14:sldIdLst>
        </p14:section>
        <p14:section name="Pre-Use Checks" id="{ea2a2af3-6dd9-24f3-e7a5-b137fb23d0fe}">
          <p14:sldIdLst>
            <p14:sldId id="265"/>
            <p14:sldId id="266"/>
            <p14:sldId id="267"/>
            <p14:sldId id="268"/>
            <p14:sldId id="269"/>
          </p14:sldIdLst>
        </p14:section>
        <p14:section name="Escape Respirators &amp; NH15" id="{816dda81-3b5c-3816-1789-960a4777aaf9}">
          <p14:sldIdLst>
            <p14:sldId id="270"/>
            <p14:sldId id="271"/>
            <p14:sldId id="272"/>
          </p14:sldIdLst>
        </p14:section>
        <p14:section name="Summary" id="{4565ecd7-30a0-d782-445a-182543006db7}">
          <p14:sldIdLst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02E"/>
                </a:solidFill>
                <a:latin typeface="+mn-lt"/>
              </a:rPr>
              <a:t>H₂S breathed (ppm) – source example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H₂S breathed (ppm)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0&quot; ppm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Half Mask (APF 10)</c:v>
                  </c:pt>
                  <c:pt idx="1">
                    <c:v>Full Face (APF 50)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</c:v>
                </c:pt>
              </c:numCache>
            </c:numRef>
          </c:val>
        </c:ser>
        <c:dLbls>
          <c:numFmt formatCode="0&quot; ppm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a refresher on full face and half-mask respirators, plus the Avon NH15 escape hood used at the Gas Desulfurization Plant. All technical numbers in this deck come from the source refresher material; anything marked 'general guidance' is general good practice, not a source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introduction (plain-language background, not source-specific values). Key idea: a respirator only protects you if it is the right type, has the right cartridge, fits and seals properly, and has been checked before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'Types of Respiratory Equipment'. Full face: maximum protection, complete coverage, covers the entire face providing eye protection, used in environments with harmful gases or particulate matter. Half-mask: balanced protection, everyday use, covers nose and mouth, lightweight, commonly used for less hazardous environments. Escape: short-term use, emergency only, designed for emergency use providing protection for a short duration during evacuation. Photos are taken from the source graphic.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face covers eyes, nose and mouth. Half mask covers nose and mouth only — eyes remain exposed. APF examples are from the source: APF 50 full face (3M FF-400) and APF 10 half mask (3M 6000 or 7000 series).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APF = Assigned Protection Factor. Source wording: 'APF measures how much the mask reduces the concentration of gas you breathe.' Source examples: APF 10 for half mask (3M 6000 or 7000 series) and APF 50 for full face mask (3M FF-400).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example: 100 ppm H₂S outside the mask. Half mask APF 10: 100 ÷ 10 = 10 ppm breathed. Full face APF 50: 100 ÷ 50 = 2 ppm breathed. Click to reveal: concentration → reduction → result, for each mask, then the chart and the reminder. Note: this is a teaching example of the reduction ratio; it does not by itself make a respirator suitable — see MUC and IDLH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'Understanding MUC: your safety ceiling'. MUC = Maximum Use Concentration — the highest level of contamination a mask can safely handle. Formula: MUC = APF × PEL. APF = Assigned Protection Factor (mask type). PEL = Permissible Exposure Limit (legal limit). H₂S case study: PEL 10 ppm; half mask 10 × 10 = 100 ppm MUC; full face 50 × 10 = 500 ppm MUC. Continue to the next slide for the IDLH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Recreation of the source case study (H₂S, PEL = 10 ppm, IDLH = 100 ppm). Half mask: APF 10 × PEL 10 = MUC 100 ppm. Full face: APF 50 × PEL 10 = 500 ppm MUC, labelled 'potential' in the source, with the source note 'Must not exceed IDLH limits'. Critical safety rule from the source: if the air concentration is higher than your MUC, you are in immediate danger. Source key takeaways: always check the gas concentration; use the correct cartridge. Stress that a calculation alone never makes a respirator safe for every situation — follow site procedures for IDLH atmospheres.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safety message. Values on the scale are only the source H₂S example values: PEL 10 ppm and IDLH 100 ppm. A respirator reduces exposure — it does not make an unsafe atmosphere safe. Always measure the gas first (gas detector), then select the correct respirator and cartridge, and know its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title: 'Pre-use checks – full face respirators / half mask respirators'. The eight inspection points are general guidance (the source does not list detailed inspection criteria) — always follow the manufacturer's instructions and site procedure. The cartridge example (3M 6006) comes from the supplied Word document: fits 3M 6000/6500/7000/7500 half masks; NIOSH approval lists hydrogen sulfide for escape only; rated up to 10 × PEL with a half-face mask; gas/vapour cartridge does not filter dust or mists unless paired with an approved particulate pre-filter such as P100.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graphic: Positive Pressure Check (Exhale Test). 1 Block the exit – cover the exhalation valve with your palm. 2 The 'bulge' test – exhale gently; the facepiece should slightly puff out or bulge away from your face. 3 Leak detection – if you feel air escaping against your skin, the seal is broken. 4 Action – adjust the straps and repeat until no air escapes. Photos are the source panels.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graphic: Negative Pressure Check (Inhale Test). 1 Block the intake – cover the cartridge openings or filters with your hands. 2 The 'collapse' test – inhale gently; the facepiece should collapse or pull inward toward your face. 3 Hold and verify – hold your breath for 10 seconds; the mask should stay collapsed; if it doesn't, air is leaking in from the sides. 4 Action – re-tighten straps and recheck.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pressure = exhale test: block the exit (exhalation valve) and check that the facepiece bulges with no outward leakage. Negative pressure = inhale test: block the intake (cartridge openings/filters) and check the facepiece collapses inward and stays collapsed for 10 seconds. Both checks come from the source pre-use check graphics.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problem examples are general guidance. The two warning signs come directly from the source pressure-check graphics. If you cannot get a good seal, do not use the respirator — report it and get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escape respirators are 'Short term use. Emergency only.' and are 'designed for emergency use, providing protection for a short duration during evacuation'. Best used in emergency evacuation, fire and smoke situations, hazardous spills/leaks. Never use an escape device to carry on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are taken from the supplied Avon NH15 brochure pages: don in less than 30 seconds; minimum 15 minutes of respiratory, vision and facial protection to allow sufficient time to evacuate; 5-year maintenance-free shelf life; packaged size 3.4 x 4.0 x 6.0 in; 625 g (23 oz); NIOSH TC-14G-0302; CE: PPE Regulation 2016/425/EU Module B, certificate CE 684846; full all-round vision; self-adjusting harness; anti-fog visor; low user noise; 2 in filter protrusion; balanced on the head; no batteries. Reflective label helps rescue teams see the wearer. The Word document states 100 minutes of chemical breakthrough protection against 5,000 ppm H₂S — present this as a filter test figure only; the escape device is for getting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source only states: achieve protection within 30 seconds of opening the protective packaging and donning the reflective hood; the self-adjusting harness provides comfort and the security of a correctly fitted hood; minimum 15 minutes of protection to allow sufficient time to evacuate. Detailed donning steps are NOT in the source — demonstrate using the manufacturer's approved instructions (on the pack) or a training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safe behaviours. If equipment fails any check — remove it from use, report it and get a replacement.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question, let the group answer, then click to reveal. 1 B – Assigned Protection Factor. 2 A – Full face (covers eyes, nose and mouth). 3 B – Maximum Use Concentration (MUC = APF × PEL). 4 B – checks the face seal: block the exhalation valve, exhale gently, the facepiece should bulge with no air escaping. 5 B – No: escape respirators are short-term, emergency-only, for evacuation.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ten key points. Finish on number 10: when in doubt, stop the job and ask your supervisor or HSE.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participants. Invite questions. Remind them where respirators, cartridges and NH15 escape hoods are stored and who to contact for fit or equipment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PHOTO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rofac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411480"/>
            <a:ext cx="1188720" cy="3308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Respiratory Protection Refresher  |  Gas Desulfurization Plant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trofac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384048"/>
            <a:ext cx="1280160" cy="3563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Respiratory Protection Refresher  |  Gas Desulfurization Plant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950976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520">
              <a:alpha val="70000"/>
            </a:srgbClr>
          </a:solidFill>
          <a:ln/>
        </p:spPr>
      </p:sp>
      <p:pic>
        <p:nvPicPr>
          <p:cNvPr id="3" name="Image 0" descr="Petrofac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384048"/>
            <a:ext cx="1280160" cy="35633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jp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jpg"/><Relationship Id="rId7" Type="http://schemas.openxmlformats.org/officeDocument/2006/relationships/image" Target="../media/image-9-7.jp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October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72237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chemeClr val="accent5"/>
                </a:solidFill>
              </a:rPr>
              <a:t>REFRESHER SESSION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72237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FULL FACE &amp; HALF FACE MASK RESPIRATORS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7223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Respiratory Protection Refresher Training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00600"/>
            <a:ext cx="7223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Gas Desulfurization Plant</a:t>
            </a:r>
            <a:endParaRPr lang="en-US" sz="1600" dirty="0"/>
          </a:p>
        </p:txBody>
      </p:sp>
      <p:sp>
        <p:nvSpPr>
          <p:cNvPr id="7" name="photoCard_1"/>
          <p:cNvSpPr/>
          <p:nvPr/>
        </p:nvSpPr>
        <p:spPr>
          <a:xfrm>
            <a:off x="8229600" y="1097280"/>
            <a:ext cx="3200400" cy="50749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pic>
        <p:nvPicPr>
          <p:cNvPr id="8" name="fullFacePhoto_2" descr="t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76678"/>
            <a:ext cx="3017520" cy="471612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WHY RESPIRATORY PROTECTION MATTERS</a:t>
            </a:r>
            <a:endParaRPr lang="en-US" sz="3000" dirty="0"/>
          </a:p>
        </p:txBody>
      </p:sp>
      <p:pic>
        <p:nvPicPr>
          <p:cNvPr id="3" name="plantPhoto_3" descr="pla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234440"/>
            <a:ext cx="3913632" cy="4892040"/>
          </a:xfrm>
          <a:prstGeom prst="rect">
            <a:avLst/>
          </a:prstGeom>
        </p:spPr>
      </p:pic>
      <p:sp>
        <p:nvSpPr>
          <p:cNvPr id="4" name="photoCap_4"/>
          <p:cNvSpPr txBox="1"/>
          <p:nvPr/>
        </p:nvSpPr>
        <p:spPr>
          <a:xfrm>
            <a:off x="7726680" y="5669280"/>
            <a:ext cx="3913632" cy="457200"/>
          </a:xfrm>
          <a:prstGeom prst="rect">
            <a:avLst/>
          </a:prstGeom>
          <a:solidFill>
            <a:srgbClr val="14202E">
              <a:alpha val="80000"/>
            </a:srgbClr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H₂S hazard — gas-processing environment</a:t>
            </a:r>
            <a:endParaRPr lang="en-US" sz="1200" dirty="0"/>
          </a:p>
        </p:txBody>
      </p:sp>
      <p:sp>
        <p:nvSpPr>
          <p:cNvPr id="5" name="a1_iconbg_5"/>
          <p:cNvSpPr/>
          <p:nvPr/>
        </p:nvSpPr>
        <p:spPr>
          <a:xfrm>
            <a:off x="548640" y="13258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a1_icon_6" descr="FaWi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74" y="1486814"/>
            <a:ext cx="409651" cy="409651"/>
          </a:xfrm>
          <a:prstGeom prst="rect">
            <a:avLst/>
          </a:prstGeom>
        </p:spPr>
      </p:pic>
      <p:sp>
        <p:nvSpPr>
          <p:cNvPr id="7" name="a1_h_7"/>
          <p:cNvSpPr txBox="1"/>
          <p:nvPr/>
        </p:nvSpPr>
        <p:spPr>
          <a:xfrm>
            <a:off x="1463040" y="1280160"/>
            <a:ext cx="59436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What is a respiratory hazard?</a:t>
            </a:r>
            <a:endParaRPr lang="en-US" sz="1900" dirty="0"/>
          </a:p>
        </p:txBody>
      </p:sp>
      <p:sp>
        <p:nvSpPr>
          <p:cNvPr id="8" name="a1_b_8"/>
          <p:cNvSpPr txBox="1"/>
          <p:nvPr/>
        </p:nvSpPr>
        <p:spPr>
          <a:xfrm>
            <a:off x="1463040" y="1664208"/>
            <a:ext cx="5943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Harmful gases, vapours, dust, fumes or particles in the air you breathe — for example H₂S (Hydrogen Sulfide).</a:t>
            </a:r>
            <a:endParaRPr lang="en-US" sz="1500" dirty="0"/>
          </a:p>
        </p:txBody>
      </p:sp>
      <p:sp>
        <p:nvSpPr>
          <p:cNvPr id="9" name="a2_iconbg_9"/>
          <p:cNvSpPr/>
          <p:nvPr/>
        </p:nvSpPr>
        <p:spPr>
          <a:xfrm>
            <a:off x="548640" y="2542032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2_icon_10" descr="FaHeadSideMa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" y="2702966"/>
            <a:ext cx="409651" cy="409651"/>
          </a:xfrm>
          <a:prstGeom prst="rect">
            <a:avLst/>
          </a:prstGeom>
        </p:spPr>
      </p:pic>
      <p:sp>
        <p:nvSpPr>
          <p:cNvPr id="11" name="a2_h_11"/>
          <p:cNvSpPr txBox="1"/>
          <p:nvPr/>
        </p:nvSpPr>
        <p:spPr>
          <a:xfrm>
            <a:off x="1463040" y="2496312"/>
            <a:ext cx="59436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Why do we need respirators?</a:t>
            </a:r>
            <a:endParaRPr lang="en-US" sz="1900" dirty="0"/>
          </a:p>
        </p:txBody>
      </p:sp>
      <p:sp>
        <p:nvSpPr>
          <p:cNvPr id="12" name="a2_b_12"/>
          <p:cNvSpPr txBox="1"/>
          <p:nvPr/>
        </p:nvSpPr>
        <p:spPr>
          <a:xfrm>
            <a:off x="1463040" y="2880360"/>
            <a:ext cx="5943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respirator reduces how much of the contaminant reaches your lungs.</a:t>
            </a:r>
            <a:endParaRPr lang="en-US" sz="1500" dirty="0"/>
          </a:p>
        </p:txBody>
      </p:sp>
      <p:sp>
        <p:nvSpPr>
          <p:cNvPr id="13" name="a3_iconbg_13"/>
          <p:cNvSpPr/>
          <p:nvPr/>
        </p:nvSpPr>
        <p:spPr>
          <a:xfrm>
            <a:off x="548640" y="3758184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a3_icon_14" descr="FaFil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" y="3919118"/>
            <a:ext cx="409651" cy="409651"/>
          </a:xfrm>
          <a:prstGeom prst="rect">
            <a:avLst/>
          </a:prstGeom>
        </p:spPr>
      </p:pic>
      <p:sp>
        <p:nvSpPr>
          <p:cNvPr id="15" name="a3_h_15"/>
          <p:cNvSpPr txBox="1"/>
          <p:nvPr/>
        </p:nvSpPr>
        <p:spPr>
          <a:xfrm>
            <a:off x="1463040" y="3712464"/>
            <a:ext cx="59436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Why do selection and fit matter?</a:t>
            </a:r>
            <a:endParaRPr lang="en-US" sz="1900" dirty="0"/>
          </a:p>
        </p:txBody>
      </p:sp>
      <p:sp>
        <p:nvSpPr>
          <p:cNvPr id="16" name="a3_b_16"/>
          <p:cNvSpPr txBox="1"/>
          <p:nvPr/>
        </p:nvSpPr>
        <p:spPr>
          <a:xfrm>
            <a:off x="1463040" y="4096512"/>
            <a:ext cx="5943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wrong mask or wrong cartridge gives the wrong protection. A poor seal lets contaminated air leak in.</a:t>
            </a:r>
            <a:endParaRPr lang="en-US" sz="1500" dirty="0"/>
          </a:p>
        </p:txBody>
      </p:sp>
      <p:sp>
        <p:nvSpPr>
          <p:cNvPr id="17" name="a4_iconbg_17"/>
          <p:cNvSpPr/>
          <p:nvPr/>
        </p:nvSpPr>
        <p:spPr>
          <a:xfrm>
            <a:off x="548640" y="4974336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a4_icon_18" descr="FaCheck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" y="5135270"/>
            <a:ext cx="409651" cy="409651"/>
          </a:xfrm>
          <a:prstGeom prst="rect">
            <a:avLst/>
          </a:prstGeom>
        </p:spPr>
      </p:pic>
      <p:sp>
        <p:nvSpPr>
          <p:cNvPr id="19" name="a4_h_19"/>
          <p:cNvSpPr txBox="1"/>
          <p:nvPr/>
        </p:nvSpPr>
        <p:spPr>
          <a:xfrm>
            <a:off x="1463040" y="4928616"/>
            <a:ext cx="59436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It only works when worn and checked</a:t>
            </a:r>
            <a:endParaRPr lang="en-US" sz="1900" dirty="0"/>
          </a:p>
        </p:txBody>
      </p:sp>
      <p:sp>
        <p:nvSpPr>
          <p:cNvPr id="20" name="a4_b_20"/>
          <p:cNvSpPr txBox="1"/>
          <p:nvPr/>
        </p:nvSpPr>
        <p:spPr>
          <a:xfrm>
            <a:off x="1463040" y="5312664"/>
            <a:ext cx="5943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Inspect it, wear it correctly and do the seal checks — every time.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TYPES OF RESPIRATORY EQUIPMENT</a:t>
            </a:r>
            <a:endParaRPr lang="en-US" sz="3000" dirty="0"/>
          </a:p>
        </p:txBody>
      </p:sp>
      <p:sp>
        <p:nvSpPr>
          <p:cNvPr id="3" name="a1_card_21"/>
          <p:cNvSpPr/>
          <p:nvPr/>
        </p:nvSpPr>
        <p:spPr>
          <a:xfrm>
            <a:off x="548640" y="1234440"/>
            <a:ext cx="3511296" cy="4983480"/>
          </a:xfrm>
          <a:prstGeom prst="roundRect">
            <a:avLst>
              <a:gd name="adj" fmla="val 2604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4" name="a1_hdr_22"/>
          <p:cNvSpPr txBox="1"/>
          <p:nvPr/>
        </p:nvSpPr>
        <p:spPr>
          <a:xfrm>
            <a:off x="640080" y="1325880"/>
            <a:ext cx="3328416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FULL FACE RESPIRATORS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7672"/>
            <a:ext cx="323697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2"/>
                </a:solidFill>
              </a:rPr>
              <a:t>Maximum protection. Complete coverage.</a:t>
            </a:r>
            <a:endParaRPr lang="en-US" sz="1300" dirty="0"/>
          </a:p>
        </p:txBody>
      </p:sp>
      <p:pic>
        <p:nvPicPr>
          <p:cNvPr id="6" name="a1_photo_23" descr="t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45717"/>
            <a:ext cx="1463040" cy="2286606"/>
          </a:xfrm>
          <a:prstGeom prst="rect">
            <a:avLst/>
          </a:prstGeom>
        </p:spPr>
      </p:pic>
      <p:sp>
        <p:nvSpPr>
          <p:cNvPr id="7" name="a1_txt_24"/>
          <p:cNvSpPr txBox="1"/>
          <p:nvPr/>
        </p:nvSpPr>
        <p:spPr>
          <a:xfrm>
            <a:off x="2240280" y="2423160"/>
            <a:ext cx="173736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COVERS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Entire face — eyes, nose and mouth (eye protection)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USED FOR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Environments with harmful gases or particulate matter</a:t>
            </a:r>
            <a:endParaRPr lang="en-US" sz="1600" dirty="0"/>
          </a:p>
        </p:txBody>
      </p:sp>
      <p:sp>
        <p:nvSpPr>
          <p:cNvPr id="8" name="a1_best_25"/>
          <p:cNvSpPr txBox="1"/>
          <p:nvPr/>
        </p:nvSpPr>
        <p:spPr>
          <a:xfrm>
            <a:off x="685800" y="4846320"/>
            <a:ext cx="3236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BEST USED IN:</a:t>
            </a:r>
            <a:endParaRPr lang="en-US" sz="1200" dirty="0"/>
          </a:p>
        </p:txBody>
      </p:sp>
      <p:sp>
        <p:nvSpPr>
          <p:cNvPr id="9" name="a1_chip_26"/>
          <p:cNvSpPr txBox="1"/>
          <p:nvPr/>
        </p:nvSpPr>
        <p:spPr>
          <a:xfrm>
            <a:off x="685800" y="5166360"/>
            <a:ext cx="1572768" cy="438912"/>
          </a:xfrm>
          <a:prstGeom prst="roundRect">
            <a:avLst>
              <a:gd name="adj" fmla="val 12500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Chemical handling</a:t>
            </a:r>
            <a:endParaRPr lang="en-US" sz="1200" dirty="0"/>
          </a:p>
        </p:txBody>
      </p:sp>
      <p:sp>
        <p:nvSpPr>
          <p:cNvPr id="10" name="a1_chip_27"/>
          <p:cNvSpPr txBox="1"/>
          <p:nvPr/>
        </p:nvSpPr>
        <p:spPr>
          <a:xfrm>
            <a:off x="2331720" y="5166360"/>
            <a:ext cx="1572768" cy="438912"/>
          </a:xfrm>
          <a:prstGeom prst="roundRect">
            <a:avLst>
              <a:gd name="adj" fmla="val 12500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Toxic environments</a:t>
            </a:r>
            <a:endParaRPr lang="en-US" sz="1200" dirty="0"/>
          </a:p>
        </p:txBody>
      </p:sp>
      <p:sp>
        <p:nvSpPr>
          <p:cNvPr id="11" name="a1_chip_28"/>
          <p:cNvSpPr txBox="1"/>
          <p:nvPr/>
        </p:nvSpPr>
        <p:spPr>
          <a:xfrm>
            <a:off x="685800" y="5669280"/>
            <a:ext cx="1572768" cy="438912"/>
          </a:xfrm>
          <a:prstGeom prst="roundRect">
            <a:avLst>
              <a:gd name="adj" fmla="val 12500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Dust &amp; fume exposure</a:t>
            </a:r>
            <a:endParaRPr lang="en-US" sz="1200" dirty="0"/>
          </a:p>
        </p:txBody>
      </p:sp>
      <p:sp>
        <p:nvSpPr>
          <p:cNvPr id="12" name="a1_chip_29"/>
          <p:cNvSpPr txBox="1"/>
          <p:nvPr/>
        </p:nvSpPr>
        <p:spPr>
          <a:xfrm>
            <a:off x="2331720" y="5669280"/>
            <a:ext cx="1572768" cy="438912"/>
          </a:xfrm>
          <a:prstGeom prst="roundRect">
            <a:avLst>
              <a:gd name="adj" fmla="val 12500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Spray operations</a:t>
            </a:r>
            <a:endParaRPr lang="en-US" sz="1200" dirty="0"/>
          </a:p>
        </p:txBody>
      </p:sp>
      <p:sp>
        <p:nvSpPr>
          <p:cNvPr id="13" name="a2_card_30"/>
          <p:cNvSpPr/>
          <p:nvPr/>
        </p:nvSpPr>
        <p:spPr>
          <a:xfrm>
            <a:off x="4334256" y="1234440"/>
            <a:ext cx="3511296" cy="4983480"/>
          </a:xfrm>
          <a:prstGeom prst="roundRect">
            <a:avLst>
              <a:gd name="adj" fmla="val 260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a2_hdr_31"/>
          <p:cNvSpPr txBox="1"/>
          <p:nvPr/>
        </p:nvSpPr>
        <p:spPr>
          <a:xfrm>
            <a:off x="4425696" y="1325880"/>
            <a:ext cx="3328416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HALF-MASK RESPIRATORS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471416" y="1947672"/>
            <a:ext cx="323697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1"/>
                </a:solidFill>
              </a:rPr>
              <a:t>Balanced protection. Everyday use.</a:t>
            </a:r>
            <a:endParaRPr lang="en-US" sz="1300" dirty="0"/>
          </a:p>
        </p:txBody>
      </p:sp>
      <p:pic>
        <p:nvPicPr>
          <p:cNvPr id="16" name="a2_photo_32" descr="t_hal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2468143"/>
            <a:ext cx="1463040" cy="2241755"/>
          </a:xfrm>
          <a:prstGeom prst="rect">
            <a:avLst/>
          </a:prstGeom>
        </p:spPr>
      </p:pic>
      <p:sp>
        <p:nvSpPr>
          <p:cNvPr id="17" name="a2_txt_33"/>
          <p:cNvSpPr txBox="1"/>
          <p:nvPr/>
        </p:nvSpPr>
        <p:spPr>
          <a:xfrm>
            <a:off x="6025896" y="2423160"/>
            <a:ext cx="173736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COVERS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Nose and mouth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USED FOR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Lightweight — commonly used for less hazardous environments</a:t>
            </a:r>
            <a:endParaRPr lang="en-US" sz="1600" dirty="0"/>
          </a:p>
        </p:txBody>
      </p:sp>
      <p:sp>
        <p:nvSpPr>
          <p:cNvPr id="18" name="a2_best_34"/>
          <p:cNvSpPr txBox="1"/>
          <p:nvPr/>
        </p:nvSpPr>
        <p:spPr>
          <a:xfrm>
            <a:off x="4471416" y="4846320"/>
            <a:ext cx="3236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BEST USED IN:</a:t>
            </a:r>
            <a:endParaRPr lang="en-US" sz="1200" dirty="0"/>
          </a:p>
        </p:txBody>
      </p:sp>
      <p:sp>
        <p:nvSpPr>
          <p:cNvPr id="19" name="a2_chip_35"/>
          <p:cNvSpPr txBox="1"/>
          <p:nvPr/>
        </p:nvSpPr>
        <p:spPr>
          <a:xfrm>
            <a:off x="4471416" y="5166360"/>
            <a:ext cx="1572768" cy="438912"/>
          </a:xfrm>
          <a:prstGeom prst="roundRect">
            <a:avLst>
              <a:gd name="adj" fmla="val 12500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General maintenance</a:t>
            </a:r>
            <a:endParaRPr lang="en-US" sz="1200" dirty="0"/>
          </a:p>
        </p:txBody>
      </p:sp>
      <p:sp>
        <p:nvSpPr>
          <p:cNvPr id="20" name="a2_chip_36"/>
          <p:cNvSpPr txBox="1"/>
          <p:nvPr/>
        </p:nvSpPr>
        <p:spPr>
          <a:xfrm>
            <a:off x="6117336" y="5166360"/>
            <a:ext cx="1572768" cy="438912"/>
          </a:xfrm>
          <a:prstGeom prst="roundRect">
            <a:avLst>
              <a:gd name="adj" fmla="val 12500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Dusty work areas</a:t>
            </a:r>
            <a:endParaRPr lang="en-US" sz="1200" dirty="0"/>
          </a:p>
        </p:txBody>
      </p:sp>
      <p:sp>
        <p:nvSpPr>
          <p:cNvPr id="21" name="a2_chip_37"/>
          <p:cNvSpPr txBox="1"/>
          <p:nvPr/>
        </p:nvSpPr>
        <p:spPr>
          <a:xfrm>
            <a:off x="4471416" y="5669280"/>
            <a:ext cx="1572768" cy="438912"/>
          </a:xfrm>
          <a:prstGeom prst="roundRect">
            <a:avLst>
              <a:gd name="adj" fmla="val 12500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Chemical handling</a:t>
            </a:r>
            <a:endParaRPr lang="en-US" sz="1200" dirty="0"/>
          </a:p>
        </p:txBody>
      </p:sp>
      <p:sp>
        <p:nvSpPr>
          <p:cNvPr id="22" name="a2_chip_38"/>
          <p:cNvSpPr txBox="1"/>
          <p:nvPr/>
        </p:nvSpPr>
        <p:spPr>
          <a:xfrm>
            <a:off x="6117336" y="5669280"/>
            <a:ext cx="1572768" cy="438912"/>
          </a:xfrm>
          <a:prstGeom prst="roundRect">
            <a:avLst>
              <a:gd name="adj" fmla="val 12500"/>
            </a:avLst>
          </a:prstGeom>
          <a:solidFill>
            <a:schemeClr val="accent1">
              <a:alpha val="12000"/>
            </a:schemeClr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Painting &amp; coating</a:t>
            </a:r>
            <a:endParaRPr lang="en-US" sz="1200" dirty="0"/>
          </a:p>
        </p:txBody>
      </p:sp>
      <p:sp>
        <p:nvSpPr>
          <p:cNvPr id="23" name="a3_card_39"/>
          <p:cNvSpPr/>
          <p:nvPr/>
        </p:nvSpPr>
        <p:spPr>
          <a:xfrm>
            <a:off x="8119872" y="1234440"/>
            <a:ext cx="3511296" cy="4983480"/>
          </a:xfrm>
          <a:prstGeom prst="roundRect">
            <a:avLst>
              <a:gd name="adj" fmla="val 2604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a3_hdr_40"/>
          <p:cNvSpPr txBox="1"/>
          <p:nvPr/>
        </p:nvSpPr>
        <p:spPr>
          <a:xfrm>
            <a:off x="8211312" y="1325880"/>
            <a:ext cx="3328416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ESCAPE RESPIRATORS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8257032" y="1947672"/>
            <a:ext cx="323697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chemeClr val="accent3"/>
                </a:solidFill>
              </a:rPr>
              <a:t>Short term use. Emergency only.</a:t>
            </a:r>
            <a:endParaRPr lang="en-US" sz="1300" dirty="0"/>
          </a:p>
        </p:txBody>
      </p:sp>
      <p:pic>
        <p:nvPicPr>
          <p:cNvPr id="26" name="a3_photo_41" descr="t_escap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2596243"/>
            <a:ext cx="1463040" cy="1985554"/>
          </a:xfrm>
          <a:prstGeom prst="rect">
            <a:avLst/>
          </a:prstGeom>
        </p:spPr>
      </p:pic>
      <p:sp>
        <p:nvSpPr>
          <p:cNvPr id="27" name="a3_txt_42"/>
          <p:cNvSpPr txBox="1"/>
          <p:nvPr/>
        </p:nvSpPr>
        <p:spPr>
          <a:xfrm>
            <a:off x="9811512" y="2423160"/>
            <a:ext cx="173736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COVERS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Hood-type escape device (example shown)</a:t>
            </a:r>
            <a:endParaRPr lang="en-US" sz="16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USED FOR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Emergency use — short-duration protection during evacuation</a:t>
            </a:r>
            <a:endParaRPr lang="en-US" sz="1600" dirty="0"/>
          </a:p>
        </p:txBody>
      </p:sp>
      <p:sp>
        <p:nvSpPr>
          <p:cNvPr id="28" name="a3_best_43"/>
          <p:cNvSpPr txBox="1"/>
          <p:nvPr/>
        </p:nvSpPr>
        <p:spPr>
          <a:xfrm>
            <a:off x="8257032" y="4846320"/>
            <a:ext cx="323697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BEST USED IN:</a:t>
            </a:r>
            <a:endParaRPr lang="en-US" sz="1200" dirty="0"/>
          </a:p>
        </p:txBody>
      </p:sp>
      <p:sp>
        <p:nvSpPr>
          <p:cNvPr id="29" name="a3_chip_44"/>
          <p:cNvSpPr txBox="1"/>
          <p:nvPr/>
        </p:nvSpPr>
        <p:spPr>
          <a:xfrm>
            <a:off x="8257032" y="5166360"/>
            <a:ext cx="1572768" cy="438912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Emergency evacuation</a:t>
            </a:r>
            <a:endParaRPr lang="en-US" sz="1200" dirty="0"/>
          </a:p>
        </p:txBody>
      </p:sp>
      <p:sp>
        <p:nvSpPr>
          <p:cNvPr id="30" name="a3_chip_45"/>
          <p:cNvSpPr txBox="1"/>
          <p:nvPr/>
        </p:nvSpPr>
        <p:spPr>
          <a:xfrm>
            <a:off x="9902952" y="5166360"/>
            <a:ext cx="1572768" cy="438912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Fire &amp; smoke situations</a:t>
            </a:r>
            <a:endParaRPr lang="en-US" sz="1200" dirty="0"/>
          </a:p>
        </p:txBody>
      </p:sp>
      <p:sp>
        <p:nvSpPr>
          <p:cNvPr id="31" name="a3_chip_46"/>
          <p:cNvSpPr txBox="1"/>
          <p:nvPr/>
        </p:nvSpPr>
        <p:spPr>
          <a:xfrm>
            <a:off x="8257032" y="5669280"/>
            <a:ext cx="1572768" cy="438912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Hazardous spills / leaks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FULL FACE vs HALF MASK</a:t>
            </a:r>
            <a:endParaRPr lang="en-US" sz="3000" dirty="0"/>
          </a:p>
        </p:txBody>
      </p:sp>
      <p:sp>
        <p:nvSpPr>
          <p:cNvPr id="3" name="a1_panel_47"/>
          <p:cNvSpPr/>
          <p:nvPr/>
        </p:nvSpPr>
        <p:spPr>
          <a:xfrm>
            <a:off x="548640" y="1234440"/>
            <a:ext cx="5349240" cy="4983480"/>
          </a:xfrm>
          <a:prstGeom prst="roundRect">
            <a:avLst>
              <a:gd name="adj" fmla="val 1835"/>
            </a:avLst>
          </a:prstGeom>
          <a:solidFill>
            <a:schemeClr val="accent2">
              <a:alpha val="8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a1_hdr_48"/>
          <p:cNvSpPr txBox="1"/>
          <p:nvPr/>
        </p:nvSpPr>
        <p:spPr>
          <a:xfrm>
            <a:off x="685800" y="1371600"/>
            <a:ext cx="507492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FULL FACE</a:t>
            </a:r>
            <a:endParaRPr lang="en-US" sz="2600" dirty="0"/>
          </a:p>
        </p:txBody>
      </p:sp>
      <p:sp>
        <p:nvSpPr>
          <p:cNvPr id="5" name="a1_pcard_49"/>
          <p:cNvSpPr/>
          <p:nvPr/>
        </p:nvSpPr>
        <p:spPr>
          <a:xfrm>
            <a:off x="731520" y="2194560"/>
            <a:ext cx="2240280" cy="38404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a1_photo_50" descr="t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35574"/>
            <a:ext cx="2148840" cy="3358452"/>
          </a:xfrm>
          <a:prstGeom prst="rect">
            <a:avLst/>
          </a:prstGeom>
        </p:spPr>
      </p:pic>
      <p:sp>
        <p:nvSpPr>
          <p:cNvPr id="7" name="a1_iconbg_51"/>
          <p:cNvSpPr/>
          <p:nvPr/>
        </p:nvSpPr>
        <p:spPr>
          <a:xfrm>
            <a:off x="3154680" y="22402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a1_icon_52" descr="Fa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322" y="2350922"/>
            <a:ext cx="281635" cy="281635"/>
          </a:xfrm>
          <a:prstGeom prst="rect">
            <a:avLst/>
          </a:prstGeom>
        </p:spPr>
      </p:pic>
      <p:sp>
        <p:nvSpPr>
          <p:cNvPr id="9" name="a1_row_53"/>
          <p:cNvSpPr txBox="1"/>
          <p:nvPr/>
        </p:nvSpPr>
        <p:spPr>
          <a:xfrm>
            <a:off x="3749040" y="2194560"/>
            <a:ext cx="18288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Covers eyes, nose and mouth</a:t>
            </a:r>
            <a:endParaRPr lang="en-US" sz="1500" dirty="0"/>
          </a:p>
        </p:txBody>
      </p:sp>
      <p:sp>
        <p:nvSpPr>
          <p:cNvPr id="10" name="a1_iconbg_54"/>
          <p:cNvSpPr/>
          <p:nvPr/>
        </p:nvSpPr>
        <p:spPr>
          <a:xfrm>
            <a:off x="3154680" y="3108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1_icon_55" descr="Fa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322" y="3219602"/>
            <a:ext cx="281635" cy="281635"/>
          </a:xfrm>
          <a:prstGeom prst="rect">
            <a:avLst/>
          </a:prstGeom>
        </p:spPr>
      </p:pic>
      <p:sp>
        <p:nvSpPr>
          <p:cNvPr id="12" name="a1_row_56"/>
          <p:cNvSpPr txBox="1"/>
          <p:nvPr/>
        </p:nvSpPr>
        <p:spPr>
          <a:xfrm>
            <a:off x="3749040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Greater facial coverage — includes eye protection</a:t>
            </a:r>
            <a:endParaRPr lang="en-US" sz="1500" dirty="0"/>
          </a:p>
        </p:txBody>
      </p:sp>
      <p:sp>
        <p:nvSpPr>
          <p:cNvPr id="13" name="a1_apfbox_57"/>
          <p:cNvSpPr/>
          <p:nvPr/>
        </p:nvSpPr>
        <p:spPr>
          <a:xfrm>
            <a:off x="3154680" y="402336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4" name="a1_apf_58"/>
          <p:cNvSpPr txBox="1"/>
          <p:nvPr/>
        </p:nvSpPr>
        <p:spPr>
          <a:xfrm>
            <a:off x="3154680" y="4160520"/>
            <a:ext cx="2560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APF 50</a:t>
            </a:r>
            <a:endParaRPr lang="en-US" sz="4400" dirty="0"/>
          </a:p>
        </p:txBody>
      </p:sp>
      <p:sp>
        <p:nvSpPr>
          <p:cNvPr id="15" name="a1_ex_59"/>
          <p:cNvSpPr txBox="1"/>
          <p:nvPr/>
        </p:nvSpPr>
        <p:spPr>
          <a:xfrm>
            <a:off x="3246120" y="5120640"/>
            <a:ext cx="2377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Source example: 3M FF-400</a:t>
            </a:r>
            <a:endParaRPr lang="en-US" sz="1300" dirty="0"/>
          </a:p>
        </p:txBody>
      </p:sp>
      <p:sp>
        <p:nvSpPr>
          <p:cNvPr id="16" name="a2_panel_60"/>
          <p:cNvSpPr/>
          <p:nvPr/>
        </p:nvSpPr>
        <p:spPr>
          <a:xfrm>
            <a:off x="6291072" y="1234440"/>
            <a:ext cx="5349240" cy="4983480"/>
          </a:xfrm>
          <a:prstGeom prst="roundRect">
            <a:avLst>
              <a:gd name="adj" fmla="val 1835"/>
            </a:avLst>
          </a:prstGeom>
          <a:solidFill>
            <a:schemeClr val="accent1">
              <a:alpha val="8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a2_hdr_61"/>
          <p:cNvSpPr txBox="1"/>
          <p:nvPr/>
        </p:nvSpPr>
        <p:spPr>
          <a:xfrm>
            <a:off x="6428232" y="1371600"/>
            <a:ext cx="507492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HALF MASK</a:t>
            </a:r>
            <a:endParaRPr lang="en-US" sz="2600" dirty="0"/>
          </a:p>
        </p:txBody>
      </p:sp>
      <p:sp>
        <p:nvSpPr>
          <p:cNvPr id="18" name="a2_pcard_62"/>
          <p:cNvSpPr/>
          <p:nvPr/>
        </p:nvSpPr>
        <p:spPr>
          <a:xfrm>
            <a:off x="6473952" y="2194560"/>
            <a:ext cx="2240280" cy="38404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a2_photo_63" descr="t_half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468511"/>
            <a:ext cx="2148840" cy="3292577"/>
          </a:xfrm>
          <a:prstGeom prst="rect">
            <a:avLst/>
          </a:prstGeom>
        </p:spPr>
      </p:pic>
      <p:sp>
        <p:nvSpPr>
          <p:cNvPr id="20" name="a2_iconbg_64"/>
          <p:cNvSpPr/>
          <p:nvPr/>
        </p:nvSpPr>
        <p:spPr>
          <a:xfrm>
            <a:off x="8897112" y="22402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a2_icon_65" descr="FaHeadSideMas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7754" y="2350922"/>
            <a:ext cx="281635" cy="281635"/>
          </a:xfrm>
          <a:prstGeom prst="rect">
            <a:avLst/>
          </a:prstGeom>
        </p:spPr>
      </p:pic>
      <p:sp>
        <p:nvSpPr>
          <p:cNvPr id="22" name="a2_row_66"/>
          <p:cNvSpPr txBox="1"/>
          <p:nvPr/>
        </p:nvSpPr>
        <p:spPr>
          <a:xfrm>
            <a:off x="9491472" y="2194560"/>
            <a:ext cx="18288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Covers nose and mouth</a:t>
            </a:r>
            <a:endParaRPr lang="en-US" sz="1500" dirty="0"/>
          </a:p>
        </p:txBody>
      </p:sp>
      <p:sp>
        <p:nvSpPr>
          <p:cNvPr id="23" name="a2_iconbg_67"/>
          <p:cNvSpPr/>
          <p:nvPr/>
        </p:nvSpPr>
        <p:spPr>
          <a:xfrm>
            <a:off x="8897112" y="3108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a2_icon_68" descr="FaEyeSla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7754" y="3219602"/>
            <a:ext cx="281635" cy="281635"/>
          </a:xfrm>
          <a:prstGeom prst="rect">
            <a:avLst/>
          </a:prstGeom>
        </p:spPr>
      </p:pic>
      <p:sp>
        <p:nvSpPr>
          <p:cNvPr id="25" name="a2_row_69"/>
          <p:cNvSpPr txBox="1"/>
          <p:nvPr/>
        </p:nvSpPr>
        <p:spPr>
          <a:xfrm>
            <a:off x="9491472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Eyes remain exposed</a:t>
            </a:r>
            <a:endParaRPr lang="en-US" sz="1500" dirty="0"/>
          </a:p>
        </p:txBody>
      </p:sp>
      <p:sp>
        <p:nvSpPr>
          <p:cNvPr id="26" name="a2_apfbox_70"/>
          <p:cNvSpPr/>
          <p:nvPr/>
        </p:nvSpPr>
        <p:spPr>
          <a:xfrm>
            <a:off x="8897112" y="4023360"/>
            <a:ext cx="256032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7" name="a2_apf_71"/>
          <p:cNvSpPr txBox="1"/>
          <p:nvPr/>
        </p:nvSpPr>
        <p:spPr>
          <a:xfrm>
            <a:off x="8897112" y="4160520"/>
            <a:ext cx="25603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APF 10</a:t>
            </a:r>
            <a:endParaRPr lang="en-US" sz="4400" dirty="0"/>
          </a:p>
        </p:txBody>
      </p:sp>
      <p:sp>
        <p:nvSpPr>
          <p:cNvPr id="28" name="a2_ex_72"/>
          <p:cNvSpPr txBox="1"/>
          <p:nvPr/>
        </p:nvSpPr>
        <p:spPr>
          <a:xfrm>
            <a:off x="8988552" y="5120640"/>
            <a:ext cx="2377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Source example: 3M 6000 or 7000 series</a:t>
            </a:r>
            <a:endParaRPr lang="en-US" sz="1300" dirty="0"/>
          </a:p>
        </p:txBody>
      </p:sp>
      <p:sp>
        <p:nvSpPr>
          <p:cNvPr id="29" name="vs_73"/>
          <p:cNvSpPr txBox="1"/>
          <p:nvPr/>
        </p:nvSpPr>
        <p:spPr>
          <a:xfrm>
            <a:off x="5728716" y="3291840"/>
            <a:ext cx="731520" cy="73152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APF – WHAT DOES IT MEAN?</a:t>
            </a:r>
            <a:endParaRPr lang="en-US" sz="3000" dirty="0"/>
          </a:p>
        </p:txBody>
      </p:sp>
      <p:sp>
        <p:nvSpPr>
          <p:cNvPr id="3" name="a1_apf_74"/>
          <p:cNvSpPr txBox="1"/>
          <p:nvPr/>
        </p:nvSpPr>
        <p:spPr>
          <a:xfrm>
            <a:off x="548640" y="1188720"/>
            <a:ext cx="44805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APF</a:t>
            </a:r>
            <a:endParaRPr lang="en-US" sz="6000" dirty="0"/>
          </a:p>
        </p:txBody>
      </p:sp>
      <p:sp>
        <p:nvSpPr>
          <p:cNvPr id="4" name="a1_def_75"/>
          <p:cNvSpPr txBox="1"/>
          <p:nvPr/>
        </p:nvSpPr>
        <p:spPr>
          <a:xfrm>
            <a:off x="548640" y="2057400"/>
            <a:ext cx="4480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= Assigned Protection Factor</a:t>
            </a:r>
            <a:endParaRPr lang="en-US" sz="2200" dirty="0"/>
          </a:p>
        </p:txBody>
      </p:sp>
      <p:sp>
        <p:nvSpPr>
          <p:cNvPr id="5" name="a1_expl_76"/>
          <p:cNvSpPr txBox="1"/>
          <p:nvPr/>
        </p:nvSpPr>
        <p:spPr>
          <a:xfrm>
            <a:off x="548640" y="2697480"/>
            <a:ext cx="448056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/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APF tells us how much the respirator reduces the concentration of a contaminant reaching the wearer.</a:t>
            </a:r>
            <a:endParaRPr lang="en-US" sz="1800" dirty="0"/>
          </a:p>
        </p:txBody>
      </p:sp>
      <p:sp>
        <p:nvSpPr>
          <p:cNvPr id="6" name="a2_badge_77"/>
          <p:cNvSpPr txBox="1"/>
          <p:nvPr/>
        </p:nvSpPr>
        <p:spPr>
          <a:xfrm>
            <a:off x="548640" y="4206240"/>
            <a:ext cx="2103120" cy="1920240"/>
          </a:xfrm>
          <a:prstGeom prst="roundRect">
            <a:avLst>
              <a:gd name="adj" fmla="val 4762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APF 10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Half Mask</a:t>
            </a:r>
            <a:endParaRPr lang="en-US" sz="3600" dirty="0"/>
          </a:p>
        </p:txBody>
      </p:sp>
      <p:sp>
        <p:nvSpPr>
          <p:cNvPr id="7" name="a2_badge_78"/>
          <p:cNvSpPr txBox="1"/>
          <p:nvPr/>
        </p:nvSpPr>
        <p:spPr>
          <a:xfrm>
            <a:off x="2926080" y="4206240"/>
            <a:ext cx="2103120" cy="1920240"/>
          </a:xfrm>
          <a:prstGeom prst="roundRect">
            <a:avLst>
              <a:gd name="adj" fmla="val 476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APF 50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Full Face Mask</a:t>
            </a:r>
            <a:endParaRPr lang="en-US" sz="3600" dirty="0"/>
          </a:p>
        </p:txBody>
      </p:sp>
      <p:sp>
        <p:nvSpPr>
          <p:cNvPr id="8" name="a3_imgcard_79"/>
          <p:cNvSpPr/>
          <p:nvPr/>
        </p:nvSpPr>
        <p:spPr>
          <a:xfrm>
            <a:off x="5349240" y="1234440"/>
            <a:ext cx="6291072" cy="3246120"/>
          </a:xfrm>
          <a:prstGeom prst="roundRect">
            <a:avLst>
              <a:gd name="adj" fmla="val 2817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pic>
        <p:nvPicPr>
          <p:cNvPr id="9" name="a3_apfsrc_80" descr="apf_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70918"/>
            <a:ext cx="6108192" cy="2973165"/>
          </a:xfrm>
          <a:prstGeom prst="rect">
            <a:avLst/>
          </a:prstGeom>
        </p:spPr>
      </p:pic>
      <p:sp>
        <p:nvSpPr>
          <p:cNvPr id="10" name="a3_cap_81"/>
          <p:cNvSpPr txBox="1"/>
          <p:nvPr/>
        </p:nvSpPr>
        <p:spPr>
          <a:xfrm>
            <a:off x="5349240" y="4526280"/>
            <a:ext cx="62910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Source visual: “Understanding your APF factor: H₂S reduction ratio”</a:t>
            </a:r>
            <a:endParaRPr lang="en-US" sz="1100" dirty="0"/>
          </a:p>
        </p:txBody>
      </p:sp>
      <p:sp>
        <p:nvSpPr>
          <p:cNvPr id="11" name="a4_strip_82"/>
          <p:cNvSpPr txBox="1"/>
          <p:nvPr/>
        </p:nvSpPr>
        <p:spPr>
          <a:xfrm>
            <a:off x="5349240" y="4937760"/>
            <a:ext cx="6291072" cy="1188720"/>
          </a:xfrm>
          <a:prstGeom prst="roundRect">
            <a:avLst>
              <a:gd name="adj" fmla="val 7692"/>
            </a:avLst>
          </a:prstGeom>
          <a:solidFill>
            <a:schemeClr val="accent2">
              <a:alpha val="10000"/>
            </a:schemeClr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Higher APF number  →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greater reduction of the contaminant reaching the wearer.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APF: SIMPLE H₂S EXAMPLE</a:t>
            </a:r>
            <a:endParaRPr lang="en-US" sz="3000" dirty="0"/>
          </a:p>
        </p:txBody>
      </p:sp>
      <p:pic>
        <p:nvPicPr>
          <p:cNvPr id="3" name="a1_man_83" descr="apf_half_m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0297"/>
            <a:ext cx="1600200" cy="1777086"/>
          </a:xfrm>
          <a:prstGeom prst="rect">
            <a:avLst/>
          </a:prstGeom>
        </p:spPr>
      </p:pic>
      <p:sp>
        <p:nvSpPr>
          <p:cNvPr id="4" name="a1_out_84"/>
          <p:cNvSpPr txBox="1"/>
          <p:nvPr/>
        </p:nvSpPr>
        <p:spPr>
          <a:xfrm>
            <a:off x="2286000" y="1417320"/>
            <a:ext cx="1783080" cy="1463040"/>
          </a:xfrm>
          <a:prstGeom prst="roundRect">
            <a:avLst>
              <a:gd name="adj" fmla="val 6250"/>
            </a:avLst>
          </a:prstGeom>
          <a:solidFill>
            <a:schemeClr val="accent4">
              <a:alpha val="15000"/>
            </a:schemeClr>
          </a:solidFill>
          <a:ln w="1905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OUTSIDE THE MASK</a:t>
            </a:r>
            <a:endParaRPr lang="en-US" sz="1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100 ppm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H₂S</a:t>
            </a:r>
            <a:endParaRPr lang="en-US" sz="1200" dirty="0"/>
          </a:p>
        </p:txBody>
      </p:sp>
      <p:sp>
        <p:nvSpPr>
          <p:cNvPr id="5" name="a2w_arrow_85"/>
          <p:cNvSpPr txBox="1"/>
          <p:nvPr/>
        </p:nvSpPr>
        <p:spPr>
          <a:xfrm>
            <a:off x="4206240" y="1600200"/>
            <a:ext cx="1463040" cy="914400"/>
          </a:xfrm>
          <a:prstGeom prst="rightArrow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÷ 10</a:t>
            </a:r>
            <a:endParaRPr lang="en-US" sz="2400" dirty="0"/>
          </a:p>
        </p:txBody>
      </p:sp>
      <p:sp>
        <p:nvSpPr>
          <p:cNvPr id="6" name="a2w_lab_86"/>
          <p:cNvSpPr txBox="1"/>
          <p:nvPr/>
        </p:nvSpPr>
        <p:spPr>
          <a:xfrm>
            <a:off x="402336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APF 10 – Half Mask</a:t>
            </a:r>
            <a:endParaRPr lang="en-US" sz="1300" dirty="0"/>
          </a:p>
        </p:txBody>
      </p:sp>
      <p:sp>
        <p:nvSpPr>
          <p:cNvPr id="7" name="a3_in_87"/>
          <p:cNvSpPr txBox="1"/>
          <p:nvPr/>
        </p:nvSpPr>
        <p:spPr>
          <a:xfrm>
            <a:off x="5806440" y="141732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INSIDE (BREATHED)</a:t>
            </a:r>
            <a:endParaRPr lang="en-US" sz="1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 ppm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100 ÷ 10 = 10</a:t>
            </a:r>
            <a:endParaRPr lang="en-US" sz="1200" dirty="0"/>
          </a:p>
        </p:txBody>
      </p:sp>
      <p:pic>
        <p:nvPicPr>
          <p:cNvPr id="8" name="a4_man_88" descr="apf_full_ma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71977"/>
            <a:ext cx="1600200" cy="1777086"/>
          </a:xfrm>
          <a:prstGeom prst="rect">
            <a:avLst/>
          </a:prstGeom>
        </p:spPr>
      </p:pic>
      <p:sp>
        <p:nvSpPr>
          <p:cNvPr id="9" name="a4_out_89"/>
          <p:cNvSpPr txBox="1"/>
          <p:nvPr/>
        </p:nvSpPr>
        <p:spPr>
          <a:xfrm>
            <a:off x="2286000" y="3429000"/>
            <a:ext cx="1783080" cy="1463040"/>
          </a:xfrm>
          <a:prstGeom prst="roundRect">
            <a:avLst>
              <a:gd name="adj" fmla="val 6250"/>
            </a:avLst>
          </a:prstGeom>
          <a:solidFill>
            <a:schemeClr val="accent4">
              <a:alpha val="15000"/>
            </a:schemeClr>
          </a:solidFill>
          <a:ln w="19050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OUTSIDE THE MASK</a:t>
            </a:r>
            <a:endParaRPr lang="en-US" sz="1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100 ppm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H₂S</a:t>
            </a:r>
            <a:endParaRPr lang="en-US" sz="1200" dirty="0"/>
          </a:p>
        </p:txBody>
      </p:sp>
      <p:sp>
        <p:nvSpPr>
          <p:cNvPr id="10" name="a5w_arrow_90"/>
          <p:cNvSpPr txBox="1"/>
          <p:nvPr/>
        </p:nvSpPr>
        <p:spPr>
          <a:xfrm>
            <a:off x="4206240" y="3611880"/>
            <a:ext cx="1463040" cy="914400"/>
          </a:xfrm>
          <a:prstGeom prst="rightArrow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÷ 50</a:t>
            </a:r>
            <a:endParaRPr lang="en-US" sz="2400" dirty="0"/>
          </a:p>
        </p:txBody>
      </p:sp>
      <p:sp>
        <p:nvSpPr>
          <p:cNvPr id="11" name="a5w_lab_91"/>
          <p:cNvSpPr txBox="1"/>
          <p:nvPr/>
        </p:nvSpPr>
        <p:spPr>
          <a:xfrm>
            <a:off x="4023360" y="4572000"/>
            <a:ext cx="1828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APF 50 – Full Face</a:t>
            </a:r>
            <a:endParaRPr lang="en-US" sz="1300" dirty="0"/>
          </a:p>
        </p:txBody>
      </p:sp>
      <p:sp>
        <p:nvSpPr>
          <p:cNvPr id="12" name="a6_in_92"/>
          <p:cNvSpPr txBox="1"/>
          <p:nvPr/>
        </p:nvSpPr>
        <p:spPr>
          <a:xfrm>
            <a:off x="5806440" y="3429000"/>
            <a:ext cx="1828800" cy="1463040"/>
          </a:xfrm>
          <a:prstGeom prst="roundRect">
            <a:avLst>
              <a:gd name="adj" fmla="val 6250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INSIDE (BREATHED)</a:t>
            </a:r>
            <a:endParaRPr lang="en-US" sz="1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 ppm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100 ÷ 50 = 2</a:t>
            </a:r>
            <a:endParaRPr lang="en-US" sz="1200" dirty="0"/>
          </a:p>
        </p:txBody>
      </p:sp>
      <p:graphicFrame>
        <p:nvGraphicFramePr>
          <p:cNvPr id="13" name="a7_chart_93" descr=""/>
          <p:cNvGraphicFramePr/>
          <p:nvPr/>
        </p:nvGraphicFramePr>
        <p:xfrm>
          <a:off x="7955280" y="1234440"/>
          <a:ext cx="3685032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a8_remember_94"/>
          <p:cNvSpPr txBox="1"/>
          <p:nvPr/>
        </p:nvSpPr>
        <p:spPr>
          <a:xfrm>
            <a:off x="548640" y="5303520"/>
            <a:ext cx="11091672" cy="868680"/>
          </a:xfrm>
          <a:prstGeom prst="roundRect">
            <a:avLst>
              <a:gd name="adj" fmla="val 10526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</a:ln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REMEMBER: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Higher APF = greater reduction, but the respirator must still be suitable for the hazard and concentration.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MUC – YOUR SAFETY CEILING</a:t>
            </a:r>
            <a:endParaRPr lang="en-US" sz="3000" dirty="0"/>
          </a:p>
        </p:txBody>
      </p:sp>
      <p:sp>
        <p:nvSpPr>
          <p:cNvPr id="3" name="imgcard_95"/>
          <p:cNvSpPr/>
          <p:nvPr/>
        </p:nvSpPr>
        <p:spPr>
          <a:xfrm>
            <a:off x="548640" y="1234440"/>
            <a:ext cx="5029200" cy="29718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pic>
        <p:nvPicPr>
          <p:cNvPr id="4" name="mucimg_96" descr="muc_de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925" y="1325880"/>
            <a:ext cx="4796630" cy="2788920"/>
          </a:xfrm>
          <a:prstGeom prst="rect">
            <a:avLst/>
          </a:prstGeom>
        </p:spPr>
      </p:pic>
      <p:sp>
        <p:nvSpPr>
          <p:cNvPr id="5" name="def_97"/>
          <p:cNvSpPr txBox="1"/>
          <p:nvPr/>
        </p:nvSpPr>
        <p:spPr>
          <a:xfrm>
            <a:off x="548640" y="4389120"/>
            <a:ext cx="5029200" cy="1737360"/>
          </a:xfrm>
          <a:prstGeom prst="roundRect">
            <a:avLst>
              <a:gd name="adj" fmla="val 5263"/>
            </a:avLst>
          </a:prstGeom>
          <a:solidFill>
            <a:schemeClr val="accent1">
              <a:alpha val="10000"/>
            </a:schemeClr>
          </a:solidFill>
          <a:ln/>
        </p:spPr>
        <p:txBody>
          <a:bodyPr wrap="square" lIns="2540" tIns="2540" rIns="2540" bIns="254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MUC = Maximum Use Concentration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highest level of contamination a mask can safely handle (source definition).</a:t>
            </a:r>
            <a:endParaRPr lang="en-US" sz="2200" dirty="0"/>
          </a:p>
        </p:txBody>
      </p:sp>
      <p:sp>
        <p:nvSpPr>
          <p:cNvPr id="6" name="a1w_formula_98"/>
          <p:cNvSpPr txBox="1"/>
          <p:nvPr/>
        </p:nvSpPr>
        <p:spPr>
          <a:xfrm>
            <a:off x="5897880" y="1234440"/>
            <a:ext cx="5742432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MUC = APF × PEL</a:t>
            </a:r>
            <a:endParaRPr lang="en-US" sz="5000" dirty="0"/>
          </a:p>
        </p:txBody>
      </p:sp>
      <p:sp>
        <p:nvSpPr>
          <p:cNvPr id="7" name="a2_badge_99"/>
          <p:cNvSpPr txBox="1"/>
          <p:nvPr/>
        </p:nvSpPr>
        <p:spPr>
          <a:xfrm>
            <a:off x="5897880" y="2788920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APF</a:t>
            </a:r>
            <a:endParaRPr lang="en-US" sz="2400" dirty="0"/>
          </a:p>
        </p:txBody>
      </p:sp>
      <p:sp>
        <p:nvSpPr>
          <p:cNvPr id="8" name="a2_term_100"/>
          <p:cNvSpPr txBox="1"/>
          <p:nvPr/>
        </p:nvSpPr>
        <p:spPr>
          <a:xfrm>
            <a:off x="7223760" y="2788920"/>
            <a:ext cx="44165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Assigned Protection Factor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depends on the mask type</a:t>
            </a:r>
            <a:endParaRPr lang="en-US" sz="1600" dirty="0"/>
          </a:p>
        </p:txBody>
      </p:sp>
      <p:sp>
        <p:nvSpPr>
          <p:cNvPr id="9" name="a2_badge_101"/>
          <p:cNvSpPr txBox="1"/>
          <p:nvPr/>
        </p:nvSpPr>
        <p:spPr>
          <a:xfrm>
            <a:off x="5897880" y="3657600"/>
            <a:ext cx="118872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PEL</a:t>
            </a:r>
            <a:endParaRPr lang="en-US" sz="2400" dirty="0"/>
          </a:p>
        </p:txBody>
      </p:sp>
      <p:sp>
        <p:nvSpPr>
          <p:cNvPr id="10" name="a2_term_102"/>
          <p:cNvSpPr txBox="1"/>
          <p:nvPr/>
        </p:nvSpPr>
        <p:spPr>
          <a:xfrm>
            <a:off x="7223760" y="3657600"/>
            <a:ext cx="441655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Permissible Exposure Limit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the legal limit</a:t>
            </a:r>
            <a:endParaRPr lang="en-US" sz="1600" dirty="0"/>
          </a:p>
        </p:txBody>
      </p:sp>
      <p:sp>
        <p:nvSpPr>
          <p:cNvPr id="11" name="a3w_example_103"/>
          <p:cNvSpPr txBox="1"/>
          <p:nvPr/>
        </p:nvSpPr>
        <p:spPr>
          <a:xfrm>
            <a:off x="5897880" y="4617720"/>
            <a:ext cx="5742432" cy="1508760"/>
          </a:xfrm>
          <a:prstGeom prst="roundRect">
            <a:avLst>
              <a:gd name="adj" fmla="val 6061"/>
            </a:avLst>
          </a:prstGeom>
          <a:solidFill>
            <a:schemeClr val="accent2">
              <a:alpha val="10000"/>
            </a:schemeClr>
          </a:solidFill>
          <a:ln w="19050">
            <a:solidFill>
              <a:schemeClr val="accent2"/>
            </a:solidFill>
          </a:ln>
        </p:spPr>
        <p:txBody>
          <a:bodyPr wrap="square" lIns="2540" tIns="2540" rIns="2540" bIns="254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SOURCE EXAMPLE – H₂S (PEL = 10 ppm)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Half Mask:   APF 10 × PEL 10 ppm = 100 ppm MUC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Full Face:   APF 50 × PEL 10 ppm = 500 ppm MUC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H₂S MUC CASE STUDY</a:t>
            </a:r>
            <a:endParaRPr lang="en-US" sz="3000" dirty="0"/>
          </a:p>
        </p:txBody>
      </p:sp>
      <p:sp>
        <p:nvSpPr>
          <p:cNvPr id="3" name="a1_pel_104"/>
          <p:cNvSpPr txBox="1"/>
          <p:nvPr/>
        </p:nvSpPr>
        <p:spPr>
          <a:xfrm>
            <a:off x="548640" y="1234440"/>
            <a:ext cx="342900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PEL = 10 ppm</a:t>
            </a:r>
            <a:endParaRPr lang="en-US" sz="2200" dirty="0"/>
          </a:p>
        </p:txBody>
      </p:sp>
      <p:sp>
        <p:nvSpPr>
          <p:cNvPr id="4" name="a1_idlh_105"/>
          <p:cNvSpPr txBox="1"/>
          <p:nvPr/>
        </p:nvSpPr>
        <p:spPr>
          <a:xfrm>
            <a:off x="4251960" y="1234440"/>
            <a:ext cx="3429000" cy="594360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IDLH = 100 ppm</a:t>
            </a:r>
            <a:endParaRPr lang="en-US" sz="2200" dirty="0"/>
          </a:p>
        </p:txBody>
      </p:sp>
      <p:sp>
        <p:nvSpPr>
          <p:cNvPr id="5" name="a1_pelc_106"/>
          <p:cNvSpPr txBox="1"/>
          <p:nvPr/>
        </p:nvSpPr>
        <p:spPr>
          <a:xfrm>
            <a:off x="548640" y="1856232"/>
            <a:ext cx="3429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Permissible Exposure Limit</a:t>
            </a:r>
            <a:endParaRPr lang="en-US" sz="1200" dirty="0"/>
          </a:p>
        </p:txBody>
      </p:sp>
      <p:sp>
        <p:nvSpPr>
          <p:cNvPr id="6" name="a1_idlhc_107"/>
          <p:cNvSpPr txBox="1"/>
          <p:nvPr/>
        </p:nvSpPr>
        <p:spPr>
          <a:xfrm>
            <a:off x="4251960" y="1856232"/>
            <a:ext cx="3429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Immediately Dangerous to Life or Health</a:t>
            </a:r>
            <a:endParaRPr lang="en-US" sz="1200" dirty="0"/>
          </a:p>
        </p:txBody>
      </p:sp>
      <p:sp>
        <p:nvSpPr>
          <p:cNvPr id="7" name="a2_card_108"/>
          <p:cNvSpPr/>
          <p:nvPr/>
        </p:nvSpPr>
        <p:spPr>
          <a:xfrm>
            <a:off x="548640" y="2286000"/>
            <a:ext cx="3429000" cy="2834640"/>
          </a:xfrm>
          <a:prstGeom prst="roundRect">
            <a:avLst>
              <a:gd name="adj" fmla="val 322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a2_hdr_109"/>
          <p:cNvSpPr txBox="1"/>
          <p:nvPr/>
        </p:nvSpPr>
        <p:spPr>
          <a:xfrm>
            <a:off x="640080" y="2377440"/>
            <a:ext cx="32461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HALF MASK (APF 10)</a:t>
            </a:r>
            <a:endParaRPr lang="en-US" sz="1700" dirty="0"/>
          </a:p>
        </p:txBody>
      </p:sp>
      <p:sp>
        <p:nvSpPr>
          <p:cNvPr id="9" name="a2_f_110"/>
          <p:cNvSpPr txBox="1"/>
          <p:nvPr/>
        </p:nvSpPr>
        <p:spPr>
          <a:xfrm>
            <a:off x="64008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APF 10 × PEL 10 ppm</a:t>
            </a:r>
            <a:endParaRPr lang="en-US" sz="1800" dirty="0"/>
          </a:p>
        </p:txBody>
      </p:sp>
      <p:sp>
        <p:nvSpPr>
          <p:cNvPr id="10" name="a2_eq_111"/>
          <p:cNvSpPr txBox="1"/>
          <p:nvPr/>
        </p:nvSpPr>
        <p:spPr>
          <a:xfrm>
            <a:off x="640080" y="3291840"/>
            <a:ext cx="3246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=</a:t>
            </a:r>
            <a:endParaRPr lang="en-US" sz="1800" dirty="0"/>
          </a:p>
        </p:txBody>
      </p:sp>
      <p:sp>
        <p:nvSpPr>
          <p:cNvPr id="11" name="a2_r_112"/>
          <p:cNvSpPr txBox="1"/>
          <p:nvPr/>
        </p:nvSpPr>
        <p:spPr>
          <a:xfrm>
            <a:off x="64008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MUC 100 ppm</a:t>
            </a:r>
            <a:endParaRPr lang="en-US" sz="3000" dirty="0"/>
          </a:p>
        </p:txBody>
      </p:sp>
      <p:sp>
        <p:nvSpPr>
          <p:cNvPr id="12" name="a2_n_113"/>
          <p:cNvSpPr txBox="1"/>
          <p:nvPr/>
        </p:nvSpPr>
        <p:spPr>
          <a:xfrm>
            <a:off x="731520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Calculated MUC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(same value as the IDLH in this example)</a:t>
            </a:r>
            <a:endParaRPr lang="en-US" sz="1300" dirty="0"/>
          </a:p>
        </p:txBody>
      </p:sp>
      <p:sp>
        <p:nvSpPr>
          <p:cNvPr id="13" name="a3_card_114"/>
          <p:cNvSpPr/>
          <p:nvPr/>
        </p:nvSpPr>
        <p:spPr>
          <a:xfrm>
            <a:off x="4251960" y="2286000"/>
            <a:ext cx="3429000" cy="2834640"/>
          </a:xfrm>
          <a:prstGeom prst="roundRect">
            <a:avLst>
              <a:gd name="adj" fmla="val 322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a3_hdr_115"/>
          <p:cNvSpPr txBox="1"/>
          <p:nvPr/>
        </p:nvSpPr>
        <p:spPr>
          <a:xfrm>
            <a:off x="4343400" y="2377440"/>
            <a:ext cx="324612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FULL FACE (APF 50)</a:t>
            </a:r>
            <a:endParaRPr lang="en-US" sz="1700" dirty="0"/>
          </a:p>
        </p:txBody>
      </p:sp>
      <p:sp>
        <p:nvSpPr>
          <p:cNvPr id="15" name="a3_f_116"/>
          <p:cNvSpPr txBox="1"/>
          <p:nvPr/>
        </p:nvSpPr>
        <p:spPr>
          <a:xfrm>
            <a:off x="434340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APF 50 × PEL 10 ppm</a:t>
            </a:r>
            <a:endParaRPr lang="en-US" sz="1800" dirty="0"/>
          </a:p>
        </p:txBody>
      </p:sp>
      <p:sp>
        <p:nvSpPr>
          <p:cNvPr id="16" name="a3_eq_117"/>
          <p:cNvSpPr txBox="1"/>
          <p:nvPr/>
        </p:nvSpPr>
        <p:spPr>
          <a:xfrm>
            <a:off x="4343400" y="3291840"/>
            <a:ext cx="3246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=</a:t>
            </a:r>
            <a:endParaRPr lang="en-US" sz="1800" dirty="0"/>
          </a:p>
        </p:txBody>
      </p:sp>
      <p:sp>
        <p:nvSpPr>
          <p:cNvPr id="17" name="a3_r_118"/>
          <p:cNvSpPr txBox="1"/>
          <p:nvPr/>
        </p:nvSpPr>
        <p:spPr>
          <a:xfrm>
            <a:off x="4343400" y="3584448"/>
            <a:ext cx="32461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MUC 500 ppm</a:t>
            </a:r>
            <a:endParaRPr lang="en-US" sz="3000" dirty="0"/>
          </a:p>
        </p:txBody>
      </p:sp>
      <p:sp>
        <p:nvSpPr>
          <p:cNvPr id="18" name="a3_n_119"/>
          <p:cNvSpPr txBox="1"/>
          <p:nvPr/>
        </p:nvSpPr>
        <p:spPr>
          <a:xfrm>
            <a:off x="4434840" y="4206240"/>
            <a:ext cx="3063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Calculated “potential” MUC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Source note: must not exceed IDLH limits (100 ppm)</a:t>
            </a:r>
            <a:endParaRPr lang="en-US" sz="1300" dirty="0"/>
          </a:p>
        </p:txBody>
      </p:sp>
      <p:sp>
        <p:nvSpPr>
          <p:cNvPr id="19" name="a4_note_120"/>
          <p:cNvSpPr txBox="1"/>
          <p:nvPr/>
        </p:nvSpPr>
        <p:spPr>
          <a:xfrm>
            <a:off x="548640" y="5303520"/>
            <a:ext cx="7132320" cy="868680"/>
          </a:xfrm>
          <a:prstGeom prst="roundRect">
            <a:avLst>
              <a:gd name="adj" fmla="val 10526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calculated MUC does NOT make a respirator safe for every situation. The source shows the IDLH (100 ppm) as a limit that must not be exceeded.</a:t>
            </a:r>
            <a:endParaRPr lang="en-US" sz="1500" dirty="0"/>
          </a:p>
        </p:txBody>
      </p:sp>
      <p:sp>
        <p:nvSpPr>
          <p:cNvPr id="20" name="a5_crit_121"/>
          <p:cNvSpPr/>
          <p:nvPr/>
        </p:nvSpPr>
        <p:spPr>
          <a:xfrm>
            <a:off x="7955280" y="1234440"/>
            <a:ext cx="3685032" cy="2240280"/>
          </a:xfrm>
          <a:prstGeom prst="roundRect">
            <a:avLst>
              <a:gd name="adj" fmla="val 4082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pic>
        <p:nvPicPr>
          <p:cNvPr id="21" name="a5_warn_12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89888"/>
            <a:ext cx="502920" cy="502920"/>
          </a:xfrm>
          <a:prstGeom prst="rect">
            <a:avLst/>
          </a:prstGeom>
        </p:spPr>
      </p:pic>
      <p:sp>
        <p:nvSpPr>
          <p:cNvPr id="22" name="a5_ct_123"/>
          <p:cNvSpPr txBox="1"/>
          <p:nvPr/>
        </p:nvSpPr>
        <p:spPr>
          <a:xfrm>
            <a:off x="8732520" y="1389888"/>
            <a:ext cx="2834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CRITICAL SAFETY RULE</a:t>
            </a:r>
            <a:endParaRPr lang="en-US" sz="1900" dirty="0"/>
          </a:p>
        </p:txBody>
      </p:sp>
      <p:sp>
        <p:nvSpPr>
          <p:cNvPr id="23" name="a5_cb_124"/>
          <p:cNvSpPr txBox="1"/>
          <p:nvPr/>
        </p:nvSpPr>
        <p:spPr>
          <a:xfrm>
            <a:off x="8138160" y="2011680"/>
            <a:ext cx="33832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If the air concentration is higher than your MUC, you are in immediate danger.</a:t>
            </a:r>
            <a:endParaRPr lang="en-US" sz="1700" dirty="0"/>
          </a:p>
        </p:txBody>
      </p:sp>
      <p:sp>
        <p:nvSpPr>
          <p:cNvPr id="24" name="a6_iconbg_125"/>
          <p:cNvSpPr/>
          <p:nvPr/>
        </p:nvSpPr>
        <p:spPr>
          <a:xfrm>
            <a:off x="7955280" y="3730752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a6_icon_126" descr="FaTachomete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004" y="3855476"/>
            <a:ext cx="317480" cy="317480"/>
          </a:xfrm>
          <a:prstGeom prst="rect">
            <a:avLst/>
          </a:prstGeom>
        </p:spPr>
      </p:pic>
      <p:sp>
        <p:nvSpPr>
          <p:cNvPr id="26" name="a6_chk_127"/>
          <p:cNvSpPr txBox="1"/>
          <p:nvPr/>
        </p:nvSpPr>
        <p:spPr>
          <a:xfrm>
            <a:off x="8641080" y="3657600"/>
            <a:ext cx="299923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Always check the actual gas concentration.</a:t>
            </a:r>
            <a:endParaRPr lang="en-US" sz="1600" dirty="0"/>
          </a:p>
        </p:txBody>
      </p:sp>
      <p:sp>
        <p:nvSpPr>
          <p:cNvPr id="27" name="a6_iconbg_128"/>
          <p:cNvSpPr/>
          <p:nvPr/>
        </p:nvSpPr>
        <p:spPr>
          <a:xfrm>
            <a:off x="7955280" y="4599432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a6_icon_129" descr="FaFil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004" y="4724156"/>
            <a:ext cx="317480" cy="317480"/>
          </a:xfrm>
          <a:prstGeom prst="rect">
            <a:avLst/>
          </a:prstGeom>
        </p:spPr>
      </p:pic>
      <p:sp>
        <p:nvSpPr>
          <p:cNvPr id="29" name="a6_chk_130"/>
          <p:cNvSpPr txBox="1"/>
          <p:nvPr/>
        </p:nvSpPr>
        <p:spPr>
          <a:xfrm>
            <a:off x="8641080" y="4526280"/>
            <a:ext cx="299923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 the correct cartridge.</a:t>
            </a:r>
            <a:endParaRPr lang="en-US" sz="1600" dirty="0"/>
          </a:p>
        </p:txBody>
      </p:sp>
      <p:sp>
        <p:nvSpPr>
          <p:cNvPr id="30" name="a6_iconbg_131"/>
          <p:cNvSpPr/>
          <p:nvPr/>
        </p:nvSpPr>
        <p:spPr>
          <a:xfrm>
            <a:off x="7955280" y="5468112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1" name="a6_icon_132" descr="FaB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004" y="5592836"/>
            <a:ext cx="317480" cy="317480"/>
          </a:xfrm>
          <a:prstGeom prst="rect">
            <a:avLst/>
          </a:prstGeom>
        </p:spPr>
      </p:pic>
      <p:sp>
        <p:nvSpPr>
          <p:cNvPr id="32" name="a6_chk_133"/>
          <p:cNvSpPr txBox="1"/>
          <p:nvPr/>
        </p:nvSpPr>
        <p:spPr>
          <a:xfrm>
            <a:off x="8641080" y="5394960"/>
            <a:ext cx="299923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 not exceed applicable safety limits.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KNOW THE ATMOSPHERE </a:t>
            </a:r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BEFORE YOU TRUST THE MASK</a:t>
            </a:r>
            <a:endParaRPr lang="en-US" sz="3200" dirty="0"/>
          </a:p>
        </p:txBody>
      </p:sp>
      <p:sp>
        <p:nvSpPr>
          <p:cNvPr id="3" name="a1_row_134"/>
          <p:cNvSpPr/>
          <p:nvPr/>
        </p:nvSpPr>
        <p:spPr>
          <a:xfrm>
            <a:off x="548640" y="1691640"/>
            <a:ext cx="580644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4" name="a1_iconbg_135"/>
          <p:cNvSpPr/>
          <p:nvPr/>
        </p:nvSpPr>
        <p:spPr>
          <a:xfrm>
            <a:off x="658368" y="1792224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1_icon_136" descr="FaTachomet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9" y="1912925"/>
            <a:ext cx="307238" cy="307238"/>
          </a:xfrm>
          <a:prstGeom prst="rect">
            <a:avLst/>
          </a:prstGeom>
        </p:spPr>
      </p:pic>
      <p:sp>
        <p:nvSpPr>
          <p:cNvPr id="6" name="a1_t_137"/>
          <p:cNvSpPr txBox="1"/>
          <p:nvPr/>
        </p:nvSpPr>
        <p:spPr>
          <a:xfrm>
            <a:off x="1371600" y="1691640"/>
            <a:ext cx="48920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Check the gas concentration.</a:t>
            </a:r>
            <a:endParaRPr lang="en-US" sz="1700" dirty="0"/>
          </a:p>
        </p:txBody>
      </p:sp>
      <p:sp>
        <p:nvSpPr>
          <p:cNvPr id="7" name="a2_row_138"/>
          <p:cNvSpPr/>
          <p:nvPr/>
        </p:nvSpPr>
        <p:spPr>
          <a:xfrm>
            <a:off x="548640" y="2578608"/>
            <a:ext cx="580644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8" name="a2_iconbg_139"/>
          <p:cNvSpPr/>
          <p:nvPr/>
        </p:nvSpPr>
        <p:spPr>
          <a:xfrm>
            <a:off x="658368" y="26791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a2_icon_140" descr="FaHeadSideMas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9" y="2799893"/>
            <a:ext cx="307238" cy="307238"/>
          </a:xfrm>
          <a:prstGeom prst="rect">
            <a:avLst/>
          </a:prstGeom>
        </p:spPr>
      </p:pic>
      <p:sp>
        <p:nvSpPr>
          <p:cNvPr id="10" name="a2_t_141"/>
          <p:cNvSpPr txBox="1"/>
          <p:nvPr/>
        </p:nvSpPr>
        <p:spPr>
          <a:xfrm>
            <a:off x="1371600" y="2578608"/>
            <a:ext cx="48920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Select the correct respiratory protection.</a:t>
            </a:r>
            <a:endParaRPr lang="en-US" sz="1700" dirty="0"/>
          </a:p>
        </p:txBody>
      </p:sp>
      <p:sp>
        <p:nvSpPr>
          <p:cNvPr id="11" name="a3_row_142"/>
          <p:cNvSpPr/>
          <p:nvPr/>
        </p:nvSpPr>
        <p:spPr>
          <a:xfrm>
            <a:off x="548640" y="3465576"/>
            <a:ext cx="580644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2" name="a3_iconbg_143"/>
          <p:cNvSpPr/>
          <p:nvPr/>
        </p:nvSpPr>
        <p:spPr>
          <a:xfrm>
            <a:off x="658368" y="3566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a3_icon_144" descr="FaFil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3686861"/>
            <a:ext cx="307238" cy="307238"/>
          </a:xfrm>
          <a:prstGeom prst="rect">
            <a:avLst/>
          </a:prstGeom>
        </p:spPr>
      </p:pic>
      <p:sp>
        <p:nvSpPr>
          <p:cNvPr id="14" name="a3_t_145"/>
          <p:cNvSpPr txBox="1"/>
          <p:nvPr/>
        </p:nvSpPr>
        <p:spPr>
          <a:xfrm>
            <a:off x="1371600" y="3465576"/>
            <a:ext cx="48920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Select the correct cartridge.</a:t>
            </a:r>
            <a:endParaRPr lang="en-US" sz="1700" dirty="0"/>
          </a:p>
        </p:txBody>
      </p:sp>
      <p:sp>
        <p:nvSpPr>
          <p:cNvPr id="15" name="a4_row_146"/>
          <p:cNvSpPr/>
          <p:nvPr/>
        </p:nvSpPr>
        <p:spPr>
          <a:xfrm>
            <a:off x="548640" y="4352544"/>
            <a:ext cx="580644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6" name="a4_iconbg_147"/>
          <p:cNvSpPr/>
          <p:nvPr/>
        </p:nvSpPr>
        <p:spPr>
          <a:xfrm>
            <a:off x="658368" y="4453128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a4_icon_148" descr="FaExclamationTriang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9" y="4573829"/>
            <a:ext cx="307238" cy="307238"/>
          </a:xfrm>
          <a:prstGeom prst="rect">
            <a:avLst/>
          </a:prstGeom>
        </p:spPr>
      </p:pic>
      <p:sp>
        <p:nvSpPr>
          <p:cNvPr id="18" name="a4_t_149"/>
          <p:cNvSpPr txBox="1"/>
          <p:nvPr/>
        </p:nvSpPr>
        <p:spPr>
          <a:xfrm>
            <a:off x="1371600" y="4352544"/>
            <a:ext cx="48920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Know the limitations of the respirator.</a:t>
            </a:r>
            <a:endParaRPr lang="en-US" sz="1700" dirty="0"/>
          </a:p>
        </p:txBody>
      </p:sp>
      <p:sp>
        <p:nvSpPr>
          <p:cNvPr id="19" name="a5_row_150"/>
          <p:cNvSpPr/>
          <p:nvPr/>
        </p:nvSpPr>
        <p:spPr>
          <a:xfrm>
            <a:off x="548640" y="5239512"/>
            <a:ext cx="580644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0" name="a5_iconbg_151"/>
          <p:cNvSpPr/>
          <p:nvPr/>
        </p:nvSpPr>
        <p:spPr>
          <a:xfrm>
            <a:off x="658368" y="5340096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a5_icon_152" descr="FaBa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9" y="5460797"/>
            <a:ext cx="307238" cy="307238"/>
          </a:xfrm>
          <a:prstGeom prst="rect">
            <a:avLst/>
          </a:prstGeom>
        </p:spPr>
      </p:pic>
      <p:sp>
        <p:nvSpPr>
          <p:cNvPr id="22" name="a5_t_153"/>
          <p:cNvSpPr txBox="1"/>
          <p:nvPr/>
        </p:nvSpPr>
        <p:spPr>
          <a:xfrm>
            <a:off x="1371600" y="5239512"/>
            <a:ext cx="48920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Never assume that wearing a mask automatically makes the atmosphere safe.</a:t>
            </a:r>
            <a:endParaRPr lang="en-US" sz="1500" dirty="0"/>
          </a:p>
        </p:txBody>
      </p:sp>
      <p:sp>
        <p:nvSpPr>
          <p:cNvPr id="23" name="vis_154"/>
          <p:cNvSpPr/>
          <p:nvPr/>
        </p:nvSpPr>
        <p:spPr>
          <a:xfrm>
            <a:off x="6675120" y="1691640"/>
            <a:ext cx="4965192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/>
        </p:spPr>
      </p:sp>
      <p:pic>
        <p:nvPicPr>
          <p:cNvPr id="24" name="det_155" descr="muc_detector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3304" y="1783080"/>
            <a:ext cx="1026671" cy="1508760"/>
          </a:xfrm>
          <a:prstGeom prst="rect">
            <a:avLst/>
          </a:prstGeom>
        </p:spPr>
      </p:pic>
      <p:pic>
        <p:nvPicPr>
          <p:cNvPr id="25" name="masks_156" descr="muc_masks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1943100"/>
            <a:ext cx="2103120" cy="1188720"/>
          </a:xfrm>
          <a:prstGeom prst="rect">
            <a:avLst/>
          </a:prstGeom>
        </p:spPr>
      </p:pic>
      <p:pic>
        <p:nvPicPr>
          <p:cNvPr id="26" name="warn_15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0" y="1874520"/>
            <a:ext cx="914400" cy="9144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033272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H₂S</a:t>
            </a:r>
            <a:endParaRPr lang="en-US" sz="1800" dirty="0"/>
          </a:p>
        </p:txBody>
      </p:sp>
      <p:sp>
        <p:nvSpPr>
          <p:cNvPr id="28" name="Text 18"/>
          <p:cNvSpPr txBox="1"/>
          <p:nvPr/>
        </p:nvSpPr>
        <p:spPr>
          <a:xfrm>
            <a:off x="67208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Gas detector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818388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Respirators</a:t>
            </a:r>
            <a:endParaRPr lang="en-US" sz="1200" dirty="0"/>
          </a:p>
        </p:txBody>
      </p:sp>
      <p:sp>
        <p:nvSpPr>
          <p:cNvPr id="30" name="Text 20"/>
          <p:cNvSpPr txBox="1"/>
          <p:nvPr/>
        </p:nvSpPr>
        <p:spPr>
          <a:xfrm>
            <a:off x="102870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H₂S warning</a:t>
            </a:r>
            <a:endParaRPr lang="en-US" sz="1200" dirty="0"/>
          </a:p>
        </p:txBody>
      </p:sp>
      <p:sp>
        <p:nvSpPr>
          <p:cNvPr id="31" name="a6_st_158"/>
          <p:cNvSpPr txBox="1"/>
          <p:nvPr/>
        </p:nvSpPr>
        <p:spPr>
          <a:xfrm>
            <a:off x="6675120" y="4023360"/>
            <a:ext cx="496519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H₂S CONCENTRATION SCALE – source example values</a:t>
            </a:r>
            <a:endParaRPr lang="en-US" sz="1300" dirty="0"/>
          </a:p>
        </p:txBody>
      </p:sp>
      <p:sp>
        <p:nvSpPr>
          <p:cNvPr id="32" name="a6_seg_159"/>
          <p:cNvSpPr txBox="1"/>
          <p:nvPr/>
        </p:nvSpPr>
        <p:spPr>
          <a:xfrm>
            <a:off x="6675120" y="4434840"/>
            <a:ext cx="1143000" cy="5486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0–10 ppm</a:t>
            </a:r>
            <a:endParaRPr lang="en-US" sz="1400" dirty="0"/>
          </a:p>
        </p:txBody>
      </p:sp>
      <p:sp>
        <p:nvSpPr>
          <p:cNvPr id="33" name="a6_segl_160"/>
          <p:cNvSpPr txBox="1"/>
          <p:nvPr/>
        </p:nvSpPr>
        <p:spPr>
          <a:xfrm>
            <a:off x="6675120" y="5029200"/>
            <a:ext cx="11430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At or below PEL (10 ppm)</a:t>
            </a:r>
            <a:endParaRPr lang="en-US" sz="1200" dirty="0"/>
          </a:p>
        </p:txBody>
      </p:sp>
      <p:sp>
        <p:nvSpPr>
          <p:cNvPr id="34" name="a6_seg_161"/>
          <p:cNvSpPr txBox="1"/>
          <p:nvPr/>
        </p:nvSpPr>
        <p:spPr>
          <a:xfrm>
            <a:off x="7818120" y="4434840"/>
            <a:ext cx="2194560" cy="54864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10–100 ppm</a:t>
            </a:r>
            <a:endParaRPr lang="en-US" sz="1400" dirty="0"/>
          </a:p>
        </p:txBody>
      </p:sp>
      <p:sp>
        <p:nvSpPr>
          <p:cNvPr id="35" name="a6_segl_162"/>
          <p:cNvSpPr txBox="1"/>
          <p:nvPr/>
        </p:nvSpPr>
        <p:spPr>
          <a:xfrm>
            <a:off x="7818120" y="5029200"/>
            <a:ext cx="2194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Above PEL</a:t>
            </a:r>
            <a:endParaRPr lang="en-US" sz="1200" dirty="0"/>
          </a:p>
        </p:txBody>
      </p:sp>
      <p:sp>
        <p:nvSpPr>
          <p:cNvPr id="36" name="a6_seg_163"/>
          <p:cNvSpPr txBox="1"/>
          <p:nvPr/>
        </p:nvSpPr>
        <p:spPr>
          <a:xfrm>
            <a:off x="10012680" y="4434840"/>
            <a:ext cx="1627632" cy="54864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100 ppm +</a:t>
            </a:r>
            <a:endParaRPr lang="en-US" sz="1400" dirty="0"/>
          </a:p>
        </p:txBody>
      </p:sp>
      <p:sp>
        <p:nvSpPr>
          <p:cNvPr id="37" name="a6_segl_164"/>
          <p:cNvSpPr txBox="1"/>
          <p:nvPr/>
        </p:nvSpPr>
        <p:spPr>
          <a:xfrm>
            <a:off x="10012680" y="5029200"/>
            <a:ext cx="1627632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IDLH (100 ppm)</a:t>
            </a:r>
            <a:endParaRPr lang="en-US" sz="1200" dirty="0"/>
          </a:p>
        </p:txBody>
      </p:sp>
      <p:sp>
        <p:nvSpPr>
          <p:cNvPr id="38" name="a6_nts_165"/>
          <p:cNvSpPr txBox="1"/>
          <p:nvPr/>
        </p:nvSpPr>
        <p:spPr>
          <a:xfrm>
            <a:off x="6675120" y="5669280"/>
            <a:ext cx="496519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</a:rPr>
              <a:t>Scale not to proportion.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PRE-USE CHECK – BEFORE YOU WEAR IT</a:t>
            </a:r>
            <a:endParaRPr lang="en-US" sz="3000" dirty="0"/>
          </a:p>
        </p:txBody>
      </p:sp>
      <p:sp>
        <p:nvSpPr>
          <p:cNvPr id="3" name="a1_tile_166"/>
          <p:cNvSpPr/>
          <p:nvPr/>
        </p:nvSpPr>
        <p:spPr>
          <a:xfrm>
            <a:off x="548640" y="1234440"/>
            <a:ext cx="1691640" cy="19202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4" name="a1_iconbg_167"/>
          <p:cNvSpPr/>
          <p:nvPr/>
        </p:nvSpPr>
        <p:spPr>
          <a:xfrm>
            <a:off x="1069848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1_icon_168" descr="FaHeadSideMa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666" y="1512418"/>
            <a:ext cx="358445" cy="358445"/>
          </a:xfrm>
          <a:prstGeom prst="rect">
            <a:avLst/>
          </a:prstGeom>
        </p:spPr>
      </p:pic>
      <p:sp>
        <p:nvSpPr>
          <p:cNvPr id="6" name="a1_l_169"/>
          <p:cNvSpPr txBox="1"/>
          <p:nvPr/>
        </p:nvSpPr>
        <p:spPr>
          <a:xfrm>
            <a:off x="594360" y="2075688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Facepiece</a:t>
            </a:r>
            <a:endParaRPr lang="en-US" sz="1500" dirty="0"/>
          </a:p>
        </p:txBody>
      </p:sp>
      <p:sp>
        <p:nvSpPr>
          <p:cNvPr id="7" name="a1_h_170"/>
          <p:cNvSpPr txBox="1"/>
          <p:nvPr/>
        </p:nvSpPr>
        <p:spPr>
          <a:xfrm>
            <a:off x="640080" y="2514600"/>
            <a:ext cx="1508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cracks, tears or distortion</a:t>
            </a:r>
            <a:endParaRPr lang="en-US" sz="1200" dirty="0"/>
          </a:p>
        </p:txBody>
      </p:sp>
      <p:sp>
        <p:nvSpPr>
          <p:cNvPr id="8" name="a1_tile_171"/>
          <p:cNvSpPr/>
          <p:nvPr/>
        </p:nvSpPr>
        <p:spPr>
          <a:xfrm>
            <a:off x="2423160" y="1234440"/>
            <a:ext cx="1691640" cy="19202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a1_iconbg_172"/>
          <p:cNvSpPr/>
          <p:nvPr/>
        </p:nvSpPr>
        <p:spPr>
          <a:xfrm>
            <a:off x="2944368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1_icon_173" descr="Fa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186" y="1512418"/>
            <a:ext cx="358445" cy="358445"/>
          </a:xfrm>
          <a:prstGeom prst="rect">
            <a:avLst/>
          </a:prstGeom>
        </p:spPr>
      </p:pic>
      <p:sp>
        <p:nvSpPr>
          <p:cNvPr id="11" name="a1_l_174"/>
          <p:cNvSpPr txBox="1"/>
          <p:nvPr/>
        </p:nvSpPr>
        <p:spPr>
          <a:xfrm>
            <a:off x="2468880" y="2075688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Straps</a:t>
            </a:r>
            <a:endParaRPr lang="en-US" sz="1500" dirty="0"/>
          </a:p>
        </p:txBody>
      </p:sp>
      <p:sp>
        <p:nvSpPr>
          <p:cNvPr id="12" name="a1_h_175"/>
          <p:cNvSpPr txBox="1"/>
          <p:nvPr/>
        </p:nvSpPr>
        <p:spPr>
          <a:xfrm>
            <a:off x="2514600" y="2514600"/>
            <a:ext cx="1508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Present, elastic, not worn out</a:t>
            </a:r>
            <a:endParaRPr lang="en-US" sz="1200" dirty="0"/>
          </a:p>
        </p:txBody>
      </p:sp>
      <p:sp>
        <p:nvSpPr>
          <p:cNvPr id="13" name="a1_tile_176"/>
          <p:cNvSpPr/>
          <p:nvPr/>
        </p:nvSpPr>
        <p:spPr>
          <a:xfrm>
            <a:off x="4297680" y="1234440"/>
            <a:ext cx="1691640" cy="19202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a1_iconbg_177"/>
          <p:cNvSpPr/>
          <p:nvPr/>
        </p:nvSpPr>
        <p:spPr>
          <a:xfrm>
            <a:off x="4818888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a1_icon_178" descr="FaWi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706" y="1512418"/>
            <a:ext cx="358445" cy="358445"/>
          </a:xfrm>
          <a:prstGeom prst="rect">
            <a:avLst/>
          </a:prstGeom>
        </p:spPr>
      </p:pic>
      <p:sp>
        <p:nvSpPr>
          <p:cNvPr id="16" name="a1_l_179"/>
          <p:cNvSpPr txBox="1"/>
          <p:nvPr/>
        </p:nvSpPr>
        <p:spPr>
          <a:xfrm>
            <a:off x="4343400" y="2075688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Valves</a:t>
            </a:r>
            <a:endParaRPr lang="en-US" sz="1500" dirty="0"/>
          </a:p>
        </p:txBody>
      </p:sp>
      <p:sp>
        <p:nvSpPr>
          <p:cNvPr id="17" name="a1_h_180"/>
          <p:cNvSpPr txBox="1"/>
          <p:nvPr/>
        </p:nvSpPr>
        <p:spPr>
          <a:xfrm>
            <a:off x="4389120" y="2514600"/>
            <a:ext cx="1508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 place, clean, not damaged</a:t>
            </a:r>
            <a:endParaRPr lang="en-US" sz="1200" dirty="0"/>
          </a:p>
        </p:txBody>
      </p:sp>
      <p:sp>
        <p:nvSpPr>
          <p:cNvPr id="18" name="a1_tile_181"/>
          <p:cNvSpPr/>
          <p:nvPr/>
        </p:nvSpPr>
        <p:spPr>
          <a:xfrm>
            <a:off x="6172200" y="1234440"/>
            <a:ext cx="1691640" cy="19202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a1_iconbg_182"/>
          <p:cNvSpPr/>
          <p:nvPr/>
        </p:nvSpPr>
        <p:spPr>
          <a:xfrm>
            <a:off x="6693408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a1_icon_183" descr="FaFil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226" y="1512418"/>
            <a:ext cx="358445" cy="358445"/>
          </a:xfrm>
          <a:prstGeom prst="rect">
            <a:avLst/>
          </a:prstGeom>
        </p:spPr>
      </p:pic>
      <p:sp>
        <p:nvSpPr>
          <p:cNvPr id="21" name="a1_l_184"/>
          <p:cNvSpPr txBox="1"/>
          <p:nvPr/>
        </p:nvSpPr>
        <p:spPr>
          <a:xfrm>
            <a:off x="6217920" y="2075688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Filters / Cartridges</a:t>
            </a:r>
            <a:endParaRPr lang="en-US" sz="1500" dirty="0"/>
          </a:p>
        </p:txBody>
      </p:sp>
      <p:sp>
        <p:nvSpPr>
          <p:cNvPr id="22" name="a1_h_185"/>
          <p:cNvSpPr txBox="1"/>
          <p:nvPr/>
        </p:nvSpPr>
        <p:spPr>
          <a:xfrm>
            <a:off x="6263640" y="2514600"/>
            <a:ext cx="1508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Correct type, fitted properly</a:t>
            </a:r>
            <a:endParaRPr lang="en-US" sz="1200" dirty="0"/>
          </a:p>
        </p:txBody>
      </p:sp>
      <p:sp>
        <p:nvSpPr>
          <p:cNvPr id="23" name="a2_tile_186"/>
          <p:cNvSpPr/>
          <p:nvPr/>
        </p:nvSpPr>
        <p:spPr>
          <a:xfrm>
            <a:off x="548640" y="3337560"/>
            <a:ext cx="1691640" cy="19202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a2_iconbg_187"/>
          <p:cNvSpPr/>
          <p:nvPr/>
        </p:nvSpPr>
        <p:spPr>
          <a:xfrm>
            <a:off x="1069848" y="3474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a2_icon_188" descr="FaShield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666" y="3615538"/>
            <a:ext cx="358445" cy="358445"/>
          </a:xfrm>
          <a:prstGeom prst="rect">
            <a:avLst/>
          </a:prstGeom>
        </p:spPr>
      </p:pic>
      <p:sp>
        <p:nvSpPr>
          <p:cNvPr id="26" name="a2_l_189"/>
          <p:cNvSpPr txBox="1"/>
          <p:nvPr/>
        </p:nvSpPr>
        <p:spPr>
          <a:xfrm>
            <a:off x="594360" y="4178808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Seals</a:t>
            </a:r>
            <a:endParaRPr lang="en-US" sz="1500" dirty="0"/>
          </a:p>
        </p:txBody>
      </p:sp>
      <p:sp>
        <p:nvSpPr>
          <p:cNvPr id="27" name="a2_h_190"/>
          <p:cNvSpPr txBox="1"/>
          <p:nvPr/>
        </p:nvSpPr>
        <p:spPr>
          <a:xfrm>
            <a:off x="640080" y="4617720"/>
            <a:ext cx="1508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Face seal and gaskets in place</a:t>
            </a:r>
            <a:endParaRPr lang="en-US" sz="1200" dirty="0"/>
          </a:p>
        </p:txBody>
      </p:sp>
      <p:sp>
        <p:nvSpPr>
          <p:cNvPr id="28" name="a2_tile_191"/>
          <p:cNvSpPr/>
          <p:nvPr/>
        </p:nvSpPr>
        <p:spPr>
          <a:xfrm>
            <a:off x="2423160" y="3337560"/>
            <a:ext cx="1691640" cy="19202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9" name="a2_iconbg_192"/>
          <p:cNvSpPr/>
          <p:nvPr/>
        </p:nvSpPr>
        <p:spPr>
          <a:xfrm>
            <a:off x="2944368" y="3474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a2_icon_193" descr="FaTimesCirc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5186" y="3615538"/>
            <a:ext cx="358445" cy="358445"/>
          </a:xfrm>
          <a:prstGeom prst="rect">
            <a:avLst/>
          </a:prstGeom>
        </p:spPr>
      </p:pic>
      <p:sp>
        <p:nvSpPr>
          <p:cNvPr id="31" name="a2_l_194"/>
          <p:cNvSpPr txBox="1"/>
          <p:nvPr/>
        </p:nvSpPr>
        <p:spPr>
          <a:xfrm>
            <a:off x="2468880" y="4178808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Damage</a:t>
            </a:r>
            <a:endParaRPr lang="en-US" sz="1500" dirty="0"/>
          </a:p>
        </p:txBody>
      </p:sp>
      <p:sp>
        <p:nvSpPr>
          <p:cNvPr id="32" name="a2_h_195"/>
          <p:cNvSpPr txBox="1"/>
          <p:nvPr/>
        </p:nvSpPr>
        <p:spPr>
          <a:xfrm>
            <a:off x="2514600" y="4617720"/>
            <a:ext cx="1508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holes or missing parts</a:t>
            </a:r>
            <a:endParaRPr lang="en-US" sz="1200" dirty="0"/>
          </a:p>
        </p:txBody>
      </p:sp>
      <p:sp>
        <p:nvSpPr>
          <p:cNvPr id="33" name="a2_tile_196"/>
          <p:cNvSpPr/>
          <p:nvPr/>
        </p:nvSpPr>
        <p:spPr>
          <a:xfrm>
            <a:off x="4297680" y="3337560"/>
            <a:ext cx="1691640" cy="19202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34" name="a2_iconbg_197"/>
          <p:cNvSpPr/>
          <p:nvPr/>
        </p:nvSpPr>
        <p:spPr>
          <a:xfrm>
            <a:off x="4818888" y="3474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a2_icon_198" descr="FaTin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9706" y="3615538"/>
            <a:ext cx="358445" cy="358445"/>
          </a:xfrm>
          <a:prstGeom prst="rect">
            <a:avLst/>
          </a:prstGeom>
        </p:spPr>
      </p:pic>
      <p:sp>
        <p:nvSpPr>
          <p:cNvPr id="36" name="a2_l_199"/>
          <p:cNvSpPr txBox="1"/>
          <p:nvPr/>
        </p:nvSpPr>
        <p:spPr>
          <a:xfrm>
            <a:off x="4343400" y="4178808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Cleanliness</a:t>
            </a:r>
            <a:endParaRPr lang="en-US" sz="1500" dirty="0"/>
          </a:p>
        </p:txBody>
      </p:sp>
      <p:sp>
        <p:nvSpPr>
          <p:cNvPr id="37" name="a2_h_200"/>
          <p:cNvSpPr txBox="1"/>
          <p:nvPr/>
        </p:nvSpPr>
        <p:spPr>
          <a:xfrm>
            <a:off x="4389120" y="4617720"/>
            <a:ext cx="1508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Clean and ready to use</a:t>
            </a:r>
            <a:endParaRPr lang="en-US" sz="1200" dirty="0"/>
          </a:p>
        </p:txBody>
      </p:sp>
      <p:sp>
        <p:nvSpPr>
          <p:cNvPr id="38" name="a2_tile_201"/>
          <p:cNvSpPr/>
          <p:nvPr/>
        </p:nvSpPr>
        <p:spPr>
          <a:xfrm>
            <a:off x="6172200" y="3337560"/>
            <a:ext cx="1691640" cy="19202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39" name="a2_iconbg_202"/>
          <p:cNvSpPr/>
          <p:nvPr/>
        </p:nvSpPr>
        <p:spPr>
          <a:xfrm>
            <a:off x="6693408" y="3474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a2_icon_203" descr="FaCog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4226" y="3615538"/>
            <a:ext cx="358445" cy="358445"/>
          </a:xfrm>
          <a:prstGeom prst="rect">
            <a:avLst/>
          </a:prstGeom>
        </p:spPr>
      </p:pic>
      <p:sp>
        <p:nvSpPr>
          <p:cNvPr id="41" name="a2_l_204"/>
          <p:cNvSpPr txBox="1"/>
          <p:nvPr/>
        </p:nvSpPr>
        <p:spPr>
          <a:xfrm>
            <a:off x="6217920" y="4178808"/>
            <a:ext cx="1600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Correct Assembly</a:t>
            </a:r>
            <a:endParaRPr lang="en-US" sz="1500" dirty="0"/>
          </a:p>
        </p:txBody>
      </p:sp>
      <p:sp>
        <p:nvSpPr>
          <p:cNvPr id="42" name="a2_h_205"/>
          <p:cNvSpPr txBox="1"/>
          <p:nvPr/>
        </p:nvSpPr>
        <p:spPr>
          <a:xfrm>
            <a:off x="6263640" y="4617720"/>
            <a:ext cx="1508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 parts fitted correctly</a:t>
            </a:r>
            <a:endParaRPr lang="en-US" sz="1200" dirty="0"/>
          </a:p>
        </p:txBody>
      </p:sp>
      <p:sp>
        <p:nvSpPr>
          <p:cNvPr id="43" name="a3_then_206"/>
          <p:cNvSpPr txBox="1"/>
          <p:nvPr/>
        </p:nvSpPr>
        <p:spPr>
          <a:xfrm>
            <a:off x="548640" y="5486400"/>
            <a:ext cx="7315200" cy="713232"/>
          </a:xfrm>
          <a:prstGeom prst="roundRect">
            <a:avLst>
              <a:gd name="adj" fmla="val 12821"/>
            </a:avLst>
          </a:prstGeom>
          <a:solidFill>
            <a:schemeClr val="accent2">
              <a:alpha val="12000"/>
            </a:schemeClr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THEN:  Positive Pressure Check + Negative Pressure Check (next slides)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Inspection points are general guidance — always follow the manufacturer’s instructions and site procedure.</a:t>
            </a:r>
            <a:endParaRPr lang="en-US" sz="1500" dirty="0"/>
          </a:p>
        </p:txBody>
      </p:sp>
      <p:sp>
        <p:nvSpPr>
          <p:cNvPr id="44" name="a4_cart_207"/>
          <p:cNvSpPr/>
          <p:nvPr/>
        </p:nvSpPr>
        <p:spPr>
          <a:xfrm>
            <a:off x="8183880" y="1234440"/>
            <a:ext cx="3456432" cy="4965192"/>
          </a:xfrm>
          <a:prstGeom prst="roundRect">
            <a:avLst>
              <a:gd name="adj" fmla="val 2646"/>
            </a:avLst>
          </a:prstGeom>
          <a:solidFill>
            <a:schemeClr val="accent3">
              <a:alpha val="10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5" name="a4_ct_208"/>
          <p:cNvSpPr txBox="1"/>
          <p:nvPr/>
        </p:nvSpPr>
        <p:spPr>
          <a:xfrm>
            <a:off x="832104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CARTRIDGE EXAMPLE (SOURCE)</a:t>
            </a:r>
            <a:endParaRPr lang="en-US" sz="1300" dirty="0"/>
          </a:p>
        </p:txBody>
      </p:sp>
      <p:sp>
        <p:nvSpPr>
          <p:cNvPr id="46" name="a4_cn_209"/>
          <p:cNvSpPr txBox="1"/>
          <p:nvPr/>
        </p:nvSpPr>
        <p:spPr>
          <a:xfrm>
            <a:off x="8321040" y="1645920"/>
            <a:ext cx="32004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3M 6006 Multi-Gas/Vapor Cartridge</a:t>
            </a:r>
            <a:endParaRPr lang="en-US" sz="1600" dirty="0"/>
          </a:p>
        </p:txBody>
      </p:sp>
      <p:sp>
        <p:nvSpPr>
          <p:cNvPr id="47" name="a4_cb_210"/>
          <p:cNvSpPr txBox="1"/>
          <p:nvPr/>
        </p:nvSpPr>
        <p:spPr>
          <a:xfrm>
            <a:off x="8321040" y="2286000"/>
            <a:ext cx="320040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Fits 3M 6000, 6500, 7000 and 7500 series half masks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4"/>
                </a:solidFill>
              </a:rPr>
              <a:t>NIOSH approval lists hydrogen sulfide for ESCAPE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Rated up to 10 × PEL with a half-face mask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Does not filter dust or mists unless paired with an approved particulate pre-filter (e.g. P100)</a:t>
            </a:r>
            <a:endParaRPr lang="en-US" sz="1300" dirty="0"/>
          </a:p>
        </p:txBody>
      </p:sp>
      <p:sp>
        <p:nvSpPr>
          <p:cNvPr id="48" name="a4_cc_211"/>
          <p:cNvSpPr txBox="1"/>
          <p:nvPr/>
        </p:nvSpPr>
        <p:spPr>
          <a:xfrm>
            <a:off x="8321040" y="5349240"/>
            <a:ext cx="3182112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Check the cartridge is approved for YOUR hazard.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POSITIVE PRESSURE CHECK – EXHALE TEST</a:t>
            </a:r>
            <a:endParaRPr lang="en-US" sz="3000" dirty="0"/>
          </a:p>
        </p:txBody>
      </p:sp>
      <p:sp>
        <p:nvSpPr>
          <p:cNvPr id="3" name="a1_frame_212"/>
          <p:cNvSpPr/>
          <p:nvPr/>
        </p:nvSpPr>
        <p:spPr>
          <a:xfrm>
            <a:off x="548640" y="1188720"/>
            <a:ext cx="2587752" cy="237744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4" name="a1_photo_213" descr="pos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458" y="1225296"/>
            <a:ext cx="2462116" cy="2304288"/>
          </a:xfrm>
          <a:prstGeom prst="rect">
            <a:avLst/>
          </a:prstGeom>
        </p:spPr>
      </p:pic>
      <p:sp>
        <p:nvSpPr>
          <p:cNvPr id="5" name="a1_num_214"/>
          <p:cNvSpPr txBox="1"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a1_t_215"/>
          <p:cNvSpPr txBox="1"/>
          <p:nvPr/>
        </p:nvSpPr>
        <p:spPr>
          <a:xfrm>
            <a:off x="1188720" y="3675888"/>
            <a:ext cx="19476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BLOCK THE EXIT</a:t>
            </a:r>
            <a:endParaRPr lang="en-US" sz="1500" dirty="0"/>
          </a:p>
        </p:txBody>
      </p:sp>
      <p:sp>
        <p:nvSpPr>
          <p:cNvPr id="7" name="a1_d_216"/>
          <p:cNvSpPr txBox="1"/>
          <p:nvPr/>
        </p:nvSpPr>
        <p:spPr>
          <a:xfrm>
            <a:off x="548640" y="4370832"/>
            <a:ext cx="2587752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Cover the exhalation valve with your palm.</a:t>
            </a:r>
            <a:endParaRPr lang="en-US" sz="1400" dirty="0"/>
          </a:p>
        </p:txBody>
      </p:sp>
      <p:sp>
        <p:nvSpPr>
          <p:cNvPr id="8" name="a2_frame_217"/>
          <p:cNvSpPr/>
          <p:nvPr/>
        </p:nvSpPr>
        <p:spPr>
          <a:xfrm>
            <a:off x="3383280" y="1188720"/>
            <a:ext cx="2587752" cy="237744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9" name="a2_photo_218" descr="pos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63" y="1225296"/>
            <a:ext cx="2464586" cy="2304288"/>
          </a:xfrm>
          <a:prstGeom prst="rect">
            <a:avLst/>
          </a:prstGeom>
        </p:spPr>
      </p:pic>
      <p:sp>
        <p:nvSpPr>
          <p:cNvPr id="10" name="a2_num_219"/>
          <p:cNvSpPr txBox="1"/>
          <p:nvPr/>
        </p:nvSpPr>
        <p:spPr>
          <a:xfrm>
            <a:off x="3383280" y="3703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a2_t_220"/>
          <p:cNvSpPr txBox="1"/>
          <p:nvPr/>
        </p:nvSpPr>
        <p:spPr>
          <a:xfrm>
            <a:off x="4023360" y="3675888"/>
            <a:ext cx="19476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PERFORM THE “BULGE” TEST</a:t>
            </a:r>
            <a:endParaRPr lang="en-US" sz="1500" dirty="0"/>
          </a:p>
        </p:txBody>
      </p:sp>
      <p:sp>
        <p:nvSpPr>
          <p:cNvPr id="12" name="a2_d_221"/>
          <p:cNvSpPr txBox="1"/>
          <p:nvPr/>
        </p:nvSpPr>
        <p:spPr>
          <a:xfrm>
            <a:off x="3383280" y="4370832"/>
            <a:ext cx="2587752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Exhale gently. The facepiece should slightly puff out (“bulge”) away from your face.</a:t>
            </a:r>
            <a:endParaRPr lang="en-US" sz="1400" dirty="0"/>
          </a:p>
        </p:txBody>
      </p:sp>
      <p:sp>
        <p:nvSpPr>
          <p:cNvPr id="13" name="a3_frame_222"/>
          <p:cNvSpPr/>
          <p:nvPr/>
        </p:nvSpPr>
        <p:spPr>
          <a:xfrm>
            <a:off x="6217920" y="1188720"/>
            <a:ext cx="2587752" cy="237744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14" name="a3_photo_223" descr="pos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00" y="1225296"/>
            <a:ext cx="2465992" cy="2304288"/>
          </a:xfrm>
          <a:prstGeom prst="rect">
            <a:avLst/>
          </a:prstGeom>
        </p:spPr>
      </p:pic>
      <p:sp>
        <p:nvSpPr>
          <p:cNvPr id="15" name="a3_num_224"/>
          <p:cNvSpPr txBox="1"/>
          <p:nvPr/>
        </p:nvSpPr>
        <p:spPr>
          <a:xfrm>
            <a:off x="6217920" y="3703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a3_t_225"/>
          <p:cNvSpPr txBox="1"/>
          <p:nvPr/>
        </p:nvSpPr>
        <p:spPr>
          <a:xfrm>
            <a:off x="6858000" y="3675888"/>
            <a:ext cx="19476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CHECK FOR LEAKAGE</a:t>
            </a:r>
            <a:endParaRPr lang="en-US" sz="1500" dirty="0"/>
          </a:p>
        </p:txBody>
      </p:sp>
      <p:sp>
        <p:nvSpPr>
          <p:cNvPr id="17" name="a3_d_226"/>
          <p:cNvSpPr txBox="1"/>
          <p:nvPr/>
        </p:nvSpPr>
        <p:spPr>
          <a:xfrm>
            <a:off x="6217920" y="4370832"/>
            <a:ext cx="2587752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you feel air escaping against your skin, the seal is broken.</a:t>
            </a:r>
            <a:endParaRPr lang="en-US" sz="1400" dirty="0"/>
          </a:p>
        </p:txBody>
      </p:sp>
      <p:sp>
        <p:nvSpPr>
          <p:cNvPr id="18" name="a4_frame_227"/>
          <p:cNvSpPr/>
          <p:nvPr/>
        </p:nvSpPr>
        <p:spPr>
          <a:xfrm>
            <a:off x="9052560" y="1188720"/>
            <a:ext cx="2587752" cy="237744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19" name="a4_photo_228" descr="pos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00" y="1225296"/>
            <a:ext cx="2471873" cy="2304288"/>
          </a:xfrm>
          <a:prstGeom prst="rect">
            <a:avLst/>
          </a:prstGeom>
        </p:spPr>
      </p:pic>
      <p:sp>
        <p:nvSpPr>
          <p:cNvPr id="20" name="a4_num_229"/>
          <p:cNvSpPr txBox="1"/>
          <p:nvPr/>
        </p:nvSpPr>
        <p:spPr>
          <a:xfrm>
            <a:off x="9052560" y="3703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a4_t_230"/>
          <p:cNvSpPr txBox="1"/>
          <p:nvPr/>
        </p:nvSpPr>
        <p:spPr>
          <a:xfrm>
            <a:off x="9692640" y="3675888"/>
            <a:ext cx="19476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ADJUST AND REPEAT IF REQUIRED</a:t>
            </a:r>
            <a:endParaRPr lang="en-US" sz="1500" dirty="0"/>
          </a:p>
        </p:txBody>
      </p:sp>
      <p:sp>
        <p:nvSpPr>
          <p:cNvPr id="22" name="a4_d_231"/>
          <p:cNvSpPr txBox="1"/>
          <p:nvPr/>
        </p:nvSpPr>
        <p:spPr>
          <a:xfrm>
            <a:off x="9052560" y="4370832"/>
            <a:ext cx="2587752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Adjust the straps and repeat until no air escapes.</a:t>
            </a:r>
            <a:endParaRPr lang="en-US" sz="1400" dirty="0"/>
          </a:p>
        </p:txBody>
      </p:sp>
      <p:sp>
        <p:nvSpPr>
          <p:cNvPr id="23" name="a5_strip_232"/>
          <p:cNvSpPr txBox="1"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GOAL: the facepiece bulges slightly and NO air escapes.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NEGATIVE PRESSURE CHECK – INHALE TEST</a:t>
            </a:r>
            <a:endParaRPr lang="en-US" sz="3000" dirty="0"/>
          </a:p>
        </p:txBody>
      </p:sp>
      <p:sp>
        <p:nvSpPr>
          <p:cNvPr id="3" name="a1_frame_233"/>
          <p:cNvSpPr/>
          <p:nvPr/>
        </p:nvSpPr>
        <p:spPr>
          <a:xfrm>
            <a:off x="548640" y="1188720"/>
            <a:ext cx="2587752" cy="237744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4" name="a1_photo_234" descr="neg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458" y="1225296"/>
            <a:ext cx="2462116" cy="2304288"/>
          </a:xfrm>
          <a:prstGeom prst="rect">
            <a:avLst/>
          </a:prstGeom>
        </p:spPr>
      </p:pic>
      <p:sp>
        <p:nvSpPr>
          <p:cNvPr id="5" name="a1_num_235"/>
          <p:cNvSpPr txBox="1"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a1_t_236"/>
          <p:cNvSpPr txBox="1"/>
          <p:nvPr/>
        </p:nvSpPr>
        <p:spPr>
          <a:xfrm>
            <a:off x="1188720" y="3675888"/>
            <a:ext cx="19476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BLOCK THE INTAKE</a:t>
            </a:r>
            <a:endParaRPr lang="en-US" sz="1500" dirty="0"/>
          </a:p>
        </p:txBody>
      </p:sp>
      <p:sp>
        <p:nvSpPr>
          <p:cNvPr id="7" name="a1_d_237"/>
          <p:cNvSpPr txBox="1"/>
          <p:nvPr/>
        </p:nvSpPr>
        <p:spPr>
          <a:xfrm>
            <a:off x="548640" y="4370832"/>
            <a:ext cx="2587752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Cover the cartridge openings or filters with your hands.</a:t>
            </a:r>
            <a:endParaRPr lang="en-US" sz="1400" dirty="0"/>
          </a:p>
        </p:txBody>
      </p:sp>
      <p:sp>
        <p:nvSpPr>
          <p:cNvPr id="8" name="a2_frame_238"/>
          <p:cNvSpPr/>
          <p:nvPr/>
        </p:nvSpPr>
        <p:spPr>
          <a:xfrm>
            <a:off x="3383280" y="1188720"/>
            <a:ext cx="2587752" cy="237744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9" name="a2_photo_239" descr="ne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160" y="1225296"/>
            <a:ext cx="2465992" cy="2304288"/>
          </a:xfrm>
          <a:prstGeom prst="rect">
            <a:avLst/>
          </a:prstGeom>
        </p:spPr>
      </p:pic>
      <p:sp>
        <p:nvSpPr>
          <p:cNvPr id="10" name="a2_num_240"/>
          <p:cNvSpPr txBox="1"/>
          <p:nvPr/>
        </p:nvSpPr>
        <p:spPr>
          <a:xfrm>
            <a:off x="338328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a2_t_241"/>
          <p:cNvSpPr txBox="1"/>
          <p:nvPr/>
        </p:nvSpPr>
        <p:spPr>
          <a:xfrm>
            <a:off x="4023360" y="3675888"/>
            <a:ext cx="19476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PERFORM THE “COLLAPSE” TEST</a:t>
            </a:r>
            <a:endParaRPr lang="en-US" sz="1500" dirty="0"/>
          </a:p>
        </p:txBody>
      </p:sp>
      <p:sp>
        <p:nvSpPr>
          <p:cNvPr id="12" name="a2_d_242"/>
          <p:cNvSpPr txBox="1"/>
          <p:nvPr/>
        </p:nvSpPr>
        <p:spPr>
          <a:xfrm>
            <a:off x="3383280" y="4370832"/>
            <a:ext cx="2587752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Inhale gently. The facepiece should “collapse” or pull inward toward your face.</a:t>
            </a:r>
            <a:endParaRPr lang="en-US" sz="1400" dirty="0"/>
          </a:p>
        </p:txBody>
      </p:sp>
      <p:sp>
        <p:nvSpPr>
          <p:cNvPr id="13" name="a3_frame_243"/>
          <p:cNvSpPr/>
          <p:nvPr/>
        </p:nvSpPr>
        <p:spPr>
          <a:xfrm>
            <a:off x="6217920" y="1188720"/>
            <a:ext cx="2587752" cy="237744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4" name="a3_photo_244" descr="neg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00" y="1225296"/>
            <a:ext cx="2465992" cy="2304288"/>
          </a:xfrm>
          <a:prstGeom prst="rect">
            <a:avLst/>
          </a:prstGeom>
        </p:spPr>
      </p:pic>
      <p:sp>
        <p:nvSpPr>
          <p:cNvPr id="15" name="a3_num_245"/>
          <p:cNvSpPr txBox="1"/>
          <p:nvPr/>
        </p:nvSpPr>
        <p:spPr>
          <a:xfrm>
            <a:off x="621792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a3_t_246"/>
          <p:cNvSpPr txBox="1"/>
          <p:nvPr/>
        </p:nvSpPr>
        <p:spPr>
          <a:xfrm>
            <a:off x="6858000" y="3675888"/>
            <a:ext cx="19476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HOLD &amp; VERIFY</a:t>
            </a:r>
            <a:endParaRPr lang="en-US" sz="1500" dirty="0"/>
          </a:p>
        </p:txBody>
      </p:sp>
      <p:sp>
        <p:nvSpPr>
          <p:cNvPr id="17" name="a3_d_247"/>
          <p:cNvSpPr txBox="1"/>
          <p:nvPr/>
        </p:nvSpPr>
        <p:spPr>
          <a:xfrm>
            <a:off x="6217920" y="4370832"/>
            <a:ext cx="2587752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Hold your breath for 10 seconds. The mask should stay collapsed. If it doesn’t, air is leaking in from the sides.</a:t>
            </a:r>
            <a:endParaRPr lang="en-US" sz="1400" dirty="0"/>
          </a:p>
        </p:txBody>
      </p:sp>
      <p:sp>
        <p:nvSpPr>
          <p:cNvPr id="18" name="a4_frame_248"/>
          <p:cNvSpPr/>
          <p:nvPr/>
        </p:nvSpPr>
        <p:spPr>
          <a:xfrm>
            <a:off x="9052560" y="1188720"/>
            <a:ext cx="2587752" cy="237744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9" name="a4_photo_249" descr="neg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255" y="1225296"/>
            <a:ext cx="2470363" cy="2304288"/>
          </a:xfrm>
          <a:prstGeom prst="rect">
            <a:avLst/>
          </a:prstGeom>
        </p:spPr>
      </p:pic>
      <p:sp>
        <p:nvSpPr>
          <p:cNvPr id="20" name="a4_num_250"/>
          <p:cNvSpPr txBox="1"/>
          <p:nvPr/>
        </p:nvSpPr>
        <p:spPr>
          <a:xfrm>
            <a:off x="905256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a4_t_251"/>
          <p:cNvSpPr txBox="1"/>
          <p:nvPr/>
        </p:nvSpPr>
        <p:spPr>
          <a:xfrm>
            <a:off x="9692640" y="3675888"/>
            <a:ext cx="1947672" cy="603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RETIGHTEN / RECHECK IF REQUIRED</a:t>
            </a:r>
            <a:endParaRPr lang="en-US" sz="1500" dirty="0"/>
          </a:p>
        </p:txBody>
      </p:sp>
      <p:sp>
        <p:nvSpPr>
          <p:cNvPr id="22" name="a4_d_252"/>
          <p:cNvSpPr txBox="1"/>
          <p:nvPr/>
        </p:nvSpPr>
        <p:spPr>
          <a:xfrm>
            <a:off x="9052560" y="4370832"/>
            <a:ext cx="2587752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Re-tighten the straps and recheck.</a:t>
            </a:r>
            <a:endParaRPr lang="en-US" sz="1400" dirty="0"/>
          </a:p>
        </p:txBody>
      </p:sp>
      <p:sp>
        <p:nvSpPr>
          <p:cNvPr id="23" name="a5_strip_253"/>
          <p:cNvSpPr txBox="1"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facepiece should remain collapsed while the check is performed (hold 10 seconds).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POSITIVE vs NEGATIVE PRESSURE CHECK</a:t>
            </a:r>
            <a:endParaRPr lang="en-US" sz="3000" dirty="0"/>
          </a:p>
        </p:txBody>
      </p:sp>
      <p:sp>
        <p:nvSpPr>
          <p:cNvPr id="3" name="a1_panel_254"/>
          <p:cNvSpPr/>
          <p:nvPr/>
        </p:nvSpPr>
        <p:spPr>
          <a:xfrm>
            <a:off x="548640" y="1234440"/>
            <a:ext cx="5394960" cy="4937760"/>
          </a:xfrm>
          <a:prstGeom prst="roundRect">
            <a:avLst>
              <a:gd name="adj" fmla="val 1852"/>
            </a:avLst>
          </a:prstGeom>
          <a:solidFill>
            <a:schemeClr val="accent2">
              <a:alpha val="8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a1_hdr_255"/>
          <p:cNvSpPr txBox="1"/>
          <p:nvPr/>
        </p:nvSpPr>
        <p:spPr>
          <a:xfrm>
            <a:off x="685800" y="1371600"/>
            <a:ext cx="51206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POSITIVE PRESSURE CHECK</a:t>
            </a:r>
            <a:endParaRPr lang="en-US" sz="2100" dirty="0"/>
          </a:p>
        </p:txBody>
      </p:sp>
      <p:sp>
        <p:nvSpPr>
          <p:cNvPr id="5" name="a1_pf_256"/>
          <p:cNvSpPr/>
          <p:nvPr/>
        </p:nvSpPr>
        <p:spPr>
          <a:xfrm>
            <a:off x="731520" y="2148840"/>
            <a:ext cx="2240280" cy="20574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6" name="a1_photo_257" descr="pos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19" y="2185416"/>
            <a:ext cx="2122283" cy="1984248"/>
          </a:xfrm>
          <a:prstGeom prst="rect">
            <a:avLst/>
          </a:prstGeom>
        </p:spPr>
      </p:pic>
      <p:sp>
        <p:nvSpPr>
          <p:cNvPr id="7" name="a1_big_258"/>
          <p:cNvSpPr txBox="1"/>
          <p:nvPr/>
        </p:nvSpPr>
        <p:spPr>
          <a:xfrm>
            <a:off x="3154680" y="246888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EXHALE TEST</a:t>
            </a:r>
            <a:endParaRPr lang="en-US" sz="2800" dirty="0"/>
          </a:p>
        </p:txBody>
      </p:sp>
      <p:sp>
        <p:nvSpPr>
          <p:cNvPr id="8" name="a1_sub_259"/>
          <p:cNvSpPr txBox="1"/>
          <p:nvPr/>
        </p:nvSpPr>
        <p:spPr>
          <a:xfrm>
            <a:off x="3154680" y="320040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Checks for OUTWARD leakage</a:t>
            </a:r>
            <a:endParaRPr lang="en-US" sz="1600" dirty="0"/>
          </a:p>
        </p:txBody>
      </p:sp>
      <p:sp>
        <p:nvSpPr>
          <p:cNvPr id="9" name="a1_rbg_260"/>
          <p:cNvSpPr/>
          <p:nvPr/>
        </p:nvSpPr>
        <p:spPr>
          <a:xfrm>
            <a:off x="731520" y="4389120"/>
            <a:ext cx="502920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10" name="a1_rl_261"/>
          <p:cNvSpPr txBox="1"/>
          <p:nvPr/>
        </p:nvSpPr>
        <p:spPr>
          <a:xfrm>
            <a:off x="822960" y="4389120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BLOCK</a:t>
            </a:r>
            <a:endParaRPr lang="en-US" sz="1300" dirty="0"/>
          </a:p>
        </p:txBody>
      </p:sp>
      <p:sp>
        <p:nvSpPr>
          <p:cNvPr id="11" name="a1_rv_262"/>
          <p:cNvSpPr txBox="1"/>
          <p:nvPr/>
        </p:nvSpPr>
        <p:spPr>
          <a:xfrm>
            <a:off x="2011680" y="4389120"/>
            <a:ext cx="3703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exit — exhalation valve (palm)</a:t>
            </a:r>
            <a:endParaRPr lang="en-US" sz="1400" dirty="0"/>
          </a:p>
        </p:txBody>
      </p:sp>
      <p:sp>
        <p:nvSpPr>
          <p:cNvPr id="12" name="a1_rbg_263"/>
          <p:cNvSpPr/>
          <p:nvPr/>
        </p:nvSpPr>
        <p:spPr>
          <a:xfrm>
            <a:off x="731520" y="4956048"/>
            <a:ext cx="502920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13" name="a1_rl_264"/>
          <p:cNvSpPr txBox="1"/>
          <p:nvPr/>
        </p:nvSpPr>
        <p:spPr>
          <a:xfrm>
            <a:off x="822960" y="4956048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BREATHE</a:t>
            </a:r>
            <a:endParaRPr lang="en-US" sz="1300" dirty="0"/>
          </a:p>
        </p:txBody>
      </p:sp>
      <p:sp>
        <p:nvSpPr>
          <p:cNvPr id="14" name="a1_rv_265"/>
          <p:cNvSpPr txBox="1"/>
          <p:nvPr/>
        </p:nvSpPr>
        <p:spPr>
          <a:xfrm>
            <a:off x="2011680" y="4956048"/>
            <a:ext cx="3703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Exhale gently</a:t>
            </a:r>
            <a:endParaRPr lang="en-US" sz="1400" dirty="0"/>
          </a:p>
        </p:txBody>
      </p:sp>
      <p:sp>
        <p:nvSpPr>
          <p:cNvPr id="15" name="a1_rbg_266"/>
          <p:cNvSpPr/>
          <p:nvPr/>
        </p:nvSpPr>
        <p:spPr>
          <a:xfrm>
            <a:off x="731520" y="5522976"/>
            <a:ext cx="502920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16" name="a1_rl_267"/>
          <p:cNvSpPr txBox="1"/>
          <p:nvPr/>
        </p:nvSpPr>
        <p:spPr>
          <a:xfrm>
            <a:off x="822960" y="5522976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LOOK FOR</a:t>
            </a:r>
            <a:endParaRPr lang="en-US" sz="1300" dirty="0"/>
          </a:p>
        </p:txBody>
      </p:sp>
      <p:sp>
        <p:nvSpPr>
          <p:cNvPr id="17" name="a1_rv_268"/>
          <p:cNvSpPr txBox="1"/>
          <p:nvPr/>
        </p:nvSpPr>
        <p:spPr>
          <a:xfrm>
            <a:off x="2011680" y="5522976"/>
            <a:ext cx="3703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Facepiece bulges out — no outward leakage</a:t>
            </a:r>
            <a:endParaRPr lang="en-US" sz="1400" dirty="0"/>
          </a:p>
        </p:txBody>
      </p:sp>
      <p:sp>
        <p:nvSpPr>
          <p:cNvPr id="18" name="a2_panel_269"/>
          <p:cNvSpPr/>
          <p:nvPr/>
        </p:nvSpPr>
        <p:spPr>
          <a:xfrm>
            <a:off x="6245352" y="1234440"/>
            <a:ext cx="5394960" cy="4937760"/>
          </a:xfrm>
          <a:prstGeom prst="roundRect">
            <a:avLst>
              <a:gd name="adj" fmla="val 1852"/>
            </a:avLst>
          </a:prstGeom>
          <a:solidFill>
            <a:schemeClr val="accent1">
              <a:alpha val="8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a2_hdr_270"/>
          <p:cNvSpPr txBox="1"/>
          <p:nvPr/>
        </p:nvSpPr>
        <p:spPr>
          <a:xfrm>
            <a:off x="6382512" y="1371600"/>
            <a:ext cx="51206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NEGATIVE PRESSURE CHECK</a:t>
            </a:r>
            <a:endParaRPr lang="en-US" sz="2100" dirty="0"/>
          </a:p>
        </p:txBody>
      </p:sp>
      <p:sp>
        <p:nvSpPr>
          <p:cNvPr id="20" name="a2_pf_271"/>
          <p:cNvSpPr/>
          <p:nvPr/>
        </p:nvSpPr>
        <p:spPr>
          <a:xfrm>
            <a:off x="6428232" y="2148840"/>
            <a:ext cx="2240280" cy="20574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1" name="a2_photo_272" descr="neg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625" y="2185416"/>
            <a:ext cx="2123493" cy="1984248"/>
          </a:xfrm>
          <a:prstGeom prst="rect">
            <a:avLst/>
          </a:prstGeom>
        </p:spPr>
      </p:pic>
      <p:sp>
        <p:nvSpPr>
          <p:cNvPr id="22" name="a2_big_273"/>
          <p:cNvSpPr txBox="1"/>
          <p:nvPr/>
        </p:nvSpPr>
        <p:spPr>
          <a:xfrm>
            <a:off x="8851392" y="246888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INHALE TEST</a:t>
            </a:r>
            <a:endParaRPr lang="en-US" sz="2800" dirty="0"/>
          </a:p>
        </p:txBody>
      </p:sp>
      <p:sp>
        <p:nvSpPr>
          <p:cNvPr id="23" name="a2_sub_274"/>
          <p:cNvSpPr txBox="1"/>
          <p:nvPr/>
        </p:nvSpPr>
        <p:spPr>
          <a:xfrm>
            <a:off x="8851392" y="3200400"/>
            <a:ext cx="26517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Checks for INWARD leakage</a:t>
            </a:r>
            <a:endParaRPr lang="en-US" sz="1600" dirty="0"/>
          </a:p>
        </p:txBody>
      </p:sp>
      <p:sp>
        <p:nvSpPr>
          <p:cNvPr id="24" name="a2_rbg_275"/>
          <p:cNvSpPr/>
          <p:nvPr/>
        </p:nvSpPr>
        <p:spPr>
          <a:xfrm>
            <a:off x="6428232" y="4389120"/>
            <a:ext cx="502920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25" name="a2_rl_276"/>
          <p:cNvSpPr txBox="1"/>
          <p:nvPr/>
        </p:nvSpPr>
        <p:spPr>
          <a:xfrm>
            <a:off x="6519672" y="4389120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BLOCK</a:t>
            </a:r>
            <a:endParaRPr lang="en-US" sz="1300" dirty="0"/>
          </a:p>
        </p:txBody>
      </p:sp>
      <p:sp>
        <p:nvSpPr>
          <p:cNvPr id="26" name="a2_rv_277"/>
          <p:cNvSpPr txBox="1"/>
          <p:nvPr/>
        </p:nvSpPr>
        <p:spPr>
          <a:xfrm>
            <a:off x="7708392" y="4389120"/>
            <a:ext cx="3703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intake — cartridge openings / filters (hands)</a:t>
            </a:r>
            <a:endParaRPr lang="en-US" sz="1400" dirty="0"/>
          </a:p>
        </p:txBody>
      </p:sp>
      <p:sp>
        <p:nvSpPr>
          <p:cNvPr id="27" name="a2_rbg_278"/>
          <p:cNvSpPr/>
          <p:nvPr/>
        </p:nvSpPr>
        <p:spPr>
          <a:xfrm>
            <a:off x="6428232" y="4956048"/>
            <a:ext cx="502920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28" name="a2_rl_279"/>
          <p:cNvSpPr txBox="1"/>
          <p:nvPr/>
        </p:nvSpPr>
        <p:spPr>
          <a:xfrm>
            <a:off x="6519672" y="4956048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BREATHE</a:t>
            </a:r>
            <a:endParaRPr lang="en-US" sz="1300" dirty="0"/>
          </a:p>
        </p:txBody>
      </p:sp>
      <p:sp>
        <p:nvSpPr>
          <p:cNvPr id="29" name="a2_rv_280"/>
          <p:cNvSpPr txBox="1"/>
          <p:nvPr/>
        </p:nvSpPr>
        <p:spPr>
          <a:xfrm>
            <a:off x="7708392" y="4956048"/>
            <a:ext cx="3703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Inhale gently, hold 10 seconds</a:t>
            </a:r>
            <a:endParaRPr lang="en-US" sz="1400" dirty="0"/>
          </a:p>
        </p:txBody>
      </p:sp>
      <p:sp>
        <p:nvSpPr>
          <p:cNvPr id="30" name="a2_rbg_281"/>
          <p:cNvSpPr/>
          <p:nvPr/>
        </p:nvSpPr>
        <p:spPr>
          <a:xfrm>
            <a:off x="6428232" y="5522976"/>
            <a:ext cx="502920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sp>
        <p:nvSpPr>
          <p:cNvPr id="31" name="a2_rl_282"/>
          <p:cNvSpPr txBox="1"/>
          <p:nvPr/>
        </p:nvSpPr>
        <p:spPr>
          <a:xfrm>
            <a:off x="6519672" y="5522976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LOOK FOR</a:t>
            </a:r>
            <a:endParaRPr lang="en-US" sz="1300" dirty="0"/>
          </a:p>
        </p:txBody>
      </p:sp>
      <p:sp>
        <p:nvSpPr>
          <p:cNvPr id="32" name="a2_rv_283"/>
          <p:cNvSpPr txBox="1"/>
          <p:nvPr/>
        </p:nvSpPr>
        <p:spPr>
          <a:xfrm>
            <a:off x="7708392" y="5522976"/>
            <a:ext cx="3703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Facepiece collapses inward and stays collapsed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COMMON FIT / LEAKAGE PROBLEMS</a:t>
            </a:r>
            <a:endParaRPr lang="en-US" sz="3000" dirty="0"/>
          </a:p>
        </p:txBody>
      </p:sp>
      <p:sp>
        <p:nvSpPr>
          <p:cNvPr id="3" name="a1_tile_284"/>
          <p:cNvSpPr/>
          <p:nvPr/>
        </p:nvSpPr>
        <p:spPr>
          <a:xfrm>
            <a:off x="548640" y="1234440"/>
            <a:ext cx="2057400" cy="23317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4" name="a1_iconbg_285"/>
          <p:cNvSpPr/>
          <p:nvPr/>
        </p:nvSpPr>
        <p:spPr>
          <a:xfrm>
            <a:off x="1207008" y="13716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a1_icon_286" descr="Fa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942" y="1532534"/>
            <a:ext cx="409651" cy="409651"/>
          </a:xfrm>
          <a:prstGeom prst="rect">
            <a:avLst/>
          </a:prstGeom>
        </p:spPr>
      </p:pic>
      <p:sp>
        <p:nvSpPr>
          <p:cNvPr id="6" name="a1_l_287"/>
          <p:cNvSpPr txBox="1"/>
          <p:nvPr/>
        </p:nvSpPr>
        <p:spPr>
          <a:xfrm>
            <a:off x="621792" y="2176272"/>
            <a:ext cx="1911096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Loose straps</a:t>
            </a:r>
            <a:endParaRPr lang="en-US" sz="1500" dirty="0"/>
          </a:p>
        </p:txBody>
      </p:sp>
      <p:sp>
        <p:nvSpPr>
          <p:cNvPr id="7" name="a1_h_288"/>
          <p:cNvSpPr txBox="1"/>
          <p:nvPr/>
        </p:nvSpPr>
        <p:spPr>
          <a:xfrm>
            <a:off x="658368" y="2743200"/>
            <a:ext cx="183794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Mask can move and let air past the seal</a:t>
            </a:r>
            <a:endParaRPr lang="en-US" sz="1250" dirty="0"/>
          </a:p>
        </p:txBody>
      </p:sp>
      <p:sp>
        <p:nvSpPr>
          <p:cNvPr id="8" name="a1_tile_289"/>
          <p:cNvSpPr/>
          <p:nvPr/>
        </p:nvSpPr>
        <p:spPr>
          <a:xfrm>
            <a:off x="2807208" y="1234440"/>
            <a:ext cx="2057400" cy="23317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a1_iconbg_290"/>
          <p:cNvSpPr/>
          <p:nvPr/>
        </p:nvSpPr>
        <p:spPr>
          <a:xfrm>
            <a:off x="3465576" y="13716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1_icon_291" descr="FaWi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510" y="1532534"/>
            <a:ext cx="409651" cy="409651"/>
          </a:xfrm>
          <a:prstGeom prst="rect">
            <a:avLst/>
          </a:prstGeom>
        </p:spPr>
      </p:pic>
      <p:sp>
        <p:nvSpPr>
          <p:cNvPr id="11" name="a1_l_292"/>
          <p:cNvSpPr txBox="1"/>
          <p:nvPr/>
        </p:nvSpPr>
        <p:spPr>
          <a:xfrm>
            <a:off x="2880360" y="2176272"/>
            <a:ext cx="1911096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Poor face seal</a:t>
            </a:r>
            <a:endParaRPr lang="en-US" sz="1500" dirty="0"/>
          </a:p>
        </p:txBody>
      </p:sp>
      <p:sp>
        <p:nvSpPr>
          <p:cNvPr id="12" name="a1_h_293"/>
          <p:cNvSpPr txBox="1"/>
          <p:nvPr/>
        </p:nvSpPr>
        <p:spPr>
          <a:xfrm>
            <a:off x="2916936" y="2743200"/>
            <a:ext cx="183794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Gaps between the mask and your skin</a:t>
            </a:r>
            <a:endParaRPr lang="en-US" sz="1250" dirty="0"/>
          </a:p>
        </p:txBody>
      </p:sp>
      <p:sp>
        <p:nvSpPr>
          <p:cNvPr id="13" name="a1_tile_294"/>
          <p:cNvSpPr/>
          <p:nvPr/>
        </p:nvSpPr>
        <p:spPr>
          <a:xfrm>
            <a:off x="5065776" y="1234440"/>
            <a:ext cx="2057400" cy="23317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a1_iconbg_295"/>
          <p:cNvSpPr/>
          <p:nvPr/>
        </p:nvSpPr>
        <p:spPr>
          <a:xfrm>
            <a:off x="5724144" y="13716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a1_icon_296" descr="FaHeadSideMa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078" y="1532534"/>
            <a:ext cx="409651" cy="409651"/>
          </a:xfrm>
          <a:prstGeom prst="rect">
            <a:avLst/>
          </a:prstGeom>
        </p:spPr>
      </p:pic>
      <p:sp>
        <p:nvSpPr>
          <p:cNvPr id="16" name="a1_l_297"/>
          <p:cNvSpPr txBox="1"/>
          <p:nvPr/>
        </p:nvSpPr>
        <p:spPr>
          <a:xfrm>
            <a:off x="5138928" y="2176272"/>
            <a:ext cx="1911096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Incorrect positioning</a:t>
            </a:r>
            <a:endParaRPr lang="en-US" sz="1500" dirty="0"/>
          </a:p>
        </p:txBody>
      </p:sp>
      <p:sp>
        <p:nvSpPr>
          <p:cNvPr id="17" name="a1_h_298"/>
          <p:cNvSpPr txBox="1"/>
          <p:nvPr/>
        </p:nvSpPr>
        <p:spPr>
          <a:xfrm>
            <a:off x="5175504" y="2743200"/>
            <a:ext cx="183794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Mask not sitting correctly on the face</a:t>
            </a:r>
            <a:endParaRPr lang="en-US" sz="1250" dirty="0"/>
          </a:p>
        </p:txBody>
      </p:sp>
      <p:sp>
        <p:nvSpPr>
          <p:cNvPr id="18" name="a1_tile_299"/>
          <p:cNvSpPr/>
          <p:nvPr/>
        </p:nvSpPr>
        <p:spPr>
          <a:xfrm>
            <a:off x="7324344" y="1234440"/>
            <a:ext cx="2057400" cy="23317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a1_iconbg_300"/>
          <p:cNvSpPr/>
          <p:nvPr/>
        </p:nvSpPr>
        <p:spPr>
          <a:xfrm>
            <a:off x="7982712" y="13716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1_icon_301" descr="FaTimes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646" y="1532534"/>
            <a:ext cx="409651" cy="409651"/>
          </a:xfrm>
          <a:prstGeom prst="rect">
            <a:avLst/>
          </a:prstGeom>
        </p:spPr>
      </p:pic>
      <p:sp>
        <p:nvSpPr>
          <p:cNvPr id="21" name="a1_l_302"/>
          <p:cNvSpPr txBox="1"/>
          <p:nvPr/>
        </p:nvSpPr>
        <p:spPr>
          <a:xfrm>
            <a:off x="7397496" y="2176272"/>
            <a:ext cx="1911096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Damaged mask</a:t>
            </a:r>
            <a:endParaRPr lang="en-US" sz="1500" dirty="0"/>
          </a:p>
        </p:txBody>
      </p:sp>
      <p:sp>
        <p:nvSpPr>
          <p:cNvPr id="22" name="a1_h_303"/>
          <p:cNvSpPr txBox="1"/>
          <p:nvPr/>
        </p:nvSpPr>
        <p:spPr>
          <a:xfrm>
            <a:off x="7434072" y="2743200"/>
            <a:ext cx="183794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Cracks, tears or missing parts</a:t>
            </a:r>
            <a:endParaRPr lang="en-US" sz="1250" dirty="0"/>
          </a:p>
        </p:txBody>
      </p:sp>
      <p:sp>
        <p:nvSpPr>
          <p:cNvPr id="23" name="a1_tile_304"/>
          <p:cNvSpPr/>
          <p:nvPr/>
        </p:nvSpPr>
        <p:spPr>
          <a:xfrm>
            <a:off x="9582912" y="1234440"/>
            <a:ext cx="2057400" cy="23317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a1_iconbg_305"/>
          <p:cNvSpPr/>
          <p:nvPr/>
        </p:nvSpPr>
        <p:spPr>
          <a:xfrm>
            <a:off x="10241280" y="13716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a1_icon_306" descr="FaFil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2214" y="1532534"/>
            <a:ext cx="409651" cy="409651"/>
          </a:xfrm>
          <a:prstGeom prst="rect">
            <a:avLst/>
          </a:prstGeom>
        </p:spPr>
      </p:pic>
      <p:sp>
        <p:nvSpPr>
          <p:cNvPr id="26" name="a1_l_307"/>
          <p:cNvSpPr txBox="1"/>
          <p:nvPr/>
        </p:nvSpPr>
        <p:spPr>
          <a:xfrm>
            <a:off x="9656064" y="2176272"/>
            <a:ext cx="1911096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Wrong cartridge / filter fitting</a:t>
            </a:r>
            <a:endParaRPr lang="en-US" sz="1500" dirty="0"/>
          </a:p>
        </p:txBody>
      </p:sp>
      <p:sp>
        <p:nvSpPr>
          <p:cNvPr id="27" name="a1_h_308"/>
          <p:cNvSpPr txBox="1"/>
          <p:nvPr/>
        </p:nvSpPr>
        <p:spPr>
          <a:xfrm>
            <a:off x="9692640" y="2743200"/>
            <a:ext cx="183794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Wrong type, or not fitted correctly</a:t>
            </a:r>
            <a:endParaRPr lang="en-US" sz="1250" dirty="0"/>
          </a:p>
        </p:txBody>
      </p:sp>
      <p:sp>
        <p:nvSpPr>
          <p:cNvPr id="28" name="a2_sign_309"/>
          <p:cNvSpPr txBox="1"/>
          <p:nvPr/>
        </p:nvSpPr>
        <p:spPr>
          <a:xfrm>
            <a:off x="548640" y="3749040"/>
            <a:ext cx="5440680" cy="1005840"/>
          </a:xfrm>
          <a:prstGeom prst="roundRect">
            <a:avLst>
              <a:gd name="adj" fmla="val 9091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WARNING SIGN – EXHALE TEST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 feel air escaping against your skin → the seal is broken.</a:t>
            </a:r>
            <a:endParaRPr lang="en-US" sz="1300" dirty="0"/>
          </a:p>
        </p:txBody>
      </p:sp>
      <p:sp>
        <p:nvSpPr>
          <p:cNvPr id="29" name="a2_sign_310"/>
          <p:cNvSpPr txBox="1"/>
          <p:nvPr/>
        </p:nvSpPr>
        <p:spPr>
          <a:xfrm>
            <a:off x="6199632" y="3749040"/>
            <a:ext cx="5440680" cy="1005840"/>
          </a:xfrm>
          <a:prstGeom prst="roundRect">
            <a:avLst>
              <a:gd name="adj" fmla="val 9091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</a:ln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WARNING SIGN – INHALE TEST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mask does not stay collapsed → air is leaking in from the sides.</a:t>
            </a:r>
            <a:endParaRPr lang="en-US" sz="1300" dirty="0"/>
          </a:p>
        </p:txBody>
      </p:sp>
      <p:sp>
        <p:nvSpPr>
          <p:cNvPr id="30" name="a3_ban_311"/>
          <p:cNvSpPr/>
          <p:nvPr/>
        </p:nvSpPr>
        <p:spPr>
          <a:xfrm>
            <a:off x="548640" y="4937760"/>
            <a:ext cx="11091672" cy="1234440"/>
          </a:xfrm>
          <a:prstGeom prst="roundRect">
            <a:avLst>
              <a:gd name="adj" fmla="val 7407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pic>
        <p:nvPicPr>
          <p:cNvPr id="31" name="a3_bi_31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166360"/>
            <a:ext cx="777240" cy="777240"/>
          </a:xfrm>
          <a:prstGeom prst="rect">
            <a:avLst/>
          </a:prstGeom>
        </p:spPr>
      </p:pic>
      <p:sp>
        <p:nvSpPr>
          <p:cNvPr id="32" name="a3_bt_313"/>
          <p:cNvSpPr txBox="1"/>
          <p:nvPr/>
        </p:nvSpPr>
        <p:spPr>
          <a:xfrm>
            <a:off x="1828800" y="4937760"/>
            <a:ext cx="96012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IF THE SEAL IS NOT CORRECT, THE RESPIRATOR CANNOT PROVIDE THE EXPECTED PROTECTION.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ESCAPE RESPIRATORS</a:t>
            </a:r>
            <a:endParaRPr lang="en-US" sz="3000" dirty="0"/>
          </a:p>
        </p:txBody>
      </p:sp>
      <p:sp>
        <p:nvSpPr>
          <p:cNvPr id="3" name="a1_panel_314"/>
          <p:cNvSpPr/>
          <p:nvPr/>
        </p:nvSpPr>
        <p:spPr>
          <a:xfrm>
            <a:off x="548640" y="1234440"/>
            <a:ext cx="5394960" cy="3566160"/>
          </a:xfrm>
          <a:prstGeom prst="roundRect">
            <a:avLst>
              <a:gd name="adj" fmla="val 2564"/>
            </a:avLst>
          </a:prstGeom>
          <a:solidFill>
            <a:schemeClr val="accent1">
              <a:alpha val="8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a1_hdr_315"/>
          <p:cNvSpPr txBox="1"/>
          <p:nvPr/>
        </p:nvSpPr>
        <p:spPr>
          <a:xfrm>
            <a:off x="685800" y="1371600"/>
            <a:ext cx="51206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WORK RESPIRATOR</a:t>
            </a:r>
            <a:endParaRPr lang="en-US" sz="2200" dirty="0"/>
          </a:p>
        </p:txBody>
      </p:sp>
      <p:pic>
        <p:nvPicPr>
          <p:cNvPr id="5" name="a1_photo_316" descr="t_hal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867" y="2103120"/>
            <a:ext cx="1670946" cy="2560320"/>
          </a:xfrm>
          <a:prstGeom prst="rect">
            <a:avLst/>
          </a:prstGeom>
        </p:spPr>
      </p:pic>
      <p:sp>
        <p:nvSpPr>
          <p:cNvPr id="6" name="a1_sub_317"/>
          <p:cNvSpPr txBox="1"/>
          <p:nvPr/>
        </p:nvSpPr>
        <p:spPr>
          <a:xfrm>
            <a:off x="2560320" y="2103120"/>
            <a:ext cx="32461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Full face &amp; half-mask respirators</a:t>
            </a:r>
            <a:endParaRPr lang="en-US" sz="1600" dirty="0"/>
          </a:p>
        </p:txBody>
      </p:sp>
      <p:sp>
        <p:nvSpPr>
          <p:cNvPr id="7" name="a1_b_318"/>
          <p:cNvSpPr txBox="1"/>
          <p:nvPr/>
        </p:nvSpPr>
        <p:spPr>
          <a:xfrm>
            <a:off x="2560320" y="2697480"/>
            <a:ext cx="324612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Half mask: everyday 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 face: used where harmful gases or particulate matter are present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Selected for the hazard and concentration (APF / MUC)</a:t>
            </a:r>
            <a:endParaRPr lang="en-US" sz="1400" dirty="0"/>
          </a:p>
        </p:txBody>
      </p:sp>
      <p:sp>
        <p:nvSpPr>
          <p:cNvPr id="8" name="a2_panel_319"/>
          <p:cNvSpPr/>
          <p:nvPr/>
        </p:nvSpPr>
        <p:spPr>
          <a:xfrm>
            <a:off x="6245352" y="1234440"/>
            <a:ext cx="5394960" cy="3566160"/>
          </a:xfrm>
          <a:prstGeom prst="roundRect">
            <a:avLst>
              <a:gd name="adj" fmla="val 2564"/>
            </a:avLst>
          </a:prstGeom>
          <a:solidFill>
            <a:schemeClr val="accent3">
              <a:alpha val="8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a2_hdr_320"/>
          <p:cNvSpPr txBox="1"/>
          <p:nvPr/>
        </p:nvSpPr>
        <p:spPr>
          <a:xfrm>
            <a:off x="6382512" y="1371600"/>
            <a:ext cx="512064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ESCAPE RESPIRATOR</a:t>
            </a:r>
            <a:endParaRPr lang="en-US" sz="2200" dirty="0"/>
          </a:p>
        </p:txBody>
      </p:sp>
      <p:pic>
        <p:nvPicPr>
          <p:cNvPr id="10" name="a2_photo_321" descr="t_escap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235381"/>
            <a:ext cx="1691640" cy="2295797"/>
          </a:xfrm>
          <a:prstGeom prst="rect">
            <a:avLst/>
          </a:prstGeom>
        </p:spPr>
      </p:pic>
      <p:sp>
        <p:nvSpPr>
          <p:cNvPr id="11" name="a2_sub_322"/>
          <p:cNvSpPr txBox="1"/>
          <p:nvPr/>
        </p:nvSpPr>
        <p:spPr>
          <a:xfrm>
            <a:off x="8257032" y="2103120"/>
            <a:ext cx="32461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Short term use. Emergency only.</a:t>
            </a:r>
            <a:endParaRPr lang="en-US" sz="1600" dirty="0"/>
          </a:p>
        </p:txBody>
      </p:sp>
      <p:sp>
        <p:nvSpPr>
          <p:cNvPr id="12" name="a2_b_323"/>
          <p:cNvSpPr txBox="1"/>
          <p:nvPr/>
        </p:nvSpPr>
        <p:spPr>
          <a:xfrm>
            <a:off x="8257032" y="2697480"/>
            <a:ext cx="324612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Designed for emergency 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Short-duration protection during evacuation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Emergency evacuation, fire &amp; smoke, hazardous spills / leaks</a:t>
            </a:r>
            <a:endParaRPr lang="en-US" sz="1400" dirty="0"/>
          </a:p>
        </p:txBody>
      </p:sp>
      <p:sp>
        <p:nvSpPr>
          <p:cNvPr id="13" name="a3_go_324"/>
          <p:cNvSpPr txBox="1"/>
          <p:nvPr/>
        </p:nvSpPr>
        <p:spPr>
          <a:xfrm>
            <a:off x="548640" y="4983480"/>
            <a:ext cx="539496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ESCAPE  =  GET OUT</a:t>
            </a:r>
            <a:endParaRPr lang="en-US" sz="3000" dirty="0"/>
          </a:p>
        </p:txBody>
      </p:sp>
      <p:sp>
        <p:nvSpPr>
          <p:cNvPr id="14" name="a4_no_325"/>
          <p:cNvSpPr txBox="1"/>
          <p:nvPr/>
        </p:nvSpPr>
        <p:spPr>
          <a:xfrm>
            <a:off x="6245352" y="4983480"/>
            <a:ext cx="5394960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ESCAPE  ≠  CONTINUE WORK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DONNING OF ESCAPE HOOD – NH15</a:t>
            </a:r>
            <a:endParaRPr lang="en-US" sz="3000" dirty="0"/>
          </a:p>
        </p:txBody>
      </p:sp>
      <p:sp>
        <p:nvSpPr>
          <p:cNvPr id="3" name="pc_326"/>
          <p:cNvSpPr/>
          <p:nvPr/>
        </p:nvSpPr>
        <p:spPr>
          <a:xfrm>
            <a:off x="548640" y="1234440"/>
            <a:ext cx="4754880" cy="4937760"/>
          </a:xfrm>
          <a:prstGeom prst="roundRect">
            <a:avLst>
              <a:gd name="adj" fmla="val 1923"/>
            </a:avLst>
          </a:prstGeom>
          <a:solidFill>
            <a:schemeClr val="bg1"/>
          </a:solidFill>
          <a:ln w="12700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pic>
        <p:nvPicPr>
          <p:cNvPr id="4" name="photo_327" descr="nh15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403" y="1280160"/>
            <a:ext cx="4545354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1188720"/>
            <a:ext cx="60624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AVON NH15 COMPACT ESCAPE HOOD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645920"/>
            <a:ext cx="6062472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Emergency escape hood – details from the Avon NH15 brochure (source)</a:t>
            </a:r>
            <a:endParaRPr lang="en-US" sz="1200" dirty="0"/>
          </a:p>
        </p:txBody>
      </p:sp>
      <p:sp>
        <p:nvSpPr>
          <p:cNvPr id="7" name="a1_stat_328"/>
          <p:cNvSpPr txBox="1"/>
          <p:nvPr/>
        </p:nvSpPr>
        <p:spPr>
          <a:xfrm>
            <a:off x="5577840" y="2057400"/>
            <a:ext cx="1901952" cy="1234440"/>
          </a:xfrm>
          <a:prstGeom prst="roundRect">
            <a:avLst>
              <a:gd name="adj" fmla="val 7407"/>
            </a:avLst>
          </a:prstGeom>
          <a:solidFill>
            <a:schemeClr val="accent1">
              <a:alpha val="10000"/>
            </a:schemeClr>
          </a:solidFill>
          <a:ln w="19050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&lt; 30 s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Don in less than 30 seconds</a:t>
            </a:r>
            <a:endParaRPr lang="en-US" sz="3000" dirty="0"/>
          </a:p>
        </p:txBody>
      </p:sp>
      <p:sp>
        <p:nvSpPr>
          <p:cNvPr id="8" name="a1_stat_329"/>
          <p:cNvSpPr txBox="1"/>
          <p:nvPr/>
        </p:nvSpPr>
        <p:spPr>
          <a:xfrm>
            <a:off x="7635240" y="2057400"/>
            <a:ext cx="1901952" cy="1234440"/>
          </a:xfrm>
          <a:prstGeom prst="roundRect">
            <a:avLst>
              <a:gd name="adj" fmla="val 7407"/>
            </a:avLst>
          </a:prstGeom>
          <a:solidFill>
            <a:schemeClr val="accent3">
              <a:alpha val="10000"/>
            </a:schemeClr>
          </a:solidFill>
          <a:ln w="19050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15 min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Minimum protection to evacuate</a:t>
            </a:r>
            <a:endParaRPr lang="en-US" sz="3000" dirty="0"/>
          </a:p>
        </p:txBody>
      </p:sp>
      <p:sp>
        <p:nvSpPr>
          <p:cNvPr id="9" name="a1_stat_330"/>
          <p:cNvSpPr txBox="1"/>
          <p:nvPr/>
        </p:nvSpPr>
        <p:spPr>
          <a:xfrm>
            <a:off x="9692640" y="2057400"/>
            <a:ext cx="1901952" cy="1234440"/>
          </a:xfrm>
          <a:prstGeom prst="roundRect">
            <a:avLst>
              <a:gd name="adj" fmla="val 7407"/>
            </a:avLst>
          </a:prstGeom>
          <a:solidFill>
            <a:schemeClr val="accent2">
              <a:alpha val="10000"/>
            </a:schemeClr>
          </a:solidFill>
          <a:ln w="1905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5 yr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Shelf life</a:t>
            </a:r>
            <a:endParaRPr lang="en-US" sz="3000" dirty="0"/>
          </a:p>
        </p:txBody>
      </p:sp>
      <p:graphicFrame>
        <p:nvGraphicFramePr>
          <p:cNvPr id="17" name="a2_tbl_3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3474720"/>
          <a:ext cx="60624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3192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Packaged size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3.4" × 4.0" × 6.0"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Weight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625 g (23 oz)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NIOSH certified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TC-14G-0302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Approved for CE marking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PPE Regulation 2016/425/EU – Module B: Certificate CE 684846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Clear hood – all-round vision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Full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Self-adjusting harness / anti-fog visor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Yes / Yes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Filter protrusion from face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2"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Batteries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a2_n_332"/>
          <p:cNvSpPr txBox="1"/>
          <p:nvPr/>
        </p:nvSpPr>
        <p:spPr>
          <a:xfrm>
            <a:off x="5577840" y="5897880"/>
            <a:ext cx="60624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Word source also states: 100 min chemical breakthrough vs 5,000 ppm H₂S — a filter test figure, not extra working time.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NH15 DONNING – STEP-BY-STEP</a:t>
            </a:r>
            <a:endParaRPr lang="en-US" sz="3000" dirty="0"/>
          </a:p>
        </p:txBody>
      </p:sp>
      <p:sp>
        <p:nvSpPr>
          <p:cNvPr id="3" name="a1_frame_333"/>
          <p:cNvSpPr/>
          <p:nvPr/>
        </p:nvSpPr>
        <p:spPr>
          <a:xfrm>
            <a:off x="548640" y="1188720"/>
            <a:ext cx="2587752" cy="237744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4" name="a1_photo_334" descr="nh15_pa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48970"/>
            <a:ext cx="2496312" cy="2256940"/>
          </a:xfrm>
          <a:prstGeom prst="rect">
            <a:avLst/>
          </a:prstGeom>
        </p:spPr>
      </p:pic>
      <p:sp>
        <p:nvSpPr>
          <p:cNvPr id="5" name="a1_sn_335"/>
          <p:cNvSpPr txBox="1"/>
          <p:nvPr/>
        </p:nvSpPr>
        <p:spPr>
          <a:xfrm>
            <a:off x="548640" y="3675888"/>
            <a:ext cx="25877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STEP 1</a:t>
            </a:r>
            <a:endParaRPr lang="en-US" sz="1300" dirty="0"/>
          </a:p>
        </p:txBody>
      </p:sp>
      <p:sp>
        <p:nvSpPr>
          <p:cNvPr id="6" name="a1_t_336"/>
          <p:cNvSpPr txBox="1"/>
          <p:nvPr/>
        </p:nvSpPr>
        <p:spPr>
          <a:xfrm>
            <a:off x="548640" y="3977640"/>
            <a:ext cx="258775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OPEN</a:t>
            </a:r>
            <a:endParaRPr lang="en-US" sz="2200" dirty="0"/>
          </a:p>
        </p:txBody>
      </p:sp>
      <p:sp>
        <p:nvSpPr>
          <p:cNvPr id="7" name="a1_d_337"/>
          <p:cNvSpPr txBox="1"/>
          <p:nvPr/>
        </p:nvSpPr>
        <p:spPr>
          <a:xfrm>
            <a:off x="548640" y="4434840"/>
            <a:ext cx="2587752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the protective packaging.</a:t>
            </a:r>
            <a:endParaRPr lang="en-US" sz="1400" dirty="0"/>
          </a:p>
        </p:txBody>
      </p:sp>
      <p:sp>
        <p:nvSpPr>
          <p:cNvPr id="8" name="a2_frame_338"/>
          <p:cNvSpPr/>
          <p:nvPr/>
        </p:nvSpPr>
        <p:spPr>
          <a:xfrm>
            <a:off x="3383280" y="1188720"/>
            <a:ext cx="2587752" cy="237744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9" name="a2_photo_339" descr="nh15_pho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138" y="1234440"/>
            <a:ext cx="2144035" cy="2286000"/>
          </a:xfrm>
          <a:prstGeom prst="rect">
            <a:avLst/>
          </a:prstGeom>
        </p:spPr>
      </p:pic>
      <p:sp>
        <p:nvSpPr>
          <p:cNvPr id="10" name="a2_sn_340"/>
          <p:cNvSpPr txBox="1"/>
          <p:nvPr/>
        </p:nvSpPr>
        <p:spPr>
          <a:xfrm>
            <a:off x="3383280" y="3675888"/>
            <a:ext cx="25877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STEP 2</a:t>
            </a:r>
            <a:endParaRPr lang="en-US" sz="1300" dirty="0"/>
          </a:p>
        </p:txBody>
      </p:sp>
      <p:sp>
        <p:nvSpPr>
          <p:cNvPr id="11" name="a2_t_341"/>
          <p:cNvSpPr txBox="1"/>
          <p:nvPr/>
        </p:nvSpPr>
        <p:spPr>
          <a:xfrm>
            <a:off x="3383280" y="3977640"/>
            <a:ext cx="258775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DON</a:t>
            </a:r>
            <a:endParaRPr lang="en-US" sz="2200" dirty="0"/>
          </a:p>
        </p:txBody>
      </p:sp>
      <p:sp>
        <p:nvSpPr>
          <p:cNvPr id="12" name="a2_d_342"/>
          <p:cNvSpPr txBox="1"/>
          <p:nvPr/>
        </p:nvSpPr>
        <p:spPr>
          <a:xfrm>
            <a:off x="3383280" y="4434840"/>
            <a:ext cx="2587752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Put on the reflective hood — in less than 30 seconds.</a:t>
            </a:r>
            <a:endParaRPr lang="en-US" sz="1400" dirty="0"/>
          </a:p>
        </p:txBody>
      </p:sp>
      <p:sp>
        <p:nvSpPr>
          <p:cNvPr id="13" name="a3_frame_343"/>
          <p:cNvSpPr/>
          <p:nvPr/>
        </p:nvSpPr>
        <p:spPr>
          <a:xfrm>
            <a:off x="6217920" y="1188720"/>
            <a:ext cx="2587752" cy="2377440"/>
          </a:xfrm>
          <a:prstGeom prst="roundRect">
            <a:avLst>
              <a:gd name="adj" fmla="val 2308"/>
            </a:avLst>
          </a:prstGeom>
          <a:solidFill>
            <a:schemeClr val="accent1">
              <a:alpha val="1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4" name="a3_ic_34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1691640"/>
            <a:ext cx="1371600" cy="1371600"/>
          </a:xfrm>
          <a:prstGeom prst="rect">
            <a:avLst/>
          </a:prstGeom>
        </p:spPr>
      </p:pic>
      <p:sp>
        <p:nvSpPr>
          <p:cNvPr id="15" name="a3_sn_345"/>
          <p:cNvSpPr txBox="1"/>
          <p:nvPr/>
        </p:nvSpPr>
        <p:spPr>
          <a:xfrm>
            <a:off x="6217920" y="3675888"/>
            <a:ext cx="25877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STEP 3</a:t>
            </a:r>
            <a:endParaRPr lang="en-US" sz="1300" dirty="0"/>
          </a:p>
        </p:txBody>
      </p:sp>
      <p:sp>
        <p:nvSpPr>
          <p:cNvPr id="16" name="a3_t_346"/>
          <p:cNvSpPr txBox="1"/>
          <p:nvPr/>
        </p:nvSpPr>
        <p:spPr>
          <a:xfrm>
            <a:off x="6217920" y="3977640"/>
            <a:ext cx="258775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FIT</a:t>
            </a:r>
            <a:endParaRPr lang="en-US" sz="2200" dirty="0"/>
          </a:p>
        </p:txBody>
      </p:sp>
      <p:sp>
        <p:nvSpPr>
          <p:cNvPr id="17" name="a3_d_347"/>
          <p:cNvSpPr txBox="1"/>
          <p:nvPr/>
        </p:nvSpPr>
        <p:spPr>
          <a:xfrm>
            <a:off x="6217920" y="4434840"/>
            <a:ext cx="2587752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self-adjusting harness helps give a correctly fitted hood.</a:t>
            </a:r>
            <a:endParaRPr lang="en-US" sz="1400" dirty="0"/>
          </a:p>
        </p:txBody>
      </p:sp>
      <p:sp>
        <p:nvSpPr>
          <p:cNvPr id="18" name="a4_frame_348"/>
          <p:cNvSpPr/>
          <p:nvPr/>
        </p:nvSpPr>
        <p:spPr>
          <a:xfrm>
            <a:off x="9052560" y="1188720"/>
            <a:ext cx="2587752" cy="2377440"/>
          </a:xfrm>
          <a:prstGeom prst="roundRect">
            <a:avLst>
              <a:gd name="adj" fmla="val 2308"/>
            </a:avLst>
          </a:prstGeom>
          <a:solidFill>
            <a:schemeClr val="accent2">
              <a:alpha val="10000"/>
            </a:schemeClr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19" name="a4_ic_34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1691640"/>
            <a:ext cx="1371600" cy="1371600"/>
          </a:xfrm>
          <a:prstGeom prst="rect">
            <a:avLst/>
          </a:prstGeom>
        </p:spPr>
      </p:pic>
      <p:sp>
        <p:nvSpPr>
          <p:cNvPr id="20" name="a4_sn_350"/>
          <p:cNvSpPr txBox="1"/>
          <p:nvPr/>
        </p:nvSpPr>
        <p:spPr>
          <a:xfrm>
            <a:off x="9052560" y="3675888"/>
            <a:ext cx="258775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STEP 4</a:t>
            </a:r>
            <a:endParaRPr lang="en-US" sz="1300" dirty="0"/>
          </a:p>
        </p:txBody>
      </p:sp>
      <p:sp>
        <p:nvSpPr>
          <p:cNvPr id="21" name="a4_t_351"/>
          <p:cNvSpPr txBox="1"/>
          <p:nvPr/>
        </p:nvSpPr>
        <p:spPr>
          <a:xfrm>
            <a:off x="9052560" y="3977640"/>
            <a:ext cx="258775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EVACUATE</a:t>
            </a:r>
            <a:endParaRPr lang="en-US" sz="2200" dirty="0"/>
          </a:p>
        </p:txBody>
      </p:sp>
      <p:sp>
        <p:nvSpPr>
          <p:cNvPr id="22" name="a4_d_352"/>
          <p:cNvSpPr txBox="1"/>
          <p:nvPr/>
        </p:nvSpPr>
        <p:spPr>
          <a:xfrm>
            <a:off x="9052560" y="4434840"/>
            <a:ext cx="2587752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Get out of the contaminated area. Minimum 15 minutes of protection to evacuate.</a:t>
            </a:r>
            <a:endParaRPr lang="en-US" sz="1400" dirty="0"/>
          </a:p>
        </p:txBody>
      </p:sp>
      <p:sp>
        <p:nvSpPr>
          <p:cNvPr id="23" name="a5_ban_353"/>
          <p:cNvSpPr txBox="1"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FOLLOW THE MANUFACTURER’S APPROVED DONNING PROCEDURE.</a:t>
            </a:r>
            <a:endParaRPr lang="en-US" sz="20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Detailed hand-by-hand donning steps are not shown in the source material — steps above use only what the source states.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 / DO NOT</a:t>
            </a:r>
            <a:endParaRPr lang="en-US" sz="3000" dirty="0"/>
          </a:p>
        </p:txBody>
      </p:sp>
      <p:sp>
        <p:nvSpPr>
          <p:cNvPr id="3" name="a1_panel_354"/>
          <p:cNvSpPr/>
          <p:nvPr/>
        </p:nvSpPr>
        <p:spPr>
          <a:xfrm>
            <a:off x="548640" y="1234440"/>
            <a:ext cx="5394960" cy="4937760"/>
          </a:xfrm>
          <a:prstGeom prst="roundRect">
            <a:avLst>
              <a:gd name="adj" fmla="val 1852"/>
            </a:avLst>
          </a:prstGeom>
          <a:solidFill>
            <a:schemeClr val="accent2">
              <a:alpha val="8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a1_hb_355"/>
          <p:cNvSpPr/>
          <p:nvPr/>
        </p:nvSpPr>
        <p:spPr>
          <a:xfrm>
            <a:off x="685800" y="1371600"/>
            <a:ext cx="512064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pic>
        <p:nvPicPr>
          <p:cNvPr id="5" name="a1_hi_35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548640" cy="548640"/>
          </a:xfrm>
          <a:prstGeom prst="rect">
            <a:avLst/>
          </a:prstGeom>
        </p:spPr>
      </p:pic>
      <p:sp>
        <p:nvSpPr>
          <p:cNvPr id="6" name="a1_ht_357"/>
          <p:cNvSpPr txBox="1"/>
          <p:nvPr/>
        </p:nvSpPr>
        <p:spPr>
          <a:xfrm>
            <a:off x="1645920" y="1371600"/>
            <a:ext cx="4023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DO</a:t>
            </a:r>
            <a:endParaRPr lang="en-US" sz="3000" dirty="0"/>
          </a:p>
        </p:txBody>
      </p:sp>
      <p:pic>
        <p:nvPicPr>
          <p:cNvPr id="7" name="a1_ri_35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92680"/>
            <a:ext cx="411480" cy="411480"/>
          </a:xfrm>
          <a:prstGeom prst="rect">
            <a:avLst/>
          </a:prstGeom>
        </p:spPr>
      </p:pic>
      <p:sp>
        <p:nvSpPr>
          <p:cNvPr id="8" name="a1_rt_359"/>
          <p:cNvSpPr txBox="1"/>
          <p:nvPr/>
        </p:nvSpPr>
        <p:spPr>
          <a:xfrm>
            <a:off x="1417320" y="2286000"/>
            <a:ext cx="4389120" cy="62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Inspect before use</a:t>
            </a:r>
            <a:endParaRPr lang="en-US" sz="1700" dirty="0"/>
          </a:p>
        </p:txBody>
      </p:sp>
      <p:pic>
        <p:nvPicPr>
          <p:cNvPr id="9" name="a1_ri_36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17520"/>
            <a:ext cx="411480" cy="411480"/>
          </a:xfrm>
          <a:prstGeom prst="rect">
            <a:avLst/>
          </a:prstGeom>
        </p:spPr>
      </p:pic>
      <p:sp>
        <p:nvSpPr>
          <p:cNvPr id="10" name="a1_rt_361"/>
          <p:cNvSpPr txBox="1"/>
          <p:nvPr/>
        </p:nvSpPr>
        <p:spPr>
          <a:xfrm>
            <a:off x="1417320" y="2910840"/>
            <a:ext cx="4389120" cy="62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Check the seal</a:t>
            </a:r>
            <a:endParaRPr lang="en-US" sz="1700" dirty="0"/>
          </a:p>
        </p:txBody>
      </p:sp>
      <p:pic>
        <p:nvPicPr>
          <p:cNvPr id="11" name="a1_ri_36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42360"/>
            <a:ext cx="411480" cy="411480"/>
          </a:xfrm>
          <a:prstGeom prst="rect">
            <a:avLst/>
          </a:prstGeom>
        </p:spPr>
      </p:pic>
      <p:sp>
        <p:nvSpPr>
          <p:cNvPr id="12" name="a1_rt_363"/>
          <p:cNvSpPr txBox="1"/>
          <p:nvPr/>
        </p:nvSpPr>
        <p:spPr>
          <a:xfrm>
            <a:off x="1417320" y="3535680"/>
            <a:ext cx="4389120" cy="62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Perform the required pre-use test</a:t>
            </a:r>
            <a:endParaRPr lang="en-US" sz="1700" dirty="0"/>
          </a:p>
        </p:txBody>
      </p:sp>
      <p:pic>
        <p:nvPicPr>
          <p:cNvPr id="13" name="a1_ri_36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67200"/>
            <a:ext cx="411480" cy="411480"/>
          </a:xfrm>
          <a:prstGeom prst="rect">
            <a:avLst/>
          </a:prstGeom>
        </p:spPr>
      </p:pic>
      <p:sp>
        <p:nvSpPr>
          <p:cNvPr id="14" name="a1_rt_365"/>
          <p:cNvSpPr txBox="1"/>
          <p:nvPr/>
        </p:nvSpPr>
        <p:spPr>
          <a:xfrm>
            <a:off x="1417320" y="4160520"/>
            <a:ext cx="4389120" cy="62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Use the correct cartridge / filter</a:t>
            </a:r>
            <a:endParaRPr lang="en-US" sz="1700" dirty="0"/>
          </a:p>
        </p:txBody>
      </p:sp>
      <p:pic>
        <p:nvPicPr>
          <p:cNvPr id="15" name="a1_ri_36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892040"/>
            <a:ext cx="411480" cy="411480"/>
          </a:xfrm>
          <a:prstGeom prst="rect">
            <a:avLst/>
          </a:prstGeom>
        </p:spPr>
      </p:pic>
      <p:sp>
        <p:nvSpPr>
          <p:cNvPr id="16" name="a1_rt_367"/>
          <p:cNvSpPr txBox="1"/>
          <p:nvPr/>
        </p:nvSpPr>
        <p:spPr>
          <a:xfrm>
            <a:off x="1417320" y="4785360"/>
            <a:ext cx="4389120" cy="62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Check the atmosphere</a:t>
            </a:r>
            <a:endParaRPr lang="en-US" sz="1700" dirty="0"/>
          </a:p>
        </p:txBody>
      </p:sp>
      <p:pic>
        <p:nvPicPr>
          <p:cNvPr id="17" name="a1_ri_36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516880"/>
            <a:ext cx="411480" cy="411480"/>
          </a:xfrm>
          <a:prstGeom prst="rect">
            <a:avLst/>
          </a:prstGeom>
        </p:spPr>
      </p:pic>
      <p:sp>
        <p:nvSpPr>
          <p:cNvPr id="18" name="a1_rt_369"/>
          <p:cNvSpPr txBox="1"/>
          <p:nvPr/>
        </p:nvSpPr>
        <p:spPr>
          <a:xfrm>
            <a:off x="1417320" y="5410200"/>
            <a:ext cx="4389120" cy="62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Follow the approved procedure</a:t>
            </a:r>
            <a:endParaRPr lang="en-US" sz="1700" dirty="0"/>
          </a:p>
        </p:txBody>
      </p:sp>
      <p:sp>
        <p:nvSpPr>
          <p:cNvPr id="19" name="a2_panel_370"/>
          <p:cNvSpPr/>
          <p:nvPr/>
        </p:nvSpPr>
        <p:spPr>
          <a:xfrm>
            <a:off x="6245352" y="1234440"/>
            <a:ext cx="5394960" cy="4937760"/>
          </a:xfrm>
          <a:prstGeom prst="roundRect">
            <a:avLst>
              <a:gd name="adj" fmla="val 1852"/>
            </a:avLst>
          </a:prstGeom>
          <a:solidFill>
            <a:schemeClr val="accent4">
              <a:alpha val="8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20" name="a2_hb_371"/>
          <p:cNvSpPr/>
          <p:nvPr/>
        </p:nvSpPr>
        <p:spPr>
          <a:xfrm>
            <a:off x="6382512" y="1371600"/>
            <a:ext cx="512064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</p:sp>
      <p:pic>
        <p:nvPicPr>
          <p:cNvPr id="21" name="a2_hi_37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1463040"/>
            <a:ext cx="548640" cy="548640"/>
          </a:xfrm>
          <a:prstGeom prst="rect">
            <a:avLst/>
          </a:prstGeom>
        </p:spPr>
      </p:pic>
      <p:sp>
        <p:nvSpPr>
          <p:cNvPr id="22" name="a2_ht_373"/>
          <p:cNvSpPr txBox="1"/>
          <p:nvPr/>
        </p:nvSpPr>
        <p:spPr>
          <a:xfrm>
            <a:off x="7342632" y="1371600"/>
            <a:ext cx="4023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DO NOT</a:t>
            </a:r>
            <a:endParaRPr lang="en-US" sz="3000" dirty="0"/>
          </a:p>
        </p:txBody>
      </p:sp>
      <p:pic>
        <p:nvPicPr>
          <p:cNvPr id="23" name="a2_ri_37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2455164"/>
            <a:ext cx="411480" cy="411480"/>
          </a:xfrm>
          <a:prstGeom prst="rect">
            <a:avLst/>
          </a:prstGeom>
        </p:spPr>
      </p:pic>
      <p:sp>
        <p:nvSpPr>
          <p:cNvPr id="24" name="a2_rt_375"/>
          <p:cNvSpPr txBox="1"/>
          <p:nvPr/>
        </p:nvSpPr>
        <p:spPr>
          <a:xfrm>
            <a:off x="7114032" y="2286000"/>
            <a:ext cx="438912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Use damaged equipment</a:t>
            </a:r>
            <a:endParaRPr lang="en-US" sz="1700" dirty="0"/>
          </a:p>
        </p:txBody>
      </p:sp>
      <p:pic>
        <p:nvPicPr>
          <p:cNvPr id="25" name="a2_ri_37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9672" y="3204972"/>
            <a:ext cx="411480" cy="411480"/>
          </a:xfrm>
          <a:prstGeom prst="rect">
            <a:avLst/>
          </a:prstGeom>
        </p:spPr>
      </p:pic>
      <p:sp>
        <p:nvSpPr>
          <p:cNvPr id="26" name="a2_rt_377"/>
          <p:cNvSpPr txBox="1"/>
          <p:nvPr/>
        </p:nvSpPr>
        <p:spPr>
          <a:xfrm>
            <a:off x="7114032" y="3035808"/>
            <a:ext cx="438912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Ignore leakage</a:t>
            </a:r>
            <a:endParaRPr lang="en-US" sz="1700" dirty="0"/>
          </a:p>
        </p:txBody>
      </p:sp>
      <p:pic>
        <p:nvPicPr>
          <p:cNvPr id="27" name="a2_ri_37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9672" y="3954780"/>
            <a:ext cx="411480" cy="411480"/>
          </a:xfrm>
          <a:prstGeom prst="rect">
            <a:avLst/>
          </a:prstGeom>
        </p:spPr>
      </p:pic>
      <p:sp>
        <p:nvSpPr>
          <p:cNvPr id="28" name="a2_rt_379"/>
          <p:cNvSpPr txBox="1"/>
          <p:nvPr/>
        </p:nvSpPr>
        <p:spPr>
          <a:xfrm>
            <a:off x="7114032" y="3785616"/>
            <a:ext cx="438912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Use the wrong cartridge</a:t>
            </a:r>
            <a:endParaRPr lang="en-US" sz="1700" dirty="0"/>
          </a:p>
        </p:txBody>
      </p:sp>
      <p:pic>
        <p:nvPicPr>
          <p:cNvPr id="29" name="a2_ri_38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9672" y="4704588"/>
            <a:ext cx="411480" cy="411480"/>
          </a:xfrm>
          <a:prstGeom prst="rect">
            <a:avLst/>
          </a:prstGeom>
        </p:spPr>
      </p:pic>
      <p:sp>
        <p:nvSpPr>
          <p:cNvPr id="30" name="a2_rt_381"/>
          <p:cNvSpPr txBox="1"/>
          <p:nvPr/>
        </p:nvSpPr>
        <p:spPr>
          <a:xfrm>
            <a:off x="7114032" y="4535424"/>
            <a:ext cx="438912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Assume the mask makes an unsafe atmosphere safe</a:t>
            </a:r>
            <a:endParaRPr lang="en-US" sz="1700" dirty="0"/>
          </a:p>
        </p:txBody>
      </p:sp>
      <p:pic>
        <p:nvPicPr>
          <p:cNvPr id="31" name="a2_ri_38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9672" y="5454396"/>
            <a:ext cx="411480" cy="411480"/>
          </a:xfrm>
          <a:prstGeom prst="rect">
            <a:avLst/>
          </a:prstGeom>
        </p:spPr>
      </p:pic>
      <p:sp>
        <p:nvSpPr>
          <p:cNvPr id="32" name="a2_rt_383"/>
          <p:cNvSpPr txBox="1"/>
          <p:nvPr/>
        </p:nvSpPr>
        <p:spPr>
          <a:xfrm>
            <a:off x="7114032" y="5285232"/>
            <a:ext cx="438912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Continue using equipment that fails the required check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QUICK KNOWLEDGE CHECK</a:t>
            </a:r>
            <a:endParaRPr lang="en-US" sz="3000" dirty="0"/>
          </a:p>
        </p:txBody>
      </p:sp>
      <p:sp>
        <p:nvSpPr>
          <p:cNvPr id="3" name="qbg_384"/>
          <p:cNvSpPr/>
          <p:nvPr/>
        </p:nvSpPr>
        <p:spPr>
          <a:xfrm>
            <a:off x="548640" y="1234440"/>
            <a:ext cx="11091672" cy="886968"/>
          </a:xfrm>
          <a:prstGeom prst="roundRect">
            <a:avLst>
              <a:gd name="adj" fmla="val 10309"/>
            </a:avLst>
          </a:prstGeom>
          <a:solidFill>
            <a:schemeClr val="bg2"/>
          </a:solidFill>
          <a:ln/>
        </p:spPr>
      </p:sp>
      <p:sp>
        <p:nvSpPr>
          <p:cNvPr id="4" name="num_385"/>
          <p:cNvSpPr txBox="1"/>
          <p:nvPr/>
        </p:nvSpPr>
        <p:spPr>
          <a:xfrm>
            <a:off x="713232" y="139903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289304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does APF stand for?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91640"/>
            <a:ext cx="78638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A) Air Pressure Factor     B) Assigned Protection Factor     C) Approved Purification Filter</a:t>
            </a:r>
            <a:endParaRPr lang="en-US" sz="1400" dirty="0"/>
          </a:p>
        </p:txBody>
      </p:sp>
      <p:sp>
        <p:nvSpPr>
          <p:cNvPr id="7" name="a1_ans_386"/>
          <p:cNvSpPr txBox="1"/>
          <p:nvPr/>
        </p:nvSpPr>
        <p:spPr>
          <a:xfrm>
            <a:off x="9509760" y="1399032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Answer: B</a:t>
            </a:r>
            <a:endParaRPr lang="en-US" sz="1700" dirty="0"/>
          </a:p>
        </p:txBody>
      </p:sp>
      <p:sp>
        <p:nvSpPr>
          <p:cNvPr id="8" name="qbg_387"/>
          <p:cNvSpPr/>
          <p:nvPr/>
        </p:nvSpPr>
        <p:spPr>
          <a:xfrm>
            <a:off x="548640" y="2231136"/>
            <a:ext cx="11091672" cy="886968"/>
          </a:xfrm>
          <a:prstGeom prst="roundRect">
            <a:avLst>
              <a:gd name="adj" fmla="val 10309"/>
            </a:avLst>
          </a:prstGeom>
          <a:solidFill>
            <a:schemeClr val="bg2"/>
          </a:solidFill>
          <a:ln/>
        </p:spPr>
      </p:sp>
      <p:sp>
        <p:nvSpPr>
          <p:cNvPr id="9" name="num_388"/>
          <p:cNvSpPr txBox="1"/>
          <p:nvPr/>
        </p:nvSpPr>
        <p:spPr>
          <a:xfrm>
            <a:off x="713232" y="239572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286000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Which gives greater facial coverage?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688336"/>
            <a:ext cx="78638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A) Full face respirator     B) Half-mask respirator</a:t>
            </a:r>
            <a:endParaRPr lang="en-US" sz="1400" dirty="0"/>
          </a:p>
        </p:txBody>
      </p:sp>
      <p:sp>
        <p:nvSpPr>
          <p:cNvPr id="12" name="a2_ans_389"/>
          <p:cNvSpPr txBox="1"/>
          <p:nvPr/>
        </p:nvSpPr>
        <p:spPr>
          <a:xfrm>
            <a:off x="9509760" y="2395728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Answer: A</a:t>
            </a:r>
            <a:endParaRPr lang="en-US" sz="1700" dirty="0"/>
          </a:p>
        </p:txBody>
      </p:sp>
      <p:sp>
        <p:nvSpPr>
          <p:cNvPr id="13" name="qbg_390"/>
          <p:cNvSpPr/>
          <p:nvPr/>
        </p:nvSpPr>
        <p:spPr>
          <a:xfrm>
            <a:off x="548640" y="3227832"/>
            <a:ext cx="11091672" cy="886968"/>
          </a:xfrm>
          <a:prstGeom prst="roundRect">
            <a:avLst>
              <a:gd name="adj" fmla="val 10309"/>
            </a:avLst>
          </a:prstGeom>
          <a:solidFill>
            <a:schemeClr val="bg2"/>
          </a:solidFill>
          <a:ln/>
        </p:spPr>
      </p:sp>
      <p:sp>
        <p:nvSpPr>
          <p:cNvPr id="14" name="num_391"/>
          <p:cNvSpPr txBox="1"/>
          <p:nvPr/>
        </p:nvSpPr>
        <p:spPr>
          <a:xfrm>
            <a:off x="713232" y="339242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282696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is MUC?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685032"/>
            <a:ext cx="78638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A) Minimum Use Cartridge     B) Maximum Use Concentration     C) Mask Use Check</a:t>
            </a:r>
            <a:endParaRPr lang="en-US" sz="1400" dirty="0"/>
          </a:p>
        </p:txBody>
      </p:sp>
      <p:sp>
        <p:nvSpPr>
          <p:cNvPr id="17" name="a3_ans_392"/>
          <p:cNvSpPr txBox="1"/>
          <p:nvPr/>
        </p:nvSpPr>
        <p:spPr>
          <a:xfrm>
            <a:off x="9509760" y="3392424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Answer: B</a:t>
            </a:r>
            <a:endParaRPr lang="en-US" sz="1700" dirty="0"/>
          </a:p>
        </p:txBody>
      </p:sp>
      <p:sp>
        <p:nvSpPr>
          <p:cNvPr id="18" name="qbg_393"/>
          <p:cNvSpPr/>
          <p:nvPr/>
        </p:nvSpPr>
        <p:spPr>
          <a:xfrm>
            <a:off x="548640" y="4224528"/>
            <a:ext cx="11091672" cy="886968"/>
          </a:xfrm>
          <a:prstGeom prst="roundRect">
            <a:avLst>
              <a:gd name="adj" fmla="val 10309"/>
            </a:avLst>
          </a:prstGeom>
          <a:solidFill>
            <a:schemeClr val="bg2"/>
          </a:solidFill>
          <a:ln/>
        </p:spPr>
      </p:sp>
      <p:sp>
        <p:nvSpPr>
          <p:cNvPr id="19" name="num_394"/>
          <p:cNvSpPr txBox="1"/>
          <p:nvPr/>
        </p:nvSpPr>
        <p:spPr>
          <a:xfrm>
            <a:off x="713232" y="43891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279392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is the purpose of the positive pressure (exhale) test?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681728"/>
            <a:ext cx="78638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A) Check the cartridge date     B) Check the face seal for leaks     C) Measure the gas</a:t>
            </a:r>
            <a:endParaRPr lang="en-US" sz="1400" dirty="0"/>
          </a:p>
        </p:txBody>
      </p:sp>
      <p:sp>
        <p:nvSpPr>
          <p:cNvPr id="22" name="a4_ans_395"/>
          <p:cNvSpPr txBox="1"/>
          <p:nvPr/>
        </p:nvSpPr>
        <p:spPr>
          <a:xfrm>
            <a:off x="9509760" y="438912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Answer: B</a:t>
            </a:r>
            <a:endParaRPr lang="en-US" sz="1700" dirty="0"/>
          </a:p>
        </p:txBody>
      </p:sp>
      <p:sp>
        <p:nvSpPr>
          <p:cNvPr id="23" name="qbg_396"/>
          <p:cNvSpPr/>
          <p:nvPr/>
        </p:nvSpPr>
        <p:spPr>
          <a:xfrm>
            <a:off x="548640" y="5221224"/>
            <a:ext cx="11091672" cy="886968"/>
          </a:xfrm>
          <a:prstGeom prst="roundRect">
            <a:avLst>
              <a:gd name="adj" fmla="val 10309"/>
            </a:avLst>
          </a:prstGeom>
          <a:solidFill>
            <a:schemeClr val="bg2"/>
          </a:solidFill>
          <a:ln/>
        </p:spPr>
      </p:sp>
      <p:sp>
        <p:nvSpPr>
          <p:cNvPr id="24" name="num_397"/>
          <p:cNvSpPr txBox="1"/>
          <p:nvPr/>
        </p:nvSpPr>
        <p:spPr>
          <a:xfrm>
            <a:off x="713232" y="5385816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527608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 an escape respirator meant for normal, continuous work?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5678424"/>
            <a:ext cx="78638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A) Yes     B) No — it is for emergency escape only</a:t>
            </a:r>
            <a:endParaRPr lang="en-US" sz="1400" dirty="0"/>
          </a:p>
        </p:txBody>
      </p:sp>
      <p:sp>
        <p:nvSpPr>
          <p:cNvPr id="27" name="a5_ans_398"/>
          <p:cNvSpPr txBox="1"/>
          <p:nvPr/>
        </p:nvSpPr>
        <p:spPr>
          <a:xfrm>
            <a:off x="9509760" y="5385816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Answer: B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7" grpId="0" animBg="1"/>
      <p:bldP spid="22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a1_rb_399"/>
          <p:cNvSpPr/>
          <p:nvPr/>
        </p:nvSpPr>
        <p:spPr>
          <a:xfrm>
            <a:off x="548640" y="160020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4" name="a1_num_400"/>
          <p:cNvSpPr txBox="1"/>
          <p:nvPr/>
        </p:nvSpPr>
        <p:spPr>
          <a:xfrm>
            <a:off x="658368" y="170078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a1_t_401"/>
          <p:cNvSpPr txBox="1"/>
          <p:nvPr/>
        </p:nvSpPr>
        <p:spPr>
          <a:xfrm>
            <a:off x="1371600" y="1600200"/>
            <a:ext cx="4480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Know the hazard.</a:t>
            </a:r>
            <a:endParaRPr lang="en-US" sz="1900" dirty="0"/>
          </a:p>
        </p:txBody>
      </p:sp>
      <p:sp>
        <p:nvSpPr>
          <p:cNvPr id="6" name="a1_rb_402"/>
          <p:cNvSpPr/>
          <p:nvPr/>
        </p:nvSpPr>
        <p:spPr>
          <a:xfrm>
            <a:off x="548640" y="251460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7" name="a1_num_403"/>
          <p:cNvSpPr txBox="1"/>
          <p:nvPr/>
        </p:nvSpPr>
        <p:spPr>
          <a:xfrm>
            <a:off x="658368" y="261518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a1_t_404"/>
          <p:cNvSpPr txBox="1"/>
          <p:nvPr/>
        </p:nvSpPr>
        <p:spPr>
          <a:xfrm>
            <a:off x="1371600" y="2514600"/>
            <a:ext cx="4480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Know the concentration.</a:t>
            </a:r>
            <a:endParaRPr lang="en-US" sz="1900" dirty="0"/>
          </a:p>
        </p:txBody>
      </p:sp>
      <p:sp>
        <p:nvSpPr>
          <p:cNvPr id="9" name="a1_rb_405"/>
          <p:cNvSpPr/>
          <p:nvPr/>
        </p:nvSpPr>
        <p:spPr>
          <a:xfrm>
            <a:off x="548640" y="342900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0" name="a1_num_406"/>
          <p:cNvSpPr txBox="1"/>
          <p:nvPr/>
        </p:nvSpPr>
        <p:spPr>
          <a:xfrm>
            <a:off x="658368" y="352958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a1_t_407"/>
          <p:cNvSpPr txBox="1"/>
          <p:nvPr/>
        </p:nvSpPr>
        <p:spPr>
          <a:xfrm>
            <a:off x="1371600" y="3429000"/>
            <a:ext cx="4480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Select the correct respirator.</a:t>
            </a:r>
            <a:endParaRPr lang="en-US" sz="1900" dirty="0"/>
          </a:p>
        </p:txBody>
      </p:sp>
      <p:sp>
        <p:nvSpPr>
          <p:cNvPr id="12" name="a1_rb_408"/>
          <p:cNvSpPr/>
          <p:nvPr/>
        </p:nvSpPr>
        <p:spPr>
          <a:xfrm>
            <a:off x="548640" y="434340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3" name="a1_num_409"/>
          <p:cNvSpPr txBox="1"/>
          <p:nvPr/>
        </p:nvSpPr>
        <p:spPr>
          <a:xfrm>
            <a:off x="658368" y="444398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a1_t_410"/>
          <p:cNvSpPr txBox="1"/>
          <p:nvPr/>
        </p:nvSpPr>
        <p:spPr>
          <a:xfrm>
            <a:off x="1371600" y="4343400"/>
            <a:ext cx="4480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Select the correct cartridge / filter.</a:t>
            </a:r>
            <a:endParaRPr lang="en-US" sz="1900" dirty="0"/>
          </a:p>
        </p:txBody>
      </p:sp>
      <p:sp>
        <p:nvSpPr>
          <p:cNvPr id="15" name="a1_rb_411"/>
          <p:cNvSpPr/>
          <p:nvPr/>
        </p:nvSpPr>
        <p:spPr>
          <a:xfrm>
            <a:off x="548640" y="525780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6" name="a1_num_412"/>
          <p:cNvSpPr txBox="1"/>
          <p:nvPr/>
        </p:nvSpPr>
        <p:spPr>
          <a:xfrm>
            <a:off x="658368" y="535838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a1_t_413"/>
          <p:cNvSpPr txBox="1"/>
          <p:nvPr/>
        </p:nvSpPr>
        <p:spPr>
          <a:xfrm>
            <a:off x="1371600" y="5257800"/>
            <a:ext cx="4480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Check the respirator before use.</a:t>
            </a:r>
            <a:endParaRPr lang="en-US" sz="1900" dirty="0"/>
          </a:p>
        </p:txBody>
      </p:sp>
      <p:sp>
        <p:nvSpPr>
          <p:cNvPr id="18" name="a2_rb_414"/>
          <p:cNvSpPr/>
          <p:nvPr/>
        </p:nvSpPr>
        <p:spPr>
          <a:xfrm>
            <a:off x="6245352" y="160020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9" name="a2_num_415"/>
          <p:cNvSpPr txBox="1"/>
          <p:nvPr/>
        </p:nvSpPr>
        <p:spPr>
          <a:xfrm>
            <a:off x="6355080" y="170078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a2_t_416"/>
          <p:cNvSpPr txBox="1"/>
          <p:nvPr/>
        </p:nvSpPr>
        <p:spPr>
          <a:xfrm>
            <a:off x="7068312" y="1600200"/>
            <a:ext cx="4480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Perform the required fit / seal checks.</a:t>
            </a:r>
            <a:endParaRPr lang="en-US" sz="1900" dirty="0"/>
          </a:p>
        </p:txBody>
      </p:sp>
      <p:sp>
        <p:nvSpPr>
          <p:cNvPr id="21" name="a2_rb_417"/>
          <p:cNvSpPr/>
          <p:nvPr/>
        </p:nvSpPr>
        <p:spPr>
          <a:xfrm>
            <a:off x="6245352" y="251460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2" name="a2_num_418"/>
          <p:cNvSpPr txBox="1"/>
          <p:nvPr/>
        </p:nvSpPr>
        <p:spPr>
          <a:xfrm>
            <a:off x="6355080" y="261518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7</a:t>
            </a:r>
            <a:endParaRPr lang="en-US" sz="1800" dirty="0"/>
          </a:p>
        </p:txBody>
      </p:sp>
      <p:sp>
        <p:nvSpPr>
          <p:cNvPr id="23" name="a2_t_419"/>
          <p:cNvSpPr txBox="1"/>
          <p:nvPr/>
        </p:nvSpPr>
        <p:spPr>
          <a:xfrm>
            <a:off x="7068312" y="2514600"/>
            <a:ext cx="4480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Understand APF and MUC.</a:t>
            </a:r>
            <a:endParaRPr lang="en-US" sz="1900" dirty="0"/>
          </a:p>
        </p:txBody>
      </p:sp>
      <p:sp>
        <p:nvSpPr>
          <p:cNvPr id="24" name="a2_rb_420"/>
          <p:cNvSpPr/>
          <p:nvPr/>
        </p:nvSpPr>
        <p:spPr>
          <a:xfrm>
            <a:off x="6245352" y="342900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5" name="a2_num_421"/>
          <p:cNvSpPr txBox="1"/>
          <p:nvPr/>
        </p:nvSpPr>
        <p:spPr>
          <a:xfrm>
            <a:off x="6355080" y="352958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8</a:t>
            </a:r>
            <a:endParaRPr lang="en-US" sz="1800" dirty="0"/>
          </a:p>
        </p:txBody>
      </p:sp>
      <p:sp>
        <p:nvSpPr>
          <p:cNvPr id="26" name="a2_t_422"/>
          <p:cNvSpPr txBox="1"/>
          <p:nvPr/>
        </p:nvSpPr>
        <p:spPr>
          <a:xfrm>
            <a:off x="7068312" y="3429000"/>
            <a:ext cx="4480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Know the limitations.</a:t>
            </a:r>
            <a:endParaRPr lang="en-US" sz="1900" dirty="0"/>
          </a:p>
        </p:txBody>
      </p:sp>
      <p:sp>
        <p:nvSpPr>
          <p:cNvPr id="27" name="a2_rb_423"/>
          <p:cNvSpPr/>
          <p:nvPr/>
        </p:nvSpPr>
        <p:spPr>
          <a:xfrm>
            <a:off x="6245352" y="434340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8" name="a2_num_424"/>
          <p:cNvSpPr txBox="1"/>
          <p:nvPr/>
        </p:nvSpPr>
        <p:spPr>
          <a:xfrm>
            <a:off x="6355080" y="444398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9</a:t>
            </a:r>
            <a:endParaRPr lang="en-US" sz="1800" dirty="0"/>
          </a:p>
        </p:txBody>
      </p:sp>
      <p:sp>
        <p:nvSpPr>
          <p:cNvPr id="29" name="a2_t_425"/>
          <p:cNvSpPr txBox="1"/>
          <p:nvPr/>
        </p:nvSpPr>
        <p:spPr>
          <a:xfrm>
            <a:off x="7068312" y="4343400"/>
            <a:ext cx="4480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Escape equipment is for escape.</a:t>
            </a:r>
            <a:endParaRPr lang="en-US" sz="1900" dirty="0"/>
          </a:p>
        </p:txBody>
      </p:sp>
      <p:sp>
        <p:nvSpPr>
          <p:cNvPr id="30" name="a2_rb_426"/>
          <p:cNvSpPr/>
          <p:nvPr/>
        </p:nvSpPr>
        <p:spPr>
          <a:xfrm>
            <a:off x="6245352" y="5257800"/>
            <a:ext cx="5394960" cy="749808"/>
          </a:xfrm>
          <a:prstGeom prst="roundRect">
            <a:avLst>
              <a:gd name="adj" fmla="val 12195"/>
            </a:avLst>
          </a:prstGeom>
          <a:solidFill>
            <a:schemeClr val="accent4"/>
          </a:solidFill>
          <a:ln/>
        </p:spPr>
      </p:sp>
      <p:sp>
        <p:nvSpPr>
          <p:cNvPr id="31" name="a2_num_427"/>
          <p:cNvSpPr txBox="1"/>
          <p:nvPr/>
        </p:nvSpPr>
        <p:spPr>
          <a:xfrm>
            <a:off x="6355080" y="5358384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10</a:t>
            </a:r>
            <a:endParaRPr lang="en-US" sz="1800" dirty="0"/>
          </a:p>
        </p:txBody>
      </p:sp>
      <p:sp>
        <p:nvSpPr>
          <p:cNvPr id="32" name="a2_t_428"/>
          <p:cNvSpPr txBox="1"/>
          <p:nvPr/>
        </p:nvSpPr>
        <p:spPr>
          <a:xfrm>
            <a:off x="7068312" y="5257800"/>
            <a:ext cx="4480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When in doubt – STOP and seek guidance.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920240"/>
            <a:ext cx="9994392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 FOR YOUR PARTICIPATION AND CONTRIBUTIONS!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3840480"/>
            <a:ext cx="99943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Gas Desulfurization Plant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434840"/>
            <a:ext cx="999439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Respiratory Protection Refresher Training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Respiratory Refresher">
  <a:themeElements>
    <a:clrScheme name="Respiratory Refresher">
      <a:dk1>
        <a:srgbClr val="1F2933"/>
      </a:dk1>
      <a:lt1>
        <a:srgbClr val="FFFFFF"/>
      </a:lt1>
      <a:dk2>
        <a:srgbClr val="14202E"/>
      </a:dk2>
      <a:lt2>
        <a:srgbClr val="EEF2F6"/>
      </a:lt2>
      <a:accent1>
        <a:srgbClr val="1565C0"/>
      </a:accent1>
      <a:accent2>
        <a:srgbClr val="2E7D32"/>
      </a:accent2>
      <a:accent3>
        <a:srgbClr val="C45A00"/>
      </a:accent3>
      <a:accent4>
        <a:srgbClr val="C62828"/>
      </a:accent4>
      <a:accent5>
        <a:srgbClr val="C9A04A"/>
      </a:accent5>
      <a:accent6>
        <a:srgbClr val="5F6B7A"/>
      </a:accent6>
      <a:hlink>
        <a:srgbClr val="1565C0"/>
      </a:hlink>
      <a:folHlink>
        <a:srgbClr val="6A1B9A"/>
      </a:folHlink>
    </a:clrScheme>
    <a:fontScheme name="Respiratory Refresh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Refresher Session – Full Face &amp; Half Face Mask Respirators</dc:title>
  <dc:subject>Respiratory Protection Refresher Training</dc:subject>
  <dc:creator>PptxGenJS</dc:creator>
  <cp:lastModifiedBy>PptxGenJS</cp:lastModifiedBy>
  <cp:revision>1</cp:revision>
  <dcterms:created xsi:type="dcterms:W3CDTF">2026-10-04T06:27:19Z</dcterms:created>
  <dcterms:modified xsi:type="dcterms:W3CDTF">2026-10-04T06:27:19Z</dcterms:modified>
</cp:coreProperties>
</file>