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guide covers the most common passenger-car warning lights.
Ask: Has anyone had a warning light come on while driving? What did you do?
Key message: a warning light is the car talking to you. Never ignore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board shows 64 common symbols. You do not need to memorise them all. The colour tells you how urgent it is.
Ask: How many of these symbols do you recognise?
Note: at ignition-on, most lights come on briefly as a bulb check, then go out once the engine starts. A light that stays on needs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one colour at a time.
Red: usually a serious warning. Stop safely as soon as you can when the handbook says so (e.g. oil pressure, overheating, brakes).
Amber/yellow: a fault or condition that needs attention soon.
Green/blue: a system is on or working (e.g. indicators, high beam).
Important: not every red light needs the same response. A seatbelt reminder means buckle up, while low oil pressure means stop the engine. Always follow the vehicle handbook.
Ask: Which colour would make you stop the 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most serious warnings. Reveal one card per click; the final click pulses all four symbols.
Oil pressure loss and overheating can destroy an engine in minutes. Stop as soon as it is safe, switch off and follow the handbook. Ask: Where is the safest place to stop on your usual route?
Oil Pressure Warning: Engine oil pressure is too low. Stop when safe, switch off the engine. Do not drive on.
Engine Temperature: The engine is overheating. Stop when safe, switch off, let it cool. Never open a hot cap.
Brake System Warning: Parking brake on, low fluid or brake fault. Release the parking brake. Still on? Stop; don't drive.
Battery / Charging: Charging system failed; the car may stop. Switch off extra electrics. Stop safely; get it checked.
Remind the group: colours and symbols vary between manufacturers, so check the handbook for your vehicle.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lights usually mean 'get it checked soon'. A flashing check-engine light is more urgent: reduce speed and stop safely.
Ask: Who would you report an engine warning to at work?
Check Engine (MIL): Engine or emissions fault detected. Book an inspection. If flashing, slow down and stop safely.
Transmission Warning: Gearbox fault or overheating (where fitted). Drive gently to a safe place; get it checked.
Power Steering (EPS): Steering assist fault: steering may feel heavy. Slow down, drive carefully to a safe place, get it checked.
Diesel Particulate Filter: Exhaust filter is getting blocked (diesels). Follow the handbook (often a steady drive); else see a garage.
Remind the group: colours and symbols vary between manufacturers, so check the handbook for your vehicle.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systems protect you in an emergency. If one is faulty, it may not work when you need it.
Ask: What is the difference between a flashing and a steady ESC light?
Airbag (SRS) Warning: Airbag fault: airbags may not deploy. Report it and get it repaired before the car is used.
Seatbelt Reminder: A seatbelt is not fastened. Everyone buckles up before the car moves.
ABS Warning: Anti-lock brakes off; normal brakes still work. Drive carefully, leave more stopping distance, get it checked.
Stability / Traction (ESC): Flashing: system working on a slippery road. Steady: fault or off. Flashing: ease off. Steady: drive carefully, get it checked.
Brake Assist: Emergency brake-assist fault (where indicated). Normal brakes work. Drive carefully; book a check.
Remind the group: colours and symbols vary between manufacturers, so check the handbook for your vehicle.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Driver-assistance systems help, but they never replace an alert driver. Symbols for forward collision, adaptive cruise and blind-spot systems vary a lot between makers. The symbols here are generic examples.
Ask: Who has had a forward collision warning? What happened?
Tyre Pressure (TPMS): One or more tyres are under-inflated. Slow down, check pressures at the next safe stop.
Lane Departure Warning: Car is drifting out of lane (or system fault). Steer back; take a break if you are tired.
Forward Collision Warning: Risk of hitting the vehicle or object ahead. Brake and increase your following distance.
Adaptive Cruise Control: Cruise is keeping a set gap to the car ahead. You are still in control: be ready to brake.
Blind-Spot Monitor: A vehicle is in your blind spot. Don't change lanes; check mirrors and shoulder.
Parking Sensor Warning: Parking sensors faulty, dirty or switched off. Clean the sensors; look all round before moving.
Remind the group: colours and symbols vary between manufacturers, so check the handbook for your vehicle.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everyday status lights, but some (door open, parking brake) must be dealt with before moving.
Ask: Why is a low washer-fluid light a safety issue?
Low Fuel: Fuel is running low. Refuel soon; never risk running dry on a busy road.
Low Washer Fluid: Washer reservoir is nearly empty (where fitted). Top up before your journey.
Door Open: A door is not fully closed. Stop and close it securely before moving.
Parking Brake On: The parking brake is applied. Release before driving. Still lit? See brake warning.
Glow Plug (Diesel): Engine is pre-heating. Flashing = fault. Start when it goes out. Flashing: get it checked.
Remind the group: colours and symbols vary between manufacturers, so check the handbook for your vehicle.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Green and blue lights tell you a function is on. The rear fog lamp is amber because it can dazzle other drivers if left on.
Ask: When should you switch the rear fog lamp off?
High Beam On: Main-beam headlights are on. Dip for oncoming traffic and cars ahead.
Turn Indicators: Indicator is on. Fast flashing = bulb out. Cancel after turning; replace failed bulbs.
Front Fog Lamps: Front fog lamps are on. Use only when visibility is poor.
Rear Fog Lamp: Rear fog lamp is on. Switch off when visibility improves; it dazzles others.
Remind the group: colours and symbols vary between manufacturers, so check the handbook for your vehicle.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to reveal each label. These are the eight lights the group must know.
Ask the group to name each symbol before you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reference sheet. The numbers match the dashboard board on slides 2 and 10.
Corrections to the original board: #40 is also the general brake-system warning; #60 is the stability/traction control (ESC) symbol, and the 'OFF' version shows the word OFF.
Suggest printing these two slides for vehicles or the site office.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reference sheet. The numbers match the dashboard board on slides 2 and 10.
Corrections to the original board: #40 is also the general brake-system warning; #60 is the stability/traction control (ESC) symbol, and the 'OFF' version shows the word OFF.
Suggest printing these two slides for vehicles or the site office.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one row at a time.
Red: find a safe place, stop, switch off and check the handbook. For oil pressure or overheating, stop as soon as it is safe; driving on can destroy the engine. Call for assistance and report it.
Amber: reduce demands on the car, check the handbook and arrange an inspection soon. Report it.
Green/blue: no action needed unless you did not expect it.
Ask: Where is the vehicle handbook kept in your work vehicle?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each symbol and ask: What does it mean, and what would you do? Click to reveal each answer after the group has replied.
1 Oil pressure: stop safely and switch off.
2 Tyre pressure: slow down and check the tyres.
3 Stability control: flashing means slippery; steady means fault or switched off.
4 High beam: dip for other road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four takeaways. Close by asking each person to name one light they will now look out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0F121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01168"/>
            <a:ext cx="8229600" cy="566928"/>
          </a:xfrm>
          <a:prstGeom prst="rect">
            <a:avLst/>
          </a:prstGeom>
          <a:noFill/>
          <a:ln/>
        </p:spPr>
        <p:txBody>
          <a:bodyPr wrap="square" rtlCol="0"/>
          <a:lstStyle>
            <a:lvl1pPr indent="0" marL="0">
              <a:buNone/>
              <a:defRPr lang="en-US" sz="2600" b="1" dirty="0">
                <a:solidFill>
                  <a:schemeClr val="bg1"/>
                </a:solidFill>
              </a:defRPr>
            </a:lvl1pPr>
          </a:lstStyle>
          <a:p>
            <a:pPr indent="0" marL="0">
              <a:buNone/>
            </a:pPr>
            <a:endParaRPr lang="en-US" sz="2600" dirty="0"/>
          </a:p>
        </p:txBody>
      </p:sp>
      <p:sp>
        <p:nvSpPr>
          <p:cNvPr id="3" name="Text 0"/>
          <p:cNvSpPr/>
          <p:nvPr/>
        </p:nvSpPr>
        <p:spPr>
          <a:xfrm>
            <a:off x="457200" y="4818888"/>
            <a:ext cx="4572000" cy="228600"/>
          </a:xfrm>
          <a:prstGeom prst="rect">
            <a:avLst/>
          </a:prstGeom>
          <a:noFill/>
          <a:ln/>
        </p:spPr>
        <p:txBody>
          <a:bodyPr wrap="square" lIns="0" tIns="0" rIns="0" bIns="0" rtlCol="0" anchor="ctr"/>
          <a:lstStyle/>
          <a:p>
            <a:pPr indent="0" marL="0">
              <a:buNone/>
            </a:pPr>
            <a:r>
              <a:rPr lang="en-US" sz="900" dirty="0">
                <a:solidFill>
                  <a:srgbClr val="8A939E"/>
                </a:solidFill>
              </a:rPr>
              <a:t>Automotive Safety Toolbox Talk</a:t>
            </a:r>
            <a:endParaRPr lang="en-US" sz="900" dirty="0"/>
          </a:p>
        </p:txBody>
      </p:sp>
      <p:sp>
        <p:nvSpPr>
          <p:cNvPr id="25" name="Slide Number Placeholder 0"/>
          <p:cNvSpPr>
            <a:spLocks noGrp="1"/>
          </p:cNvSpPr>
          <p:nvPr>
            <p:ph type="sldNum" sz="quarter" idx="4294967295"/>
          </p:nvPr>
        </p:nvSpPr>
        <p:spPr>
          <a:xfrm>
            <a:off x="8275320" y="4818888"/>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9E"/>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LEED">
    <p:bg>
      <p:bgPr>
        <a:solidFill>
          <a:srgbClr val="000000"/>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75320" y="4818888"/>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9E"/>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2.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2.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2.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bg_picture" descr="Training picture">    </p:cNvPr>
          <p:cNvPicPr>
            <a:picLocks noChangeAspect="1"/>
          </p:cNvPicPr>
          <p:nvPr/>
        </p:nvPicPr>
        <p:blipFill>
          <a:blip r:embed="rId1"/>
          <a:srcRect l="0" r="0" t="0" b="0"/>
          <a:stretch/>
        </p:blipFill>
        <p:spPr>
          <a:xfrm>
            <a:off x="0" y="0"/>
            <a:ext cx="9144000" cy="5143500"/>
          </a:xfrm>
          <a:prstGeom prst="rect">
            <a:avLst/>
          </a:prstGeom>
        </p:spPr>
      </p:pic>
      <p:sp>
        <p:nvSpPr>
          <p:cNvPr id="3" name="overlay"/>
          <p:cNvSpPr/>
          <p:nvPr/>
        </p:nvSpPr>
        <p:spPr>
          <a:xfrm>
            <a:off x="0" y="0"/>
            <a:ext cx="9144000" cy="5143500"/>
          </a:xfrm>
          <a:prstGeom prst="rect">
            <a:avLst/>
          </a:prstGeom>
          <a:solidFill>
            <a:srgbClr val="000000">
              <a:alpha val="78000"/>
            </a:srgbClr>
          </a:solidFill>
          <a:ln/>
        </p:spPr>
      </p:sp>
      <p:sp>
        <p:nvSpPr>
          <p:cNvPr id="4" name="tag_pill"/>
          <p:cNvSpPr/>
          <p:nvPr/>
        </p:nvSpPr>
        <p:spPr>
          <a:xfrm>
            <a:off x="548640" y="1143000"/>
            <a:ext cx="1737360" cy="347472"/>
          </a:xfrm>
          <a:prstGeom prst="roundRect">
            <a:avLst>
              <a:gd name="adj" fmla="val 50000"/>
            </a:avLst>
          </a:prstGeom>
          <a:solidFill>
            <a:srgbClr val="FFB000"/>
          </a:solidFill>
          <a:ln/>
        </p:spPr>
      </p:sp>
      <p:sp>
        <p:nvSpPr>
          <p:cNvPr id="5" name="tag_text"/>
          <p:cNvSpPr txBox="1"/>
          <p:nvPr/>
        </p:nvSpPr>
        <p:spPr>
          <a:xfrm>
            <a:off x="548640" y="1143000"/>
            <a:ext cx="1737360" cy="347472"/>
          </a:xfrm>
          <a:prstGeom prst="rect">
            <a:avLst/>
          </a:prstGeom>
          <a:noFill/>
          <a:ln/>
        </p:spPr>
        <p:txBody>
          <a:bodyPr wrap="square" lIns="0" tIns="0" rIns="0" bIns="0" rtlCol="0" anchor="ctr"/>
          <a:lstStyle/>
          <a:p>
            <a:pPr algn="ctr" indent="0" marL="0">
              <a:buNone/>
            </a:pPr>
            <a:r>
              <a:rPr lang="en-US" sz="1100" b="1" spc="200" kern="0" dirty="0">
                <a:solidFill>
                  <a:srgbClr val="0F1215"/>
                </a:solidFill>
              </a:rPr>
              <a:t>DASHBOARD GUIDE</a:t>
            </a:r>
            <a:endParaRPr lang="en-US" sz="1100" dirty="0"/>
          </a:p>
        </p:txBody>
      </p:sp>
      <p:sp>
        <p:nvSpPr>
          <p:cNvPr id="6" name="deck_title"/>
          <p:cNvSpPr txBox="1"/>
          <p:nvPr/>
        </p:nvSpPr>
        <p:spPr>
          <a:xfrm>
            <a:off x="548640" y="1645920"/>
            <a:ext cx="7863840" cy="1463040"/>
          </a:xfrm>
          <a:prstGeom prst="rect">
            <a:avLst/>
          </a:prstGeom>
          <a:noFill/>
          <a:ln/>
        </p:spPr>
        <p:txBody>
          <a:bodyPr wrap="square" lIns="0" tIns="0" rIns="0" bIns="0" rtlCol="0" anchor="t"/>
          <a:lstStyle/>
          <a:p>
            <a:pPr indent="0" marL="0">
              <a:buNone/>
            </a:pPr>
            <a:r>
              <a:rPr lang="en-US" sz="3800" b="1" dirty="0">
                <a:solidFill>
                  <a:srgbClr val="FFFFFF"/>
                </a:solidFill>
              </a:rPr>
              <a:t>Complete Car Dashboard Warning Lights Guide</a:t>
            </a:r>
            <a:endParaRPr lang="en-US" sz="3800" dirty="0"/>
          </a:p>
        </p:txBody>
      </p:sp>
      <p:sp>
        <p:nvSpPr>
          <p:cNvPr id="7" name="deck_subtitle"/>
          <p:cNvSpPr txBox="1"/>
          <p:nvPr/>
        </p:nvSpPr>
        <p:spPr>
          <a:xfrm>
            <a:off x="548640" y="3200400"/>
            <a:ext cx="7863840" cy="548640"/>
          </a:xfrm>
          <a:prstGeom prst="rect">
            <a:avLst/>
          </a:prstGeom>
          <a:noFill/>
          <a:ln/>
        </p:spPr>
        <p:txBody>
          <a:bodyPr wrap="square" lIns="0" tIns="0" rIns="0" bIns="0" rtlCol="0" anchor="ctr"/>
          <a:lstStyle/>
          <a:p>
            <a:pPr indent="0" marL="0">
              <a:buNone/>
            </a:pPr>
            <a:r>
              <a:rPr lang="en-US" sz="1600" dirty="0">
                <a:solidFill>
                  <a:srgbClr val="C9D1DA"/>
                </a:solidFill>
              </a:rPr>
              <a:t>What each light means, and what the driver should do</a:t>
            </a:r>
            <a:endParaRPr lang="en-US" sz="16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01168"/>
            <a:ext cx="8229600" cy="566928"/>
          </a:xfrm>
          <a:prstGeom prst="rect">
            <a:avLst/>
          </a:prstGeom>
          <a:noFill/>
          <a:ln/>
        </p:spPr>
        <p:txBody>
          <a:bodyPr wrap="square" lIns="0" tIns="0" rIns="0" bIns="0" rtlCol="0" anchor="ctr"/>
          <a:lstStyle/>
          <a:p>
            <a:pPr indent="0" marL="0">
              <a:buNone/>
            </a:pPr>
            <a:r>
              <a:rPr lang="en-US" sz="2600" b="1" dirty="0">
                <a:solidFill>
                  <a:schemeClr val="bg1"/>
                </a:solidFill>
              </a:rPr>
              <a:t>Your Dashboard Is Talking to You</a:t>
            </a:r>
            <a:endParaRPr lang="en-US" sz="2600" dirty="0"/>
          </a:p>
        </p:txBody>
      </p:sp>
      <p:pic>
        <p:nvPicPr>
          <p:cNvPr id="4" name="overview_picture" descr="Board of 64 dashboard warning symbols">    </p:cNvPr>
          <p:cNvPicPr>
            <a:picLocks noChangeAspect="1"/>
          </p:cNvPicPr>
          <p:nvPr/>
        </p:nvPicPr>
        <p:blipFill>
          <a:blip r:embed="rId1"/>
          <a:stretch>
            <a:fillRect/>
          </a:stretch>
        </p:blipFill>
        <p:spPr>
          <a:xfrm>
            <a:off x="457200" y="914400"/>
            <a:ext cx="5669280" cy="2922855"/>
          </a:xfrm>
          <a:prstGeom prst="rect">
            <a:avLst/>
          </a:prstGeom>
        </p:spPr>
      </p:pic>
      <p:sp>
        <p:nvSpPr>
          <p:cNvPr id="5" name="clk01_card_1"/>
          <p:cNvSpPr/>
          <p:nvPr/>
        </p:nvSpPr>
        <p:spPr>
          <a:xfrm>
            <a:off x="6355080" y="914400"/>
            <a:ext cx="2331720" cy="868680"/>
          </a:xfrm>
          <a:prstGeom prst="roundRect">
            <a:avLst>
              <a:gd name="adj" fmla="val 10526"/>
            </a:avLst>
          </a:prstGeom>
          <a:solidFill>
            <a:srgbClr val="1C2128"/>
          </a:solidFill>
          <a:ln/>
        </p:spPr>
      </p:sp>
      <p:sp>
        <p:nvSpPr>
          <p:cNvPr id="6" name="clk01_text_2"/>
          <p:cNvSpPr txBox="1"/>
          <p:nvPr/>
        </p:nvSpPr>
        <p:spPr>
          <a:xfrm>
            <a:off x="6492240" y="914400"/>
            <a:ext cx="2103120" cy="868680"/>
          </a:xfrm>
          <a:prstGeom prst="rect">
            <a:avLst/>
          </a:prstGeom>
          <a:noFill/>
          <a:ln/>
        </p:spPr>
        <p:txBody>
          <a:bodyPr wrap="square" lIns="0" tIns="0" rIns="0" bIns="0" rtlCol="0" anchor="ctr"/>
          <a:lstStyle/>
          <a:p>
            <a:pPr indent="0" marL="0">
              <a:buNone/>
            </a:pPr>
            <a:r>
              <a:rPr lang="en-US" sz="1300" b="1" dirty="0">
                <a:solidFill>
                  <a:srgbClr val="FFB000"/>
                </a:solidFill>
              </a:rPr>
              <a:t>At start-up</a:t>
            </a:r>
            <a:endParaRPr lang="en-US" sz="1300" dirty="0"/>
          </a:p>
          <a:p>
            <a:pPr indent="0" marL="0">
              <a:buNone/>
            </a:pPr>
            <a:r>
              <a:rPr lang="en-US" sz="1150" dirty="0">
                <a:solidFill>
                  <a:srgbClr val="C9D1DA"/>
                </a:solidFill>
              </a:rPr>
              <a:t>Most lights flash on as a bulb check, then go out.</a:t>
            </a:r>
            <a:endParaRPr lang="en-US" sz="1300" dirty="0"/>
          </a:p>
        </p:txBody>
      </p:sp>
      <p:sp>
        <p:nvSpPr>
          <p:cNvPr id="7" name="clk02_card_3"/>
          <p:cNvSpPr/>
          <p:nvPr/>
        </p:nvSpPr>
        <p:spPr>
          <a:xfrm>
            <a:off x="6355080" y="1901952"/>
            <a:ext cx="2331720" cy="868680"/>
          </a:xfrm>
          <a:prstGeom prst="roundRect">
            <a:avLst>
              <a:gd name="adj" fmla="val 10526"/>
            </a:avLst>
          </a:prstGeom>
          <a:solidFill>
            <a:srgbClr val="1C2128"/>
          </a:solidFill>
          <a:ln/>
        </p:spPr>
      </p:sp>
      <p:sp>
        <p:nvSpPr>
          <p:cNvPr id="8" name="clk02_text_4"/>
          <p:cNvSpPr txBox="1"/>
          <p:nvPr/>
        </p:nvSpPr>
        <p:spPr>
          <a:xfrm>
            <a:off x="6492240" y="1901952"/>
            <a:ext cx="2103120" cy="868680"/>
          </a:xfrm>
          <a:prstGeom prst="rect">
            <a:avLst/>
          </a:prstGeom>
          <a:noFill/>
          <a:ln/>
        </p:spPr>
        <p:txBody>
          <a:bodyPr wrap="square" lIns="0" tIns="0" rIns="0" bIns="0" rtlCol="0" anchor="ctr"/>
          <a:lstStyle/>
          <a:p>
            <a:pPr indent="0" marL="0">
              <a:buNone/>
            </a:pPr>
            <a:r>
              <a:rPr lang="en-US" sz="1300" b="1" dirty="0">
                <a:solidFill>
                  <a:srgbClr val="FFB000"/>
                </a:solidFill>
              </a:rPr>
              <a:t>Stays on?</a:t>
            </a:r>
            <a:endParaRPr lang="en-US" sz="1300" dirty="0"/>
          </a:p>
          <a:p>
            <a:pPr indent="0" marL="0">
              <a:buNone/>
            </a:pPr>
            <a:r>
              <a:rPr lang="en-US" sz="1150" dirty="0">
                <a:solidFill>
                  <a:srgbClr val="C9D1DA"/>
                </a:solidFill>
              </a:rPr>
              <a:t>The car is reporting a problem or a system state.</a:t>
            </a:r>
            <a:endParaRPr lang="en-US" sz="1300" dirty="0"/>
          </a:p>
        </p:txBody>
      </p:sp>
      <p:sp>
        <p:nvSpPr>
          <p:cNvPr id="9" name="clk03_card_5"/>
          <p:cNvSpPr/>
          <p:nvPr/>
        </p:nvSpPr>
        <p:spPr>
          <a:xfrm>
            <a:off x="6355080" y="2889504"/>
            <a:ext cx="2331720" cy="868680"/>
          </a:xfrm>
          <a:prstGeom prst="roundRect">
            <a:avLst>
              <a:gd name="adj" fmla="val 10526"/>
            </a:avLst>
          </a:prstGeom>
          <a:solidFill>
            <a:srgbClr val="1C2128"/>
          </a:solidFill>
          <a:ln/>
        </p:spPr>
      </p:sp>
      <p:sp>
        <p:nvSpPr>
          <p:cNvPr id="10" name="clk03_text_6"/>
          <p:cNvSpPr txBox="1"/>
          <p:nvPr/>
        </p:nvSpPr>
        <p:spPr>
          <a:xfrm>
            <a:off x="6492240" y="2889504"/>
            <a:ext cx="2103120" cy="868680"/>
          </a:xfrm>
          <a:prstGeom prst="rect">
            <a:avLst/>
          </a:prstGeom>
          <a:noFill/>
          <a:ln/>
        </p:spPr>
        <p:txBody>
          <a:bodyPr wrap="square" lIns="0" tIns="0" rIns="0" bIns="0" rtlCol="0" anchor="ctr"/>
          <a:lstStyle/>
          <a:p>
            <a:pPr indent="0" marL="0">
              <a:buNone/>
            </a:pPr>
            <a:r>
              <a:rPr lang="en-US" sz="1300" b="1" dirty="0">
                <a:solidFill>
                  <a:srgbClr val="FFB000"/>
                </a:solidFill>
              </a:rPr>
              <a:t>Colour = urgency</a:t>
            </a:r>
            <a:endParaRPr lang="en-US" sz="1300" dirty="0"/>
          </a:p>
          <a:p>
            <a:pPr indent="0" marL="0">
              <a:buNone/>
            </a:pPr>
            <a:r>
              <a:rPr lang="en-US" sz="1150" dirty="0">
                <a:solidFill>
                  <a:srgbClr val="C9D1DA"/>
                </a:solidFill>
              </a:rPr>
              <a:t>Red, amber and green/blue tell you how fast to act.</a:t>
            </a:r>
            <a:endParaRPr lang="en-US" sz="1300" dirty="0"/>
          </a:p>
        </p:txBody>
      </p:sp>
      <p:sp>
        <p:nvSpPr>
          <p:cNvPr id="11" name="vary_note"/>
          <p:cNvSpPr txBox="1"/>
          <p:nvPr/>
        </p:nvSpPr>
        <p:spPr>
          <a:xfrm>
            <a:off x="457200" y="3931920"/>
            <a:ext cx="8229600" cy="274320"/>
          </a:xfrm>
          <a:prstGeom prst="rect">
            <a:avLst/>
          </a:prstGeom>
          <a:noFill/>
          <a:ln/>
        </p:spPr>
        <p:txBody>
          <a:bodyPr wrap="square" lIns="0" tIns="0" rIns="0" bIns="0" rtlCol="0" anchor="ctr"/>
          <a:lstStyle/>
          <a:p>
            <a:pPr indent="0" marL="0">
              <a:buNone/>
            </a:pPr>
            <a:r>
              <a:rPr lang="en-US" sz="1000" i="1" dirty="0">
                <a:solidFill>
                  <a:srgbClr val="8A939E"/>
                </a:solidFill>
              </a:rPr>
              <a:t>Colours, symbols and meanings vary by make and model. Always check the vehicle handbook.</a:t>
            </a:r>
            <a:endParaRPr lang="en-US" sz="1000" dirty="0"/>
          </a:p>
        </p:txBody>
      </p:sp>
      <p:sp>
        <p:nvSpPr>
          <p:cNvPr id="25" name="Slide Number Placeholder 0"/>
          <p:cNvSpPr>
            <a:spLocks noGrp="1"/>
          </p:cNvSpPr>
          <p:nvPr>
            <p:ph type="sldNum" sz="quarter" idx="4294967295"/>
          </p:nvPr>
        </p:nvSpPr>
        <p:spPr>
          <a:xfrm>
            <a:off x="8275320" y="4818888"/>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9E"/>
                </a:solidFill>
              </a:defRPr>
            </a:lvl1pPr>
          </a:lstStyle>
          <a:p>
            <a:pPr algn="r"/>
            <a:fld id="{F7021451-1387-4CA6-816F-3879F97B5CBC}" type="slidenum">
              <a:rPr b="0" lang="en-US"/>
              <a:t>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01168"/>
            <a:ext cx="8229600" cy="566928"/>
          </a:xfrm>
          <a:prstGeom prst="rect">
            <a:avLst/>
          </a:prstGeom>
          <a:noFill/>
          <a:ln/>
        </p:spPr>
        <p:txBody>
          <a:bodyPr wrap="square" lIns="0" tIns="0" rIns="0" bIns="0" rtlCol="0" anchor="ctr"/>
          <a:lstStyle/>
          <a:p>
            <a:pPr indent="0" marL="0">
              <a:buNone/>
            </a:pPr>
            <a:r>
              <a:rPr lang="en-US" sz="2600" b="1" dirty="0">
                <a:solidFill>
                  <a:schemeClr val="bg1"/>
                </a:solidFill>
              </a:rPr>
              <a:t>How to Read Warning-Light Colours</a:t>
            </a:r>
            <a:endParaRPr lang="en-US" sz="2600" dirty="0"/>
          </a:p>
        </p:txBody>
      </p:sp>
      <p:sp>
        <p:nvSpPr>
          <p:cNvPr id="4" name="clk01_card_7"/>
          <p:cNvSpPr/>
          <p:nvPr/>
        </p:nvSpPr>
        <p:spPr>
          <a:xfrm>
            <a:off x="457200" y="914400"/>
            <a:ext cx="2615184" cy="3337560"/>
          </a:xfrm>
          <a:prstGeom prst="roundRect">
            <a:avLst>
              <a:gd name="adj" fmla="val 4196"/>
            </a:avLst>
          </a:prstGeom>
          <a:solidFill>
            <a:srgbClr val="1C2128"/>
          </a:solidFill>
          <a:ln w="25400">
            <a:solidFill>
              <a:srgbClr val="E53935"/>
            </a:solidFill>
            <a:prstDash val="solid"/>
          </a:ln>
        </p:spPr>
      </p:sp>
      <p:sp>
        <p:nvSpPr>
          <p:cNvPr id="5" name="clk01_head_8"/>
          <p:cNvSpPr/>
          <p:nvPr/>
        </p:nvSpPr>
        <p:spPr>
          <a:xfrm>
            <a:off x="640080" y="1097280"/>
            <a:ext cx="2249424" cy="457200"/>
          </a:xfrm>
          <a:prstGeom prst="roundRect">
            <a:avLst>
              <a:gd name="adj" fmla="val 16000"/>
            </a:avLst>
          </a:prstGeom>
          <a:solidFill>
            <a:srgbClr val="E53935"/>
          </a:solidFill>
          <a:ln/>
        </p:spPr>
      </p:sp>
      <p:sp>
        <p:nvSpPr>
          <p:cNvPr id="6" name="clk01_headtext_9"/>
          <p:cNvSpPr txBox="1"/>
          <p:nvPr/>
        </p:nvSpPr>
        <p:spPr>
          <a:xfrm>
            <a:off x="640080" y="1097280"/>
            <a:ext cx="2249424" cy="457200"/>
          </a:xfrm>
          <a:prstGeom prst="rect">
            <a:avLst/>
          </a:prstGeom>
          <a:noFill/>
          <a:ln/>
        </p:spPr>
        <p:txBody>
          <a:bodyPr wrap="square" lIns="0" tIns="0" rIns="0" bIns="0" rtlCol="0" anchor="ctr"/>
          <a:lstStyle/>
          <a:p>
            <a:pPr algn="ctr" indent="0" marL="0">
              <a:buNone/>
            </a:pPr>
            <a:r>
              <a:rPr lang="en-US" sz="1500" b="1" spc="100" kern="0" dirty="0">
                <a:solidFill>
                  <a:srgbClr val="FFFFFF"/>
                </a:solidFill>
              </a:rPr>
              <a:t>RED</a:t>
            </a:r>
            <a:endParaRPr lang="en-US" sz="1500" dirty="0"/>
          </a:p>
        </p:txBody>
      </p:sp>
      <p:sp>
        <p:nvSpPr>
          <p:cNvPr id="7" name="clk01_iconbg_10"/>
          <p:cNvSpPr/>
          <p:nvPr/>
        </p:nvSpPr>
        <p:spPr>
          <a:xfrm>
            <a:off x="850392" y="1737360"/>
            <a:ext cx="822960" cy="822960"/>
          </a:xfrm>
          <a:prstGeom prst="ellipse">
            <a:avLst/>
          </a:prstGeom>
          <a:solidFill>
            <a:srgbClr val="000000"/>
          </a:solidFill>
          <a:ln w="12700">
            <a:solidFill>
              <a:srgbClr val="262C34"/>
            </a:solidFill>
            <a:prstDash val="solid"/>
          </a:ln>
        </p:spPr>
      </p:sp>
      <p:pic>
        <p:nvPicPr>
          <p:cNvPr id="8" name="clk01_icon_11" descr="Oil Pressure Warning">    </p:cNvPr>
          <p:cNvPicPr>
            <a:picLocks noChangeAspect="1"/>
          </p:cNvPicPr>
          <p:nvPr/>
        </p:nvPicPr>
        <p:blipFill>
          <a:blip r:embed="rId1"/>
          <a:stretch>
            <a:fillRect/>
          </a:stretch>
        </p:blipFill>
        <p:spPr>
          <a:xfrm>
            <a:off x="969264" y="1856232"/>
            <a:ext cx="585216" cy="585216"/>
          </a:xfrm>
          <a:prstGeom prst="rect">
            <a:avLst/>
          </a:prstGeom>
        </p:spPr>
      </p:pic>
      <p:sp>
        <p:nvSpPr>
          <p:cNvPr id="9" name="clk01_iconbg_12"/>
          <p:cNvSpPr/>
          <p:nvPr/>
        </p:nvSpPr>
        <p:spPr>
          <a:xfrm>
            <a:off x="1856232" y="1737360"/>
            <a:ext cx="822960" cy="822960"/>
          </a:xfrm>
          <a:prstGeom prst="ellipse">
            <a:avLst/>
          </a:prstGeom>
          <a:solidFill>
            <a:srgbClr val="000000"/>
          </a:solidFill>
          <a:ln w="12700">
            <a:solidFill>
              <a:srgbClr val="262C34"/>
            </a:solidFill>
            <a:prstDash val="solid"/>
          </a:ln>
        </p:spPr>
      </p:sp>
      <p:pic>
        <p:nvPicPr>
          <p:cNvPr id="10" name="clk01_icon_13" descr="Brake System Warning">    </p:cNvPr>
          <p:cNvPicPr>
            <a:picLocks noChangeAspect="1"/>
          </p:cNvPicPr>
          <p:nvPr/>
        </p:nvPicPr>
        <p:blipFill>
          <a:blip r:embed="rId2"/>
          <a:stretch>
            <a:fillRect/>
          </a:stretch>
        </p:blipFill>
        <p:spPr>
          <a:xfrm>
            <a:off x="1975104" y="1856232"/>
            <a:ext cx="585216" cy="585216"/>
          </a:xfrm>
          <a:prstGeom prst="rect">
            <a:avLst/>
          </a:prstGeom>
        </p:spPr>
      </p:pic>
      <p:sp>
        <p:nvSpPr>
          <p:cNvPr id="11" name="clk01_body_14"/>
          <p:cNvSpPr txBox="1"/>
          <p:nvPr/>
        </p:nvSpPr>
        <p:spPr>
          <a:xfrm>
            <a:off x="640080" y="2743200"/>
            <a:ext cx="2249424" cy="1371600"/>
          </a:xfrm>
          <a:prstGeom prst="rect">
            <a:avLst/>
          </a:prstGeom>
          <a:noFill/>
          <a:ln/>
        </p:spPr>
        <p:txBody>
          <a:bodyPr wrap="square" lIns="0" tIns="0" rIns="0" bIns="0" rtlCol="0" anchor="t"/>
          <a:lstStyle/>
          <a:p>
            <a:pPr indent="0" marL="0">
              <a:spcAft>
                <a:spcPts val="400"/>
              </a:spcAft>
              <a:buNone/>
            </a:pPr>
            <a:r>
              <a:rPr lang="en-US" sz="1500" b="1" dirty="0">
                <a:solidFill>
                  <a:srgbClr val="FFFFFF"/>
                </a:solidFill>
              </a:rPr>
              <a:t>Serious warning</a:t>
            </a:r>
            <a:endParaRPr lang="en-US" sz="1500" dirty="0"/>
          </a:p>
          <a:p>
            <a:pPr indent="0" marL="0">
              <a:spcAft>
                <a:spcPts val="400"/>
              </a:spcAft>
              <a:buNone/>
            </a:pPr>
            <a:r>
              <a:rPr lang="en-US" sz="1250" dirty="0">
                <a:solidFill>
                  <a:srgbClr val="C9D1DA"/>
                </a:solidFill>
              </a:rPr>
              <a:t>Stop safely when indicated. Check the handbook. Do not drive on.</a:t>
            </a:r>
            <a:endParaRPr lang="en-US" sz="1500" dirty="0"/>
          </a:p>
        </p:txBody>
      </p:sp>
      <p:sp>
        <p:nvSpPr>
          <p:cNvPr id="12" name="clk02_card_15"/>
          <p:cNvSpPr/>
          <p:nvPr/>
        </p:nvSpPr>
        <p:spPr>
          <a:xfrm>
            <a:off x="3264408" y="914400"/>
            <a:ext cx="2615184" cy="3337560"/>
          </a:xfrm>
          <a:prstGeom prst="roundRect">
            <a:avLst>
              <a:gd name="adj" fmla="val 4196"/>
            </a:avLst>
          </a:prstGeom>
          <a:solidFill>
            <a:srgbClr val="1C2128"/>
          </a:solidFill>
          <a:ln w="25400">
            <a:solidFill>
              <a:srgbClr val="FFB000"/>
            </a:solidFill>
            <a:prstDash val="solid"/>
          </a:ln>
        </p:spPr>
      </p:sp>
      <p:sp>
        <p:nvSpPr>
          <p:cNvPr id="13" name="clk02_head_16"/>
          <p:cNvSpPr/>
          <p:nvPr/>
        </p:nvSpPr>
        <p:spPr>
          <a:xfrm>
            <a:off x="3447288" y="1097280"/>
            <a:ext cx="2249424" cy="457200"/>
          </a:xfrm>
          <a:prstGeom prst="roundRect">
            <a:avLst>
              <a:gd name="adj" fmla="val 16000"/>
            </a:avLst>
          </a:prstGeom>
          <a:solidFill>
            <a:srgbClr val="FFB000"/>
          </a:solidFill>
          <a:ln/>
        </p:spPr>
      </p:sp>
      <p:sp>
        <p:nvSpPr>
          <p:cNvPr id="14" name="clk02_headtext_17"/>
          <p:cNvSpPr txBox="1"/>
          <p:nvPr/>
        </p:nvSpPr>
        <p:spPr>
          <a:xfrm>
            <a:off x="3447288" y="1097280"/>
            <a:ext cx="2249424" cy="457200"/>
          </a:xfrm>
          <a:prstGeom prst="rect">
            <a:avLst/>
          </a:prstGeom>
          <a:noFill/>
          <a:ln/>
        </p:spPr>
        <p:txBody>
          <a:bodyPr wrap="square" lIns="0" tIns="0" rIns="0" bIns="0" rtlCol="0" anchor="ctr"/>
          <a:lstStyle/>
          <a:p>
            <a:pPr algn="ctr" indent="0" marL="0">
              <a:buNone/>
            </a:pPr>
            <a:r>
              <a:rPr lang="en-US" sz="1500" b="1" spc="100" kern="0" dirty="0">
                <a:solidFill>
                  <a:srgbClr val="0F1215"/>
                </a:solidFill>
              </a:rPr>
              <a:t>AMBER / YELLOW</a:t>
            </a:r>
            <a:endParaRPr lang="en-US" sz="1500" dirty="0"/>
          </a:p>
        </p:txBody>
      </p:sp>
      <p:sp>
        <p:nvSpPr>
          <p:cNvPr id="15" name="clk02_iconbg_18"/>
          <p:cNvSpPr/>
          <p:nvPr/>
        </p:nvSpPr>
        <p:spPr>
          <a:xfrm>
            <a:off x="3657600" y="1737360"/>
            <a:ext cx="822960" cy="822960"/>
          </a:xfrm>
          <a:prstGeom prst="ellipse">
            <a:avLst/>
          </a:prstGeom>
          <a:solidFill>
            <a:srgbClr val="000000"/>
          </a:solidFill>
          <a:ln w="12700">
            <a:solidFill>
              <a:srgbClr val="262C34"/>
            </a:solidFill>
            <a:prstDash val="solid"/>
          </a:ln>
        </p:spPr>
      </p:sp>
      <p:pic>
        <p:nvPicPr>
          <p:cNvPr id="16" name="clk02_icon_19" descr="Check Engine (MIL)">    </p:cNvPr>
          <p:cNvPicPr>
            <a:picLocks noChangeAspect="1"/>
          </p:cNvPicPr>
          <p:nvPr/>
        </p:nvPicPr>
        <p:blipFill>
          <a:blip r:embed="rId3"/>
          <a:stretch>
            <a:fillRect/>
          </a:stretch>
        </p:blipFill>
        <p:spPr>
          <a:xfrm>
            <a:off x="3776472" y="1856232"/>
            <a:ext cx="585216" cy="585216"/>
          </a:xfrm>
          <a:prstGeom prst="rect">
            <a:avLst/>
          </a:prstGeom>
        </p:spPr>
      </p:pic>
      <p:sp>
        <p:nvSpPr>
          <p:cNvPr id="17" name="clk02_iconbg_20"/>
          <p:cNvSpPr/>
          <p:nvPr/>
        </p:nvSpPr>
        <p:spPr>
          <a:xfrm>
            <a:off x="4663440" y="1737360"/>
            <a:ext cx="822960" cy="822960"/>
          </a:xfrm>
          <a:prstGeom prst="ellipse">
            <a:avLst/>
          </a:prstGeom>
          <a:solidFill>
            <a:srgbClr val="000000"/>
          </a:solidFill>
          <a:ln w="12700">
            <a:solidFill>
              <a:srgbClr val="262C34"/>
            </a:solidFill>
            <a:prstDash val="solid"/>
          </a:ln>
        </p:spPr>
      </p:sp>
      <p:pic>
        <p:nvPicPr>
          <p:cNvPr id="18" name="clk02_icon_21" descr="Tyre Pressure (TPMS)">    </p:cNvPr>
          <p:cNvPicPr>
            <a:picLocks noChangeAspect="1"/>
          </p:cNvPicPr>
          <p:nvPr/>
        </p:nvPicPr>
        <p:blipFill>
          <a:blip r:embed="rId4"/>
          <a:stretch>
            <a:fillRect/>
          </a:stretch>
        </p:blipFill>
        <p:spPr>
          <a:xfrm>
            <a:off x="4782312" y="1856232"/>
            <a:ext cx="585216" cy="585216"/>
          </a:xfrm>
          <a:prstGeom prst="rect">
            <a:avLst/>
          </a:prstGeom>
        </p:spPr>
      </p:pic>
      <p:sp>
        <p:nvSpPr>
          <p:cNvPr id="19" name="clk02_body_22"/>
          <p:cNvSpPr txBox="1"/>
          <p:nvPr/>
        </p:nvSpPr>
        <p:spPr>
          <a:xfrm>
            <a:off x="3447288" y="2743200"/>
            <a:ext cx="2249424" cy="1371600"/>
          </a:xfrm>
          <a:prstGeom prst="rect">
            <a:avLst/>
          </a:prstGeom>
          <a:noFill/>
          <a:ln/>
        </p:spPr>
        <p:txBody>
          <a:bodyPr wrap="square" lIns="0" tIns="0" rIns="0" bIns="0" rtlCol="0" anchor="t"/>
          <a:lstStyle/>
          <a:p>
            <a:pPr indent="0" marL="0">
              <a:spcAft>
                <a:spcPts val="400"/>
              </a:spcAft>
              <a:buNone/>
            </a:pPr>
            <a:r>
              <a:rPr lang="en-US" sz="1500" b="1" dirty="0">
                <a:solidFill>
                  <a:srgbClr val="FFFFFF"/>
                </a:solidFill>
              </a:rPr>
              <a:t>Needs attention</a:t>
            </a:r>
            <a:endParaRPr lang="en-US" sz="1500" dirty="0"/>
          </a:p>
          <a:p>
            <a:pPr indent="0" marL="0">
              <a:spcAft>
                <a:spcPts val="400"/>
              </a:spcAft>
              <a:buNone/>
            </a:pPr>
            <a:r>
              <a:rPr lang="en-US" sz="1250" dirty="0">
                <a:solidFill>
                  <a:srgbClr val="C9D1DA"/>
                </a:solidFill>
              </a:rPr>
              <a:t>A fault or condition. Drive carefully and get it checked soon.</a:t>
            </a:r>
            <a:endParaRPr lang="en-US" sz="1500" dirty="0"/>
          </a:p>
        </p:txBody>
      </p:sp>
      <p:sp>
        <p:nvSpPr>
          <p:cNvPr id="20" name="clk03_card_23"/>
          <p:cNvSpPr/>
          <p:nvPr/>
        </p:nvSpPr>
        <p:spPr>
          <a:xfrm>
            <a:off x="6071616" y="914400"/>
            <a:ext cx="2615184" cy="3337560"/>
          </a:xfrm>
          <a:prstGeom prst="roundRect">
            <a:avLst>
              <a:gd name="adj" fmla="val 4196"/>
            </a:avLst>
          </a:prstGeom>
          <a:solidFill>
            <a:srgbClr val="1C2128"/>
          </a:solidFill>
          <a:ln w="25400">
            <a:solidFill>
              <a:srgbClr val="2ECC40"/>
            </a:solidFill>
            <a:prstDash val="solid"/>
          </a:ln>
        </p:spPr>
      </p:sp>
      <p:sp>
        <p:nvSpPr>
          <p:cNvPr id="21" name="clk03_head_24"/>
          <p:cNvSpPr/>
          <p:nvPr/>
        </p:nvSpPr>
        <p:spPr>
          <a:xfrm>
            <a:off x="6254496" y="1097280"/>
            <a:ext cx="2249424" cy="457200"/>
          </a:xfrm>
          <a:prstGeom prst="roundRect">
            <a:avLst>
              <a:gd name="adj" fmla="val 16000"/>
            </a:avLst>
          </a:prstGeom>
          <a:solidFill>
            <a:srgbClr val="2ECC40"/>
          </a:solidFill>
          <a:ln/>
        </p:spPr>
      </p:sp>
      <p:sp>
        <p:nvSpPr>
          <p:cNvPr id="22" name="clk03_headtext_25"/>
          <p:cNvSpPr txBox="1"/>
          <p:nvPr/>
        </p:nvSpPr>
        <p:spPr>
          <a:xfrm>
            <a:off x="6254496" y="1097280"/>
            <a:ext cx="2249424" cy="457200"/>
          </a:xfrm>
          <a:prstGeom prst="rect">
            <a:avLst/>
          </a:prstGeom>
          <a:noFill/>
          <a:ln/>
        </p:spPr>
        <p:txBody>
          <a:bodyPr wrap="square" lIns="0" tIns="0" rIns="0" bIns="0" rtlCol="0" anchor="ctr"/>
          <a:lstStyle/>
          <a:p>
            <a:pPr algn="ctr" indent="0" marL="0">
              <a:buNone/>
            </a:pPr>
            <a:r>
              <a:rPr lang="en-US" sz="1500" b="1" spc="100" kern="0" dirty="0">
                <a:solidFill>
                  <a:srgbClr val="0F1215"/>
                </a:solidFill>
              </a:rPr>
              <a:t>GREEN / BLUE</a:t>
            </a:r>
            <a:endParaRPr lang="en-US" sz="1500" dirty="0"/>
          </a:p>
        </p:txBody>
      </p:sp>
      <p:sp>
        <p:nvSpPr>
          <p:cNvPr id="23" name="clk03_iconbg_26"/>
          <p:cNvSpPr/>
          <p:nvPr/>
        </p:nvSpPr>
        <p:spPr>
          <a:xfrm>
            <a:off x="6464808" y="1737360"/>
            <a:ext cx="822960" cy="822960"/>
          </a:xfrm>
          <a:prstGeom prst="ellipse">
            <a:avLst/>
          </a:prstGeom>
          <a:solidFill>
            <a:srgbClr val="000000"/>
          </a:solidFill>
          <a:ln w="12700">
            <a:solidFill>
              <a:srgbClr val="262C34"/>
            </a:solidFill>
            <a:prstDash val="solid"/>
          </a:ln>
        </p:spPr>
      </p:sp>
      <p:pic>
        <p:nvPicPr>
          <p:cNvPr id="24" name="clk03_icon_27" descr="Turn Indicators">    </p:cNvPr>
          <p:cNvPicPr>
            <a:picLocks noChangeAspect="1"/>
          </p:cNvPicPr>
          <p:nvPr/>
        </p:nvPicPr>
        <p:blipFill>
          <a:blip r:embed="rId5"/>
          <a:stretch>
            <a:fillRect/>
          </a:stretch>
        </p:blipFill>
        <p:spPr>
          <a:xfrm>
            <a:off x="6583680" y="1856232"/>
            <a:ext cx="585216" cy="585216"/>
          </a:xfrm>
          <a:prstGeom prst="rect">
            <a:avLst/>
          </a:prstGeom>
        </p:spPr>
      </p:pic>
      <p:sp>
        <p:nvSpPr>
          <p:cNvPr id="25" name="clk03_iconbg_28"/>
          <p:cNvSpPr/>
          <p:nvPr/>
        </p:nvSpPr>
        <p:spPr>
          <a:xfrm>
            <a:off x="7470648" y="1737360"/>
            <a:ext cx="822960" cy="822960"/>
          </a:xfrm>
          <a:prstGeom prst="ellipse">
            <a:avLst/>
          </a:prstGeom>
          <a:solidFill>
            <a:srgbClr val="000000"/>
          </a:solidFill>
          <a:ln w="12700">
            <a:solidFill>
              <a:srgbClr val="262C34"/>
            </a:solidFill>
            <a:prstDash val="solid"/>
          </a:ln>
        </p:spPr>
      </p:sp>
      <p:pic>
        <p:nvPicPr>
          <p:cNvPr id="26" name="clk03_icon_29" descr="High Beam On">    </p:cNvPr>
          <p:cNvPicPr>
            <a:picLocks noChangeAspect="1"/>
          </p:cNvPicPr>
          <p:nvPr/>
        </p:nvPicPr>
        <p:blipFill>
          <a:blip r:embed="rId6"/>
          <a:stretch>
            <a:fillRect/>
          </a:stretch>
        </p:blipFill>
        <p:spPr>
          <a:xfrm>
            <a:off x="7589520" y="1856232"/>
            <a:ext cx="585216" cy="585216"/>
          </a:xfrm>
          <a:prstGeom prst="rect">
            <a:avLst/>
          </a:prstGeom>
        </p:spPr>
      </p:pic>
      <p:sp>
        <p:nvSpPr>
          <p:cNvPr id="27" name="clk03_body_30"/>
          <p:cNvSpPr txBox="1"/>
          <p:nvPr/>
        </p:nvSpPr>
        <p:spPr>
          <a:xfrm>
            <a:off x="6254496" y="2743200"/>
            <a:ext cx="2249424" cy="1371600"/>
          </a:xfrm>
          <a:prstGeom prst="rect">
            <a:avLst/>
          </a:prstGeom>
          <a:noFill/>
          <a:ln/>
        </p:spPr>
        <p:txBody>
          <a:bodyPr wrap="square" lIns="0" tIns="0" rIns="0" bIns="0" rtlCol="0" anchor="t"/>
          <a:lstStyle/>
          <a:p>
            <a:pPr indent="0" marL="0">
              <a:spcAft>
                <a:spcPts val="400"/>
              </a:spcAft>
              <a:buNone/>
            </a:pPr>
            <a:r>
              <a:rPr lang="en-US" sz="1500" b="1" dirty="0">
                <a:solidFill>
                  <a:srgbClr val="FFFFFF"/>
                </a:solidFill>
              </a:rPr>
              <a:t>System active</a:t>
            </a:r>
            <a:endParaRPr lang="en-US" sz="1500" dirty="0"/>
          </a:p>
          <a:p>
            <a:pPr indent="0" marL="0">
              <a:spcAft>
                <a:spcPts val="400"/>
              </a:spcAft>
              <a:buNone/>
            </a:pPr>
            <a:r>
              <a:rPr lang="en-US" sz="1250" dirty="0">
                <a:solidFill>
                  <a:srgbClr val="C9D1DA"/>
                </a:solidFill>
              </a:rPr>
              <a:t>Information only: a function is on or working.</a:t>
            </a:r>
            <a:endParaRPr lang="en-US" sz="1500" dirty="0"/>
          </a:p>
        </p:txBody>
      </p:sp>
      <p:sp>
        <p:nvSpPr>
          <p:cNvPr id="28" name="vary_note"/>
          <p:cNvSpPr txBox="1"/>
          <p:nvPr/>
        </p:nvSpPr>
        <p:spPr>
          <a:xfrm>
            <a:off x="457200" y="4370832"/>
            <a:ext cx="8229600" cy="274320"/>
          </a:xfrm>
          <a:prstGeom prst="rect">
            <a:avLst/>
          </a:prstGeom>
          <a:noFill/>
          <a:ln/>
        </p:spPr>
        <p:txBody>
          <a:bodyPr wrap="square" lIns="0" tIns="0" rIns="0" bIns="0" rtlCol="0" anchor="ctr"/>
          <a:lstStyle/>
          <a:p>
            <a:pPr indent="0" marL="0">
              <a:buNone/>
            </a:pPr>
            <a:r>
              <a:rPr lang="en-US" sz="1000" i="1" dirty="0">
                <a:solidFill>
                  <a:srgbClr val="8A939E"/>
                </a:solidFill>
              </a:rPr>
              <a:t>Colours, symbols and meanings vary by make and model. Always check the vehicle handbook. Not every red light needs the same response.</a:t>
            </a:r>
            <a:endParaRPr lang="en-US" sz="1000" dirty="0"/>
          </a:p>
        </p:txBody>
      </p:sp>
      <p:sp>
        <p:nvSpPr>
          <p:cNvPr id="25" name="Slide Number Placeholder 0"/>
          <p:cNvSpPr>
            <a:spLocks noGrp="1"/>
          </p:cNvSpPr>
          <p:nvPr>
            <p:ph type="sldNum" sz="quarter" idx="4294967295"/>
          </p:nvPr>
        </p:nvSpPr>
        <p:spPr>
          <a:xfrm>
            <a:off x="8275320" y="4818888"/>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9E"/>
                </a:solidFill>
              </a:defRPr>
            </a:lvl1pPr>
          </a:lstStyle>
          <a:p>
            <a:pPr algn="r"/>
            <a:fld id="{F7021451-1387-4CA6-816F-3879F97B5CBC}" type="slidenum">
              <a:rPr b="0" lang="en-US"/>
              <a:t>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7" fill="hold">
                      <p:stCondLst>
                        <p:cond delay="indefinite"/>
                      </p:stCondLst>
                      <p:childTnLst>
                        <p:par>
                          <p:cTn id="28"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500"/>
                                        <p:tgtEl>
                                          <p:spTgt spid="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500"/>
                                        <p:tgtEl>
                                          <p:spTgt spid="5"/>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cTn>
                              </p:par>
                            </p:childTnLst>
                          </p:cTn>
                        </p:par>
                      </p:childTnLst>
                    </p:cTn>
                  </p:par>
                  <p:par>
                    <p:cTn id="53" fill="hold">
                      <p:stCondLst>
                        <p:cond delay="indefinite"/>
                      </p:stCondLst>
                      <p:childTnLst>
                        <p:par>
                          <p:cTn id="54"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00"/>
                                        <p:tgtEl>
                                          <p:spTgt spid="1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500"/>
                                        <p:tgtEl>
                                          <p:spTgt spid="1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500"/>
                                        <p:tgtEl>
                                          <p:spTgt spid="19"/>
                                        </p:tgtEl>
                                      </p:cBhvr>
                                    </p:animEffect>
                                  </p:childTnLst>
                                </p:cTn>
                              </p:par>
                            </p:childTnLst>
                          </p:cTn>
                        </p:par>
                      </p:childTnLst>
                    </p:cTn>
                  </p:par>
                  <p:par>
                    <p:cTn id="79" fill="hold">
                      <p:stCondLst>
                        <p:cond delay="indefinite"/>
                      </p:stCondLst>
                      <p:childTnLst>
                        <p:par>
                          <p:cTn id="80"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500"/>
                                        <p:tgtEl>
                                          <p:spTgt spid="2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500"/>
                                        <p:tgtEl>
                                          <p:spTgt spid="21"/>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50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500"/>
                                        <p:tgtEl>
                                          <p:spTgt spid="23"/>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500"/>
                                        <p:tgtEl>
                                          <p:spTgt spid="24"/>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500"/>
                                        <p:tgtEl>
                                          <p:spTgt spid="25"/>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500"/>
                                        <p:tgtEl>
                                          <p:spTgt spid="26"/>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9" grpId="0" animBg="1"/>
      <p:bldP spid="11" grpId="0" animBg="1"/>
      <p:bldP spid="12" grpId="0" animBg="1"/>
      <p:bldP spid="13" grpId="0" animBg="1"/>
      <p:bldP spid="14" grpId="0" animBg="1"/>
      <p:bldP spid="15" grpId="0" animBg="1"/>
      <p:bldP spid="17" grpId="0" animBg="1"/>
      <p:bldP spid="19" grpId="0" animBg="1"/>
      <p:bldP spid="20" grpId="0" animBg="1"/>
      <p:bldP spid="21" grpId="0" animBg="1"/>
      <p:bldP spid="22" grpId="0" animBg="1"/>
      <p:bldP spid="23" grpId="0" animBg="1"/>
      <p:bldP spid="25" grpId="0" animBg="1"/>
      <p:bldP spid="2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01168"/>
            <a:ext cx="8229600" cy="566928"/>
          </a:xfrm>
          <a:prstGeom prst="rect">
            <a:avLst/>
          </a:prstGeom>
          <a:noFill/>
          <a:ln/>
        </p:spPr>
        <p:txBody>
          <a:bodyPr wrap="square" lIns="0" tIns="0" rIns="0" bIns="0" rtlCol="0" anchor="ctr"/>
          <a:lstStyle/>
          <a:p>
            <a:pPr indent="0" marL="0">
              <a:buNone/>
            </a:pPr>
            <a:r>
              <a:rPr lang="en-US" sz="2600" b="1" dirty="0">
                <a:solidFill>
                  <a:schemeClr val="bg1"/>
                </a:solidFill>
              </a:rPr>
              <a:t>Critical Red Warnings: Stop Safely</a:t>
            </a:r>
            <a:endParaRPr lang="en-US" sz="2600" dirty="0"/>
          </a:p>
        </p:txBody>
      </p:sp>
      <p:sp>
        <p:nvSpPr>
          <p:cNvPr id="4" name="clk01_card_31"/>
          <p:cNvSpPr/>
          <p:nvPr/>
        </p:nvSpPr>
        <p:spPr>
          <a:xfrm>
            <a:off x="457200" y="914400"/>
            <a:ext cx="4023360" cy="1700784"/>
          </a:xfrm>
          <a:prstGeom prst="roundRect">
            <a:avLst>
              <a:gd name="adj" fmla="val 5376"/>
            </a:avLst>
          </a:prstGeom>
          <a:solidFill>
            <a:srgbClr val="1C2128"/>
          </a:solidFill>
          <a:ln/>
          <a:effectLst>
            <a:outerShdw sx="100000" sy="100000" kx="0" ky="0" algn="bl" rotWithShape="0" blurRad="76200" dist="25400" dir="5400000">
              <a:srgbClr val="000000">
                <a:alpha val="40000"/>
              </a:srgbClr>
            </a:outerShdw>
          </a:effectLst>
        </p:spPr>
      </p:sp>
      <p:sp>
        <p:nvSpPr>
          <p:cNvPr id="5" name="clk01_iconbg_32"/>
          <p:cNvSpPr/>
          <p:nvPr/>
        </p:nvSpPr>
        <p:spPr>
          <a:xfrm>
            <a:off x="594360" y="1051560"/>
            <a:ext cx="714329" cy="714329"/>
          </a:xfrm>
          <a:prstGeom prst="ellipse">
            <a:avLst/>
          </a:prstGeom>
          <a:solidFill>
            <a:srgbClr val="000000"/>
          </a:solidFill>
          <a:ln w="12700">
            <a:solidFill>
              <a:srgbClr val="262C34"/>
            </a:solidFill>
            <a:prstDash val="solid"/>
          </a:ln>
        </p:spPr>
      </p:sp>
      <p:pic>
        <p:nvPicPr>
          <p:cNvPr id="6" name="clk01emph05_icon_33" descr="Oil Pressure Warning symbol">    </p:cNvPr>
          <p:cNvPicPr>
            <a:picLocks noChangeAspect="1"/>
          </p:cNvPicPr>
          <p:nvPr/>
        </p:nvPicPr>
        <p:blipFill>
          <a:blip r:embed="rId1"/>
          <a:stretch>
            <a:fillRect/>
          </a:stretch>
        </p:blipFill>
        <p:spPr>
          <a:xfrm>
            <a:off x="694366" y="1151566"/>
            <a:ext cx="514317" cy="514317"/>
          </a:xfrm>
          <a:prstGeom prst="rect">
            <a:avLst/>
          </a:prstGeom>
        </p:spPr>
      </p:pic>
      <p:sp>
        <p:nvSpPr>
          <p:cNvPr id="7" name="clk01_name_34"/>
          <p:cNvSpPr txBox="1"/>
          <p:nvPr/>
        </p:nvSpPr>
        <p:spPr>
          <a:xfrm>
            <a:off x="1427561" y="1024128"/>
            <a:ext cx="2943271" cy="442884"/>
          </a:xfrm>
          <a:prstGeom prst="rect">
            <a:avLst/>
          </a:prstGeom>
          <a:noFill/>
          <a:ln/>
        </p:spPr>
        <p:txBody>
          <a:bodyPr wrap="square" lIns="0" tIns="0" rIns="0" bIns="0" rtlCol="0" anchor="ctr"/>
          <a:lstStyle/>
          <a:p>
            <a:pPr indent="0" marL="0">
              <a:buNone/>
            </a:pPr>
            <a:r>
              <a:rPr lang="en-US" sz="1300" b="1" dirty="0">
                <a:solidFill>
                  <a:srgbClr val="FFFFFF"/>
                </a:solidFill>
              </a:rPr>
              <a:t>Oil Pressure Warning</a:t>
            </a:r>
            <a:endParaRPr lang="en-US" sz="1300" dirty="0"/>
          </a:p>
        </p:txBody>
      </p:sp>
      <p:sp>
        <p:nvSpPr>
          <p:cNvPr id="8" name="clk01_respbox_35"/>
          <p:cNvSpPr/>
          <p:nvPr/>
        </p:nvSpPr>
        <p:spPr>
          <a:xfrm>
            <a:off x="1427561" y="1523017"/>
            <a:ext cx="2915839" cy="246888"/>
          </a:xfrm>
          <a:prstGeom prst="roundRect">
            <a:avLst>
              <a:gd name="adj" fmla="val 22222"/>
            </a:avLst>
          </a:prstGeom>
          <a:solidFill>
            <a:srgbClr val="E53935"/>
          </a:solidFill>
          <a:ln/>
        </p:spPr>
      </p:sp>
      <p:sp>
        <p:nvSpPr>
          <p:cNvPr id="9" name="clk01_resp_36"/>
          <p:cNvSpPr txBox="1"/>
          <p:nvPr/>
        </p:nvSpPr>
        <p:spPr>
          <a:xfrm>
            <a:off x="1427561" y="1523017"/>
            <a:ext cx="2915839" cy="246888"/>
          </a:xfrm>
          <a:prstGeom prst="rect">
            <a:avLst/>
          </a:prstGeom>
          <a:noFill/>
          <a:ln/>
        </p:spPr>
        <p:txBody>
          <a:bodyPr wrap="square" lIns="0" tIns="0" rIns="0" bIns="0" rtlCol="0" anchor="ctr"/>
          <a:lstStyle/>
          <a:p>
            <a:pPr algn="ctr" indent="0" marL="0">
              <a:buNone/>
            </a:pPr>
            <a:r>
              <a:rPr lang="en-US" sz="900" b="1" spc="100" kern="0" dirty="0">
                <a:solidFill>
                  <a:srgbClr val="FFFFFF"/>
                </a:solidFill>
              </a:rPr>
              <a:t>STOP SAFELY NOW</a:t>
            </a:r>
            <a:endParaRPr lang="en-US" sz="900" dirty="0"/>
          </a:p>
        </p:txBody>
      </p:sp>
      <p:sp>
        <p:nvSpPr>
          <p:cNvPr id="10" name="clk01_text_37"/>
          <p:cNvSpPr txBox="1"/>
          <p:nvPr/>
        </p:nvSpPr>
        <p:spPr>
          <a:xfrm>
            <a:off x="594360" y="1857329"/>
            <a:ext cx="3749040" cy="684703"/>
          </a:xfrm>
          <a:prstGeom prst="rect">
            <a:avLst/>
          </a:prstGeom>
          <a:noFill/>
          <a:ln/>
        </p:spPr>
        <p:txBody>
          <a:bodyPr wrap="square" lIns="0" tIns="0" rIns="0" bIns="0" rtlCol="0" anchor="t"/>
          <a:lstStyle/>
          <a:p>
            <a:pPr indent="0" marL="0">
              <a:spcAft>
                <a:spcPts val="300"/>
              </a:spcAft>
              <a:buNone/>
            </a:pPr>
            <a:r>
              <a:rPr lang="en-US" sz="1200" b="1" dirty="0">
                <a:solidFill>
                  <a:srgbClr val="FFB000"/>
                </a:solidFill>
              </a:rPr>
              <a:t>Means: </a:t>
            </a:r>
            <a:pPr indent="0" marL="0">
              <a:spcAft>
                <a:spcPts val="300"/>
              </a:spcAft>
              <a:buNone/>
            </a:pPr>
            <a:r>
              <a:rPr lang="en-US" sz="1200" dirty="0">
                <a:solidFill>
                  <a:srgbClr val="C9D1DA"/>
                </a:solidFill>
              </a:rPr>
              <a:t>Engine oil pressure is too low.</a:t>
            </a:r>
            <a:endParaRPr lang="en-US" sz="1200" dirty="0"/>
          </a:p>
          <a:p>
            <a:pPr indent="0" marL="0">
              <a:spcAft>
                <a:spcPts val="300"/>
              </a:spcAft>
              <a:buNone/>
            </a:pPr>
            <a:r>
              <a:rPr lang="en-US" sz="1200" b="1" dirty="0">
                <a:solidFill>
                  <a:srgbClr val="2ECC40"/>
                </a:solidFill>
              </a:rPr>
              <a:t>Do: </a:t>
            </a:r>
            <a:pPr indent="0" marL="0">
              <a:spcAft>
                <a:spcPts val="300"/>
              </a:spcAft>
              <a:buNone/>
            </a:pPr>
            <a:r>
              <a:rPr lang="en-US" sz="1200" dirty="0">
                <a:solidFill>
                  <a:srgbClr val="C9D1DA"/>
                </a:solidFill>
              </a:rPr>
              <a:t>Stop when safe, switch off the engine. Do not drive on.</a:t>
            </a:r>
            <a:endParaRPr lang="en-US" sz="1200" dirty="0"/>
          </a:p>
        </p:txBody>
      </p:sp>
      <p:sp>
        <p:nvSpPr>
          <p:cNvPr id="11" name="clk02_card_38"/>
          <p:cNvSpPr/>
          <p:nvPr/>
        </p:nvSpPr>
        <p:spPr>
          <a:xfrm>
            <a:off x="4663440" y="914400"/>
            <a:ext cx="4023360" cy="1700784"/>
          </a:xfrm>
          <a:prstGeom prst="roundRect">
            <a:avLst>
              <a:gd name="adj" fmla="val 5376"/>
            </a:avLst>
          </a:prstGeom>
          <a:solidFill>
            <a:srgbClr val="1C2128"/>
          </a:solidFill>
          <a:ln/>
          <a:effectLst>
            <a:outerShdw sx="100000" sy="100000" kx="0" ky="0" algn="bl" rotWithShape="0" blurRad="76200" dist="25400" dir="5400000">
              <a:srgbClr val="000000">
                <a:alpha val="40000"/>
              </a:srgbClr>
            </a:outerShdw>
          </a:effectLst>
        </p:spPr>
      </p:sp>
      <p:sp>
        <p:nvSpPr>
          <p:cNvPr id="12" name="clk02_iconbg_39"/>
          <p:cNvSpPr/>
          <p:nvPr/>
        </p:nvSpPr>
        <p:spPr>
          <a:xfrm>
            <a:off x="4800600" y="1051560"/>
            <a:ext cx="714329" cy="714329"/>
          </a:xfrm>
          <a:prstGeom prst="ellipse">
            <a:avLst/>
          </a:prstGeom>
          <a:solidFill>
            <a:srgbClr val="000000"/>
          </a:solidFill>
          <a:ln w="12700">
            <a:solidFill>
              <a:srgbClr val="262C34"/>
            </a:solidFill>
            <a:prstDash val="solid"/>
          </a:ln>
        </p:spPr>
      </p:sp>
      <p:pic>
        <p:nvPicPr>
          <p:cNvPr id="13" name="clk02emph05_icon_40" descr="Engine Temperature symbol">    </p:cNvPr>
          <p:cNvPicPr>
            <a:picLocks noChangeAspect="1"/>
          </p:cNvPicPr>
          <p:nvPr/>
        </p:nvPicPr>
        <p:blipFill>
          <a:blip r:embed="rId2"/>
          <a:stretch>
            <a:fillRect/>
          </a:stretch>
        </p:blipFill>
        <p:spPr>
          <a:xfrm>
            <a:off x="4900606" y="1151566"/>
            <a:ext cx="514317" cy="514317"/>
          </a:xfrm>
          <a:prstGeom prst="rect">
            <a:avLst/>
          </a:prstGeom>
        </p:spPr>
      </p:pic>
      <p:sp>
        <p:nvSpPr>
          <p:cNvPr id="14" name="clk02_name_41"/>
          <p:cNvSpPr txBox="1"/>
          <p:nvPr/>
        </p:nvSpPr>
        <p:spPr>
          <a:xfrm>
            <a:off x="5633801" y="1024128"/>
            <a:ext cx="2943271" cy="442884"/>
          </a:xfrm>
          <a:prstGeom prst="rect">
            <a:avLst/>
          </a:prstGeom>
          <a:noFill/>
          <a:ln/>
        </p:spPr>
        <p:txBody>
          <a:bodyPr wrap="square" lIns="0" tIns="0" rIns="0" bIns="0" rtlCol="0" anchor="ctr"/>
          <a:lstStyle/>
          <a:p>
            <a:pPr indent="0" marL="0">
              <a:buNone/>
            </a:pPr>
            <a:r>
              <a:rPr lang="en-US" sz="1300" b="1" dirty="0">
                <a:solidFill>
                  <a:srgbClr val="FFFFFF"/>
                </a:solidFill>
              </a:rPr>
              <a:t>Engine Temperature</a:t>
            </a:r>
            <a:endParaRPr lang="en-US" sz="1300" dirty="0"/>
          </a:p>
        </p:txBody>
      </p:sp>
      <p:sp>
        <p:nvSpPr>
          <p:cNvPr id="15" name="clk02_respbox_42"/>
          <p:cNvSpPr/>
          <p:nvPr/>
        </p:nvSpPr>
        <p:spPr>
          <a:xfrm>
            <a:off x="5633801" y="1523017"/>
            <a:ext cx="2915839" cy="246888"/>
          </a:xfrm>
          <a:prstGeom prst="roundRect">
            <a:avLst>
              <a:gd name="adj" fmla="val 22222"/>
            </a:avLst>
          </a:prstGeom>
          <a:solidFill>
            <a:srgbClr val="E53935"/>
          </a:solidFill>
          <a:ln/>
        </p:spPr>
      </p:sp>
      <p:sp>
        <p:nvSpPr>
          <p:cNvPr id="16" name="clk02_resp_43"/>
          <p:cNvSpPr txBox="1"/>
          <p:nvPr/>
        </p:nvSpPr>
        <p:spPr>
          <a:xfrm>
            <a:off x="5633801" y="1523017"/>
            <a:ext cx="2915839" cy="246888"/>
          </a:xfrm>
          <a:prstGeom prst="rect">
            <a:avLst/>
          </a:prstGeom>
          <a:noFill/>
          <a:ln/>
        </p:spPr>
        <p:txBody>
          <a:bodyPr wrap="square" lIns="0" tIns="0" rIns="0" bIns="0" rtlCol="0" anchor="ctr"/>
          <a:lstStyle/>
          <a:p>
            <a:pPr algn="ctr" indent="0" marL="0">
              <a:buNone/>
            </a:pPr>
            <a:r>
              <a:rPr lang="en-US" sz="900" b="1" spc="100" kern="0" dirty="0">
                <a:solidFill>
                  <a:srgbClr val="FFFFFF"/>
                </a:solidFill>
              </a:rPr>
              <a:t>STOP SAFELY NOW</a:t>
            </a:r>
            <a:endParaRPr lang="en-US" sz="900" dirty="0"/>
          </a:p>
        </p:txBody>
      </p:sp>
      <p:sp>
        <p:nvSpPr>
          <p:cNvPr id="17" name="clk02_text_44"/>
          <p:cNvSpPr txBox="1"/>
          <p:nvPr/>
        </p:nvSpPr>
        <p:spPr>
          <a:xfrm>
            <a:off x="4800600" y="1857329"/>
            <a:ext cx="3749040" cy="684703"/>
          </a:xfrm>
          <a:prstGeom prst="rect">
            <a:avLst/>
          </a:prstGeom>
          <a:noFill/>
          <a:ln/>
        </p:spPr>
        <p:txBody>
          <a:bodyPr wrap="square" lIns="0" tIns="0" rIns="0" bIns="0" rtlCol="0" anchor="t"/>
          <a:lstStyle/>
          <a:p>
            <a:pPr indent="0" marL="0">
              <a:spcAft>
                <a:spcPts val="300"/>
              </a:spcAft>
              <a:buNone/>
            </a:pPr>
            <a:r>
              <a:rPr lang="en-US" sz="1200" b="1" dirty="0">
                <a:solidFill>
                  <a:srgbClr val="FFB000"/>
                </a:solidFill>
              </a:rPr>
              <a:t>Means: </a:t>
            </a:r>
            <a:pPr indent="0" marL="0">
              <a:spcAft>
                <a:spcPts val="300"/>
              </a:spcAft>
              <a:buNone/>
            </a:pPr>
            <a:r>
              <a:rPr lang="en-US" sz="1200" dirty="0">
                <a:solidFill>
                  <a:srgbClr val="C9D1DA"/>
                </a:solidFill>
              </a:rPr>
              <a:t>The engine is overheating.</a:t>
            </a:r>
            <a:endParaRPr lang="en-US" sz="1200" dirty="0"/>
          </a:p>
          <a:p>
            <a:pPr indent="0" marL="0">
              <a:spcAft>
                <a:spcPts val="300"/>
              </a:spcAft>
              <a:buNone/>
            </a:pPr>
            <a:r>
              <a:rPr lang="en-US" sz="1200" b="1" dirty="0">
                <a:solidFill>
                  <a:srgbClr val="2ECC40"/>
                </a:solidFill>
              </a:rPr>
              <a:t>Do: </a:t>
            </a:r>
            <a:pPr indent="0" marL="0">
              <a:spcAft>
                <a:spcPts val="300"/>
              </a:spcAft>
              <a:buNone/>
            </a:pPr>
            <a:r>
              <a:rPr lang="en-US" sz="1200" dirty="0">
                <a:solidFill>
                  <a:srgbClr val="C9D1DA"/>
                </a:solidFill>
              </a:rPr>
              <a:t>Stop when safe, switch off, let it cool. Never open a hot cap.</a:t>
            </a:r>
            <a:endParaRPr lang="en-US" sz="1200" dirty="0"/>
          </a:p>
        </p:txBody>
      </p:sp>
      <p:sp>
        <p:nvSpPr>
          <p:cNvPr id="18" name="clk03_card_45"/>
          <p:cNvSpPr/>
          <p:nvPr/>
        </p:nvSpPr>
        <p:spPr>
          <a:xfrm>
            <a:off x="457200" y="2798064"/>
            <a:ext cx="4023360" cy="1700784"/>
          </a:xfrm>
          <a:prstGeom prst="roundRect">
            <a:avLst>
              <a:gd name="adj" fmla="val 5376"/>
            </a:avLst>
          </a:prstGeom>
          <a:solidFill>
            <a:srgbClr val="1C2128"/>
          </a:solidFill>
          <a:ln/>
          <a:effectLst>
            <a:outerShdw sx="100000" sy="100000" kx="0" ky="0" algn="bl" rotWithShape="0" blurRad="76200" dist="25400" dir="5400000">
              <a:srgbClr val="000000">
                <a:alpha val="40000"/>
              </a:srgbClr>
            </a:outerShdw>
          </a:effectLst>
        </p:spPr>
      </p:sp>
      <p:sp>
        <p:nvSpPr>
          <p:cNvPr id="19" name="clk03_iconbg_46"/>
          <p:cNvSpPr/>
          <p:nvPr/>
        </p:nvSpPr>
        <p:spPr>
          <a:xfrm>
            <a:off x="594360" y="2935224"/>
            <a:ext cx="714329" cy="714329"/>
          </a:xfrm>
          <a:prstGeom prst="ellipse">
            <a:avLst/>
          </a:prstGeom>
          <a:solidFill>
            <a:srgbClr val="000000"/>
          </a:solidFill>
          <a:ln w="12700">
            <a:solidFill>
              <a:srgbClr val="262C34"/>
            </a:solidFill>
            <a:prstDash val="solid"/>
          </a:ln>
        </p:spPr>
      </p:sp>
      <p:pic>
        <p:nvPicPr>
          <p:cNvPr id="20" name="clk03emph05_icon_47" descr="Brake System Warning symbol">    </p:cNvPr>
          <p:cNvPicPr>
            <a:picLocks noChangeAspect="1"/>
          </p:cNvPicPr>
          <p:nvPr/>
        </p:nvPicPr>
        <p:blipFill>
          <a:blip r:embed="rId3"/>
          <a:stretch>
            <a:fillRect/>
          </a:stretch>
        </p:blipFill>
        <p:spPr>
          <a:xfrm>
            <a:off x="694366" y="3035230"/>
            <a:ext cx="514317" cy="514317"/>
          </a:xfrm>
          <a:prstGeom prst="rect">
            <a:avLst/>
          </a:prstGeom>
        </p:spPr>
      </p:pic>
      <p:sp>
        <p:nvSpPr>
          <p:cNvPr id="21" name="clk03_name_48"/>
          <p:cNvSpPr txBox="1"/>
          <p:nvPr/>
        </p:nvSpPr>
        <p:spPr>
          <a:xfrm>
            <a:off x="1427561" y="2907792"/>
            <a:ext cx="2943271" cy="442884"/>
          </a:xfrm>
          <a:prstGeom prst="rect">
            <a:avLst/>
          </a:prstGeom>
          <a:noFill/>
          <a:ln/>
        </p:spPr>
        <p:txBody>
          <a:bodyPr wrap="square" lIns="0" tIns="0" rIns="0" bIns="0" rtlCol="0" anchor="ctr"/>
          <a:lstStyle/>
          <a:p>
            <a:pPr indent="0" marL="0">
              <a:buNone/>
            </a:pPr>
            <a:r>
              <a:rPr lang="en-US" sz="1300" b="1" dirty="0">
                <a:solidFill>
                  <a:srgbClr val="FFFFFF"/>
                </a:solidFill>
              </a:rPr>
              <a:t>Brake System Warning</a:t>
            </a:r>
            <a:endParaRPr lang="en-US" sz="1300" dirty="0"/>
          </a:p>
        </p:txBody>
      </p:sp>
      <p:sp>
        <p:nvSpPr>
          <p:cNvPr id="22" name="clk03_respbox_49"/>
          <p:cNvSpPr/>
          <p:nvPr/>
        </p:nvSpPr>
        <p:spPr>
          <a:xfrm>
            <a:off x="1427561" y="3406681"/>
            <a:ext cx="2915839" cy="246888"/>
          </a:xfrm>
          <a:prstGeom prst="roundRect">
            <a:avLst>
              <a:gd name="adj" fmla="val 22222"/>
            </a:avLst>
          </a:prstGeom>
          <a:solidFill>
            <a:srgbClr val="E53935"/>
          </a:solidFill>
          <a:ln/>
        </p:spPr>
      </p:sp>
      <p:sp>
        <p:nvSpPr>
          <p:cNvPr id="23" name="clk03_resp_50"/>
          <p:cNvSpPr txBox="1"/>
          <p:nvPr/>
        </p:nvSpPr>
        <p:spPr>
          <a:xfrm>
            <a:off x="1427561" y="3406681"/>
            <a:ext cx="2915839" cy="246888"/>
          </a:xfrm>
          <a:prstGeom prst="rect">
            <a:avLst/>
          </a:prstGeom>
          <a:noFill/>
          <a:ln/>
        </p:spPr>
        <p:txBody>
          <a:bodyPr wrap="square" lIns="0" tIns="0" rIns="0" bIns="0" rtlCol="0" anchor="ctr"/>
          <a:lstStyle/>
          <a:p>
            <a:pPr algn="ctr" indent="0" marL="0">
              <a:buNone/>
            </a:pPr>
            <a:r>
              <a:rPr lang="en-US" sz="900" b="1" spc="100" kern="0" dirty="0">
                <a:solidFill>
                  <a:srgbClr val="FFFFFF"/>
                </a:solidFill>
              </a:rPr>
              <a:t>STOP SAFELY NOW</a:t>
            </a:r>
            <a:endParaRPr lang="en-US" sz="900" dirty="0"/>
          </a:p>
        </p:txBody>
      </p:sp>
      <p:sp>
        <p:nvSpPr>
          <p:cNvPr id="24" name="clk03_text_51"/>
          <p:cNvSpPr txBox="1"/>
          <p:nvPr/>
        </p:nvSpPr>
        <p:spPr>
          <a:xfrm>
            <a:off x="594360" y="3740993"/>
            <a:ext cx="3749040" cy="684703"/>
          </a:xfrm>
          <a:prstGeom prst="rect">
            <a:avLst/>
          </a:prstGeom>
          <a:noFill/>
          <a:ln/>
        </p:spPr>
        <p:txBody>
          <a:bodyPr wrap="square" lIns="0" tIns="0" rIns="0" bIns="0" rtlCol="0" anchor="t"/>
          <a:lstStyle/>
          <a:p>
            <a:pPr indent="0" marL="0">
              <a:spcAft>
                <a:spcPts val="300"/>
              </a:spcAft>
              <a:buNone/>
            </a:pPr>
            <a:r>
              <a:rPr lang="en-US" sz="1200" b="1" dirty="0">
                <a:solidFill>
                  <a:srgbClr val="FFB000"/>
                </a:solidFill>
              </a:rPr>
              <a:t>Means: </a:t>
            </a:r>
            <a:pPr indent="0" marL="0">
              <a:spcAft>
                <a:spcPts val="300"/>
              </a:spcAft>
              <a:buNone/>
            </a:pPr>
            <a:r>
              <a:rPr lang="en-US" sz="1200" dirty="0">
                <a:solidFill>
                  <a:srgbClr val="C9D1DA"/>
                </a:solidFill>
              </a:rPr>
              <a:t>Parking brake on, low fluid or brake fault.</a:t>
            </a:r>
            <a:endParaRPr lang="en-US" sz="1200" dirty="0"/>
          </a:p>
          <a:p>
            <a:pPr indent="0" marL="0">
              <a:spcAft>
                <a:spcPts val="300"/>
              </a:spcAft>
              <a:buNone/>
            </a:pPr>
            <a:r>
              <a:rPr lang="en-US" sz="1200" b="1" dirty="0">
                <a:solidFill>
                  <a:srgbClr val="2ECC40"/>
                </a:solidFill>
              </a:rPr>
              <a:t>Do: </a:t>
            </a:r>
            <a:pPr indent="0" marL="0">
              <a:spcAft>
                <a:spcPts val="300"/>
              </a:spcAft>
              <a:buNone/>
            </a:pPr>
            <a:r>
              <a:rPr lang="en-US" sz="1200" dirty="0">
                <a:solidFill>
                  <a:srgbClr val="C9D1DA"/>
                </a:solidFill>
              </a:rPr>
              <a:t>Release the parking brake. Still on? Stop; don't drive.</a:t>
            </a:r>
            <a:endParaRPr lang="en-US" sz="1200" dirty="0"/>
          </a:p>
        </p:txBody>
      </p:sp>
      <p:sp>
        <p:nvSpPr>
          <p:cNvPr id="25" name="clk04_card_52"/>
          <p:cNvSpPr/>
          <p:nvPr/>
        </p:nvSpPr>
        <p:spPr>
          <a:xfrm>
            <a:off x="4663440" y="2798064"/>
            <a:ext cx="4023360" cy="1700784"/>
          </a:xfrm>
          <a:prstGeom prst="roundRect">
            <a:avLst>
              <a:gd name="adj" fmla="val 5376"/>
            </a:avLst>
          </a:prstGeom>
          <a:solidFill>
            <a:srgbClr val="1C2128"/>
          </a:solidFill>
          <a:ln/>
          <a:effectLst>
            <a:outerShdw sx="100000" sy="100000" kx="0" ky="0" algn="bl" rotWithShape="0" blurRad="76200" dist="25400" dir="5400000">
              <a:srgbClr val="000000">
                <a:alpha val="40000"/>
              </a:srgbClr>
            </a:outerShdw>
          </a:effectLst>
        </p:spPr>
      </p:sp>
      <p:sp>
        <p:nvSpPr>
          <p:cNvPr id="26" name="clk04_iconbg_53"/>
          <p:cNvSpPr/>
          <p:nvPr/>
        </p:nvSpPr>
        <p:spPr>
          <a:xfrm>
            <a:off x="4800600" y="2935224"/>
            <a:ext cx="714329" cy="714329"/>
          </a:xfrm>
          <a:prstGeom prst="ellipse">
            <a:avLst/>
          </a:prstGeom>
          <a:solidFill>
            <a:srgbClr val="000000"/>
          </a:solidFill>
          <a:ln w="12700">
            <a:solidFill>
              <a:srgbClr val="262C34"/>
            </a:solidFill>
            <a:prstDash val="solid"/>
          </a:ln>
        </p:spPr>
      </p:sp>
      <p:pic>
        <p:nvPicPr>
          <p:cNvPr id="27" name="clk04emph05_icon_54" descr="Battery / Charging symbol">    </p:cNvPr>
          <p:cNvPicPr>
            <a:picLocks noChangeAspect="1"/>
          </p:cNvPicPr>
          <p:nvPr/>
        </p:nvPicPr>
        <p:blipFill>
          <a:blip r:embed="rId4"/>
          <a:stretch>
            <a:fillRect/>
          </a:stretch>
        </p:blipFill>
        <p:spPr>
          <a:xfrm>
            <a:off x="4900606" y="3035230"/>
            <a:ext cx="514317" cy="514317"/>
          </a:xfrm>
          <a:prstGeom prst="rect">
            <a:avLst/>
          </a:prstGeom>
        </p:spPr>
      </p:pic>
      <p:sp>
        <p:nvSpPr>
          <p:cNvPr id="28" name="clk04_name_55"/>
          <p:cNvSpPr txBox="1"/>
          <p:nvPr/>
        </p:nvSpPr>
        <p:spPr>
          <a:xfrm>
            <a:off x="5633801" y="2907792"/>
            <a:ext cx="2943271" cy="442884"/>
          </a:xfrm>
          <a:prstGeom prst="rect">
            <a:avLst/>
          </a:prstGeom>
          <a:noFill/>
          <a:ln/>
        </p:spPr>
        <p:txBody>
          <a:bodyPr wrap="square" lIns="0" tIns="0" rIns="0" bIns="0" rtlCol="0" anchor="ctr"/>
          <a:lstStyle/>
          <a:p>
            <a:pPr indent="0" marL="0">
              <a:buNone/>
            </a:pPr>
            <a:r>
              <a:rPr lang="en-US" sz="1300" b="1" dirty="0">
                <a:solidFill>
                  <a:srgbClr val="FFFFFF"/>
                </a:solidFill>
              </a:rPr>
              <a:t>Battery / Charging</a:t>
            </a:r>
            <a:endParaRPr lang="en-US" sz="1300" dirty="0"/>
          </a:p>
        </p:txBody>
      </p:sp>
      <p:sp>
        <p:nvSpPr>
          <p:cNvPr id="29" name="clk04_respbox_56"/>
          <p:cNvSpPr/>
          <p:nvPr/>
        </p:nvSpPr>
        <p:spPr>
          <a:xfrm>
            <a:off x="5633801" y="3406681"/>
            <a:ext cx="2915839" cy="246888"/>
          </a:xfrm>
          <a:prstGeom prst="roundRect">
            <a:avLst>
              <a:gd name="adj" fmla="val 22222"/>
            </a:avLst>
          </a:prstGeom>
          <a:solidFill>
            <a:srgbClr val="E53935"/>
          </a:solidFill>
          <a:ln/>
        </p:spPr>
      </p:sp>
      <p:sp>
        <p:nvSpPr>
          <p:cNvPr id="30" name="clk04_resp_57"/>
          <p:cNvSpPr txBox="1"/>
          <p:nvPr/>
        </p:nvSpPr>
        <p:spPr>
          <a:xfrm>
            <a:off x="5633801" y="3406681"/>
            <a:ext cx="2915839" cy="246888"/>
          </a:xfrm>
          <a:prstGeom prst="rect">
            <a:avLst/>
          </a:prstGeom>
          <a:noFill/>
          <a:ln/>
        </p:spPr>
        <p:txBody>
          <a:bodyPr wrap="square" lIns="0" tIns="0" rIns="0" bIns="0" rtlCol="0" anchor="ctr"/>
          <a:lstStyle/>
          <a:p>
            <a:pPr algn="ctr" indent="0" marL="0">
              <a:buNone/>
            </a:pPr>
            <a:r>
              <a:rPr lang="en-US" sz="900" b="1" spc="100" kern="0" dirty="0">
                <a:solidFill>
                  <a:srgbClr val="FFFFFF"/>
                </a:solidFill>
              </a:rPr>
              <a:t>STOP &amp; GET HELP</a:t>
            </a:r>
            <a:endParaRPr lang="en-US" sz="900" dirty="0"/>
          </a:p>
        </p:txBody>
      </p:sp>
      <p:sp>
        <p:nvSpPr>
          <p:cNvPr id="31" name="clk04_text_58"/>
          <p:cNvSpPr txBox="1"/>
          <p:nvPr/>
        </p:nvSpPr>
        <p:spPr>
          <a:xfrm>
            <a:off x="4800600" y="3740993"/>
            <a:ext cx="3749040" cy="684703"/>
          </a:xfrm>
          <a:prstGeom prst="rect">
            <a:avLst/>
          </a:prstGeom>
          <a:noFill/>
          <a:ln/>
        </p:spPr>
        <p:txBody>
          <a:bodyPr wrap="square" lIns="0" tIns="0" rIns="0" bIns="0" rtlCol="0" anchor="t"/>
          <a:lstStyle/>
          <a:p>
            <a:pPr indent="0" marL="0">
              <a:spcAft>
                <a:spcPts val="300"/>
              </a:spcAft>
              <a:buNone/>
            </a:pPr>
            <a:r>
              <a:rPr lang="en-US" sz="1200" b="1" dirty="0">
                <a:solidFill>
                  <a:srgbClr val="FFB000"/>
                </a:solidFill>
              </a:rPr>
              <a:t>Means: </a:t>
            </a:r>
            <a:pPr indent="0" marL="0">
              <a:spcAft>
                <a:spcPts val="300"/>
              </a:spcAft>
              <a:buNone/>
            </a:pPr>
            <a:r>
              <a:rPr lang="en-US" sz="1200" dirty="0">
                <a:solidFill>
                  <a:srgbClr val="C9D1DA"/>
                </a:solidFill>
              </a:rPr>
              <a:t>Charging system failed; the car may stop.</a:t>
            </a:r>
            <a:endParaRPr lang="en-US" sz="1200" dirty="0"/>
          </a:p>
          <a:p>
            <a:pPr indent="0" marL="0">
              <a:spcAft>
                <a:spcPts val="300"/>
              </a:spcAft>
              <a:buNone/>
            </a:pPr>
            <a:r>
              <a:rPr lang="en-US" sz="1200" b="1" dirty="0">
                <a:solidFill>
                  <a:srgbClr val="2ECC40"/>
                </a:solidFill>
              </a:rPr>
              <a:t>Do: </a:t>
            </a:r>
            <a:pPr indent="0" marL="0">
              <a:spcAft>
                <a:spcPts val="300"/>
              </a:spcAft>
              <a:buNone/>
            </a:pPr>
            <a:r>
              <a:rPr lang="en-US" sz="1200" dirty="0">
                <a:solidFill>
                  <a:srgbClr val="C9D1DA"/>
                </a:solidFill>
              </a:rPr>
              <a:t>Switch off extra electrics. Stop safely; get it checked.</a:t>
            </a:r>
            <a:endParaRPr lang="en-US" sz="1200" dirty="0"/>
          </a:p>
        </p:txBody>
      </p:sp>
      <p:sp>
        <p:nvSpPr>
          <p:cNvPr id="25" name="Slide Number Placeholder 0"/>
          <p:cNvSpPr>
            <a:spLocks noGrp="1"/>
          </p:cNvSpPr>
          <p:nvPr>
            <p:ph type="sldNum" sz="quarter" idx="4294967295"/>
          </p:nvPr>
        </p:nvSpPr>
        <p:spPr>
          <a:xfrm>
            <a:off x="8275320" y="4818888"/>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9E"/>
                </a:solidFill>
              </a:defRPr>
            </a:lvl1pPr>
          </a:lstStyle>
          <a:p>
            <a:pPr algn="r"/>
            <a:fld id="{F7021451-1387-4CA6-816F-3879F97B5CBC}" type="slidenum">
              <a:rPr b="0" lang="en-US"/>
              <a:t>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4" fill="hold">
                      <p:stCondLst>
                        <p:cond delay="indefinite"/>
                      </p:stCondLst>
                      <p:childTnLst>
                        <p:par>
                          <p:cTn id="25"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500"/>
                                        <p:tgtEl>
                                          <p:spTgt spid="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500"/>
                                        <p:tgtEl>
                                          <p:spTgt spid="5"/>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par>
                    <p:cTn id="47" fill="hold">
                      <p:stCondLst>
                        <p:cond delay="indefinite"/>
                      </p:stCondLst>
                      <p:childTnLst>
                        <p:par>
                          <p:cTn id="48"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00"/>
                                        <p:tgtEl>
                                          <p:spTgt spid="17"/>
                                        </p:tgtEl>
                                      </p:cBhvr>
                                    </p:animEffect>
                                  </p:childTnLst>
                                </p:cTn>
                              </p:par>
                            </p:childTnLst>
                          </p:cTn>
                        </p:par>
                      </p:childTnLst>
                    </p:cTn>
                  </p:par>
                  <p:par>
                    <p:cTn id="70" fill="hold">
                      <p:stCondLst>
                        <p:cond delay="indefinite"/>
                      </p:stCondLst>
                      <p:childTnLst>
                        <p:par>
                          <p:cTn id="71"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500"/>
                                        <p:tgtEl>
                                          <p:spTgt spid="1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500"/>
                                        <p:tgtEl>
                                          <p:spTgt spid="2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500"/>
                                        <p:tgtEl>
                                          <p:spTgt spid="21"/>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50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500"/>
                                        <p:tgtEl>
                                          <p:spTgt spid="23"/>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500"/>
                                        <p:tgtEl>
                                          <p:spTgt spid="24"/>
                                        </p:tgtEl>
                                      </p:cBhvr>
                                    </p:animEffect>
                                  </p:childTnLst>
                                </p:cTn>
                              </p:par>
                            </p:childTnLst>
                          </p:cTn>
                        </p:par>
                      </p:childTnLst>
                    </p:cTn>
                  </p:par>
                  <p:par>
                    <p:cTn id="93" fill="hold">
                      <p:stCondLst>
                        <p:cond delay="indefinite"/>
                      </p:stCondLst>
                      <p:childTnLst>
                        <p:par>
                          <p:cTn id="94"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500"/>
                                        <p:tgtEl>
                                          <p:spTgt spid="25"/>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500"/>
                                        <p:tgtEl>
                                          <p:spTgt spid="26"/>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7"/>
                                        </p:tgtEl>
                                        <p:attrNameLst>
                                          <p:attrName>style.visibility</p:attrName>
                                        </p:attrNameLst>
                                      </p:cBhvr>
                                      <p:to>
                                        <p:strVal val="visible"/>
                                      </p:to>
                                    </p:set>
                                    <p:animEffect transition="in" filter="fade">
                                      <p:cBhvr>
                                        <p:cTn id="80" dur="500"/>
                                        <p:tgtEl>
                                          <p:spTgt spid="27"/>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8"/>
                                        </p:tgtEl>
                                        <p:attrNameLst>
                                          <p:attrName>style.visibility</p:attrName>
                                        </p:attrNameLst>
                                      </p:cBhvr>
                                      <p:to>
                                        <p:strVal val="visible"/>
                                      </p:to>
                                    </p:set>
                                    <p:animEffect transition="in" filter="fade">
                                      <p:cBhvr>
                                        <p:cTn id="83" dur="500"/>
                                        <p:tgtEl>
                                          <p:spTgt spid="28"/>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9"/>
                                        </p:tgtEl>
                                        <p:attrNameLst>
                                          <p:attrName>style.visibility</p:attrName>
                                        </p:attrNameLst>
                                      </p:cBhvr>
                                      <p:to>
                                        <p:strVal val="visible"/>
                                      </p:to>
                                    </p:set>
                                    <p:animEffect transition="in" filter="fade">
                                      <p:cBhvr>
                                        <p:cTn id="86" dur="500"/>
                                        <p:tgtEl>
                                          <p:spTgt spid="29"/>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9" dur="500"/>
                                        <p:tgtEl>
                                          <p:spTgt spid="30"/>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1"/>
                                        </p:tgtEl>
                                        <p:attrNameLst>
                                          <p:attrName>style.visibility</p:attrName>
                                        </p:attrNameLst>
                                      </p:cBhvr>
                                      <p:to>
                                        <p:strVal val="visible"/>
                                      </p:to>
                                    </p:set>
                                    <p:animEffect transition="in" filter="fade">
                                      <p:cBhvr>
                                        <p:cTn id="92" dur="500"/>
                                        <p:tgtEl>
                                          <p:spTgt spid="31"/>
                                        </p:tgtEl>
                                      </p:cBhvr>
                                    </p:animEffect>
                                  </p:childTnLst>
                                </p:cTn>
                              </p:par>
                            </p:childTnLst>
                          </p:cTn>
                        </p:par>
                      </p:childTnLst>
                    </p:cTn>
                  </p:par>
                  <p:par>
                    <p:cTn id="103" fill="hold">
                      <p:stCondLst>
                        <p:cond delay="indefinite"/>
                      </p:stCondLst>
                      <p:childTnLst>
                        <p:par>
                          <p:cTn id="104" fill="hold">
                            <p:stCondLst>
                              <p:cond delay="0"/>
                            </p:stCondLst>
                            <p:childTnLst>
                              <p:par>
                                <p:cTn id="95" presetID="6" presetClass="emph" presetSubtype="0" fill="hold" grpId="1" nodeType="clickEffect">
                                  <p:stCondLst>
                                    <p:cond delay="0"/>
                                  </p:stCondLst>
                                  <p:childTnLst>
                                    <p:animScale>
                                      <p:cBhvr>
                                        <p:cTn id="96" dur="300" autoRev="1" fill="hold"/>
                                        <p:tgtEl>
                                          <p:spTgt spid="6"/>
                                        </p:tgtEl>
                                      </p:cBhvr>
                                      <p:by x="115000" y="115000"/>
                                    </p:animScale>
                                  </p:childTnLst>
                                </p:cTn>
                              </p:par>
                              <p:par>
                                <p:cTn id="97" presetID="6" presetClass="emph" presetSubtype="0" fill="hold" grpId="1" nodeType="withEffect">
                                  <p:stCondLst>
                                    <p:cond delay="0"/>
                                  </p:stCondLst>
                                  <p:childTnLst>
                                    <p:animScale>
                                      <p:cBhvr>
                                        <p:cTn id="98" dur="300" autoRev="1" fill="hold"/>
                                        <p:tgtEl>
                                          <p:spTgt spid="13"/>
                                        </p:tgtEl>
                                      </p:cBhvr>
                                      <p:by x="115000" y="115000"/>
                                    </p:animScale>
                                  </p:childTnLst>
                                </p:cTn>
                              </p:par>
                              <p:par>
                                <p:cTn id="99" presetID="6" presetClass="emph" presetSubtype="0" fill="hold" grpId="1" nodeType="withEffect">
                                  <p:stCondLst>
                                    <p:cond delay="0"/>
                                  </p:stCondLst>
                                  <p:childTnLst>
                                    <p:animScale>
                                      <p:cBhvr>
                                        <p:cTn id="100" dur="300" autoRev="1" fill="hold"/>
                                        <p:tgtEl>
                                          <p:spTgt spid="20"/>
                                        </p:tgtEl>
                                      </p:cBhvr>
                                      <p:by x="115000" y="115000"/>
                                    </p:animScale>
                                  </p:childTnLst>
                                </p:cTn>
                              </p:par>
                              <p:par>
                                <p:cTn id="101" presetID="6" presetClass="emph" presetSubtype="0" fill="hold" grpId="1" nodeType="withEffect">
                                  <p:stCondLst>
                                    <p:cond delay="0"/>
                                  </p:stCondLst>
                                  <p:childTnLst>
                                    <p:animScale>
                                      <p:cBhvr>
                                        <p:cTn id="102" dur="300" autoRev="1" fill="hold"/>
                                        <p:tgtEl>
                                          <p:spTgt spid="27"/>
                                        </p:tgtEl>
                                      </p:cBhvr>
                                      <p:by x="115000" y="11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1" grpId="0" animBg="1"/>
      <p:bldP spid="12" grpId="0" animBg="1"/>
      <p:bldP spid="14" grpId="0" animBg="1"/>
      <p:bldP spid="15" grpId="0" animBg="1"/>
      <p:bldP spid="16" grpId="0" animBg="1"/>
      <p:bldP spid="17" grpId="0" animBg="1"/>
      <p:bldP spid="18" grpId="0" animBg="1"/>
      <p:bldP spid="19" grpId="0" animBg="1"/>
      <p:bldP spid="21" grpId="0" animBg="1"/>
      <p:bldP spid="22" grpId="0" animBg="1"/>
      <p:bldP spid="23" grpId="0" animBg="1"/>
      <p:bldP spid="24" grpId="0" animBg="1"/>
      <p:bldP spid="25" grpId="0" animBg="1"/>
      <p:bldP spid="26" grpId="0" animBg="1"/>
      <p:bldP spid="28" grpId="0" animBg="1"/>
      <p:bldP spid="29" grpId="0" animBg="1"/>
      <p:bldP spid="30" grpId="0" animBg="1"/>
      <p:bldP spid="3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01168"/>
            <a:ext cx="8229600" cy="566928"/>
          </a:xfrm>
          <a:prstGeom prst="rect">
            <a:avLst/>
          </a:prstGeom>
          <a:noFill/>
          <a:ln/>
        </p:spPr>
        <p:txBody>
          <a:bodyPr wrap="square" lIns="0" tIns="0" rIns="0" bIns="0" rtlCol="0" anchor="ctr"/>
          <a:lstStyle/>
          <a:p>
            <a:pPr indent="0" marL="0">
              <a:buNone/>
            </a:pPr>
            <a:r>
              <a:rPr lang="en-US" sz="2600" b="1" dirty="0">
                <a:solidFill>
                  <a:schemeClr val="bg1"/>
                </a:solidFill>
              </a:rPr>
              <a:t>Engine and Vehicle Faults</a:t>
            </a:r>
            <a:endParaRPr lang="en-US" sz="2600" dirty="0"/>
          </a:p>
        </p:txBody>
      </p:sp>
      <p:sp>
        <p:nvSpPr>
          <p:cNvPr id="4" name="clk01_card_59"/>
          <p:cNvSpPr/>
          <p:nvPr/>
        </p:nvSpPr>
        <p:spPr>
          <a:xfrm>
            <a:off x="457200" y="914400"/>
            <a:ext cx="4023360" cy="1700784"/>
          </a:xfrm>
          <a:prstGeom prst="roundRect">
            <a:avLst>
              <a:gd name="adj" fmla="val 5376"/>
            </a:avLst>
          </a:prstGeom>
          <a:solidFill>
            <a:srgbClr val="1C2128"/>
          </a:solidFill>
          <a:ln/>
          <a:effectLst>
            <a:outerShdw sx="100000" sy="100000" kx="0" ky="0" algn="bl" rotWithShape="0" blurRad="76200" dist="25400" dir="5400000">
              <a:srgbClr val="000000">
                <a:alpha val="40000"/>
              </a:srgbClr>
            </a:outerShdw>
          </a:effectLst>
        </p:spPr>
      </p:sp>
      <p:sp>
        <p:nvSpPr>
          <p:cNvPr id="5" name="clk01_iconbg_60"/>
          <p:cNvSpPr/>
          <p:nvPr/>
        </p:nvSpPr>
        <p:spPr>
          <a:xfrm>
            <a:off x="594360" y="1051560"/>
            <a:ext cx="714329" cy="714329"/>
          </a:xfrm>
          <a:prstGeom prst="ellipse">
            <a:avLst/>
          </a:prstGeom>
          <a:solidFill>
            <a:srgbClr val="000000"/>
          </a:solidFill>
          <a:ln w="12700">
            <a:solidFill>
              <a:srgbClr val="262C34"/>
            </a:solidFill>
            <a:prstDash val="solid"/>
          </a:ln>
        </p:spPr>
      </p:sp>
      <p:pic>
        <p:nvPicPr>
          <p:cNvPr id="6" name="clk01_icon_61" descr="Check Engine (MIL) symbol">    </p:cNvPr>
          <p:cNvPicPr>
            <a:picLocks noChangeAspect="1"/>
          </p:cNvPicPr>
          <p:nvPr/>
        </p:nvPicPr>
        <p:blipFill>
          <a:blip r:embed="rId1"/>
          <a:stretch>
            <a:fillRect/>
          </a:stretch>
        </p:blipFill>
        <p:spPr>
          <a:xfrm>
            <a:off x="694366" y="1151566"/>
            <a:ext cx="514317" cy="514317"/>
          </a:xfrm>
          <a:prstGeom prst="rect">
            <a:avLst/>
          </a:prstGeom>
        </p:spPr>
      </p:pic>
      <p:sp>
        <p:nvSpPr>
          <p:cNvPr id="7" name="clk01_name_62"/>
          <p:cNvSpPr txBox="1"/>
          <p:nvPr/>
        </p:nvSpPr>
        <p:spPr>
          <a:xfrm>
            <a:off x="1427561" y="1024128"/>
            <a:ext cx="2943271" cy="442884"/>
          </a:xfrm>
          <a:prstGeom prst="rect">
            <a:avLst/>
          </a:prstGeom>
          <a:noFill/>
          <a:ln/>
        </p:spPr>
        <p:txBody>
          <a:bodyPr wrap="square" lIns="0" tIns="0" rIns="0" bIns="0" rtlCol="0" anchor="ctr"/>
          <a:lstStyle/>
          <a:p>
            <a:pPr indent="0" marL="0">
              <a:buNone/>
            </a:pPr>
            <a:r>
              <a:rPr lang="en-US" sz="1300" b="1" dirty="0">
                <a:solidFill>
                  <a:srgbClr val="FFFFFF"/>
                </a:solidFill>
              </a:rPr>
              <a:t>Check Engine (MIL)</a:t>
            </a:r>
            <a:endParaRPr lang="en-US" sz="1300" dirty="0"/>
          </a:p>
        </p:txBody>
      </p:sp>
      <p:sp>
        <p:nvSpPr>
          <p:cNvPr id="8" name="clk01_respbox_63"/>
          <p:cNvSpPr/>
          <p:nvPr/>
        </p:nvSpPr>
        <p:spPr>
          <a:xfrm>
            <a:off x="1427561" y="1523017"/>
            <a:ext cx="2915839" cy="246888"/>
          </a:xfrm>
          <a:prstGeom prst="roundRect">
            <a:avLst>
              <a:gd name="adj" fmla="val 22222"/>
            </a:avLst>
          </a:prstGeom>
          <a:solidFill>
            <a:srgbClr val="FFB000"/>
          </a:solidFill>
          <a:ln/>
        </p:spPr>
      </p:sp>
      <p:sp>
        <p:nvSpPr>
          <p:cNvPr id="9" name="clk01_resp_64"/>
          <p:cNvSpPr txBox="1"/>
          <p:nvPr/>
        </p:nvSpPr>
        <p:spPr>
          <a:xfrm>
            <a:off x="1427561" y="1523017"/>
            <a:ext cx="2915839" cy="246888"/>
          </a:xfrm>
          <a:prstGeom prst="rect">
            <a:avLst/>
          </a:prstGeom>
          <a:noFill/>
          <a:ln/>
        </p:spPr>
        <p:txBody>
          <a:bodyPr wrap="square" lIns="0" tIns="0" rIns="0" bIns="0" rtlCol="0" anchor="ctr"/>
          <a:lstStyle/>
          <a:p>
            <a:pPr algn="ctr" indent="0" marL="0">
              <a:buNone/>
            </a:pPr>
            <a:r>
              <a:rPr lang="en-US" sz="900" b="1" spc="100" kern="0" dirty="0">
                <a:solidFill>
                  <a:srgbClr val="0F1215"/>
                </a:solidFill>
              </a:rPr>
              <a:t>INSPECT PROMPTLY</a:t>
            </a:r>
            <a:endParaRPr lang="en-US" sz="900" dirty="0"/>
          </a:p>
        </p:txBody>
      </p:sp>
      <p:sp>
        <p:nvSpPr>
          <p:cNvPr id="10" name="clk01_text_65"/>
          <p:cNvSpPr txBox="1"/>
          <p:nvPr/>
        </p:nvSpPr>
        <p:spPr>
          <a:xfrm>
            <a:off x="594360" y="1857329"/>
            <a:ext cx="3749040" cy="684703"/>
          </a:xfrm>
          <a:prstGeom prst="rect">
            <a:avLst/>
          </a:prstGeom>
          <a:noFill/>
          <a:ln/>
        </p:spPr>
        <p:txBody>
          <a:bodyPr wrap="square" lIns="0" tIns="0" rIns="0" bIns="0" rtlCol="0" anchor="t"/>
          <a:lstStyle/>
          <a:p>
            <a:pPr indent="0" marL="0">
              <a:spcAft>
                <a:spcPts val="300"/>
              </a:spcAft>
              <a:buNone/>
            </a:pPr>
            <a:r>
              <a:rPr lang="en-US" sz="1200" b="1" dirty="0">
                <a:solidFill>
                  <a:srgbClr val="FFB000"/>
                </a:solidFill>
              </a:rPr>
              <a:t>Means: </a:t>
            </a:r>
            <a:pPr indent="0" marL="0">
              <a:spcAft>
                <a:spcPts val="300"/>
              </a:spcAft>
              <a:buNone/>
            </a:pPr>
            <a:r>
              <a:rPr lang="en-US" sz="1200" dirty="0">
                <a:solidFill>
                  <a:srgbClr val="C9D1DA"/>
                </a:solidFill>
              </a:rPr>
              <a:t>Engine or emissions fault detected.</a:t>
            </a:r>
            <a:endParaRPr lang="en-US" sz="1200" dirty="0"/>
          </a:p>
          <a:p>
            <a:pPr indent="0" marL="0">
              <a:spcAft>
                <a:spcPts val="300"/>
              </a:spcAft>
              <a:buNone/>
            </a:pPr>
            <a:r>
              <a:rPr lang="en-US" sz="1200" b="1" dirty="0">
                <a:solidFill>
                  <a:srgbClr val="2ECC40"/>
                </a:solidFill>
              </a:rPr>
              <a:t>Do: </a:t>
            </a:r>
            <a:pPr indent="0" marL="0">
              <a:spcAft>
                <a:spcPts val="300"/>
              </a:spcAft>
              <a:buNone/>
            </a:pPr>
            <a:r>
              <a:rPr lang="en-US" sz="1200" dirty="0">
                <a:solidFill>
                  <a:srgbClr val="C9D1DA"/>
                </a:solidFill>
              </a:rPr>
              <a:t>Book an inspection. If flashing, slow down and stop safely.</a:t>
            </a:r>
            <a:endParaRPr lang="en-US" sz="1200" dirty="0"/>
          </a:p>
        </p:txBody>
      </p:sp>
      <p:sp>
        <p:nvSpPr>
          <p:cNvPr id="11" name="clk02_card_66"/>
          <p:cNvSpPr/>
          <p:nvPr/>
        </p:nvSpPr>
        <p:spPr>
          <a:xfrm>
            <a:off x="4663440" y="914400"/>
            <a:ext cx="4023360" cy="1700784"/>
          </a:xfrm>
          <a:prstGeom prst="roundRect">
            <a:avLst>
              <a:gd name="adj" fmla="val 5376"/>
            </a:avLst>
          </a:prstGeom>
          <a:solidFill>
            <a:srgbClr val="1C2128"/>
          </a:solidFill>
          <a:ln/>
          <a:effectLst>
            <a:outerShdw sx="100000" sy="100000" kx="0" ky="0" algn="bl" rotWithShape="0" blurRad="76200" dist="25400" dir="5400000">
              <a:srgbClr val="000000">
                <a:alpha val="40000"/>
              </a:srgbClr>
            </a:outerShdw>
          </a:effectLst>
        </p:spPr>
      </p:sp>
      <p:sp>
        <p:nvSpPr>
          <p:cNvPr id="12" name="clk02_iconbg_67"/>
          <p:cNvSpPr/>
          <p:nvPr/>
        </p:nvSpPr>
        <p:spPr>
          <a:xfrm>
            <a:off x="4800600" y="1051560"/>
            <a:ext cx="714329" cy="714329"/>
          </a:xfrm>
          <a:prstGeom prst="ellipse">
            <a:avLst/>
          </a:prstGeom>
          <a:solidFill>
            <a:srgbClr val="000000"/>
          </a:solidFill>
          <a:ln w="12700">
            <a:solidFill>
              <a:srgbClr val="262C34"/>
            </a:solidFill>
            <a:prstDash val="solid"/>
          </a:ln>
        </p:spPr>
      </p:sp>
      <p:pic>
        <p:nvPicPr>
          <p:cNvPr id="13" name="clk02_icon_68" descr="Transmission Warning symbol">    </p:cNvPr>
          <p:cNvPicPr>
            <a:picLocks noChangeAspect="1"/>
          </p:cNvPicPr>
          <p:nvPr/>
        </p:nvPicPr>
        <p:blipFill>
          <a:blip r:embed="rId2"/>
          <a:stretch>
            <a:fillRect/>
          </a:stretch>
        </p:blipFill>
        <p:spPr>
          <a:xfrm>
            <a:off x="4900606" y="1151566"/>
            <a:ext cx="514317" cy="514317"/>
          </a:xfrm>
          <a:prstGeom prst="rect">
            <a:avLst/>
          </a:prstGeom>
        </p:spPr>
      </p:pic>
      <p:sp>
        <p:nvSpPr>
          <p:cNvPr id="14" name="clk02_name_69"/>
          <p:cNvSpPr txBox="1"/>
          <p:nvPr/>
        </p:nvSpPr>
        <p:spPr>
          <a:xfrm>
            <a:off x="5633801" y="1024128"/>
            <a:ext cx="2943271" cy="442884"/>
          </a:xfrm>
          <a:prstGeom prst="rect">
            <a:avLst/>
          </a:prstGeom>
          <a:noFill/>
          <a:ln/>
        </p:spPr>
        <p:txBody>
          <a:bodyPr wrap="square" lIns="0" tIns="0" rIns="0" bIns="0" rtlCol="0" anchor="ctr"/>
          <a:lstStyle/>
          <a:p>
            <a:pPr indent="0" marL="0">
              <a:buNone/>
            </a:pPr>
            <a:r>
              <a:rPr lang="en-US" sz="1300" b="1" dirty="0">
                <a:solidFill>
                  <a:srgbClr val="FFFFFF"/>
                </a:solidFill>
              </a:rPr>
              <a:t>Transmission Warning</a:t>
            </a:r>
            <a:endParaRPr lang="en-US" sz="1300" dirty="0"/>
          </a:p>
        </p:txBody>
      </p:sp>
      <p:sp>
        <p:nvSpPr>
          <p:cNvPr id="15" name="clk02_respbox_70"/>
          <p:cNvSpPr/>
          <p:nvPr/>
        </p:nvSpPr>
        <p:spPr>
          <a:xfrm>
            <a:off x="5633801" y="1523017"/>
            <a:ext cx="2915839" cy="246888"/>
          </a:xfrm>
          <a:prstGeom prst="roundRect">
            <a:avLst>
              <a:gd name="adj" fmla="val 22222"/>
            </a:avLst>
          </a:prstGeom>
          <a:solidFill>
            <a:srgbClr val="FFB000"/>
          </a:solidFill>
          <a:ln/>
        </p:spPr>
      </p:sp>
      <p:sp>
        <p:nvSpPr>
          <p:cNvPr id="16" name="clk02_resp_71"/>
          <p:cNvSpPr txBox="1"/>
          <p:nvPr/>
        </p:nvSpPr>
        <p:spPr>
          <a:xfrm>
            <a:off x="5633801" y="1523017"/>
            <a:ext cx="2915839" cy="246888"/>
          </a:xfrm>
          <a:prstGeom prst="rect">
            <a:avLst/>
          </a:prstGeom>
          <a:noFill/>
          <a:ln/>
        </p:spPr>
        <p:txBody>
          <a:bodyPr wrap="square" lIns="0" tIns="0" rIns="0" bIns="0" rtlCol="0" anchor="ctr"/>
          <a:lstStyle/>
          <a:p>
            <a:pPr algn="ctr" indent="0" marL="0">
              <a:buNone/>
            </a:pPr>
            <a:r>
              <a:rPr lang="en-US" sz="900" b="1" spc="100" kern="0" dirty="0">
                <a:solidFill>
                  <a:srgbClr val="0F1215"/>
                </a:solidFill>
              </a:rPr>
              <a:t>INSPECT PROMPTLY</a:t>
            </a:r>
            <a:endParaRPr lang="en-US" sz="900" dirty="0"/>
          </a:p>
        </p:txBody>
      </p:sp>
      <p:sp>
        <p:nvSpPr>
          <p:cNvPr id="17" name="clk02_text_72"/>
          <p:cNvSpPr txBox="1"/>
          <p:nvPr/>
        </p:nvSpPr>
        <p:spPr>
          <a:xfrm>
            <a:off x="4800600" y="1857329"/>
            <a:ext cx="3749040" cy="684703"/>
          </a:xfrm>
          <a:prstGeom prst="rect">
            <a:avLst/>
          </a:prstGeom>
          <a:noFill/>
          <a:ln/>
        </p:spPr>
        <p:txBody>
          <a:bodyPr wrap="square" lIns="0" tIns="0" rIns="0" bIns="0" rtlCol="0" anchor="t"/>
          <a:lstStyle/>
          <a:p>
            <a:pPr indent="0" marL="0">
              <a:spcAft>
                <a:spcPts val="300"/>
              </a:spcAft>
              <a:buNone/>
            </a:pPr>
            <a:r>
              <a:rPr lang="en-US" sz="1200" b="1" dirty="0">
                <a:solidFill>
                  <a:srgbClr val="FFB000"/>
                </a:solidFill>
              </a:rPr>
              <a:t>Means: </a:t>
            </a:r>
            <a:pPr indent="0" marL="0">
              <a:spcAft>
                <a:spcPts val="300"/>
              </a:spcAft>
              <a:buNone/>
            </a:pPr>
            <a:r>
              <a:rPr lang="en-US" sz="1200" dirty="0">
                <a:solidFill>
                  <a:srgbClr val="C9D1DA"/>
                </a:solidFill>
              </a:rPr>
              <a:t>Gearbox fault or overheating (where fitted).</a:t>
            </a:r>
            <a:endParaRPr lang="en-US" sz="1200" dirty="0"/>
          </a:p>
          <a:p>
            <a:pPr indent="0" marL="0">
              <a:spcAft>
                <a:spcPts val="300"/>
              </a:spcAft>
              <a:buNone/>
            </a:pPr>
            <a:r>
              <a:rPr lang="en-US" sz="1200" b="1" dirty="0">
                <a:solidFill>
                  <a:srgbClr val="2ECC40"/>
                </a:solidFill>
              </a:rPr>
              <a:t>Do: </a:t>
            </a:r>
            <a:pPr indent="0" marL="0">
              <a:spcAft>
                <a:spcPts val="300"/>
              </a:spcAft>
              <a:buNone/>
            </a:pPr>
            <a:r>
              <a:rPr lang="en-US" sz="1200" dirty="0">
                <a:solidFill>
                  <a:srgbClr val="C9D1DA"/>
                </a:solidFill>
              </a:rPr>
              <a:t>Drive gently to a safe place; get it checked.</a:t>
            </a:r>
            <a:endParaRPr lang="en-US" sz="1200" dirty="0"/>
          </a:p>
        </p:txBody>
      </p:sp>
      <p:sp>
        <p:nvSpPr>
          <p:cNvPr id="18" name="clk03_card_73"/>
          <p:cNvSpPr/>
          <p:nvPr/>
        </p:nvSpPr>
        <p:spPr>
          <a:xfrm>
            <a:off x="457200" y="2798064"/>
            <a:ext cx="4023360" cy="1700784"/>
          </a:xfrm>
          <a:prstGeom prst="roundRect">
            <a:avLst>
              <a:gd name="adj" fmla="val 5376"/>
            </a:avLst>
          </a:prstGeom>
          <a:solidFill>
            <a:srgbClr val="1C2128"/>
          </a:solidFill>
          <a:ln/>
          <a:effectLst>
            <a:outerShdw sx="100000" sy="100000" kx="0" ky="0" algn="bl" rotWithShape="0" blurRad="76200" dist="25400" dir="5400000">
              <a:srgbClr val="000000">
                <a:alpha val="40000"/>
              </a:srgbClr>
            </a:outerShdw>
          </a:effectLst>
        </p:spPr>
      </p:sp>
      <p:sp>
        <p:nvSpPr>
          <p:cNvPr id="19" name="clk03_iconbg_74"/>
          <p:cNvSpPr/>
          <p:nvPr/>
        </p:nvSpPr>
        <p:spPr>
          <a:xfrm>
            <a:off x="594360" y="2935224"/>
            <a:ext cx="714329" cy="714329"/>
          </a:xfrm>
          <a:prstGeom prst="ellipse">
            <a:avLst/>
          </a:prstGeom>
          <a:solidFill>
            <a:srgbClr val="000000"/>
          </a:solidFill>
          <a:ln w="12700">
            <a:solidFill>
              <a:srgbClr val="262C34"/>
            </a:solidFill>
            <a:prstDash val="solid"/>
          </a:ln>
        </p:spPr>
      </p:sp>
      <p:pic>
        <p:nvPicPr>
          <p:cNvPr id="20" name="clk03_icon_75" descr="Power Steering (EPS) symbol">    </p:cNvPr>
          <p:cNvPicPr>
            <a:picLocks noChangeAspect="1"/>
          </p:cNvPicPr>
          <p:nvPr/>
        </p:nvPicPr>
        <p:blipFill>
          <a:blip r:embed="rId3"/>
          <a:stretch>
            <a:fillRect/>
          </a:stretch>
        </p:blipFill>
        <p:spPr>
          <a:xfrm>
            <a:off x="694366" y="3035230"/>
            <a:ext cx="514317" cy="514317"/>
          </a:xfrm>
          <a:prstGeom prst="rect">
            <a:avLst/>
          </a:prstGeom>
        </p:spPr>
      </p:pic>
      <p:sp>
        <p:nvSpPr>
          <p:cNvPr id="21" name="clk03_name_76"/>
          <p:cNvSpPr txBox="1"/>
          <p:nvPr/>
        </p:nvSpPr>
        <p:spPr>
          <a:xfrm>
            <a:off x="1427561" y="2907792"/>
            <a:ext cx="2943271" cy="442884"/>
          </a:xfrm>
          <a:prstGeom prst="rect">
            <a:avLst/>
          </a:prstGeom>
          <a:noFill/>
          <a:ln/>
        </p:spPr>
        <p:txBody>
          <a:bodyPr wrap="square" lIns="0" tIns="0" rIns="0" bIns="0" rtlCol="0" anchor="ctr"/>
          <a:lstStyle/>
          <a:p>
            <a:pPr indent="0" marL="0">
              <a:buNone/>
            </a:pPr>
            <a:r>
              <a:rPr lang="en-US" sz="1300" b="1" dirty="0">
                <a:solidFill>
                  <a:srgbClr val="FFFFFF"/>
                </a:solidFill>
              </a:rPr>
              <a:t>Power Steering (EPS)</a:t>
            </a:r>
            <a:endParaRPr lang="en-US" sz="1300" dirty="0"/>
          </a:p>
        </p:txBody>
      </p:sp>
      <p:sp>
        <p:nvSpPr>
          <p:cNvPr id="22" name="clk03_respbox_77"/>
          <p:cNvSpPr/>
          <p:nvPr/>
        </p:nvSpPr>
        <p:spPr>
          <a:xfrm>
            <a:off x="1427561" y="3406681"/>
            <a:ext cx="2915839" cy="246888"/>
          </a:xfrm>
          <a:prstGeom prst="roundRect">
            <a:avLst>
              <a:gd name="adj" fmla="val 22222"/>
            </a:avLst>
          </a:prstGeom>
          <a:solidFill>
            <a:srgbClr val="FFB000"/>
          </a:solidFill>
          <a:ln/>
        </p:spPr>
      </p:sp>
      <p:sp>
        <p:nvSpPr>
          <p:cNvPr id="23" name="clk03_resp_78"/>
          <p:cNvSpPr txBox="1"/>
          <p:nvPr/>
        </p:nvSpPr>
        <p:spPr>
          <a:xfrm>
            <a:off x="1427561" y="3406681"/>
            <a:ext cx="2915839" cy="246888"/>
          </a:xfrm>
          <a:prstGeom prst="rect">
            <a:avLst/>
          </a:prstGeom>
          <a:noFill/>
          <a:ln/>
        </p:spPr>
        <p:txBody>
          <a:bodyPr wrap="square" lIns="0" tIns="0" rIns="0" bIns="0" rtlCol="0" anchor="ctr"/>
          <a:lstStyle/>
          <a:p>
            <a:pPr algn="ctr" indent="0" marL="0">
              <a:buNone/>
            </a:pPr>
            <a:r>
              <a:rPr lang="en-US" sz="900" b="1" spc="100" kern="0" dirty="0">
                <a:solidFill>
                  <a:srgbClr val="0F1215"/>
                </a:solidFill>
              </a:rPr>
              <a:t>INSPECT PROMPTLY</a:t>
            </a:r>
            <a:endParaRPr lang="en-US" sz="900" dirty="0"/>
          </a:p>
        </p:txBody>
      </p:sp>
      <p:sp>
        <p:nvSpPr>
          <p:cNvPr id="24" name="clk03_text_79"/>
          <p:cNvSpPr txBox="1"/>
          <p:nvPr/>
        </p:nvSpPr>
        <p:spPr>
          <a:xfrm>
            <a:off x="594360" y="3740993"/>
            <a:ext cx="3749040" cy="684703"/>
          </a:xfrm>
          <a:prstGeom prst="rect">
            <a:avLst/>
          </a:prstGeom>
          <a:noFill/>
          <a:ln/>
        </p:spPr>
        <p:txBody>
          <a:bodyPr wrap="square" lIns="0" tIns="0" rIns="0" bIns="0" rtlCol="0" anchor="t"/>
          <a:lstStyle/>
          <a:p>
            <a:pPr indent="0" marL="0">
              <a:spcAft>
                <a:spcPts val="300"/>
              </a:spcAft>
              <a:buNone/>
            </a:pPr>
            <a:r>
              <a:rPr lang="en-US" sz="1200" b="1" dirty="0">
                <a:solidFill>
                  <a:srgbClr val="FFB000"/>
                </a:solidFill>
              </a:rPr>
              <a:t>Means: </a:t>
            </a:r>
            <a:pPr indent="0" marL="0">
              <a:spcAft>
                <a:spcPts val="300"/>
              </a:spcAft>
              <a:buNone/>
            </a:pPr>
            <a:r>
              <a:rPr lang="en-US" sz="1200" dirty="0">
                <a:solidFill>
                  <a:srgbClr val="C9D1DA"/>
                </a:solidFill>
              </a:rPr>
              <a:t>Steering assist fault: steering may feel heavy.</a:t>
            </a:r>
            <a:endParaRPr lang="en-US" sz="1200" dirty="0"/>
          </a:p>
          <a:p>
            <a:pPr indent="0" marL="0">
              <a:spcAft>
                <a:spcPts val="300"/>
              </a:spcAft>
              <a:buNone/>
            </a:pPr>
            <a:r>
              <a:rPr lang="en-US" sz="1200" b="1" dirty="0">
                <a:solidFill>
                  <a:srgbClr val="2ECC40"/>
                </a:solidFill>
              </a:rPr>
              <a:t>Do: </a:t>
            </a:r>
            <a:pPr indent="0" marL="0">
              <a:spcAft>
                <a:spcPts val="300"/>
              </a:spcAft>
              <a:buNone/>
            </a:pPr>
            <a:r>
              <a:rPr lang="en-US" sz="1200" dirty="0">
                <a:solidFill>
                  <a:srgbClr val="C9D1DA"/>
                </a:solidFill>
              </a:rPr>
              <a:t>Slow down, drive carefully to a safe place, get it checked.</a:t>
            </a:r>
            <a:endParaRPr lang="en-US" sz="1200" dirty="0"/>
          </a:p>
        </p:txBody>
      </p:sp>
      <p:sp>
        <p:nvSpPr>
          <p:cNvPr id="25" name="clk04_card_80"/>
          <p:cNvSpPr/>
          <p:nvPr/>
        </p:nvSpPr>
        <p:spPr>
          <a:xfrm>
            <a:off x="4663440" y="2798064"/>
            <a:ext cx="4023360" cy="1700784"/>
          </a:xfrm>
          <a:prstGeom prst="roundRect">
            <a:avLst>
              <a:gd name="adj" fmla="val 5376"/>
            </a:avLst>
          </a:prstGeom>
          <a:solidFill>
            <a:srgbClr val="1C2128"/>
          </a:solidFill>
          <a:ln/>
          <a:effectLst>
            <a:outerShdw sx="100000" sy="100000" kx="0" ky="0" algn="bl" rotWithShape="0" blurRad="76200" dist="25400" dir="5400000">
              <a:srgbClr val="000000">
                <a:alpha val="40000"/>
              </a:srgbClr>
            </a:outerShdw>
          </a:effectLst>
        </p:spPr>
      </p:sp>
      <p:sp>
        <p:nvSpPr>
          <p:cNvPr id="26" name="clk04_iconbg_81"/>
          <p:cNvSpPr/>
          <p:nvPr/>
        </p:nvSpPr>
        <p:spPr>
          <a:xfrm>
            <a:off x="4800600" y="2935224"/>
            <a:ext cx="714329" cy="714329"/>
          </a:xfrm>
          <a:prstGeom prst="ellipse">
            <a:avLst/>
          </a:prstGeom>
          <a:solidFill>
            <a:srgbClr val="000000"/>
          </a:solidFill>
          <a:ln w="12700">
            <a:solidFill>
              <a:srgbClr val="262C34"/>
            </a:solidFill>
            <a:prstDash val="solid"/>
          </a:ln>
        </p:spPr>
      </p:sp>
      <p:pic>
        <p:nvPicPr>
          <p:cNvPr id="27" name="clk04_icon_82" descr="Diesel Particulate Filter symbol">    </p:cNvPr>
          <p:cNvPicPr>
            <a:picLocks noChangeAspect="1"/>
          </p:cNvPicPr>
          <p:nvPr/>
        </p:nvPicPr>
        <p:blipFill>
          <a:blip r:embed="rId4"/>
          <a:stretch>
            <a:fillRect/>
          </a:stretch>
        </p:blipFill>
        <p:spPr>
          <a:xfrm>
            <a:off x="4900606" y="3035230"/>
            <a:ext cx="514317" cy="514317"/>
          </a:xfrm>
          <a:prstGeom prst="rect">
            <a:avLst/>
          </a:prstGeom>
        </p:spPr>
      </p:pic>
      <p:sp>
        <p:nvSpPr>
          <p:cNvPr id="28" name="clk04_name_83"/>
          <p:cNvSpPr txBox="1"/>
          <p:nvPr/>
        </p:nvSpPr>
        <p:spPr>
          <a:xfrm>
            <a:off x="5633801" y="2907792"/>
            <a:ext cx="2943271" cy="442884"/>
          </a:xfrm>
          <a:prstGeom prst="rect">
            <a:avLst/>
          </a:prstGeom>
          <a:noFill/>
          <a:ln/>
        </p:spPr>
        <p:txBody>
          <a:bodyPr wrap="square" lIns="0" tIns="0" rIns="0" bIns="0" rtlCol="0" anchor="ctr"/>
          <a:lstStyle/>
          <a:p>
            <a:pPr indent="0" marL="0">
              <a:buNone/>
            </a:pPr>
            <a:r>
              <a:rPr lang="en-US" sz="1300" b="1" dirty="0">
                <a:solidFill>
                  <a:srgbClr val="FFFFFF"/>
                </a:solidFill>
              </a:rPr>
              <a:t>Diesel Particulate Filter</a:t>
            </a:r>
            <a:endParaRPr lang="en-US" sz="1300" dirty="0"/>
          </a:p>
        </p:txBody>
      </p:sp>
      <p:sp>
        <p:nvSpPr>
          <p:cNvPr id="29" name="clk04_respbox_84"/>
          <p:cNvSpPr/>
          <p:nvPr/>
        </p:nvSpPr>
        <p:spPr>
          <a:xfrm>
            <a:off x="5633801" y="3406681"/>
            <a:ext cx="2915839" cy="246888"/>
          </a:xfrm>
          <a:prstGeom prst="roundRect">
            <a:avLst>
              <a:gd name="adj" fmla="val 22222"/>
            </a:avLst>
          </a:prstGeom>
          <a:solidFill>
            <a:srgbClr val="FFB000"/>
          </a:solidFill>
          <a:ln/>
        </p:spPr>
      </p:sp>
      <p:sp>
        <p:nvSpPr>
          <p:cNvPr id="30" name="clk04_resp_85"/>
          <p:cNvSpPr txBox="1"/>
          <p:nvPr/>
        </p:nvSpPr>
        <p:spPr>
          <a:xfrm>
            <a:off x="5633801" y="3406681"/>
            <a:ext cx="2915839" cy="246888"/>
          </a:xfrm>
          <a:prstGeom prst="rect">
            <a:avLst/>
          </a:prstGeom>
          <a:noFill/>
          <a:ln/>
        </p:spPr>
        <p:txBody>
          <a:bodyPr wrap="square" lIns="0" tIns="0" rIns="0" bIns="0" rtlCol="0" anchor="ctr"/>
          <a:lstStyle/>
          <a:p>
            <a:pPr algn="ctr" indent="0" marL="0">
              <a:buNone/>
            </a:pPr>
            <a:r>
              <a:rPr lang="en-US" sz="900" b="1" spc="100" kern="0" dirty="0">
                <a:solidFill>
                  <a:srgbClr val="0F1215"/>
                </a:solidFill>
              </a:rPr>
              <a:t>INSPECT PROMPTLY</a:t>
            </a:r>
            <a:endParaRPr lang="en-US" sz="900" dirty="0"/>
          </a:p>
        </p:txBody>
      </p:sp>
      <p:sp>
        <p:nvSpPr>
          <p:cNvPr id="31" name="clk04_text_86"/>
          <p:cNvSpPr txBox="1"/>
          <p:nvPr/>
        </p:nvSpPr>
        <p:spPr>
          <a:xfrm>
            <a:off x="4800600" y="3740993"/>
            <a:ext cx="3749040" cy="684703"/>
          </a:xfrm>
          <a:prstGeom prst="rect">
            <a:avLst/>
          </a:prstGeom>
          <a:noFill/>
          <a:ln/>
        </p:spPr>
        <p:txBody>
          <a:bodyPr wrap="square" lIns="0" tIns="0" rIns="0" bIns="0" rtlCol="0" anchor="t"/>
          <a:lstStyle/>
          <a:p>
            <a:pPr indent="0" marL="0">
              <a:spcAft>
                <a:spcPts val="300"/>
              </a:spcAft>
              <a:buNone/>
            </a:pPr>
            <a:r>
              <a:rPr lang="en-US" sz="1200" b="1" dirty="0">
                <a:solidFill>
                  <a:srgbClr val="FFB000"/>
                </a:solidFill>
              </a:rPr>
              <a:t>Means: </a:t>
            </a:r>
            <a:pPr indent="0" marL="0">
              <a:spcAft>
                <a:spcPts val="300"/>
              </a:spcAft>
              <a:buNone/>
            </a:pPr>
            <a:r>
              <a:rPr lang="en-US" sz="1200" dirty="0">
                <a:solidFill>
                  <a:srgbClr val="C9D1DA"/>
                </a:solidFill>
              </a:rPr>
              <a:t>Exhaust filter is getting blocked (diesels).</a:t>
            </a:r>
            <a:endParaRPr lang="en-US" sz="1200" dirty="0"/>
          </a:p>
          <a:p>
            <a:pPr indent="0" marL="0">
              <a:spcAft>
                <a:spcPts val="300"/>
              </a:spcAft>
              <a:buNone/>
            </a:pPr>
            <a:r>
              <a:rPr lang="en-US" sz="1200" b="1" dirty="0">
                <a:solidFill>
                  <a:srgbClr val="2ECC40"/>
                </a:solidFill>
              </a:rPr>
              <a:t>Do: </a:t>
            </a:r>
            <a:pPr indent="0" marL="0">
              <a:spcAft>
                <a:spcPts val="300"/>
              </a:spcAft>
              <a:buNone/>
            </a:pPr>
            <a:r>
              <a:rPr lang="en-US" sz="1200" dirty="0">
                <a:solidFill>
                  <a:srgbClr val="C9D1DA"/>
                </a:solidFill>
              </a:rPr>
              <a:t>Follow the handbook (often a steady drive); else see a garage.</a:t>
            </a:r>
            <a:endParaRPr lang="en-US" sz="1200" dirty="0"/>
          </a:p>
        </p:txBody>
      </p:sp>
      <p:sp>
        <p:nvSpPr>
          <p:cNvPr id="25" name="Slide Number Placeholder 0"/>
          <p:cNvSpPr>
            <a:spLocks noGrp="1"/>
          </p:cNvSpPr>
          <p:nvPr>
            <p:ph type="sldNum" sz="quarter" idx="4294967295"/>
          </p:nvPr>
        </p:nvSpPr>
        <p:spPr>
          <a:xfrm>
            <a:off x="8275320" y="4818888"/>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9E"/>
                </a:solidFill>
              </a:defRPr>
            </a:lvl1pPr>
          </a:lstStyle>
          <a:p>
            <a:pPr algn="r"/>
            <a:fld id="{F7021451-1387-4CA6-816F-3879F97B5CBC}" type="slidenum">
              <a:rPr b="0" lang="en-US"/>
              <a:t>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4" fill="hold">
                      <p:stCondLst>
                        <p:cond delay="indefinite"/>
                      </p:stCondLst>
                      <p:childTnLst>
                        <p:par>
                          <p:cTn id="25"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500"/>
                                        <p:tgtEl>
                                          <p:spTgt spid="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500"/>
                                        <p:tgtEl>
                                          <p:spTgt spid="5"/>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par>
                    <p:cTn id="47" fill="hold">
                      <p:stCondLst>
                        <p:cond delay="indefinite"/>
                      </p:stCondLst>
                      <p:childTnLst>
                        <p:par>
                          <p:cTn id="48"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00"/>
                                        <p:tgtEl>
                                          <p:spTgt spid="17"/>
                                        </p:tgtEl>
                                      </p:cBhvr>
                                    </p:animEffect>
                                  </p:childTnLst>
                                </p:cTn>
                              </p:par>
                            </p:childTnLst>
                          </p:cTn>
                        </p:par>
                      </p:childTnLst>
                    </p:cTn>
                  </p:par>
                  <p:par>
                    <p:cTn id="70" fill="hold">
                      <p:stCondLst>
                        <p:cond delay="indefinite"/>
                      </p:stCondLst>
                      <p:childTnLst>
                        <p:par>
                          <p:cTn id="71"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500"/>
                                        <p:tgtEl>
                                          <p:spTgt spid="1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500"/>
                                        <p:tgtEl>
                                          <p:spTgt spid="2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500"/>
                                        <p:tgtEl>
                                          <p:spTgt spid="21"/>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50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500"/>
                                        <p:tgtEl>
                                          <p:spTgt spid="23"/>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500"/>
                                        <p:tgtEl>
                                          <p:spTgt spid="24"/>
                                        </p:tgtEl>
                                      </p:cBhvr>
                                    </p:animEffect>
                                  </p:childTnLst>
                                </p:cTn>
                              </p:par>
                            </p:childTnLst>
                          </p:cTn>
                        </p:par>
                      </p:childTnLst>
                    </p:cTn>
                  </p:par>
                  <p:par>
                    <p:cTn id="93" fill="hold">
                      <p:stCondLst>
                        <p:cond delay="indefinite"/>
                      </p:stCondLst>
                      <p:childTnLst>
                        <p:par>
                          <p:cTn id="94"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500"/>
                                        <p:tgtEl>
                                          <p:spTgt spid="25"/>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500"/>
                                        <p:tgtEl>
                                          <p:spTgt spid="26"/>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7"/>
                                        </p:tgtEl>
                                        <p:attrNameLst>
                                          <p:attrName>style.visibility</p:attrName>
                                        </p:attrNameLst>
                                      </p:cBhvr>
                                      <p:to>
                                        <p:strVal val="visible"/>
                                      </p:to>
                                    </p:set>
                                    <p:animEffect transition="in" filter="fade">
                                      <p:cBhvr>
                                        <p:cTn id="80" dur="500"/>
                                        <p:tgtEl>
                                          <p:spTgt spid="27"/>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8"/>
                                        </p:tgtEl>
                                        <p:attrNameLst>
                                          <p:attrName>style.visibility</p:attrName>
                                        </p:attrNameLst>
                                      </p:cBhvr>
                                      <p:to>
                                        <p:strVal val="visible"/>
                                      </p:to>
                                    </p:set>
                                    <p:animEffect transition="in" filter="fade">
                                      <p:cBhvr>
                                        <p:cTn id="83" dur="500"/>
                                        <p:tgtEl>
                                          <p:spTgt spid="28"/>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9"/>
                                        </p:tgtEl>
                                        <p:attrNameLst>
                                          <p:attrName>style.visibility</p:attrName>
                                        </p:attrNameLst>
                                      </p:cBhvr>
                                      <p:to>
                                        <p:strVal val="visible"/>
                                      </p:to>
                                    </p:set>
                                    <p:animEffect transition="in" filter="fade">
                                      <p:cBhvr>
                                        <p:cTn id="86" dur="500"/>
                                        <p:tgtEl>
                                          <p:spTgt spid="29"/>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9" dur="500"/>
                                        <p:tgtEl>
                                          <p:spTgt spid="30"/>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1"/>
                                        </p:tgtEl>
                                        <p:attrNameLst>
                                          <p:attrName>style.visibility</p:attrName>
                                        </p:attrNameLst>
                                      </p:cBhvr>
                                      <p:to>
                                        <p:strVal val="visible"/>
                                      </p:to>
                                    </p:set>
                                    <p:animEffect transition="in" filter="fade">
                                      <p:cBhvr>
                                        <p:cTn id="92"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1" grpId="0" animBg="1"/>
      <p:bldP spid="12" grpId="0" animBg="1"/>
      <p:bldP spid="14" grpId="0" animBg="1"/>
      <p:bldP spid="15" grpId="0" animBg="1"/>
      <p:bldP spid="16" grpId="0" animBg="1"/>
      <p:bldP spid="17" grpId="0" animBg="1"/>
      <p:bldP spid="18" grpId="0" animBg="1"/>
      <p:bldP spid="19" grpId="0" animBg="1"/>
      <p:bldP spid="21" grpId="0" animBg="1"/>
      <p:bldP spid="22" grpId="0" animBg="1"/>
      <p:bldP spid="23" grpId="0" animBg="1"/>
      <p:bldP spid="24" grpId="0" animBg="1"/>
      <p:bldP spid="25" grpId="0" animBg="1"/>
      <p:bldP spid="26" grpId="0" animBg="1"/>
      <p:bldP spid="28" grpId="0" animBg="1"/>
      <p:bldP spid="29" grpId="0" animBg="1"/>
      <p:bldP spid="30" grpId="0" animBg="1"/>
      <p:bldP spid="3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01168"/>
            <a:ext cx="8229600" cy="566928"/>
          </a:xfrm>
          <a:prstGeom prst="rect">
            <a:avLst/>
          </a:prstGeom>
          <a:noFill/>
          <a:ln/>
        </p:spPr>
        <p:txBody>
          <a:bodyPr wrap="square" lIns="0" tIns="0" rIns="0" bIns="0" rtlCol="0" anchor="ctr"/>
          <a:lstStyle/>
          <a:p>
            <a:pPr indent="0" marL="0">
              <a:buNone/>
            </a:pPr>
            <a:r>
              <a:rPr lang="en-US" sz="2600" b="1" dirty="0">
                <a:solidFill>
                  <a:schemeClr val="bg1"/>
                </a:solidFill>
              </a:rPr>
              <a:t>Safety Systems</a:t>
            </a:r>
            <a:endParaRPr lang="en-US" sz="2600" dirty="0"/>
          </a:p>
        </p:txBody>
      </p:sp>
      <p:sp>
        <p:nvSpPr>
          <p:cNvPr id="4" name="clk01_card_87"/>
          <p:cNvSpPr/>
          <p:nvPr/>
        </p:nvSpPr>
        <p:spPr>
          <a:xfrm>
            <a:off x="457200" y="914400"/>
            <a:ext cx="2621280" cy="1700784"/>
          </a:xfrm>
          <a:prstGeom prst="roundRect">
            <a:avLst>
              <a:gd name="adj" fmla="val 5376"/>
            </a:avLst>
          </a:prstGeom>
          <a:solidFill>
            <a:srgbClr val="1C2128"/>
          </a:solidFill>
          <a:ln/>
          <a:effectLst>
            <a:outerShdw sx="100000" sy="100000" kx="0" ky="0" algn="bl" rotWithShape="0" blurRad="76200" dist="25400" dir="5400000">
              <a:srgbClr val="000000">
                <a:alpha val="40000"/>
              </a:srgbClr>
            </a:outerShdw>
          </a:effectLst>
        </p:spPr>
      </p:sp>
      <p:sp>
        <p:nvSpPr>
          <p:cNvPr id="5" name="clk01_iconbg_88"/>
          <p:cNvSpPr/>
          <p:nvPr/>
        </p:nvSpPr>
        <p:spPr>
          <a:xfrm>
            <a:off x="594360" y="1051560"/>
            <a:ext cx="714329" cy="714329"/>
          </a:xfrm>
          <a:prstGeom prst="ellipse">
            <a:avLst/>
          </a:prstGeom>
          <a:solidFill>
            <a:srgbClr val="000000"/>
          </a:solidFill>
          <a:ln w="12700">
            <a:solidFill>
              <a:srgbClr val="262C34"/>
            </a:solidFill>
            <a:prstDash val="solid"/>
          </a:ln>
        </p:spPr>
      </p:sp>
      <p:pic>
        <p:nvPicPr>
          <p:cNvPr id="6" name="clk01_icon_89" descr="Airbag (SRS) Warning symbol">    </p:cNvPr>
          <p:cNvPicPr>
            <a:picLocks noChangeAspect="1"/>
          </p:cNvPicPr>
          <p:nvPr/>
        </p:nvPicPr>
        <p:blipFill>
          <a:blip r:embed="rId1"/>
          <a:stretch>
            <a:fillRect/>
          </a:stretch>
        </p:blipFill>
        <p:spPr>
          <a:xfrm>
            <a:off x="694366" y="1151566"/>
            <a:ext cx="514317" cy="514317"/>
          </a:xfrm>
          <a:prstGeom prst="rect">
            <a:avLst/>
          </a:prstGeom>
        </p:spPr>
      </p:pic>
      <p:sp>
        <p:nvSpPr>
          <p:cNvPr id="7" name="clk01_name_90"/>
          <p:cNvSpPr txBox="1"/>
          <p:nvPr/>
        </p:nvSpPr>
        <p:spPr>
          <a:xfrm>
            <a:off x="1427561" y="1024128"/>
            <a:ext cx="1541191" cy="442884"/>
          </a:xfrm>
          <a:prstGeom prst="rect">
            <a:avLst/>
          </a:prstGeom>
          <a:noFill/>
          <a:ln/>
        </p:spPr>
        <p:txBody>
          <a:bodyPr wrap="square" lIns="0" tIns="0" rIns="0" bIns="0" rtlCol="0" anchor="ctr"/>
          <a:lstStyle/>
          <a:p>
            <a:pPr indent="0" marL="0">
              <a:buNone/>
            </a:pPr>
            <a:r>
              <a:rPr lang="en-US" sz="1300" b="1" dirty="0">
                <a:solidFill>
                  <a:srgbClr val="FFFFFF"/>
                </a:solidFill>
              </a:rPr>
              <a:t>Airbag (SRS) Warning</a:t>
            </a:r>
            <a:endParaRPr lang="en-US" sz="1300" dirty="0"/>
          </a:p>
        </p:txBody>
      </p:sp>
      <p:sp>
        <p:nvSpPr>
          <p:cNvPr id="8" name="clk01_respbox_91"/>
          <p:cNvSpPr/>
          <p:nvPr/>
        </p:nvSpPr>
        <p:spPr>
          <a:xfrm>
            <a:off x="1427561" y="1523017"/>
            <a:ext cx="1513759" cy="246888"/>
          </a:xfrm>
          <a:prstGeom prst="roundRect">
            <a:avLst>
              <a:gd name="adj" fmla="val 22222"/>
            </a:avLst>
          </a:prstGeom>
          <a:solidFill>
            <a:srgbClr val="FFB000"/>
          </a:solidFill>
          <a:ln/>
        </p:spPr>
      </p:sp>
      <p:sp>
        <p:nvSpPr>
          <p:cNvPr id="9" name="clk01_resp_92"/>
          <p:cNvSpPr txBox="1"/>
          <p:nvPr/>
        </p:nvSpPr>
        <p:spPr>
          <a:xfrm>
            <a:off x="1427561" y="1523017"/>
            <a:ext cx="1513759" cy="246888"/>
          </a:xfrm>
          <a:prstGeom prst="rect">
            <a:avLst/>
          </a:prstGeom>
          <a:noFill/>
          <a:ln/>
        </p:spPr>
        <p:txBody>
          <a:bodyPr wrap="square" lIns="0" tIns="0" rIns="0" bIns="0" rtlCol="0" anchor="ctr"/>
          <a:lstStyle/>
          <a:p>
            <a:pPr algn="ctr" indent="0" marL="0">
              <a:buNone/>
            </a:pPr>
            <a:r>
              <a:rPr lang="en-US" sz="900" b="1" spc="100" kern="0" dirty="0">
                <a:solidFill>
                  <a:srgbClr val="0F1215"/>
                </a:solidFill>
              </a:rPr>
              <a:t>INSPECT PROMPTLY</a:t>
            </a:r>
            <a:endParaRPr lang="en-US" sz="900" dirty="0"/>
          </a:p>
        </p:txBody>
      </p:sp>
      <p:sp>
        <p:nvSpPr>
          <p:cNvPr id="10" name="clk01_text_93"/>
          <p:cNvSpPr txBox="1"/>
          <p:nvPr/>
        </p:nvSpPr>
        <p:spPr>
          <a:xfrm>
            <a:off x="594360" y="1857329"/>
            <a:ext cx="2346960" cy="684703"/>
          </a:xfrm>
          <a:prstGeom prst="rect">
            <a:avLst/>
          </a:prstGeom>
          <a:noFill/>
          <a:ln/>
        </p:spPr>
        <p:txBody>
          <a:bodyPr wrap="square" lIns="0" tIns="0" rIns="0" bIns="0" rtlCol="0" anchor="t"/>
          <a:lstStyle/>
          <a:p>
            <a:pPr indent="0" marL="0">
              <a:spcAft>
                <a:spcPts val="300"/>
              </a:spcAft>
              <a:buNone/>
            </a:pPr>
            <a:r>
              <a:rPr lang="en-US" sz="1100" b="1" dirty="0">
                <a:solidFill>
                  <a:srgbClr val="FFB000"/>
                </a:solidFill>
              </a:rPr>
              <a:t>Means: </a:t>
            </a:r>
            <a:pPr indent="0" marL="0">
              <a:spcAft>
                <a:spcPts val="300"/>
              </a:spcAft>
              <a:buNone/>
            </a:pPr>
            <a:r>
              <a:rPr lang="en-US" sz="1100" dirty="0">
                <a:solidFill>
                  <a:srgbClr val="C9D1DA"/>
                </a:solidFill>
              </a:rPr>
              <a:t>Airbag fault: airbags may not deploy.</a:t>
            </a:r>
            <a:endParaRPr lang="en-US" sz="1100" dirty="0"/>
          </a:p>
          <a:p>
            <a:pPr indent="0" marL="0">
              <a:spcAft>
                <a:spcPts val="300"/>
              </a:spcAft>
              <a:buNone/>
            </a:pPr>
            <a:r>
              <a:rPr lang="en-US" sz="1100" b="1" dirty="0">
                <a:solidFill>
                  <a:srgbClr val="2ECC40"/>
                </a:solidFill>
              </a:rPr>
              <a:t>Do: </a:t>
            </a:r>
            <a:pPr indent="0" marL="0">
              <a:spcAft>
                <a:spcPts val="300"/>
              </a:spcAft>
              <a:buNone/>
            </a:pPr>
            <a:r>
              <a:rPr lang="en-US" sz="1100" dirty="0">
                <a:solidFill>
                  <a:srgbClr val="C9D1DA"/>
                </a:solidFill>
              </a:rPr>
              <a:t>Report it and get it repaired before the car is used.</a:t>
            </a:r>
            <a:endParaRPr lang="en-US" sz="1100" dirty="0"/>
          </a:p>
        </p:txBody>
      </p:sp>
      <p:sp>
        <p:nvSpPr>
          <p:cNvPr id="11" name="clk02_card_94"/>
          <p:cNvSpPr/>
          <p:nvPr/>
        </p:nvSpPr>
        <p:spPr>
          <a:xfrm>
            <a:off x="3261360" y="914400"/>
            <a:ext cx="2621280" cy="1700784"/>
          </a:xfrm>
          <a:prstGeom prst="roundRect">
            <a:avLst>
              <a:gd name="adj" fmla="val 5376"/>
            </a:avLst>
          </a:prstGeom>
          <a:solidFill>
            <a:srgbClr val="1C2128"/>
          </a:solidFill>
          <a:ln/>
          <a:effectLst>
            <a:outerShdw sx="100000" sy="100000" kx="0" ky="0" algn="bl" rotWithShape="0" blurRad="76200" dist="25400" dir="5400000">
              <a:srgbClr val="000000">
                <a:alpha val="40000"/>
              </a:srgbClr>
            </a:outerShdw>
          </a:effectLst>
        </p:spPr>
      </p:sp>
      <p:sp>
        <p:nvSpPr>
          <p:cNvPr id="12" name="clk02_iconbg_95"/>
          <p:cNvSpPr/>
          <p:nvPr/>
        </p:nvSpPr>
        <p:spPr>
          <a:xfrm>
            <a:off x="3398520" y="1051560"/>
            <a:ext cx="714329" cy="714329"/>
          </a:xfrm>
          <a:prstGeom prst="ellipse">
            <a:avLst/>
          </a:prstGeom>
          <a:solidFill>
            <a:srgbClr val="000000"/>
          </a:solidFill>
          <a:ln w="12700">
            <a:solidFill>
              <a:srgbClr val="262C34"/>
            </a:solidFill>
            <a:prstDash val="solid"/>
          </a:ln>
        </p:spPr>
      </p:sp>
      <p:pic>
        <p:nvPicPr>
          <p:cNvPr id="13" name="clk02_icon_96" descr="Seatbelt Reminder symbol">    </p:cNvPr>
          <p:cNvPicPr>
            <a:picLocks noChangeAspect="1"/>
          </p:cNvPicPr>
          <p:nvPr/>
        </p:nvPicPr>
        <p:blipFill>
          <a:blip r:embed="rId2"/>
          <a:stretch>
            <a:fillRect/>
          </a:stretch>
        </p:blipFill>
        <p:spPr>
          <a:xfrm>
            <a:off x="3498526" y="1151566"/>
            <a:ext cx="514317" cy="514317"/>
          </a:xfrm>
          <a:prstGeom prst="rect">
            <a:avLst/>
          </a:prstGeom>
        </p:spPr>
      </p:pic>
      <p:sp>
        <p:nvSpPr>
          <p:cNvPr id="14" name="clk02_name_97"/>
          <p:cNvSpPr txBox="1"/>
          <p:nvPr/>
        </p:nvSpPr>
        <p:spPr>
          <a:xfrm>
            <a:off x="4231721" y="1024128"/>
            <a:ext cx="1541191" cy="442884"/>
          </a:xfrm>
          <a:prstGeom prst="rect">
            <a:avLst/>
          </a:prstGeom>
          <a:noFill/>
          <a:ln/>
        </p:spPr>
        <p:txBody>
          <a:bodyPr wrap="square" lIns="0" tIns="0" rIns="0" bIns="0" rtlCol="0" anchor="ctr"/>
          <a:lstStyle/>
          <a:p>
            <a:pPr indent="0" marL="0">
              <a:buNone/>
            </a:pPr>
            <a:r>
              <a:rPr lang="en-US" sz="1300" b="1" dirty="0">
                <a:solidFill>
                  <a:srgbClr val="FFFFFF"/>
                </a:solidFill>
              </a:rPr>
              <a:t>Seatbelt Reminder</a:t>
            </a:r>
            <a:endParaRPr lang="en-US" sz="1300" dirty="0"/>
          </a:p>
        </p:txBody>
      </p:sp>
      <p:sp>
        <p:nvSpPr>
          <p:cNvPr id="15" name="clk02_respbox_98"/>
          <p:cNvSpPr/>
          <p:nvPr/>
        </p:nvSpPr>
        <p:spPr>
          <a:xfrm>
            <a:off x="4231721" y="1523017"/>
            <a:ext cx="1513759" cy="246888"/>
          </a:xfrm>
          <a:prstGeom prst="roundRect">
            <a:avLst>
              <a:gd name="adj" fmla="val 22222"/>
            </a:avLst>
          </a:prstGeom>
          <a:solidFill>
            <a:srgbClr val="E53935"/>
          </a:solidFill>
          <a:ln/>
        </p:spPr>
      </p:sp>
      <p:sp>
        <p:nvSpPr>
          <p:cNvPr id="16" name="clk02_resp_99"/>
          <p:cNvSpPr txBox="1"/>
          <p:nvPr/>
        </p:nvSpPr>
        <p:spPr>
          <a:xfrm>
            <a:off x="4231721" y="1523017"/>
            <a:ext cx="1513759" cy="246888"/>
          </a:xfrm>
          <a:prstGeom prst="rect">
            <a:avLst/>
          </a:prstGeom>
          <a:noFill/>
          <a:ln/>
        </p:spPr>
        <p:txBody>
          <a:bodyPr wrap="square" lIns="0" tIns="0" rIns="0" bIns="0" rtlCol="0" anchor="ctr"/>
          <a:lstStyle/>
          <a:p>
            <a:pPr algn="ctr" indent="0" marL="0">
              <a:buNone/>
            </a:pPr>
            <a:r>
              <a:rPr lang="en-US" sz="900" b="1" spc="100" kern="0" dirty="0">
                <a:solidFill>
                  <a:srgbClr val="FFFFFF"/>
                </a:solidFill>
              </a:rPr>
              <a:t>BUCKLE UP FIRST</a:t>
            </a:r>
            <a:endParaRPr lang="en-US" sz="900" dirty="0"/>
          </a:p>
        </p:txBody>
      </p:sp>
      <p:sp>
        <p:nvSpPr>
          <p:cNvPr id="17" name="clk02_text_100"/>
          <p:cNvSpPr txBox="1"/>
          <p:nvPr/>
        </p:nvSpPr>
        <p:spPr>
          <a:xfrm>
            <a:off x="3398520" y="1857329"/>
            <a:ext cx="2346960" cy="684703"/>
          </a:xfrm>
          <a:prstGeom prst="rect">
            <a:avLst/>
          </a:prstGeom>
          <a:noFill/>
          <a:ln/>
        </p:spPr>
        <p:txBody>
          <a:bodyPr wrap="square" lIns="0" tIns="0" rIns="0" bIns="0" rtlCol="0" anchor="t"/>
          <a:lstStyle/>
          <a:p>
            <a:pPr indent="0" marL="0">
              <a:spcAft>
                <a:spcPts val="300"/>
              </a:spcAft>
              <a:buNone/>
            </a:pPr>
            <a:r>
              <a:rPr lang="en-US" sz="1100" b="1" dirty="0">
                <a:solidFill>
                  <a:srgbClr val="FFB000"/>
                </a:solidFill>
              </a:rPr>
              <a:t>Means: </a:t>
            </a:r>
            <a:pPr indent="0" marL="0">
              <a:spcAft>
                <a:spcPts val="300"/>
              </a:spcAft>
              <a:buNone/>
            </a:pPr>
            <a:r>
              <a:rPr lang="en-US" sz="1100" dirty="0">
                <a:solidFill>
                  <a:srgbClr val="C9D1DA"/>
                </a:solidFill>
              </a:rPr>
              <a:t>A seatbelt is not fastened.</a:t>
            </a:r>
            <a:endParaRPr lang="en-US" sz="1100" dirty="0"/>
          </a:p>
          <a:p>
            <a:pPr indent="0" marL="0">
              <a:spcAft>
                <a:spcPts val="300"/>
              </a:spcAft>
              <a:buNone/>
            </a:pPr>
            <a:r>
              <a:rPr lang="en-US" sz="1100" b="1" dirty="0">
                <a:solidFill>
                  <a:srgbClr val="2ECC40"/>
                </a:solidFill>
              </a:rPr>
              <a:t>Do: </a:t>
            </a:r>
            <a:pPr indent="0" marL="0">
              <a:spcAft>
                <a:spcPts val="300"/>
              </a:spcAft>
              <a:buNone/>
            </a:pPr>
            <a:r>
              <a:rPr lang="en-US" sz="1100" dirty="0">
                <a:solidFill>
                  <a:srgbClr val="C9D1DA"/>
                </a:solidFill>
              </a:rPr>
              <a:t>Everyone buckles up before the car moves.</a:t>
            </a:r>
            <a:endParaRPr lang="en-US" sz="1100" dirty="0"/>
          </a:p>
        </p:txBody>
      </p:sp>
      <p:sp>
        <p:nvSpPr>
          <p:cNvPr id="18" name="clk03_card_101"/>
          <p:cNvSpPr/>
          <p:nvPr/>
        </p:nvSpPr>
        <p:spPr>
          <a:xfrm>
            <a:off x="6065520" y="914400"/>
            <a:ext cx="2621280" cy="1700784"/>
          </a:xfrm>
          <a:prstGeom prst="roundRect">
            <a:avLst>
              <a:gd name="adj" fmla="val 5376"/>
            </a:avLst>
          </a:prstGeom>
          <a:solidFill>
            <a:srgbClr val="1C2128"/>
          </a:solidFill>
          <a:ln/>
          <a:effectLst>
            <a:outerShdw sx="100000" sy="100000" kx="0" ky="0" algn="bl" rotWithShape="0" blurRad="76200" dist="25400" dir="5400000">
              <a:srgbClr val="000000">
                <a:alpha val="40000"/>
              </a:srgbClr>
            </a:outerShdw>
          </a:effectLst>
        </p:spPr>
      </p:sp>
      <p:sp>
        <p:nvSpPr>
          <p:cNvPr id="19" name="clk03_iconbg_102"/>
          <p:cNvSpPr/>
          <p:nvPr/>
        </p:nvSpPr>
        <p:spPr>
          <a:xfrm>
            <a:off x="6202680" y="1051560"/>
            <a:ext cx="714329" cy="714329"/>
          </a:xfrm>
          <a:prstGeom prst="ellipse">
            <a:avLst/>
          </a:prstGeom>
          <a:solidFill>
            <a:srgbClr val="000000"/>
          </a:solidFill>
          <a:ln w="12700">
            <a:solidFill>
              <a:srgbClr val="262C34"/>
            </a:solidFill>
            <a:prstDash val="solid"/>
          </a:ln>
        </p:spPr>
      </p:sp>
      <p:pic>
        <p:nvPicPr>
          <p:cNvPr id="20" name="clk03_icon_103" descr="ABS Warning symbol">    </p:cNvPr>
          <p:cNvPicPr>
            <a:picLocks noChangeAspect="1"/>
          </p:cNvPicPr>
          <p:nvPr/>
        </p:nvPicPr>
        <p:blipFill>
          <a:blip r:embed="rId3"/>
          <a:stretch>
            <a:fillRect/>
          </a:stretch>
        </p:blipFill>
        <p:spPr>
          <a:xfrm>
            <a:off x="6302686" y="1151566"/>
            <a:ext cx="514317" cy="514317"/>
          </a:xfrm>
          <a:prstGeom prst="rect">
            <a:avLst/>
          </a:prstGeom>
        </p:spPr>
      </p:pic>
      <p:sp>
        <p:nvSpPr>
          <p:cNvPr id="21" name="clk03_name_104"/>
          <p:cNvSpPr txBox="1"/>
          <p:nvPr/>
        </p:nvSpPr>
        <p:spPr>
          <a:xfrm>
            <a:off x="7035881" y="1024128"/>
            <a:ext cx="1541191" cy="442884"/>
          </a:xfrm>
          <a:prstGeom prst="rect">
            <a:avLst/>
          </a:prstGeom>
          <a:noFill/>
          <a:ln/>
        </p:spPr>
        <p:txBody>
          <a:bodyPr wrap="square" lIns="0" tIns="0" rIns="0" bIns="0" rtlCol="0" anchor="ctr"/>
          <a:lstStyle/>
          <a:p>
            <a:pPr indent="0" marL="0">
              <a:buNone/>
            </a:pPr>
            <a:r>
              <a:rPr lang="en-US" sz="1300" b="1" dirty="0">
                <a:solidFill>
                  <a:srgbClr val="FFFFFF"/>
                </a:solidFill>
              </a:rPr>
              <a:t>ABS Warning</a:t>
            </a:r>
            <a:endParaRPr lang="en-US" sz="1300" dirty="0"/>
          </a:p>
        </p:txBody>
      </p:sp>
      <p:sp>
        <p:nvSpPr>
          <p:cNvPr id="22" name="clk03_respbox_105"/>
          <p:cNvSpPr/>
          <p:nvPr/>
        </p:nvSpPr>
        <p:spPr>
          <a:xfrm>
            <a:off x="7035881" y="1523017"/>
            <a:ext cx="1513759" cy="246888"/>
          </a:xfrm>
          <a:prstGeom prst="roundRect">
            <a:avLst>
              <a:gd name="adj" fmla="val 22222"/>
            </a:avLst>
          </a:prstGeom>
          <a:solidFill>
            <a:srgbClr val="FFB000"/>
          </a:solidFill>
          <a:ln/>
        </p:spPr>
      </p:sp>
      <p:sp>
        <p:nvSpPr>
          <p:cNvPr id="23" name="clk03_resp_106"/>
          <p:cNvSpPr txBox="1"/>
          <p:nvPr/>
        </p:nvSpPr>
        <p:spPr>
          <a:xfrm>
            <a:off x="7035881" y="1523017"/>
            <a:ext cx="1513759" cy="246888"/>
          </a:xfrm>
          <a:prstGeom prst="rect">
            <a:avLst/>
          </a:prstGeom>
          <a:noFill/>
          <a:ln/>
        </p:spPr>
        <p:txBody>
          <a:bodyPr wrap="square" lIns="0" tIns="0" rIns="0" bIns="0" rtlCol="0" anchor="ctr"/>
          <a:lstStyle/>
          <a:p>
            <a:pPr algn="ctr" indent="0" marL="0">
              <a:buNone/>
            </a:pPr>
            <a:r>
              <a:rPr lang="en-US" sz="900" b="1" spc="100" kern="0" dirty="0">
                <a:solidFill>
                  <a:srgbClr val="0F1215"/>
                </a:solidFill>
              </a:rPr>
              <a:t>INSPECT PROMPTLY</a:t>
            </a:r>
            <a:endParaRPr lang="en-US" sz="900" dirty="0"/>
          </a:p>
        </p:txBody>
      </p:sp>
      <p:sp>
        <p:nvSpPr>
          <p:cNvPr id="24" name="clk03_text_107"/>
          <p:cNvSpPr txBox="1"/>
          <p:nvPr/>
        </p:nvSpPr>
        <p:spPr>
          <a:xfrm>
            <a:off x="6202680" y="1857329"/>
            <a:ext cx="2346960" cy="684703"/>
          </a:xfrm>
          <a:prstGeom prst="rect">
            <a:avLst/>
          </a:prstGeom>
          <a:noFill/>
          <a:ln/>
        </p:spPr>
        <p:txBody>
          <a:bodyPr wrap="square" lIns="0" tIns="0" rIns="0" bIns="0" rtlCol="0" anchor="t"/>
          <a:lstStyle/>
          <a:p>
            <a:pPr indent="0" marL="0">
              <a:spcAft>
                <a:spcPts val="300"/>
              </a:spcAft>
              <a:buNone/>
            </a:pPr>
            <a:r>
              <a:rPr lang="en-US" sz="1100" b="1" dirty="0">
                <a:solidFill>
                  <a:srgbClr val="FFB000"/>
                </a:solidFill>
              </a:rPr>
              <a:t>Means: </a:t>
            </a:r>
            <a:pPr indent="0" marL="0">
              <a:spcAft>
                <a:spcPts val="300"/>
              </a:spcAft>
              <a:buNone/>
            </a:pPr>
            <a:r>
              <a:rPr lang="en-US" sz="1100" dirty="0">
                <a:solidFill>
                  <a:srgbClr val="C9D1DA"/>
                </a:solidFill>
              </a:rPr>
              <a:t>Anti-lock brakes off; normal brakes still work.</a:t>
            </a:r>
            <a:endParaRPr lang="en-US" sz="1100" dirty="0"/>
          </a:p>
          <a:p>
            <a:pPr indent="0" marL="0">
              <a:spcAft>
                <a:spcPts val="300"/>
              </a:spcAft>
              <a:buNone/>
            </a:pPr>
            <a:r>
              <a:rPr lang="en-US" sz="1100" b="1" dirty="0">
                <a:solidFill>
                  <a:srgbClr val="2ECC40"/>
                </a:solidFill>
              </a:rPr>
              <a:t>Do: </a:t>
            </a:r>
            <a:pPr indent="0" marL="0">
              <a:spcAft>
                <a:spcPts val="300"/>
              </a:spcAft>
              <a:buNone/>
            </a:pPr>
            <a:r>
              <a:rPr lang="en-US" sz="1100" dirty="0">
                <a:solidFill>
                  <a:srgbClr val="C9D1DA"/>
                </a:solidFill>
              </a:rPr>
              <a:t>Drive carefully, leave more stopping distance, get it checked.</a:t>
            </a:r>
            <a:endParaRPr lang="en-US" sz="1100" dirty="0"/>
          </a:p>
        </p:txBody>
      </p:sp>
      <p:sp>
        <p:nvSpPr>
          <p:cNvPr id="25" name="clk04_card_108"/>
          <p:cNvSpPr/>
          <p:nvPr/>
        </p:nvSpPr>
        <p:spPr>
          <a:xfrm>
            <a:off x="457200" y="2798064"/>
            <a:ext cx="2621280" cy="1700784"/>
          </a:xfrm>
          <a:prstGeom prst="roundRect">
            <a:avLst>
              <a:gd name="adj" fmla="val 5376"/>
            </a:avLst>
          </a:prstGeom>
          <a:solidFill>
            <a:srgbClr val="1C2128"/>
          </a:solidFill>
          <a:ln/>
          <a:effectLst>
            <a:outerShdw sx="100000" sy="100000" kx="0" ky="0" algn="bl" rotWithShape="0" blurRad="76200" dist="25400" dir="5400000">
              <a:srgbClr val="000000">
                <a:alpha val="40000"/>
              </a:srgbClr>
            </a:outerShdw>
          </a:effectLst>
        </p:spPr>
      </p:sp>
      <p:sp>
        <p:nvSpPr>
          <p:cNvPr id="26" name="clk04_iconbg_109"/>
          <p:cNvSpPr/>
          <p:nvPr/>
        </p:nvSpPr>
        <p:spPr>
          <a:xfrm>
            <a:off x="594360" y="2935224"/>
            <a:ext cx="714329" cy="714329"/>
          </a:xfrm>
          <a:prstGeom prst="ellipse">
            <a:avLst/>
          </a:prstGeom>
          <a:solidFill>
            <a:srgbClr val="000000"/>
          </a:solidFill>
          <a:ln w="12700">
            <a:solidFill>
              <a:srgbClr val="262C34"/>
            </a:solidFill>
            <a:prstDash val="solid"/>
          </a:ln>
        </p:spPr>
      </p:sp>
      <p:pic>
        <p:nvPicPr>
          <p:cNvPr id="27" name="clk04_icon_110" descr="Stability / Traction (ESC) symbol">    </p:cNvPr>
          <p:cNvPicPr>
            <a:picLocks noChangeAspect="1"/>
          </p:cNvPicPr>
          <p:nvPr/>
        </p:nvPicPr>
        <p:blipFill>
          <a:blip r:embed="rId4"/>
          <a:stretch>
            <a:fillRect/>
          </a:stretch>
        </p:blipFill>
        <p:spPr>
          <a:xfrm>
            <a:off x="694366" y="3035230"/>
            <a:ext cx="514317" cy="514317"/>
          </a:xfrm>
          <a:prstGeom prst="rect">
            <a:avLst/>
          </a:prstGeom>
        </p:spPr>
      </p:pic>
      <p:sp>
        <p:nvSpPr>
          <p:cNvPr id="28" name="clk04_name_111"/>
          <p:cNvSpPr txBox="1"/>
          <p:nvPr/>
        </p:nvSpPr>
        <p:spPr>
          <a:xfrm>
            <a:off x="1427561" y="2907792"/>
            <a:ext cx="1541191" cy="442884"/>
          </a:xfrm>
          <a:prstGeom prst="rect">
            <a:avLst/>
          </a:prstGeom>
          <a:noFill/>
          <a:ln/>
        </p:spPr>
        <p:txBody>
          <a:bodyPr wrap="square" lIns="0" tIns="0" rIns="0" bIns="0" rtlCol="0" anchor="ctr"/>
          <a:lstStyle/>
          <a:p>
            <a:pPr indent="0" marL="0">
              <a:buNone/>
            </a:pPr>
            <a:r>
              <a:rPr lang="en-US" sz="1300" b="1" dirty="0">
                <a:solidFill>
                  <a:srgbClr val="FFFFFF"/>
                </a:solidFill>
              </a:rPr>
              <a:t>Stability / Traction (ESC)</a:t>
            </a:r>
            <a:endParaRPr lang="en-US" sz="1300" dirty="0"/>
          </a:p>
        </p:txBody>
      </p:sp>
      <p:sp>
        <p:nvSpPr>
          <p:cNvPr id="29" name="clk04_respbox_112"/>
          <p:cNvSpPr/>
          <p:nvPr/>
        </p:nvSpPr>
        <p:spPr>
          <a:xfrm>
            <a:off x="1427561" y="3406681"/>
            <a:ext cx="1513759" cy="246888"/>
          </a:xfrm>
          <a:prstGeom prst="roundRect">
            <a:avLst>
              <a:gd name="adj" fmla="val 22222"/>
            </a:avLst>
          </a:prstGeom>
          <a:solidFill>
            <a:srgbClr val="FFB000"/>
          </a:solidFill>
          <a:ln/>
        </p:spPr>
      </p:sp>
      <p:sp>
        <p:nvSpPr>
          <p:cNvPr id="30" name="clk04_resp_113"/>
          <p:cNvSpPr txBox="1"/>
          <p:nvPr/>
        </p:nvSpPr>
        <p:spPr>
          <a:xfrm>
            <a:off x="1427561" y="3406681"/>
            <a:ext cx="1513759" cy="246888"/>
          </a:xfrm>
          <a:prstGeom prst="rect">
            <a:avLst/>
          </a:prstGeom>
          <a:noFill/>
          <a:ln/>
        </p:spPr>
        <p:txBody>
          <a:bodyPr wrap="square" lIns="0" tIns="0" rIns="0" bIns="0" rtlCol="0" anchor="ctr"/>
          <a:lstStyle/>
          <a:p>
            <a:pPr algn="ctr" indent="0" marL="0">
              <a:buNone/>
            </a:pPr>
            <a:r>
              <a:rPr lang="en-US" sz="900" b="1" spc="100" kern="0" dirty="0">
                <a:solidFill>
                  <a:srgbClr val="0F1215"/>
                </a:solidFill>
              </a:rPr>
              <a:t>CAUTION</a:t>
            </a:r>
            <a:endParaRPr lang="en-US" sz="900" dirty="0"/>
          </a:p>
        </p:txBody>
      </p:sp>
      <p:sp>
        <p:nvSpPr>
          <p:cNvPr id="31" name="clk04_text_114"/>
          <p:cNvSpPr txBox="1"/>
          <p:nvPr/>
        </p:nvSpPr>
        <p:spPr>
          <a:xfrm>
            <a:off x="594360" y="3740993"/>
            <a:ext cx="2346960" cy="684703"/>
          </a:xfrm>
          <a:prstGeom prst="rect">
            <a:avLst/>
          </a:prstGeom>
          <a:noFill/>
          <a:ln/>
        </p:spPr>
        <p:txBody>
          <a:bodyPr wrap="square" lIns="0" tIns="0" rIns="0" bIns="0" rtlCol="0" anchor="t"/>
          <a:lstStyle/>
          <a:p>
            <a:pPr indent="0" marL="0">
              <a:spcAft>
                <a:spcPts val="300"/>
              </a:spcAft>
              <a:buNone/>
            </a:pPr>
            <a:r>
              <a:rPr lang="en-US" sz="1100" b="1" dirty="0">
                <a:solidFill>
                  <a:srgbClr val="FFB000"/>
                </a:solidFill>
              </a:rPr>
              <a:t>Means: </a:t>
            </a:r>
            <a:pPr indent="0" marL="0">
              <a:spcAft>
                <a:spcPts val="300"/>
              </a:spcAft>
              <a:buNone/>
            </a:pPr>
            <a:r>
              <a:rPr lang="en-US" sz="1100" dirty="0">
                <a:solidFill>
                  <a:srgbClr val="C9D1DA"/>
                </a:solidFill>
              </a:rPr>
              <a:t>Flashing: system working on a slippery road. Steady: fault or off.</a:t>
            </a:r>
            <a:endParaRPr lang="en-US" sz="1100" dirty="0"/>
          </a:p>
          <a:p>
            <a:pPr indent="0" marL="0">
              <a:spcAft>
                <a:spcPts val="300"/>
              </a:spcAft>
              <a:buNone/>
            </a:pPr>
            <a:r>
              <a:rPr lang="en-US" sz="1100" b="1" dirty="0">
                <a:solidFill>
                  <a:srgbClr val="2ECC40"/>
                </a:solidFill>
              </a:rPr>
              <a:t>Do: </a:t>
            </a:r>
            <a:pPr indent="0" marL="0">
              <a:spcAft>
                <a:spcPts val="300"/>
              </a:spcAft>
              <a:buNone/>
            </a:pPr>
            <a:r>
              <a:rPr lang="en-US" sz="1100" dirty="0">
                <a:solidFill>
                  <a:srgbClr val="C9D1DA"/>
                </a:solidFill>
              </a:rPr>
              <a:t>Flashing: ease off. Steady: drive carefully, get it checked.</a:t>
            </a:r>
            <a:endParaRPr lang="en-US" sz="1100" dirty="0"/>
          </a:p>
        </p:txBody>
      </p:sp>
      <p:sp>
        <p:nvSpPr>
          <p:cNvPr id="32" name="clk05_card_115"/>
          <p:cNvSpPr/>
          <p:nvPr/>
        </p:nvSpPr>
        <p:spPr>
          <a:xfrm>
            <a:off x="3261360" y="2798064"/>
            <a:ext cx="2621280" cy="1700784"/>
          </a:xfrm>
          <a:prstGeom prst="roundRect">
            <a:avLst>
              <a:gd name="adj" fmla="val 5376"/>
            </a:avLst>
          </a:prstGeom>
          <a:solidFill>
            <a:srgbClr val="1C2128"/>
          </a:solidFill>
          <a:ln/>
          <a:effectLst>
            <a:outerShdw sx="100000" sy="100000" kx="0" ky="0" algn="bl" rotWithShape="0" blurRad="76200" dist="25400" dir="5400000">
              <a:srgbClr val="000000">
                <a:alpha val="40000"/>
              </a:srgbClr>
            </a:outerShdw>
          </a:effectLst>
        </p:spPr>
      </p:sp>
      <p:sp>
        <p:nvSpPr>
          <p:cNvPr id="33" name="clk05_iconbg_116"/>
          <p:cNvSpPr/>
          <p:nvPr/>
        </p:nvSpPr>
        <p:spPr>
          <a:xfrm>
            <a:off x="3398520" y="2935224"/>
            <a:ext cx="714329" cy="714329"/>
          </a:xfrm>
          <a:prstGeom prst="ellipse">
            <a:avLst/>
          </a:prstGeom>
          <a:solidFill>
            <a:srgbClr val="000000"/>
          </a:solidFill>
          <a:ln w="12700">
            <a:solidFill>
              <a:srgbClr val="262C34"/>
            </a:solidFill>
            <a:prstDash val="solid"/>
          </a:ln>
        </p:spPr>
      </p:sp>
      <p:pic>
        <p:nvPicPr>
          <p:cNvPr id="34" name="clk05_icon_117" descr="Brake Assist symbol">    </p:cNvPr>
          <p:cNvPicPr>
            <a:picLocks noChangeAspect="1"/>
          </p:cNvPicPr>
          <p:nvPr/>
        </p:nvPicPr>
        <p:blipFill>
          <a:blip r:embed="rId5"/>
          <a:stretch>
            <a:fillRect/>
          </a:stretch>
        </p:blipFill>
        <p:spPr>
          <a:xfrm>
            <a:off x="3498526" y="3035230"/>
            <a:ext cx="514317" cy="514317"/>
          </a:xfrm>
          <a:prstGeom prst="rect">
            <a:avLst/>
          </a:prstGeom>
        </p:spPr>
      </p:pic>
      <p:sp>
        <p:nvSpPr>
          <p:cNvPr id="35" name="clk05_name_118"/>
          <p:cNvSpPr txBox="1"/>
          <p:nvPr/>
        </p:nvSpPr>
        <p:spPr>
          <a:xfrm>
            <a:off x="4231721" y="2907792"/>
            <a:ext cx="1541191" cy="442884"/>
          </a:xfrm>
          <a:prstGeom prst="rect">
            <a:avLst/>
          </a:prstGeom>
          <a:noFill/>
          <a:ln/>
        </p:spPr>
        <p:txBody>
          <a:bodyPr wrap="square" lIns="0" tIns="0" rIns="0" bIns="0" rtlCol="0" anchor="ctr"/>
          <a:lstStyle/>
          <a:p>
            <a:pPr indent="0" marL="0">
              <a:buNone/>
            </a:pPr>
            <a:r>
              <a:rPr lang="en-US" sz="1300" b="1" dirty="0">
                <a:solidFill>
                  <a:srgbClr val="FFFFFF"/>
                </a:solidFill>
              </a:rPr>
              <a:t>Brake Assist *</a:t>
            </a:r>
            <a:endParaRPr lang="en-US" sz="1300" dirty="0"/>
          </a:p>
        </p:txBody>
      </p:sp>
      <p:sp>
        <p:nvSpPr>
          <p:cNvPr id="36" name="clk05_respbox_119"/>
          <p:cNvSpPr/>
          <p:nvPr/>
        </p:nvSpPr>
        <p:spPr>
          <a:xfrm>
            <a:off x="4231721" y="3406681"/>
            <a:ext cx="1513759" cy="246888"/>
          </a:xfrm>
          <a:prstGeom prst="roundRect">
            <a:avLst>
              <a:gd name="adj" fmla="val 22222"/>
            </a:avLst>
          </a:prstGeom>
          <a:solidFill>
            <a:srgbClr val="FFB000"/>
          </a:solidFill>
          <a:ln/>
        </p:spPr>
      </p:sp>
      <p:sp>
        <p:nvSpPr>
          <p:cNvPr id="37" name="clk05_resp_120"/>
          <p:cNvSpPr txBox="1"/>
          <p:nvPr/>
        </p:nvSpPr>
        <p:spPr>
          <a:xfrm>
            <a:off x="4231721" y="3406681"/>
            <a:ext cx="1513759" cy="246888"/>
          </a:xfrm>
          <a:prstGeom prst="rect">
            <a:avLst/>
          </a:prstGeom>
          <a:noFill/>
          <a:ln/>
        </p:spPr>
        <p:txBody>
          <a:bodyPr wrap="square" lIns="0" tIns="0" rIns="0" bIns="0" rtlCol="0" anchor="ctr"/>
          <a:lstStyle/>
          <a:p>
            <a:pPr algn="ctr" indent="0" marL="0">
              <a:buNone/>
            </a:pPr>
            <a:r>
              <a:rPr lang="en-US" sz="900" b="1" spc="100" kern="0" dirty="0">
                <a:solidFill>
                  <a:srgbClr val="0F1215"/>
                </a:solidFill>
              </a:rPr>
              <a:t>INSPECT PROMPTLY</a:t>
            </a:r>
            <a:endParaRPr lang="en-US" sz="900" dirty="0"/>
          </a:p>
        </p:txBody>
      </p:sp>
      <p:sp>
        <p:nvSpPr>
          <p:cNvPr id="38" name="clk05_text_121"/>
          <p:cNvSpPr txBox="1"/>
          <p:nvPr/>
        </p:nvSpPr>
        <p:spPr>
          <a:xfrm>
            <a:off x="3398520" y="3740993"/>
            <a:ext cx="2346960" cy="684703"/>
          </a:xfrm>
          <a:prstGeom prst="rect">
            <a:avLst/>
          </a:prstGeom>
          <a:noFill/>
          <a:ln/>
        </p:spPr>
        <p:txBody>
          <a:bodyPr wrap="square" lIns="0" tIns="0" rIns="0" bIns="0" rtlCol="0" anchor="t"/>
          <a:lstStyle/>
          <a:p>
            <a:pPr indent="0" marL="0">
              <a:spcAft>
                <a:spcPts val="300"/>
              </a:spcAft>
              <a:buNone/>
            </a:pPr>
            <a:r>
              <a:rPr lang="en-US" sz="1100" b="1" dirty="0">
                <a:solidFill>
                  <a:srgbClr val="FFB000"/>
                </a:solidFill>
              </a:rPr>
              <a:t>Means: </a:t>
            </a:r>
            <a:pPr indent="0" marL="0">
              <a:spcAft>
                <a:spcPts val="300"/>
              </a:spcAft>
              <a:buNone/>
            </a:pPr>
            <a:r>
              <a:rPr lang="en-US" sz="1100" dirty="0">
                <a:solidFill>
                  <a:srgbClr val="C9D1DA"/>
                </a:solidFill>
              </a:rPr>
              <a:t>Emergency brake-assist fault (where indicated).</a:t>
            </a:r>
            <a:endParaRPr lang="en-US" sz="1100" dirty="0"/>
          </a:p>
          <a:p>
            <a:pPr indent="0" marL="0">
              <a:spcAft>
                <a:spcPts val="300"/>
              </a:spcAft>
              <a:buNone/>
            </a:pPr>
            <a:r>
              <a:rPr lang="en-US" sz="1100" b="1" dirty="0">
                <a:solidFill>
                  <a:srgbClr val="2ECC40"/>
                </a:solidFill>
              </a:rPr>
              <a:t>Do: </a:t>
            </a:r>
            <a:pPr indent="0" marL="0">
              <a:spcAft>
                <a:spcPts val="300"/>
              </a:spcAft>
              <a:buNone/>
            </a:pPr>
            <a:r>
              <a:rPr lang="en-US" sz="1100" dirty="0">
                <a:solidFill>
                  <a:srgbClr val="C9D1DA"/>
                </a:solidFill>
              </a:rPr>
              <a:t>Normal brakes work. Drive carefully; book a check.</a:t>
            </a:r>
            <a:endParaRPr lang="en-US" sz="1100" dirty="0"/>
          </a:p>
        </p:txBody>
      </p:sp>
      <p:sp>
        <p:nvSpPr>
          <p:cNvPr id="39" name="clk06_note_122"/>
          <p:cNvSpPr/>
          <p:nvPr/>
        </p:nvSpPr>
        <p:spPr>
          <a:xfrm>
            <a:off x="6065520" y="2798064"/>
            <a:ext cx="2621280" cy="1700784"/>
          </a:xfrm>
          <a:prstGeom prst="roundRect">
            <a:avLst>
              <a:gd name="adj" fmla="val 5376"/>
            </a:avLst>
          </a:prstGeom>
          <a:solidFill>
            <a:srgbClr val="262C34"/>
          </a:solidFill>
          <a:ln w="15240">
            <a:solidFill>
              <a:srgbClr val="FFB000"/>
            </a:solidFill>
            <a:prstDash val="dash"/>
          </a:ln>
        </p:spPr>
      </p:sp>
      <p:sp>
        <p:nvSpPr>
          <p:cNvPr id="40" name="clk06_notetext_123"/>
          <p:cNvSpPr txBox="1"/>
          <p:nvPr/>
        </p:nvSpPr>
        <p:spPr>
          <a:xfrm>
            <a:off x="6230112" y="2907792"/>
            <a:ext cx="2292096" cy="1481328"/>
          </a:xfrm>
          <a:prstGeom prst="rect">
            <a:avLst/>
          </a:prstGeom>
          <a:noFill/>
          <a:ln/>
        </p:spPr>
        <p:txBody>
          <a:bodyPr wrap="square" lIns="0" tIns="0" rIns="0" bIns="0" rtlCol="0" anchor="t"/>
          <a:lstStyle/>
          <a:p>
            <a:pPr indent="0" marL="0">
              <a:spcAft>
                <a:spcPts val="400"/>
              </a:spcAft>
              <a:buNone/>
            </a:pPr>
            <a:r>
              <a:rPr lang="en-US" sz="1300" b="1" dirty="0">
                <a:solidFill>
                  <a:srgbClr val="FFB000"/>
                </a:solidFill>
              </a:rPr>
              <a:t>Good to know</a:t>
            </a:r>
            <a:endParaRPr lang="en-US" sz="1300" dirty="0"/>
          </a:p>
          <a:p>
            <a:pPr indent="0" marL="0">
              <a:spcAft>
                <a:spcPts val="400"/>
              </a:spcAft>
              <a:buNone/>
            </a:pPr>
            <a:r>
              <a:rPr lang="en-US" sz="1150" dirty="0">
                <a:solidFill>
                  <a:srgbClr val="C9D1DA"/>
                </a:solidFill>
              </a:rPr>
              <a:t>Traction control (TCS) usually shares the ESC symbol, or shows 'TCS'. An 'OFF' version means the system was switched off. Brake Assist often has no symbol of its own.</a:t>
            </a:r>
            <a:endParaRPr lang="en-US" sz="1300" dirty="0"/>
          </a:p>
        </p:txBody>
      </p:sp>
      <p:sp>
        <p:nvSpPr>
          <p:cNvPr id="41" name="varies_note"/>
          <p:cNvSpPr txBox="1"/>
          <p:nvPr/>
        </p:nvSpPr>
        <p:spPr>
          <a:xfrm>
            <a:off x="457200" y="4544568"/>
            <a:ext cx="5486400" cy="228600"/>
          </a:xfrm>
          <a:prstGeom prst="rect">
            <a:avLst/>
          </a:prstGeom>
          <a:noFill/>
          <a:ln/>
        </p:spPr>
        <p:txBody>
          <a:bodyPr wrap="square" lIns="0" tIns="0" rIns="0" bIns="0" rtlCol="0" anchor="ctr"/>
          <a:lstStyle/>
          <a:p>
            <a:pPr indent="0" marL="0">
              <a:buNone/>
            </a:pPr>
            <a:r>
              <a:rPr lang="en-US" sz="950" i="1" dirty="0">
                <a:solidFill>
                  <a:srgbClr val="8A939E"/>
                </a:solidFill>
              </a:rPr>
              <a:t>* Symbol design varies by manufacturer. A generic example is shown.</a:t>
            </a:r>
            <a:endParaRPr lang="en-US" sz="950" dirty="0"/>
          </a:p>
        </p:txBody>
      </p:sp>
      <p:sp>
        <p:nvSpPr>
          <p:cNvPr id="25" name="Slide Number Placeholder 0"/>
          <p:cNvSpPr>
            <a:spLocks noGrp="1"/>
          </p:cNvSpPr>
          <p:nvPr>
            <p:ph type="sldNum" sz="quarter" idx="4294967295"/>
          </p:nvPr>
        </p:nvSpPr>
        <p:spPr>
          <a:xfrm>
            <a:off x="8275320" y="4818888"/>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9E"/>
                </a:solidFill>
              </a:defRPr>
            </a:lvl1pPr>
          </a:lstStyle>
          <a:p>
            <a:pPr algn="r"/>
            <a:fld id="{F7021451-1387-4CA6-816F-3879F97B5CBC}" type="slidenum">
              <a:rPr b="0" lang="en-US"/>
              <a:t>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4" fill="hold">
                      <p:stCondLst>
                        <p:cond delay="indefinite"/>
                      </p:stCondLst>
                      <p:childTnLst>
                        <p:par>
                          <p:cTn id="25"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500"/>
                                        <p:tgtEl>
                                          <p:spTgt spid="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500"/>
                                        <p:tgtEl>
                                          <p:spTgt spid="5"/>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par>
                    <p:cTn id="47" fill="hold">
                      <p:stCondLst>
                        <p:cond delay="indefinite"/>
                      </p:stCondLst>
                      <p:childTnLst>
                        <p:par>
                          <p:cTn id="48"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00"/>
                                        <p:tgtEl>
                                          <p:spTgt spid="17"/>
                                        </p:tgtEl>
                                      </p:cBhvr>
                                    </p:animEffect>
                                  </p:childTnLst>
                                </p:cTn>
                              </p:par>
                            </p:childTnLst>
                          </p:cTn>
                        </p:par>
                      </p:childTnLst>
                    </p:cTn>
                  </p:par>
                  <p:par>
                    <p:cTn id="70" fill="hold">
                      <p:stCondLst>
                        <p:cond delay="indefinite"/>
                      </p:stCondLst>
                      <p:childTnLst>
                        <p:par>
                          <p:cTn id="71"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500"/>
                                        <p:tgtEl>
                                          <p:spTgt spid="1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500"/>
                                        <p:tgtEl>
                                          <p:spTgt spid="2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500"/>
                                        <p:tgtEl>
                                          <p:spTgt spid="21"/>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50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500"/>
                                        <p:tgtEl>
                                          <p:spTgt spid="23"/>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500"/>
                                        <p:tgtEl>
                                          <p:spTgt spid="24"/>
                                        </p:tgtEl>
                                      </p:cBhvr>
                                    </p:animEffect>
                                  </p:childTnLst>
                                </p:cTn>
                              </p:par>
                            </p:childTnLst>
                          </p:cTn>
                        </p:par>
                      </p:childTnLst>
                    </p:cTn>
                  </p:par>
                  <p:par>
                    <p:cTn id="93" fill="hold">
                      <p:stCondLst>
                        <p:cond delay="indefinite"/>
                      </p:stCondLst>
                      <p:childTnLst>
                        <p:par>
                          <p:cTn id="94"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500"/>
                                        <p:tgtEl>
                                          <p:spTgt spid="25"/>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500"/>
                                        <p:tgtEl>
                                          <p:spTgt spid="26"/>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7"/>
                                        </p:tgtEl>
                                        <p:attrNameLst>
                                          <p:attrName>style.visibility</p:attrName>
                                        </p:attrNameLst>
                                      </p:cBhvr>
                                      <p:to>
                                        <p:strVal val="visible"/>
                                      </p:to>
                                    </p:set>
                                    <p:animEffect transition="in" filter="fade">
                                      <p:cBhvr>
                                        <p:cTn id="80" dur="500"/>
                                        <p:tgtEl>
                                          <p:spTgt spid="27"/>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8"/>
                                        </p:tgtEl>
                                        <p:attrNameLst>
                                          <p:attrName>style.visibility</p:attrName>
                                        </p:attrNameLst>
                                      </p:cBhvr>
                                      <p:to>
                                        <p:strVal val="visible"/>
                                      </p:to>
                                    </p:set>
                                    <p:animEffect transition="in" filter="fade">
                                      <p:cBhvr>
                                        <p:cTn id="83" dur="500"/>
                                        <p:tgtEl>
                                          <p:spTgt spid="28"/>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9"/>
                                        </p:tgtEl>
                                        <p:attrNameLst>
                                          <p:attrName>style.visibility</p:attrName>
                                        </p:attrNameLst>
                                      </p:cBhvr>
                                      <p:to>
                                        <p:strVal val="visible"/>
                                      </p:to>
                                    </p:set>
                                    <p:animEffect transition="in" filter="fade">
                                      <p:cBhvr>
                                        <p:cTn id="86" dur="500"/>
                                        <p:tgtEl>
                                          <p:spTgt spid="29"/>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9" dur="500"/>
                                        <p:tgtEl>
                                          <p:spTgt spid="30"/>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1"/>
                                        </p:tgtEl>
                                        <p:attrNameLst>
                                          <p:attrName>style.visibility</p:attrName>
                                        </p:attrNameLst>
                                      </p:cBhvr>
                                      <p:to>
                                        <p:strVal val="visible"/>
                                      </p:to>
                                    </p:set>
                                    <p:animEffect transition="in" filter="fade">
                                      <p:cBhvr>
                                        <p:cTn id="92" dur="500"/>
                                        <p:tgtEl>
                                          <p:spTgt spid="31"/>
                                        </p:tgtEl>
                                      </p:cBhvr>
                                    </p:animEffect>
                                  </p:childTnLst>
                                </p:cTn>
                              </p:par>
                            </p:childTnLst>
                          </p:cTn>
                        </p:par>
                      </p:childTnLst>
                    </p:cTn>
                  </p:par>
                  <p:par>
                    <p:cTn id="116" fill="hold">
                      <p:stCondLst>
                        <p:cond delay="indefinite"/>
                      </p:stCondLst>
                      <p:childTnLst>
                        <p:par>
                          <p:cTn id="117"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32"/>
                                        </p:tgtEl>
                                        <p:attrNameLst>
                                          <p:attrName>style.visibility</p:attrName>
                                        </p:attrNameLst>
                                      </p:cBhvr>
                                      <p:to>
                                        <p:strVal val="visible"/>
                                      </p:to>
                                    </p:set>
                                    <p:animEffect transition="in" filter="fade">
                                      <p:cBhvr>
                                        <p:cTn id="97" dur="500"/>
                                        <p:tgtEl>
                                          <p:spTgt spid="32"/>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3"/>
                                        </p:tgtEl>
                                        <p:attrNameLst>
                                          <p:attrName>style.visibility</p:attrName>
                                        </p:attrNameLst>
                                      </p:cBhvr>
                                      <p:to>
                                        <p:strVal val="visible"/>
                                      </p:to>
                                    </p:set>
                                    <p:animEffect transition="in" filter="fade">
                                      <p:cBhvr>
                                        <p:cTn id="100" dur="500"/>
                                        <p:tgtEl>
                                          <p:spTgt spid="33"/>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3" dur="500"/>
                                        <p:tgtEl>
                                          <p:spTgt spid="34"/>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5"/>
                                        </p:tgtEl>
                                        <p:attrNameLst>
                                          <p:attrName>style.visibility</p:attrName>
                                        </p:attrNameLst>
                                      </p:cBhvr>
                                      <p:to>
                                        <p:strVal val="visible"/>
                                      </p:to>
                                    </p:set>
                                    <p:animEffect transition="in" filter="fade">
                                      <p:cBhvr>
                                        <p:cTn id="106" dur="500"/>
                                        <p:tgtEl>
                                          <p:spTgt spid="35"/>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36"/>
                                        </p:tgtEl>
                                        <p:attrNameLst>
                                          <p:attrName>style.visibility</p:attrName>
                                        </p:attrNameLst>
                                      </p:cBhvr>
                                      <p:to>
                                        <p:strVal val="visible"/>
                                      </p:to>
                                    </p:set>
                                    <p:animEffect transition="in" filter="fade">
                                      <p:cBhvr>
                                        <p:cTn id="109" dur="500"/>
                                        <p:tgtEl>
                                          <p:spTgt spid="36"/>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37"/>
                                        </p:tgtEl>
                                        <p:attrNameLst>
                                          <p:attrName>style.visibility</p:attrName>
                                        </p:attrNameLst>
                                      </p:cBhvr>
                                      <p:to>
                                        <p:strVal val="visible"/>
                                      </p:to>
                                    </p:set>
                                    <p:animEffect transition="in" filter="fade">
                                      <p:cBhvr>
                                        <p:cTn id="112" dur="500"/>
                                        <p:tgtEl>
                                          <p:spTgt spid="37"/>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38"/>
                                        </p:tgtEl>
                                        <p:attrNameLst>
                                          <p:attrName>style.visibility</p:attrName>
                                        </p:attrNameLst>
                                      </p:cBhvr>
                                      <p:to>
                                        <p:strVal val="visible"/>
                                      </p:to>
                                    </p:set>
                                    <p:animEffect transition="in" filter="fade">
                                      <p:cBhvr>
                                        <p:cTn id="115" dur="500"/>
                                        <p:tgtEl>
                                          <p:spTgt spid="38"/>
                                        </p:tgtEl>
                                      </p:cBhvr>
                                    </p:animEffect>
                                  </p:childTnLst>
                                </p:cTn>
                              </p:par>
                            </p:childTnLst>
                          </p:cTn>
                        </p:par>
                      </p:childTnLst>
                    </p:cTn>
                  </p:par>
                  <p:par>
                    <p:cTn id="124" fill="hold">
                      <p:stCondLst>
                        <p:cond delay="indefinite"/>
                      </p:stCondLst>
                      <p:childTnLst>
                        <p:par>
                          <p:cTn id="125" fill="hold">
                            <p:stCondLst>
                              <p:cond delay="0"/>
                            </p:stCondLst>
                            <p:childTnLst>
                              <p:par>
                                <p:cTn id="118" presetID="10" presetClass="entr" presetSubtype="0" fill="hold" grpId="0" nodeType="clickEffect">
                                  <p:stCondLst>
                                    <p:cond delay="0"/>
                                  </p:stCondLst>
                                  <p:childTnLst>
                                    <p:set>
                                      <p:cBhvr>
                                        <p:cTn id="119" dur="1" fill="hold">
                                          <p:stCondLst>
                                            <p:cond delay="0"/>
                                          </p:stCondLst>
                                        </p:cTn>
                                        <p:tgtEl>
                                          <p:spTgt spid="39"/>
                                        </p:tgtEl>
                                        <p:attrNameLst>
                                          <p:attrName>style.visibility</p:attrName>
                                        </p:attrNameLst>
                                      </p:cBhvr>
                                      <p:to>
                                        <p:strVal val="visible"/>
                                      </p:to>
                                    </p:set>
                                    <p:animEffect transition="in" filter="fade">
                                      <p:cBhvr>
                                        <p:cTn id="120" dur="500"/>
                                        <p:tgtEl>
                                          <p:spTgt spid="39"/>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40"/>
                                        </p:tgtEl>
                                        <p:attrNameLst>
                                          <p:attrName>style.visibility</p:attrName>
                                        </p:attrNameLst>
                                      </p:cBhvr>
                                      <p:to>
                                        <p:strVal val="visible"/>
                                      </p:to>
                                    </p:set>
                                    <p:animEffect transition="in" filter="fade">
                                      <p:cBhvr>
                                        <p:cTn id="123"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1" grpId="0" animBg="1"/>
      <p:bldP spid="12" grpId="0" animBg="1"/>
      <p:bldP spid="14" grpId="0" animBg="1"/>
      <p:bldP spid="15" grpId="0" animBg="1"/>
      <p:bldP spid="16" grpId="0" animBg="1"/>
      <p:bldP spid="17" grpId="0" animBg="1"/>
      <p:bldP spid="18" grpId="0" animBg="1"/>
      <p:bldP spid="19" grpId="0" animBg="1"/>
      <p:bldP spid="21" grpId="0" animBg="1"/>
      <p:bldP spid="22" grpId="0" animBg="1"/>
      <p:bldP spid="23" grpId="0" animBg="1"/>
      <p:bldP spid="24" grpId="0" animBg="1"/>
      <p:bldP spid="25" grpId="0" animBg="1"/>
      <p:bldP spid="26" grpId="0" animBg="1"/>
      <p:bldP spid="28" grpId="0" animBg="1"/>
      <p:bldP spid="29" grpId="0" animBg="1"/>
      <p:bldP spid="30" grpId="0" animBg="1"/>
      <p:bldP spid="31" grpId="0" animBg="1"/>
      <p:bldP spid="32" grpId="0" animBg="1"/>
      <p:bldP spid="33" grpId="0" animBg="1"/>
      <p:bldP spid="35" grpId="0" animBg="1"/>
      <p:bldP spid="36" grpId="0" animBg="1"/>
      <p:bldP spid="37" grpId="0" animBg="1"/>
      <p:bldP spid="38" grpId="0" animBg="1"/>
      <p:bldP spid="39" grpId="0" animBg="1"/>
      <p:bldP spid="4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01168"/>
            <a:ext cx="8229600" cy="566928"/>
          </a:xfrm>
          <a:prstGeom prst="rect">
            <a:avLst/>
          </a:prstGeom>
          <a:noFill/>
          <a:ln/>
        </p:spPr>
        <p:txBody>
          <a:bodyPr wrap="square" lIns="0" tIns="0" rIns="0" bIns="0" rtlCol="0" anchor="ctr"/>
          <a:lstStyle/>
          <a:p>
            <a:pPr indent="0" marL="0">
              <a:buNone/>
            </a:pPr>
            <a:r>
              <a:rPr lang="en-US" sz="2600" b="1" dirty="0">
                <a:solidFill>
                  <a:schemeClr val="bg1"/>
                </a:solidFill>
              </a:rPr>
              <a:t>Tyres and Driver Assistance</a:t>
            </a:r>
            <a:endParaRPr lang="en-US" sz="2600" dirty="0"/>
          </a:p>
        </p:txBody>
      </p:sp>
      <p:sp>
        <p:nvSpPr>
          <p:cNvPr id="4" name="clk01_card_124"/>
          <p:cNvSpPr/>
          <p:nvPr/>
        </p:nvSpPr>
        <p:spPr>
          <a:xfrm>
            <a:off x="457200" y="914400"/>
            <a:ext cx="2621280" cy="1700784"/>
          </a:xfrm>
          <a:prstGeom prst="roundRect">
            <a:avLst>
              <a:gd name="adj" fmla="val 5376"/>
            </a:avLst>
          </a:prstGeom>
          <a:solidFill>
            <a:srgbClr val="1C2128"/>
          </a:solidFill>
          <a:ln/>
          <a:effectLst>
            <a:outerShdw sx="100000" sy="100000" kx="0" ky="0" algn="bl" rotWithShape="0" blurRad="76200" dist="25400" dir="5400000">
              <a:srgbClr val="000000">
                <a:alpha val="40000"/>
              </a:srgbClr>
            </a:outerShdw>
          </a:effectLst>
        </p:spPr>
      </p:sp>
      <p:sp>
        <p:nvSpPr>
          <p:cNvPr id="5" name="clk01_iconbg_125"/>
          <p:cNvSpPr/>
          <p:nvPr/>
        </p:nvSpPr>
        <p:spPr>
          <a:xfrm>
            <a:off x="594360" y="1051560"/>
            <a:ext cx="714329" cy="714329"/>
          </a:xfrm>
          <a:prstGeom prst="ellipse">
            <a:avLst/>
          </a:prstGeom>
          <a:solidFill>
            <a:srgbClr val="000000"/>
          </a:solidFill>
          <a:ln w="12700">
            <a:solidFill>
              <a:srgbClr val="262C34"/>
            </a:solidFill>
            <a:prstDash val="solid"/>
          </a:ln>
        </p:spPr>
      </p:sp>
      <p:pic>
        <p:nvPicPr>
          <p:cNvPr id="6" name="clk01_icon_126" descr="Tyre Pressure (TPMS) symbol">    </p:cNvPr>
          <p:cNvPicPr>
            <a:picLocks noChangeAspect="1"/>
          </p:cNvPicPr>
          <p:nvPr/>
        </p:nvPicPr>
        <p:blipFill>
          <a:blip r:embed="rId1"/>
          <a:stretch>
            <a:fillRect/>
          </a:stretch>
        </p:blipFill>
        <p:spPr>
          <a:xfrm>
            <a:off x="694366" y="1151566"/>
            <a:ext cx="514317" cy="514317"/>
          </a:xfrm>
          <a:prstGeom prst="rect">
            <a:avLst/>
          </a:prstGeom>
        </p:spPr>
      </p:pic>
      <p:sp>
        <p:nvSpPr>
          <p:cNvPr id="7" name="clk01_name_127"/>
          <p:cNvSpPr txBox="1"/>
          <p:nvPr/>
        </p:nvSpPr>
        <p:spPr>
          <a:xfrm>
            <a:off x="1427561" y="1024128"/>
            <a:ext cx="1541191" cy="442884"/>
          </a:xfrm>
          <a:prstGeom prst="rect">
            <a:avLst/>
          </a:prstGeom>
          <a:noFill/>
          <a:ln/>
        </p:spPr>
        <p:txBody>
          <a:bodyPr wrap="square" lIns="0" tIns="0" rIns="0" bIns="0" rtlCol="0" anchor="ctr"/>
          <a:lstStyle/>
          <a:p>
            <a:pPr indent="0" marL="0">
              <a:buNone/>
            </a:pPr>
            <a:r>
              <a:rPr lang="en-US" sz="1300" b="1" dirty="0">
                <a:solidFill>
                  <a:srgbClr val="FFFFFF"/>
                </a:solidFill>
              </a:rPr>
              <a:t>Tyre Pressure (TPMS)</a:t>
            </a:r>
            <a:endParaRPr lang="en-US" sz="1300" dirty="0"/>
          </a:p>
        </p:txBody>
      </p:sp>
      <p:sp>
        <p:nvSpPr>
          <p:cNvPr id="8" name="clk01_respbox_128"/>
          <p:cNvSpPr/>
          <p:nvPr/>
        </p:nvSpPr>
        <p:spPr>
          <a:xfrm>
            <a:off x="1427561" y="1523017"/>
            <a:ext cx="1513759" cy="246888"/>
          </a:xfrm>
          <a:prstGeom prst="roundRect">
            <a:avLst>
              <a:gd name="adj" fmla="val 22222"/>
            </a:avLst>
          </a:prstGeom>
          <a:solidFill>
            <a:srgbClr val="FFB000"/>
          </a:solidFill>
          <a:ln/>
        </p:spPr>
      </p:sp>
      <p:sp>
        <p:nvSpPr>
          <p:cNvPr id="9" name="clk01_resp_129"/>
          <p:cNvSpPr txBox="1"/>
          <p:nvPr/>
        </p:nvSpPr>
        <p:spPr>
          <a:xfrm>
            <a:off x="1427561" y="1523017"/>
            <a:ext cx="1513759" cy="246888"/>
          </a:xfrm>
          <a:prstGeom prst="rect">
            <a:avLst/>
          </a:prstGeom>
          <a:noFill/>
          <a:ln/>
        </p:spPr>
        <p:txBody>
          <a:bodyPr wrap="square" lIns="0" tIns="0" rIns="0" bIns="0" rtlCol="0" anchor="ctr"/>
          <a:lstStyle/>
          <a:p>
            <a:pPr algn="ctr" indent="0" marL="0">
              <a:buNone/>
            </a:pPr>
            <a:r>
              <a:rPr lang="en-US" sz="900" b="1" spc="100" kern="0" dirty="0">
                <a:solidFill>
                  <a:srgbClr val="0F1215"/>
                </a:solidFill>
              </a:rPr>
              <a:t>CHECK TYRES SOON</a:t>
            </a:r>
            <a:endParaRPr lang="en-US" sz="900" dirty="0"/>
          </a:p>
        </p:txBody>
      </p:sp>
      <p:sp>
        <p:nvSpPr>
          <p:cNvPr id="10" name="clk01_text_130"/>
          <p:cNvSpPr txBox="1"/>
          <p:nvPr/>
        </p:nvSpPr>
        <p:spPr>
          <a:xfrm>
            <a:off x="594360" y="1857329"/>
            <a:ext cx="2346960" cy="684703"/>
          </a:xfrm>
          <a:prstGeom prst="rect">
            <a:avLst/>
          </a:prstGeom>
          <a:noFill/>
          <a:ln/>
        </p:spPr>
        <p:txBody>
          <a:bodyPr wrap="square" lIns="0" tIns="0" rIns="0" bIns="0" rtlCol="0" anchor="t"/>
          <a:lstStyle/>
          <a:p>
            <a:pPr indent="0" marL="0">
              <a:spcAft>
                <a:spcPts val="300"/>
              </a:spcAft>
              <a:buNone/>
            </a:pPr>
            <a:r>
              <a:rPr lang="en-US" sz="1100" b="1" dirty="0">
                <a:solidFill>
                  <a:srgbClr val="FFB000"/>
                </a:solidFill>
              </a:rPr>
              <a:t>Means: </a:t>
            </a:r>
            <a:pPr indent="0" marL="0">
              <a:spcAft>
                <a:spcPts val="300"/>
              </a:spcAft>
              <a:buNone/>
            </a:pPr>
            <a:r>
              <a:rPr lang="en-US" sz="1100" dirty="0">
                <a:solidFill>
                  <a:srgbClr val="C9D1DA"/>
                </a:solidFill>
              </a:rPr>
              <a:t>One or more tyres are under-inflated.</a:t>
            </a:r>
            <a:endParaRPr lang="en-US" sz="1100" dirty="0"/>
          </a:p>
          <a:p>
            <a:pPr indent="0" marL="0">
              <a:spcAft>
                <a:spcPts val="300"/>
              </a:spcAft>
              <a:buNone/>
            </a:pPr>
            <a:r>
              <a:rPr lang="en-US" sz="1100" b="1" dirty="0">
                <a:solidFill>
                  <a:srgbClr val="2ECC40"/>
                </a:solidFill>
              </a:rPr>
              <a:t>Do: </a:t>
            </a:r>
            <a:pPr indent="0" marL="0">
              <a:spcAft>
                <a:spcPts val="300"/>
              </a:spcAft>
              <a:buNone/>
            </a:pPr>
            <a:r>
              <a:rPr lang="en-US" sz="1100" dirty="0">
                <a:solidFill>
                  <a:srgbClr val="C9D1DA"/>
                </a:solidFill>
              </a:rPr>
              <a:t>Slow down, check pressures at the next safe stop.</a:t>
            </a:r>
            <a:endParaRPr lang="en-US" sz="1100" dirty="0"/>
          </a:p>
        </p:txBody>
      </p:sp>
      <p:sp>
        <p:nvSpPr>
          <p:cNvPr id="11" name="clk02_card_131"/>
          <p:cNvSpPr/>
          <p:nvPr/>
        </p:nvSpPr>
        <p:spPr>
          <a:xfrm>
            <a:off x="3261360" y="914400"/>
            <a:ext cx="2621280" cy="1700784"/>
          </a:xfrm>
          <a:prstGeom prst="roundRect">
            <a:avLst>
              <a:gd name="adj" fmla="val 5376"/>
            </a:avLst>
          </a:prstGeom>
          <a:solidFill>
            <a:srgbClr val="1C2128"/>
          </a:solidFill>
          <a:ln/>
          <a:effectLst>
            <a:outerShdw sx="100000" sy="100000" kx="0" ky="0" algn="bl" rotWithShape="0" blurRad="76200" dist="25400" dir="5400000">
              <a:srgbClr val="000000">
                <a:alpha val="40000"/>
              </a:srgbClr>
            </a:outerShdw>
          </a:effectLst>
        </p:spPr>
      </p:sp>
      <p:sp>
        <p:nvSpPr>
          <p:cNvPr id="12" name="clk02_iconbg_132"/>
          <p:cNvSpPr/>
          <p:nvPr/>
        </p:nvSpPr>
        <p:spPr>
          <a:xfrm>
            <a:off x="3398520" y="1051560"/>
            <a:ext cx="714329" cy="714329"/>
          </a:xfrm>
          <a:prstGeom prst="ellipse">
            <a:avLst/>
          </a:prstGeom>
          <a:solidFill>
            <a:srgbClr val="000000"/>
          </a:solidFill>
          <a:ln w="12700">
            <a:solidFill>
              <a:srgbClr val="262C34"/>
            </a:solidFill>
            <a:prstDash val="solid"/>
          </a:ln>
        </p:spPr>
      </p:sp>
      <p:pic>
        <p:nvPicPr>
          <p:cNvPr id="13" name="clk02_icon_133" descr="Lane Departure Warning symbol">    </p:cNvPr>
          <p:cNvPicPr>
            <a:picLocks noChangeAspect="1"/>
          </p:cNvPicPr>
          <p:nvPr/>
        </p:nvPicPr>
        <p:blipFill>
          <a:blip r:embed="rId2"/>
          <a:stretch>
            <a:fillRect/>
          </a:stretch>
        </p:blipFill>
        <p:spPr>
          <a:xfrm>
            <a:off x="3498526" y="1151566"/>
            <a:ext cx="514317" cy="514317"/>
          </a:xfrm>
          <a:prstGeom prst="rect">
            <a:avLst/>
          </a:prstGeom>
        </p:spPr>
      </p:pic>
      <p:sp>
        <p:nvSpPr>
          <p:cNvPr id="14" name="clk02_name_134"/>
          <p:cNvSpPr txBox="1"/>
          <p:nvPr/>
        </p:nvSpPr>
        <p:spPr>
          <a:xfrm>
            <a:off x="4231721" y="1024128"/>
            <a:ext cx="1541191" cy="442884"/>
          </a:xfrm>
          <a:prstGeom prst="rect">
            <a:avLst/>
          </a:prstGeom>
          <a:noFill/>
          <a:ln/>
        </p:spPr>
        <p:txBody>
          <a:bodyPr wrap="square" lIns="0" tIns="0" rIns="0" bIns="0" rtlCol="0" anchor="ctr"/>
          <a:lstStyle/>
          <a:p>
            <a:pPr indent="0" marL="0">
              <a:buNone/>
            </a:pPr>
            <a:r>
              <a:rPr lang="en-US" sz="1300" b="1" dirty="0">
                <a:solidFill>
                  <a:srgbClr val="FFFFFF"/>
                </a:solidFill>
              </a:rPr>
              <a:t>Lane Departure Warning</a:t>
            </a:r>
            <a:endParaRPr lang="en-US" sz="1300" dirty="0"/>
          </a:p>
        </p:txBody>
      </p:sp>
      <p:sp>
        <p:nvSpPr>
          <p:cNvPr id="15" name="clk02_respbox_135"/>
          <p:cNvSpPr/>
          <p:nvPr/>
        </p:nvSpPr>
        <p:spPr>
          <a:xfrm>
            <a:off x="4231721" y="1523017"/>
            <a:ext cx="1513759" cy="246888"/>
          </a:xfrm>
          <a:prstGeom prst="roundRect">
            <a:avLst>
              <a:gd name="adj" fmla="val 22222"/>
            </a:avLst>
          </a:prstGeom>
          <a:solidFill>
            <a:srgbClr val="FFB000"/>
          </a:solidFill>
          <a:ln/>
        </p:spPr>
      </p:sp>
      <p:sp>
        <p:nvSpPr>
          <p:cNvPr id="16" name="clk02_resp_136"/>
          <p:cNvSpPr txBox="1"/>
          <p:nvPr/>
        </p:nvSpPr>
        <p:spPr>
          <a:xfrm>
            <a:off x="4231721" y="1523017"/>
            <a:ext cx="1513759" cy="246888"/>
          </a:xfrm>
          <a:prstGeom prst="rect">
            <a:avLst/>
          </a:prstGeom>
          <a:noFill/>
          <a:ln/>
        </p:spPr>
        <p:txBody>
          <a:bodyPr wrap="square" lIns="0" tIns="0" rIns="0" bIns="0" rtlCol="0" anchor="ctr"/>
          <a:lstStyle/>
          <a:p>
            <a:pPr algn="ctr" indent="0" marL="0">
              <a:buNone/>
            </a:pPr>
            <a:r>
              <a:rPr lang="en-US" sz="900" b="1" spc="100" kern="0" dirty="0">
                <a:solidFill>
                  <a:srgbClr val="0F1215"/>
                </a:solidFill>
              </a:rPr>
              <a:t>STAY ALERT</a:t>
            </a:r>
            <a:endParaRPr lang="en-US" sz="900" dirty="0"/>
          </a:p>
        </p:txBody>
      </p:sp>
      <p:sp>
        <p:nvSpPr>
          <p:cNvPr id="17" name="clk02_text_137"/>
          <p:cNvSpPr txBox="1"/>
          <p:nvPr/>
        </p:nvSpPr>
        <p:spPr>
          <a:xfrm>
            <a:off x="3398520" y="1857329"/>
            <a:ext cx="2346960" cy="684703"/>
          </a:xfrm>
          <a:prstGeom prst="rect">
            <a:avLst/>
          </a:prstGeom>
          <a:noFill/>
          <a:ln/>
        </p:spPr>
        <p:txBody>
          <a:bodyPr wrap="square" lIns="0" tIns="0" rIns="0" bIns="0" rtlCol="0" anchor="t"/>
          <a:lstStyle/>
          <a:p>
            <a:pPr indent="0" marL="0">
              <a:spcAft>
                <a:spcPts val="300"/>
              </a:spcAft>
              <a:buNone/>
            </a:pPr>
            <a:r>
              <a:rPr lang="en-US" sz="1100" b="1" dirty="0">
                <a:solidFill>
                  <a:srgbClr val="FFB000"/>
                </a:solidFill>
              </a:rPr>
              <a:t>Means: </a:t>
            </a:r>
            <a:pPr indent="0" marL="0">
              <a:spcAft>
                <a:spcPts val="300"/>
              </a:spcAft>
              <a:buNone/>
            </a:pPr>
            <a:r>
              <a:rPr lang="en-US" sz="1100" dirty="0">
                <a:solidFill>
                  <a:srgbClr val="C9D1DA"/>
                </a:solidFill>
              </a:rPr>
              <a:t>Car is drifting out of lane (or system fault).</a:t>
            </a:r>
            <a:endParaRPr lang="en-US" sz="1100" dirty="0"/>
          </a:p>
          <a:p>
            <a:pPr indent="0" marL="0">
              <a:spcAft>
                <a:spcPts val="300"/>
              </a:spcAft>
              <a:buNone/>
            </a:pPr>
            <a:r>
              <a:rPr lang="en-US" sz="1100" b="1" dirty="0">
                <a:solidFill>
                  <a:srgbClr val="2ECC40"/>
                </a:solidFill>
              </a:rPr>
              <a:t>Do: </a:t>
            </a:r>
            <a:pPr indent="0" marL="0">
              <a:spcAft>
                <a:spcPts val="300"/>
              </a:spcAft>
              <a:buNone/>
            </a:pPr>
            <a:r>
              <a:rPr lang="en-US" sz="1100" dirty="0">
                <a:solidFill>
                  <a:srgbClr val="C9D1DA"/>
                </a:solidFill>
              </a:rPr>
              <a:t>Steer back; take a break if you are tired.</a:t>
            </a:r>
            <a:endParaRPr lang="en-US" sz="1100" dirty="0"/>
          </a:p>
        </p:txBody>
      </p:sp>
      <p:sp>
        <p:nvSpPr>
          <p:cNvPr id="18" name="clk03_card_138"/>
          <p:cNvSpPr/>
          <p:nvPr/>
        </p:nvSpPr>
        <p:spPr>
          <a:xfrm>
            <a:off x="6065520" y="914400"/>
            <a:ext cx="2621280" cy="1700784"/>
          </a:xfrm>
          <a:prstGeom prst="roundRect">
            <a:avLst>
              <a:gd name="adj" fmla="val 5376"/>
            </a:avLst>
          </a:prstGeom>
          <a:solidFill>
            <a:srgbClr val="1C2128"/>
          </a:solidFill>
          <a:ln/>
          <a:effectLst>
            <a:outerShdw sx="100000" sy="100000" kx="0" ky="0" algn="bl" rotWithShape="0" blurRad="76200" dist="25400" dir="5400000">
              <a:srgbClr val="000000">
                <a:alpha val="40000"/>
              </a:srgbClr>
            </a:outerShdw>
          </a:effectLst>
        </p:spPr>
      </p:sp>
      <p:sp>
        <p:nvSpPr>
          <p:cNvPr id="19" name="clk03_iconbg_139"/>
          <p:cNvSpPr/>
          <p:nvPr/>
        </p:nvSpPr>
        <p:spPr>
          <a:xfrm>
            <a:off x="6202680" y="1051560"/>
            <a:ext cx="714329" cy="714329"/>
          </a:xfrm>
          <a:prstGeom prst="ellipse">
            <a:avLst/>
          </a:prstGeom>
          <a:solidFill>
            <a:srgbClr val="000000"/>
          </a:solidFill>
          <a:ln w="12700">
            <a:solidFill>
              <a:srgbClr val="262C34"/>
            </a:solidFill>
            <a:prstDash val="solid"/>
          </a:ln>
        </p:spPr>
      </p:sp>
      <p:pic>
        <p:nvPicPr>
          <p:cNvPr id="20" name="clk03_icon_140" descr="Forward Collision Warning symbol">    </p:cNvPr>
          <p:cNvPicPr>
            <a:picLocks noChangeAspect="1"/>
          </p:cNvPicPr>
          <p:nvPr/>
        </p:nvPicPr>
        <p:blipFill>
          <a:blip r:embed="rId3"/>
          <a:stretch>
            <a:fillRect/>
          </a:stretch>
        </p:blipFill>
        <p:spPr>
          <a:xfrm>
            <a:off x="6302686" y="1151566"/>
            <a:ext cx="514317" cy="514317"/>
          </a:xfrm>
          <a:prstGeom prst="rect">
            <a:avLst/>
          </a:prstGeom>
        </p:spPr>
      </p:pic>
      <p:sp>
        <p:nvSpPr>
          <p:cNvPr id="21" name="clk03_name_141"/>
          <p:cNvSpPr txBox="1"/>
          <p:nvPr/>
        </p:nvSpPr>
        <p:spPr>
          <a:xfrm>
            <a:off x="7035881" y="1024128"/>
            <a:ext cx="1541191" cy="442884"/>
          </a:xfrm>
          <a:prstGeom prst="rect">
            <a:avLst/>
          </a:prstGeom>
          <a:noFill/>
          <a:ln/>
        </p:spPr>
        <p:txBody>
          <a:bodyPr wrap="square" lIns="0" tIns="0" rIns="0" bIns="0" rtlCol="0" anchor="ctr"/>
          <a:lstStyle/>
          <a:p>
            <a:pPr indent="0" marL="0">
              <a:buNone/>
            </a:pPr>
            <a:r>
              <a:rPr lang="en-US" sz="1300" b="1" dirty="0">
                <a:solidFill>
                  <a:srgbClr val="FFFFFF"/>
                </a:solidFill>
              </a:rPr>
              <a:t>Forward Collision Warning *</a:t>
            </a:r>
            <a:endParaRPr lang="en-US" sz="1300" dirty="0"/>
          </a:p>
        </p:txBody>
      </p:sp>
      <p:sp>
        <p:nvSpPr>
          <p:cNvPr id="22" name="clk03_respbox_142"/>
          <p:cNvSpPr/>
          <p:nvPr/>
        </p:nvSpPr>
        <p:spPr>
          <a:xfrm>
            <a:off x="7035881" y="1523017"/>
            <a:ext cx="1513759" cy="246888"/>
          </a:xfrm>
          <a:prstGeom prst="roundRect">
            <a:avLst>
              <a:gd name="adj" fmla="val 22222"/>
            </a:avLst>
          </a:prstGeom>
          <a:solidFill>
            <a:srgbClr val="E53935"/>
          </a:solidFill>
          <a:ln/>
        </p:spPr>
      </p:sp>
      <p:sp>
        <p:nvSpPr>
          <p:cNvPr id="23" name="clk03_resp_143"/>
          <p:cNvSpPr txBox="1"/>
          <p:nvPr/>
        </p:nvSpPr>
        <p:spPr>
          <a:xfrm>
            <a:off x="7035881" y="1523017"/>
            <a:ext cx="1513759" cy="246888"/>
          </a:xfrm>
          <a:prstGeom prst="rect">
            <a:avLst/>
          </a:prstGeom>
          <a:noFill/>
          <a:ln/>
        </p:spPr>
        <p:txBody>
          <a:bodyPr wrap="square" lIns="0" tIns="0" rIns="0" bIns="0" rtlCol="0" anchor="ctr"/>
          <a:lstStyle/>
          <a:p>
            <a:pPr algn="ctr" indent="0" marL="0">
              <a:buNone/>
            </a:pPr>
            <a:r>
              <a:rPr lang="en-US" sz="900" b="1" spc="100" kern="0" dirty="0">
                <a:solidFill>
                  <a:srgbClr val="FFFFFF"/>
                </a:solidFill>
              </a:rPr>
              <a:t>BRAKE NOW</a:t>
            </a:r>
            <a:endParaRPr lang="en-US" sz="900" dirty="0"/>
          </a:p>
        </p:txBody>
      </p:sp>
      <p:sp>
        <p:nvSpPr>
          <p:cNvPr id="24" name="clk03_text_144"/>
          <p:cNvSpPr txBox="1"/>
          <p:nvPr/>
        </p:nvSpPr>
        <p:spPr>
          <a:xfrm>
            <a:off x="6202680" y="1857329"/>
            <a:ext cx="2346960" cy="684703"/>
          </a:xfrm>
          <a:prstGeom prst="rect">
            <a:avLst/>
          </a:prstGeom>
          <a:noFill/>
          <a:ln/>
        </p:spPr>
        <p:txBody>
          <a:bodyPr wrap="square" lIns="0" tIns="0" rIns="0" bIns="0" rtlCol="0" anchor="t"/>
          <a:lstStyle/>
          <a:p>
            <a:pPr indent="0" marL="0">
              <a:spcAft>
                <a:spcPts val="300"/>
              </a:spcAft>
              <a:buNone/>
            </a:pPr>
            <a:r>
              <a:rPr lang="en-US" sz="1100" b="1" dirty="0">
                <a:solidFill>
                  <a:srgbClr val="FFB000"/>
                </a:solidFill>
              </a:rPr>
              <a:t>Means: </a:t>
            </a:r>
            <a:pPr indent="0" marL="0">
              <a:spcAft>
                <a:spcPts val="300"/>
              </a:spcAft>
              <a:buNone/>
            </a:pPr>
            <a:r>
              <a:rPr lang="en-US" sz="1100" dirty="0">
                <a:solidFill>
                  <a:srgbClr val="C9D1DA"/>
                </a:solidFill>
              </a:rPr>
              <a:t>Risk of hitting the vehicle or object ahead.</a:t>
            </a:r>
            <a:endParaRPr lang="en-US" sz="1100" dirty="0"/>
          </a:p>
          <a:p>
            <a:pPr indent="0" marL="0">
              <a:spcAft>
                <a:spcPts val="300"/>
              </a:spcAft>
              <a:buNone/>
            </a:pPr>
            <a:r>
              <a:rPr lang="en-US" sz="1100" b="1" dirty="0">
                <a:solidFill>
                  <a:srgbClr val="2ECC40"/>
                </a:solidFill>
              </a:rPr>
              <a:t>Do: </a:t>
            </a:r>
            <a:pPr indent="0" marL="0">
              <a:spcAft>
                <a:spcPts val="300"/>
              </a:spcAft>
              <a:buNone/>
            </a:pPr>
            <a:r>
              <a:rPr lang="en-US" sz="1100" dirty="0">
                <a:solidFill>
                  <a:srgbClr val="C9D1DA"/>
                </a:solidFill>
              </a:rPr>
              <a:t>Brake and increase your following distance.</a:t>
            </a:r>
            <a:endParaRPr lang="en-US" sz="1100" dirty="0"/>
          </a:p>
        </p:txBody>
      </p:sp>
      <p:sp>
        <p:nvSpPr>
          <p:cNvPr id="25" name="clk04_card_145"/>
          <p:cNvSpPr/>
          <p:nvPr/>
        </p:nvSpPr>
        <p:spPr>
          <a:xfrm>
            <a:off x="457200" y="2798064"/>
            <a:ext cx="2621280" cy="1700784"/>
          </a:xfrm>
          <a:prstGeom prst="roundRect">
            <a:avLst>
              <a:gd name="adj" fmla="val 5376"/>
            </a:avLst>
          </a:prstGeom>
          <a:solidFill>
            <a:srgbClr val="1C2128"/>
          </a:solidFill>
          <a:ln/>
          <a:effectLst>
            <a:outerShdw sx="100000" sy="100000" kx="0" ky="0" algn="bl" rotWithShape="0" blurRad="76200" dist="25400" dir="5400000">
              <a:srgbClr val="000000">
                <a:alpha val="40000"/>
              </a:srgbClr>
            </a:outerShdw>
          </a:effectLst>
        </p:spPr>
      </p:sp>
      <p:sp>
        <p:nvSpPr>
          <p:cNvPr id="26" name="clk04_iconbg_146"/>
          <p:cNvSpPr/>
          <p:nvPr/>
        </p:nvSpPr>
        <p:spPr>
          <a:xfrm>
            <a:off x="594360" y="2935224"/>
            <a:ext cx="714329" cy="714329"/>
          </a:xfrm>
          <a:prstGeom prst="ellipse">
            <a:avLst/>
          </a:prstGeom>
          <a:solidFill>
            <a:srgbClr val="000000"/>
          </a:solidFill>
          <a:ln w="12700">
            <a:solidFill>
              <a:srgbClr val="262C34"/>
            </a:solidFill>
            <a:prstDash val="solid"/>
          </a:ln>
        </p:spPr>
      </p:sp>
      <p:pic>
        <p:nvPicPr>
          <p:cNvPr id="27" name="clk04_icon_147" descr="Adaptive Cruise Control symbol">    </p:cNvPr>
          <p:cNvPicPr>
            <a:picLocks noChangeAspect="1"/>
          </p:cNvPicPr>
          <p:nvPr/>
        </p:nvPicPr>
        <p:blipFill>
          <a:blip r:embed="rId4"/>
          <a:stretch>
            <a:fillRect/>
          </a:stretch>
        </p:blipFill>
        <p:spPr>
          <a:xfrm>
            <a:off x="694366" y="3035230"/>
            <a:ext cx="514317" cy="514317"/>
          </a:xfrm>
          <a:prstGeom prst="rect">
            <a:avLst/>
          </a:prstGeom>
        </p:spPr>
      </p:pic>
      <p:sp>
        <p:nvSpPr>
          <p:cNvPr id="28" name="clk04_name_148"/>
          <p:cNvSpPr txBox="1"/>
          <p:nvPr/>
        </p:nvSpPr>
        <p:spPr>
          <a:xfrm>
            <a:off x="1427561" y="2907792"/>
            <a:ext cx="1541191" cy="442884"/>
          </a:xfrm>
          <a:prstGeom prst="rect">
            <a:avLst/>
          </a:prstGeom>
          <a:noFill/>
          <a:ln/>
        </p:spPr>
        <p:txBody>
          <a:bodyPr wrap="square" lIns="0" tIns="0" rIns="0" bIns="0" rtlCol="0" anchor="ctr"/>
          <a:lstStyle/>
          <a:p>
            <a:pPr indent="0" marL="0">
              <a:buNone/>
            </a:pPr>
            <a:r>
              <a:rPr lang="en-US" sz="1300" b="1" dirty="0">
                <a:solidFill>
                  <a:srgbClr val="FFFFFF"/>
                </a:solidFill>
              </a:rPr>
              <a:t>Adaptive Cruise Control *</a:t>
            </a:r>
            <a:endParaRPr lang="en-US" sz="1300" dirty="0"/>
          </a:p>
        </p:txBody>
      </p:sp>
      <p:sp>
        <p:nvSpPr>
          <p:cNvPr id="29" name="clk04_respbox_149"/>
          <p:cNvSpPr/>
          <p:nvPr/>
        </p:nvSpPr>
        <p:spPr>
          <a:xfrm>
            <a:off x="1427561" y="3406681"/>
            <a:ext cx="1513759" cy="246888"/>
          </a:xfrm>
          <a:prstGeom prst="roundRect">
            <a:avLst>
              <a:gd name="adj" fmla="val 22222"/>
            </a:avLst>
          </a:prstGeom>
          <a:solidFill>
            <a:srgbClr val="2ECC40"/>
          </a:solidFill>
          <a:ln/>
        </p:spPr>
      </p:sp>
      <p:sp>
        <p:nvSpPr>
          <p:cNvPr id="30" name="clk04_resp_150"/>
          <p:cNvSpPr txBox="1"/>
          <p:nvPr/>
        </p:nvSpPr>
        <p:spPr>
          <a:xfrm>
            <a:off x="1427561" y="3406681"/>
            <a:ext cx="1513759" cy="246888"/>
          </a:xfrm>
          <a:prstGeom prst="rect">
            <a:avLst/>
          </a:prstGeom>
          <a:noFill/>
          <a:ln/>
        </p:spPr>
        <p:txBody>
          <a:bodyPr wrap="square" lIns="0" tIns="0" rIns="0" bIns="0" rtlCol="0" anchor="ctr"/>
          <a:lstStyle/>
          <a:p>
            <a:pPr algn="ctr" indent="0" marL="0">
              <a:buNone/>
            </a:pPr>
            <a:r>
              <a:rPr lang="en-US" sz="900" b="1" spc="100" kern="0" dirty="0">
                <a:solidFill>
                  <a:srgbClr val="0F1215"/>
                </a:solidFill>
              </a:rPr>
              <a:t>SYSTEM ACTIVE</a:t>
            </a:r>
            <a:endParaRPr lang="en-US" sz="900" dirty="0"/>
          </a:p>
        </p:txBody>
      </p:sp>
      <p:sp>
        <p:nvSpPr>
          <p:cNvPr id="31" name="clk04_text_151"/>
          <p:cNvSpPr txBox="1"/>
          <p:nvPr/>
        </p:nvSpPr>
        <p:spPr>
          <a:xfrm>
            <a:off x="594360" y="3740993"/>
            <a:ext cx="2346960" cy="684703"/>
          </a:xfrm>
          <a:prstGeom prst="rect">
            <a:avLst/>
          </a:prstGeom>
          <a:noFill/>
          <a:ln/>
        </p:spPr>
        <p:txBody>
          <a:bodyPr wrap="square" lIns="0" tIns="0" rIns="0" bIns="0" rtlCol="0" anchor="t"/>
          <a:lstStyle/>
          <a:p>
            <a:pPr indent="0" marL="0">
              <a:spcAft>
                <a:spcPts val="300"/>
              </a:spcAft>
              <a:buNone/>
            </a:pPr>
            <a:r>
              <a:rPr lang="en-US" sz="1100" b="1" dirty="0">
                <a:solidFill>
                  <a:srgbClr val="FFB000"/>
                </a:solidFill>
              </a:rPr>
              <a:t>Means: </a:t>
            </a:r>
            <a:pPr indent="0" marL="0">
              <a:spcAft>
                <a:spcPts val="300"/>
              </a:spcAft>
              <a:buNone/>
            </a:pPr>
            <a:r>
              <a:rPr lang="en-US" sz="1100" dirty="0">
                <a:solidFill>
                  <a:srgbClr val="C9D1DA"/>
                </a:solidFill>
              </a:rPr>
              <a:t>Cruise is keeping a set gap to the car ahead.</a:t>
            </a:r>
            <a:endParaRPr lang="en-US" sz="1100" dirty="0"/>
          </a:p>
          <a:p>
            <a:pPr indent="0" marL="0">
              <a:spcAft>
                <a:spcPts val="300"/>
              </a:spcAft>
              <a:buNone/>
            </a:pPr>
            <a:r>
              <a:rPr lang="en-US" sz="1100" b="1" dirty="0">
                <a:solidFill>
                  <a:srgbClr val="2ECC40"/>
                </a:solidFill>
              </a:rPr>
              <a:t>Do: </a:t>
            </a:r>
            <a:pPr indent="0" marL="0">
              <a:spcAft>
                <a:spcPts val="300"/>
              </a:spcAft>
              <a:buNone/>
            </a:pPr>
            <a:r>
              <a:rPr lang="en-US" sz="1100" dirty="0">
                <a:solidFill>
                  <a:srgbClr val="C9D1DA"/>
                </a:solidFill>
              </a:rPr>
              <a:t>You are still in control: be ready to brake.</a:t>
            </a:r>
            <a:endParaRPr lang="en-US" sz="1100" dirty="0"/>
          </a:p>
        </p:txBody>
      </p:sp>
      <p:sp>
        <p:nvSpPr>
          <p:cNvPr id="32" name="clk05_card_152"/>
          <p:cNvSpPr/>
          <p:nvPr/>
        </p:nvSpPr>
        <p:spPr>
          <a:xfrm>
            <a:off x="3261360" y="2798064"/>
            <a:ext cx="2621280" cy="1700784"/>
          </a:xfrm>
          <a:prstGeom prst="roundRect">
            <a:avLst>
              <a:gd name="adj" fmla="val 5376"/>
            </a:avLst>
          </a:prstGeom>
          <a:solidFill>
            <a:srgbClr val="1C2128"/>
          </a:solidFill>
          <a:ln/>
          <a:effectLst>
            <a:outerShdw sx="100000" sy="100000" kx="0" ky="0" algn="bl" rotWithShape="0" blurRad="76200" dist="25400" dir="5400000">
              <a:srgbClr val="000000">
                <a:alpha val="40000"/>
              </a:srgbClr>
            </a:outerShdw>
          </a:effectLst>
        </p:spPr>
      </p:sp>
      <p:sp>
        <p:nvSpPr>
          <p:cNvPr id="33" name="clk05_iconbg_153"/>
          <p:cNvSpPr/>
          <p:nvPr/>
        </p:nvSpPr>
        <p:spPr>
          <a:xfrm>
            <a:off x="3398520" y="2935224"/>
            <a:ext cx="714329" cy="714329"/>
          </a:xfrm>
          <a:prstGeom prst="ellipse">
            <a:avLst/>
          </a:prstGeom>
          <a:solidFill>
            <a:srgbClr val="000000"/>
          </a:solidFill>
          <a:ln w="12700">
            <a:solidFill>
              <a:srgbClr val="262C34"/>
            </a:solidFill>
            <a:prstDash val="solid"/>
          </a:ln>
        </p:spPr>
      </p:sp>
      <p:pic>
        <p:nvPicPr>
          <p:cNvPr id="34" name="clk05_icon_154" descr="Blind-Spot Monitor symbol">    </p:cNvPr>
          <p:cNvPicPr>
            <a:picLocks noChangeAspect="1"/>
          </p:cNvPicPr>
          <p:nvPr/>
        </p:nvPicPr>
        <p:blipFill>
          <a:blip r:embed="rId5"/>
          <a:stretch>
            <a:fillRect/>
          </a:stretch>
        </p:blipFill>
        <p:spPr>
          <a:xfrm>
            <a:off x="3498526" y="3035230"/>
            <a:ext cx="514317" cy="514317"/>
          </a:xfrm>
          <a:prstGeom prst="rect">
            <a:avLst/>
          </a:prstGeom>
        </p:spPr>
      </p:pic>
      <p:sp>
        <p:nvSpPr>
          <p:cNvPr id="35" name="clk05_name_155"/>
          <p:cNvSpPr txBox="1"/>
          <p:nvPr/>
        </p:nvSpPr>
        <p:spPr>
          <a:xfrm>
            <a:off x="4231721" y="2907792"/>
            <a:ext cx="1541191" cy="442884"/>
          </a:xfrm>
          <a:prstGeom prst="rect">
            <a:avLst/>
          </a:prstGeom>
          <a:noFill/>
          <a:ln/>
        </p:spPr>
        <p:txBody>
          <a:bodyPr wrap="square" lIns="0" tIns="0" rIns="0" bIns="0" rtlCol="0" anchor="ctr"/>
          <a:lstStyle/>
          <a:p>
            <a:pPr indent="0" marL="0">
              <a:buNone/>
            </a:pPr>
            <a:r>
              <a:rPr lang="en-US" sz="1300" b="1" dirty="0">
                <a:solidFill>
                  <a:srgbClr val="FFFFFF"/>
                </a:solidFill>
              </a:rPr>
              <a:t>Blind-Spot Monitor *</a:t>
            </a:r>
            <a:endParaRPr lang="en-US" sz="1300" dirty="0"/>
          </a:p>
        </p:txBody>
      </p:sp>
      <p:sp>
        <p:nvSpPr>
          <p:cNvPr id="36" name="clk05_respbox_156"/>
          <p:cNvSpPr/>
          <p:nvPr/>
        </p:nvSpPr>
        <p:spPr>
          <a:xfrm>
            <a:off x="4231721" y="3406681"/>
            <a:ext cx="1513759" cy="246888"/>
          </a:xfrm>
          <a:prstGeom prst="roundRect">
            <a:avLst>
              <a:gd name="adj" fmla="val 22222"/>
            </a:avLst>
          </a:prstGeom>
          <a:solidFill>
            <a:srgbClr val="FFB000"/>
          </a:solidFill>
          <a:ln/>
        </p:spPr>
      </p:sp>
      <p:sp>
        <p:nvSpPr>
          <p:cNvPr id="37" name="clk05_resp_157"/>
          <p:cNvSpPr txBox="1"/>
          <p:nvPr/>
        </p:nvSpPr>
        <p:spPr>
          <a:xfrm>
            <a:off x="4231721" y="3406681"/>
            <a:ext cx="1513759" cy="246888"/>
          </a:xfrm>
          <a:prstGeom prst="rect">
            <a:avLst/>
          </a:prstGeom>
          <a:noFill/>
          <a:ln/>
        </p:spPr>
        <p:txBody>
          <a:bodyPr wrap="square" lIns="0" tIns="0" rIns="0" bIns="0" rtlCol="0" anchor="ctr"/>
          <a:lstStyle/>
          <a:p>
            <a:pPr algn="ctr" indent="0" marL="0">
              <a:buNone/>
            </a:pPr>
            <a:r>
              <a:rPr lang="en-US" sz="900" b="1" spc="100" kern="0" dirty="0">
                <a:solidFill>
                  <a:srgbClr val="0F1215"/>
                </a:solidFill>
              </a:rPr>
              <a:t>CHECK MIRRORS</a:t>
            </a:r>
            <a:endParaRPr lang="en-US" sz="900" dirty="0"/>
          </a:p>
        </p:txBody>
      </p:sp>
      <p:sp>
        <p:nvSpPr>
          <p:cNvPr id="38" name="clk05_text_158"/>
          <p:cNvSpPr txBox="1"/>
          <p:nvPr/>
        </p:nvSpPr>
        <p:spPr>
          <a:xfrm>
            <a:off x="3398520" y="3740993"/>
            <a:ext cx="2346960" cy="684703"/>
          </a:xfrm>
          <a:prstGeom prst="rect">
            <a:avLst/>
          </a:prstGeom>
          <a:noFill/>
          <a:ln/>
        </p:spPr>
        <p:txBody>
          <a:bodyPr wrap="square" lIns="0" tIns="0" rIns="0" bIns="0" rtlCol="0" anchor="t"/>
          <a:lstStyle/>
          <a:p>
            <a:pPr indent="0" marL="0">
              <a:spcAft>
                <a:spcPts val="300"/>
              </a:spcAft>
              <a:buNone/>
            </a:pPr>
            <a:r>
              <a:rPr lang="en-US" sz="1100" b="1" dirty="0">
                <a:solidFill>
                  <a:srgbClr val="FFB000"/>
                </a:solidFill>
              </a:rPr>
              <a:t>Means: </a:t>
            </a:r>
            <a:pPr indent="0" marL="0">
              <a:spcAft>
                <a:spcPts val="300"/>
              </a:spcAft>
              <a:buNone/>
            </a:pPr>
            <a:r>
              <a:rPr lang="en-US" sz="1100" dirty="0">
                <a:solidFill>
                  <a:srgbClr val="C9D1DA"/>
                </a:solidFill>
              </a:rPr>
              <a:t>A vehicle is in your blind spot.</a:t>
            </a:r>
            <a:endParaRPr lang="en-US" sz="1100" dirty="0"/>
          </a:p>
          <a:p>
            <a:pPr indent="0" marL="0">
              <a:spcAft>
                <a:spcPts val="300"/>
              </a:spcAft>
              <a:buNone/>
            </a:pPr>
            <a:r>
              <a:rPr lang="en-US" sz="1100" b="1" dirty="0">
                <a:solidFill>
                  <a:srgbClr val="2ECC40"/>
                </a:solidFill>
              </a:rPr>
              <a:t>Do: </a:t>
            </a:r>
            <a:pPr indent="0" marL="0">
              <a:spcAft>
                <a:spcPts val="300"/>
              </a:spcAft>
              <a:buNone/>
            </a:pPr>
            <a:r>
              <a:rPr lang="en-US" sz="1100" dirty="0">
                <a:solidFill>
                  <a:srgbClr val="C9D1DA"/>
                </a:solidFill>
              </a:rPr>
              <a:t>Don't change lanes; check mirrors and shoulder.</a:t>
            </a:r>
            <a:endParaRPr lang="en-US" sz="1100" dirty="0"/>
          </a:p>
        </p:txBody>
      </p:sp>
      <p:sp>
        <p:nvSpPr>
          <p:cNvPr id="39" name="clk06_card_159"/>
          <p:cNvSpPr/>
          <p:nvPr/>
        </p:nvSpPr>
        <p:spPr>
          <a:xfrm>
            <a:off x="6065520" y="2798064"/>
            <a:ext cx="2621280" cy="1700784"/>
          </a:xfrm>
          <a:prstGeom prst="roundRect">
            <a:avLst>
              <a:gd name="adj" fmla="val 5376"/>
            </a:avLst>
          </a:prstGeom>
          <a:solidFill>
            <a:srgbClr val="1C2128"/>
          </a:solidFill>
          <a:ln/>
          <a:effectLst>
            <a:outerShdw sx="100000" sy="100000" kx="0" ky="0" algn="bl" rotWithShape="0" blurRad="76200" dist="25400" dir="5400000">
              <a:srgbClr val="000000">
                <a:alpha val="40000"/>
              </a:srgbClr>
            </a:outerShdw>
          </a:effectLst>
        </p:spPr>
      </p:sp>
      <p:sp>
        <p:nvSpPr>
          <p:cNvPr id="40" name="clk06_iconbg_160"/>
          <p:cNvSpPr/>
          <p:nvPr/>
        </p:nvSpPr>
        <p:spPr>
          <a:xfrm>
            <a:off x="6202680" y="2935224"/>
            <a:ext cx="714329" cy="714329"/>
          </a:xfrm>
          <a:prstGeom prst="ellipse">
            <a:avLst/>
          </a:prstGeom>
          <a:solidFill>
            <a:srgbClr val="000000"/>
          </a:solidFill>
          <a:ln w="12700">
            <a:solidFill>
              <a:srgbClr val="262C34"/>
            </a:solidFill>
            <a:prstDash val="solid"/>
          </a:ln>
        </p:spPr>
      </p:sp>
      <p:pic>
        <p:nvPicPr>
          <p:cNvPr id="41" name="clk06_icon_161" descr="Parking Sensor Warning symbol">    </p:cNvPr>
          <p:cNvPicPr>
            <a:picLocks noChangeAspect="1"/>
          </p:cNvPicPr>
          <p:nvPr/>
        </p:nvPicPr>
        <p:blipFill>
          <a:blip r:embed="rId6"/>
          <a:stretch>
            <a:fillRect/>
          </a:stretch>
        </p:blipFill>
        <p:spPr>
          <a:xfrm>
            <a:off x="6302686" y="3035230"/>
            <a:ext cx="514317" cy="514317"/>
          </a:xfrm>
          <a:prstGeom prst="rect">
            <a:avLst/>
          </a:prstGeom>
        </p:spPr>
      </p:pic>
      <p:sp>
        <p:nvSpPr>
          <p:cNvPr id="42" name="clk06_name_162"/>
          <p:cNvSpPr txBox="1"/>
          <p:nvPr/>
        </p:nvSpPr>
        <p:spPr>
          <a:xfrm>
            <a:off x="7035881" y="2907792"/>
            <a:ext cx="1541191" cy="442884"/>
          </a:xfrm>
          <a:prstGeom prst="rect">
            <a:avLst/>
          </a:prstGeom>
          <a:noFill/>
          <a:ln/>
        </p:spPr>
        <p:txBody>
          <a:bodyPr wrap="square" lIns="0" tIns="0" rIns="0" bIns="0" rtlCol="0" anchor="ctr"/>
          <a:lstStyle/>
          <a:p>
            <a:pPr indent="0" marL="0">
              <a:buNone/>
            </a:pPr>
            <a:r>
              <a:rPr lang="en-US" sz="1300" b="1" dirty="0">
                <a:solidFill>
                  <a:srgbClr val="FFFFFF"/>
                </a:solidFill>
              </a:rPr>
              <a:t>Parking Sensor Warning</a:t>
            </a:r>
            <a:endParaRPr lang="en-US" sz="1300" dirty="0"/>
          </a:p>
        </p:txBody>
      </p:sp>
      <p:sp>
        <p:nvSpPr>
          <p:cNvPr id="43" name="clk06_respbox_163"/>
          <p:cNvSpPr/>
          <p:nvPr/>
        </p:nvSpPr>
        <p:spPr>
          <a:xfrm>
            <a:off x="7035881" y="3406681"/>
            <a:ext cx="1513759" cy="246888"/>
          </a:xfrm>
          <a:prstGeom prst="roundRect">
            <a:avLst>
              <a:gd name="adj" fmla="val 22222"/>
            </a:avLst>
          </a:prstGeom>
          <a:solidFill>
            <a:srgbClr val="FFB000"/>
          </a:solidFill>
          <a:ln/>
        </p:spPr>
      </p:sp>
      <p:sp>
        <p:nvSpPr>
          <p:cNvPr id="44" name="clk06_resp_164"/>
          <p:cNvSpPr txBox="1"/>
          <p:nvPr/>
        </p:nvSpPr>
        <p:spPr>
          <a:xfrm>
            <a:off x="7035881" y="3406681"/>
            <a:ext cx="1513759" cy="246888"/>
          </a:xfrm>
          <a:prstGeom prst="rect">
            <a:avLst/>
          </a:prstGeom>
          <a:noFill/>
          <a:ln/>
        </p:spPr>
        <p:txBody>
          <a:bodyPr wrap="square" lIns="0" tIns="0" rIns="0" bIns="0" rtlCol="0" anchor="ctr"/>
          <a:lstStyle/>
          <a:p>
            <a:pPr algn="ctr" indent="0" marL="0">
              <a:buNone/>
            </a:pPr>
            <a:r>
              <a:rPr lang="en-US" sz="900" b="1" spc="100" kern="0" dirty="0">
                <a:solidFill>
                  <a:srgbClr val="0F1215"/>
                </a:solidFill>
              </a:rPr>
              <a:t>INSPECT PROMPTLY</a:t>
            </a:r>
            <a:endParaRPr lang="en-US" sz="900" dirty="0"/>
          </a:p>
        </p:txBody>
      </p:sp>
      <p:sp>
        <p:nvSpPr>
          <p:cNvPr id="45" name="clk06_text_165"/>
          <p:cNvSpPr txBox="1"/>
          <p:nvPr/>
        </p:nvSpPr>
        <p:spPr>
          <a:xfrm>
            <a:off x="6202680" y="3740993"/>
            <a:ext cx="2346960" cy="684703"/>
          </a:xfrm>
          <a:prstGeom prst="rect">
            <a:avLst/>
          </a:prstGeom>
          <a:noFill/>
          <a:ln/>
        </p:spPr>
        <p:txBody>
          <a:bodyPr wrap="square" lIns="0" tIns="0" rIns="0" bIns="0" rtlCol="0" anchor="t"/>
          <a:lstStyle/>
          <a:p>
            <a:pPr indent="0" marL="0">
              <a:spcAft>
                <a:spcPts val="300"/>
              </a:spcAft>
              <a:buNone/>
            </a:pPr>
            <a:r>
              <a:rPr lang="en-US" sz="1100" b="1" dirty="0">
                <a:solidFill>
                  <a:srgbClr val="FFB000"/>
                </a:solidFill>
              </a:rPr>
              <a:t>Means: </a:t>
            </a:r>
            <a:pPr indent="0" marL="0">
              <a:spcAft>
                <a:spcPts val="300"/>
              </a:spcAft>
              <a:buNone/>
            </a:pPr>
            <a:r>
              <a:rPr lang="en-US" sz="1100" dirty="0">
                <a:solidFill>
                  <a:srgbClr val="C9D1DA"/>
                </a:solidFill>
              </a:rPr>
              <a:t>Parking sensors faulty, dirty or switched off.</a:t>
            </a:r>
            <a:endParaRPr lang="en-US" sz="1100" dirty="0"/>
          </a:p>
          <a:p>
            <a:pPr indent="0" marL="0">
              <a:spcAft>
                <a:spcPts val="300"/>
              </a:spcAft>
              <a:buNone/>
            </a:pPr>
            <a:r>
              <a:rPr lang="en-US" sz="1100" b="1" dirty="0">
                <a:solidFill>
                  <a:srgbClr val="2ECC40"/>
                </a:solidFill>
              </a:rPr>
              <a:t>Do: </a:t>
            </a:r>
            <a:pPr indent="0" marL="0">
              <a:spcAft>
                <a:spcPts val="300"/>
              </a:spcAft>
              <a:buNone/>
            </a:pPr>
            <a:r>
              <a:rPr lang="en-US" sz="1100" dirty="0">
                <a:solidFill>
                  <a:srgbClr val="C9D1DA"/>
                </a:solidFill>
              </a:rPr>
              <a:t>Clean the sensors; look all round before moving.</a:t>
            </a:r>
            <a:endParaRPr lang="en-US" sz="1100" dirty="0"/>
          </a:p>
        </p:txBody>
      </p:sp>
      <p:sp>
        <p:nvSpPr>
          <p:cNvPr id="46" name="varies_note"/>
          <p:cNvSpPr txBox="1"/>
          <p:nvPr/>
        </p:nvSpPr>
        <p:spPr>
          <a:xfrm>
            <a:off x="457200" y="4544568"/>
            <a:ext cx="5486400" cy="228600"/>
          </a:xfrm>
          <a:prstGeom prst="rect">
            <a:avLst/>
          </a:prstGeom>
          <a:noFill/>
          <a:ln/>
        </p:spPr>
        <p:txBody>
          <a:bodyPr wrap="square" lIns="0" tIns="0" rIns="0" bIns="0" rtlCol="0" anchor="ctr"/>
          <a:lstStyle/>
          <a:p>
            <a:pPr indent="0" marL="0">
              <a:buNone/>
            </a:pPr>
            <a:r>
              <a:rPr lang="en-US" sz="950" i="1" dirty="0">
                <a:solidFill>
                  <a:srgbClr val="8A939E"/>
                </a:solidFill>
              </a:rPr>
              <a:t>* Symbol design varies by manufacturer. A generic example is shown.</a:t>
            </a:r>
            <a:endParaRPr lang="en-US" sz="950" dirty="0"/>
          </a:p>
        </p:txBody>
      </p:sp>
      <p:sp>
        <p:nvSpPr>
          <p:cNvPr id="25" name="Slide Number Placeholder 0"/>
          <p:cNvSpPr>
            <a:spLocks noGrp="1"/>
          </p:cNvSpPr>
          <p:nvPr>
            <p:ph type="sldNum" sz="quarter" idx="4294967295"/>
          </p:nvPr>
        </p:nvSpPr>
        <p:spPr>
          <a:xfrm>
            <a:off x="8275320" y="4818888"/>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9E"/>
                </a:solidFill>
              </a:defRPr>
            </a:lvl1pPr>
          </a:lstStyle>
          <a:p>
            <a:pPr algn="r"/>
            <a:fld id="{F7021451-1387-4CA6-816F-3879F97B5CBC}" type="slidenum">
              <a:rPr b="0" lang="en-US"/>
              <a:t>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4" fill="hold">
                      <p:stCondLst>
                        <p:cond delay="indefinite"/>
                      </p:stCondLst>
                      <p:childTnLst>
                        <p:par>
                          <p:cTn id="25"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500"/>
                                        <p:tgtEl>
                                          <p:spTgt spid="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500"/>
                                        <p:tgtEl>
                                          <p:spTgt spid="5"/>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par>
                    <p:cTn id="47" fill="hold">
                      <p:stCondLst>
                        <p:cond delay="indefinite"/>
                      </p:stCondLst>
                      <p:childTnLst>
                        <p:par>
                          <p:cTn id="48"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00"/>
                                        <p:tgtEl>
                                          <p:spTgt spid="17"/>
                                        </p:tgtEl>
                                      </p:cBhvr>
                                    </p:animEffect>
                                  </p:childTnLst>
                                </p:cTn>
                              </p:par>
                            </p:childTnLst>
                          </p:cTn>
                        </p:par>
                      </p:childTnLst>
                    </p:cTn>
                  </p:par>
                  <p:par>
                    <p:cTn id="70" fill="hold">
                      <p:stCondLst>
                        <p:cond delay="indefinite"/>
                      </p:stCondLst>
                      <p:childTnLst>
                        <p:par>
                          <p:cTn id="71"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500"/>
                                        <p:tgtEl>
                                          <p:spTgt spid="1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500"/>
                                        <p:tgtEl>
                                          <p:spTgt spid="2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500"/>
                                        <p:tgtEl>
                                          <p:spTgt spid="21"/>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50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500"/>
                                        <p:tgtEl>
                                          <p:spTgt spid="23"/>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500"/>
                                        <p:tgtEl>
                                          <p:spTgt spid="24"/>
                                        </p:tgtEl>
                                      </p:cBhvr>
                                    </p:animEffect>
                                  </p:childTnLst>
                                </p:cTn>
                              </p:par>
                            </p:childTnLst>
                          </p:cTn>
                        </p:par>
                      </p:childTnLst>
                    </p:cTn>
                  </p:par>
                  <p:par>
                    <p:cTn id="93" fill="hold">
                      <p:stCondLst>
                        <p:cond delay="indefinite"/>
                      </p:stCondLst>
                      <p:childTnLst>
                        <p:par>
                          <p:cTn id="94"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500"/>
                                        <p:tgtEl>
                                          <p:spTgt spid="25"/>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500"/>
                                        <p:tgtEl>
                                          <p:spTgt spid="26"/>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7"/>
                                        </p:tgtEl>
                                        <p:attrNameLst>
                                          <p:attrName>style.visibility</p:attrName>
                                        </p:attrNameLst>
                                      </p:cBhvr>
                                      <p:to>
                                        <p:strVal val="visible"/>
                                      </p:to>
                                    </p:set>
                                    <p:animEffect transition="in" filter="fade">
                                      <p:cBhvr>
                                        <p:cTn id="80" dur="500"/>
                                        <p:tgtEl>
                                          <p:spTgt spid="27"/>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8"/>
                                        </p:tgtEl>
                                        <p:attrNameLst>
                                          <p:attrName>style.visibility</p:attrName>
                                        </p:attrNameLst>
                                      </p:cBhvr>
                                      <p:to>
                                        <p:strVal val="visible"/>
                                      </p:to>
                                    </p:set>
                                    <p:animEffect transition="in" filter="fade">
                                      <p:cBhvr>
                                        <p:cTn id="83" dur="500"/>
                                        <p:tgtEl>
                                          <p:spTgt spid="28"/>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9"/>
                                        </p:tgtEl>
                                        <p:attrNameLst>
                                          <p:attrName>style.visibility</p:attrName>
                                        </p:attrNameLst>
                                      </p:cBhvr>
                                      <p:to>
                                        <p:strVal val="visible"/>
                                      </p:to>
                                    </p:set>
                                    <p:animEffect transition="in" filter="fade">
                                      <p:cBhvr>
                                        <p:cTn id="86" dur="500"/>
                                        <p:tgtEl>
                                          <p:spTgt spid="29"/>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9" dur="500"/>
                                        <p:tgtEl>
                                          <p:spTgt spid="30"/>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1"/>
                                        </p:tgtEl>
                                        <p:attrNameLst>
                                          <p:attrName>style.visibility</p:attrName>
                                        </p:attrNameLst>
                                      </p:cBhvr>
                                      <p:to>
                                        <p:strVal val="visible"/>
                                      </p:to>
                                    </p:set>
                                    <p:animEffect transition="in" filter="fade">
                                      <p:cBhvr>
                                        <p:cTn id="92" dur="500"/>
                                        <p:tgtEl>
                                          <p:spTgt spid="31"/>
                                        </p:tgtEl>
                                      </p:cBhvr>
                                    </p:animEffect>
                                  </p:childTnLst>
                                </p:cTn>
                              </p:par>
                            </p:childTnLst>
                          </p:cTn>
                        </p:par>
                      </p:childTnLst>
                    </p:cTn>
                  </p:par>
                  <p:par>
                    <p:cTn id="116" fill="hold">
                      <p:stCondLst>
                        <p:cond delay="indefinite"/>
                      </p:stCondLst>
                      <p:childTnLst>
                        <p:par>
                          <p:cTn id="117"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32"/>
                                        </p:tgtEl>
                                        <p:attrNameLst>
                                          <p:attrName>style.visibility</p:attrName>
                                        </p:attrNameLst>
                                      </p:cBhvr>
                                      <p:to>
                                        <p:strVal val="visible"/>
                                      </p:to>
                                    </p:set>
                                    <p:animEffect transition="in" filter="fade">
                                      <p:cBhvr>
                                        <p:cTn id="97" dur="500"/>
                                        <p:tgtEl>
                                          <p:spTgt spid="32"/>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3"/>
                                        </p:tgtEl>
                                        <p:attrNameLst>
                                          <p:attrName>style.visibility</p:attrName>
                                        </p:attrNameLst>
                                      </p:cBhvr>
                                      <p:to>
                                        <p:strVal val="visible"/>
                                      </p:to>
                                    </p:set>
                                    <p:animEffect transition="in" filter="fade">
                                      <p:cBhvr>
                                        <p:cTn id="100" dur="500"/>
                                        <p:tgtEl>
                                          <p:spTgt spid="33"/>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3" dur="500"/>
                                        <p:tgtEl>
                                          <p:spTgt spid="34"/>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5"/>
                                        </p:tgtEl>
                                        <p:attrNameLst>
                                          <p:attrName>style.visibility</p:attrName>
                                        </p:attrNameLst>
                                      </p:cBhvr>
                                      <p:to>
                                        <p:strVal val="visible"/>
                                      </p:to>
                                    </p:set>
                                    <p:animEffect transition="in" filter="fade">
                                      <p:cBhvr>
                                        <p:cTn id="106" dur="500"/>
                                        <p:tgtEl>
                                          <p:spTgt spid="35"/>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36"/>
                                        </p:tgtEl>
                                        <p:attrNameLst>
                                          <p:attrName>style.visibility</p:attrName>
                                        </p:attrNameLst>
                                      </p:cBhvr>
                                      <p:to>
                                        <p:strVal val="visible"/>
                                      </p:to>
                                    </p:set>
                                    <p:animEffect transition="in" filter="fade">
                                      <p:cBhvr>
                                        <p:cTn id="109" dur="500"/>
                                        <p:tgtEl>
                                          <p:spTgt spid="36"/>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37"/>
                                        </p:tgtEl>
                                        <p:attrNameLst>
                                          <p:attrName>style.visibility</p:attrName>
                                        </p:attrNameLst>
                                      </p:cBhvr>
                                      <p:to>
                                        <p:strVal val="visible"/>
                                      </p:to>
                                    </p:set>
                                    <p:animEffect transition="in" filter="fade">
                                      <p:cBhvr>
                                        <p:cTn id="112" dur="500"/>
                                        <p:tgtEl>
                                          <p:spTgt spid="37"/>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38"/>
                                        </p:tgtEl>
                                        <p:attrNameLst>
                                          <p:attrName>style.visibility</p:attrName>
                                        </p:attrNameLst>
                                      </p:cBhvr>
                                      <p:to>
                                        <p:strVal val="visible"/>
                                      </p:to>
                                    </p:set>
                                    <p:animEffect transition="in" filter="fade">
                                      <p:cBhvr>
                                        <p:cTn id="115" dur="500"/>
                                        <p:tgtEl>
                                          <p:spTgt spid="38"/>
                                        </p:tgtEl>
                                      </p:cBhvr>
                                    </p:animEffect>
                                  </p:childTnLst>
                                </p:cTn>
                              </p:par>
                            </p:childTnLst>
                          </p:cTn>
                        </p:par>
                      </p:childTnLst>
                    </p:cTn>
                  </p:par>
                  <p:par>
                    <p:cTn id="139" fill="hold">
                      <p:stCondLst>
                        <p:cond delay="indefinite"/>
                      </p:stCondLst>
                      <p:childTnLst>
                        <p:par>
                          <p:cTn id="140" fill="hold">
                            <p:stCondLst>
                              <p:cond delay="0"/>
                            </p:stCondLst>
                            <p:childTnLst>
                              <p:par>
                                <p:cTn id="118" presetID="10" presetClass="entr" presetSubtype="0" fill="hold" grpId="0" nodeType="clickEffect">
                                  <p:stCondLst>
                                    <p:cond delay="0"/>
                                  </p:stCondLst>
                                  <p:childTnLst>
                                    <p:set>
                                      <p:cBhvr>
                                        <p:cTn id="119" dur="1" fill="hold">
                                          <p:stCondLst>
                                            <p:cond delay="0"/>
                                          </p:stCondLst>
                                        </p:cTn>
                                        <p:tgtEl>
                                          <p:spTgt spid="39"/>
                                        </p:tgtEl>
                                        <p:attrNameLst>
                                          <p:attrName>style.visibility</p:attrName>
                                        </p:attrNameLst>
                                      </p:cBhvr>
                                      <p:to>
                                        <p:strVal val="visible"/>
                                      </p:to>
                                    </p:set>
                                    <p:animEffect transition="in" filter="fade">
                                      <p:cBhvr>
                                        <p:cTn id="120" dur="500"/>
                                        <p:tgtEl>
                                          <p:spTgt spid="39"/>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40"/>
                                        </p:tgtEl>
                                        <p:attrNameLst>
                                          <p:attrName>style.visibility</p:attrName>
                                        </p:attrNameLst>
                                      </p:cBhvr>
                                      <p:to>
                                        <p:strVal val="visible"/>
                                      </p:to>
                                    </p:set>
                                    <p:animEffect transition="in" filter="fade">
                                      <p:cBhvr>
                                        <p:cTn id="123" dur="500"/>
                                        <p:tgtEl>
                                          <p:spTgt spid="40"/>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41"/>
                                        </p:tgtEl>
                                        <p:attrNameLst>
                                          <p:attrName>style.visibility</p:attrName>
                                        </p:attrNameLst>
                                      </p:cBhvr>
                                      <p:to>
                                        <p:strVal val="visible"/>
                                      </p:to>
                                    </p:set>
                                    <p:animEffect transition="in" filter="fade">
                                      <p:cBhvr>
                                        <p:cTn id="126" dur="500"/>
                                        <p:tgtEl>
                                          <p:spTgt spid="41"/>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42"/>
                                        </p:tgtEl>
                                        <p:attrNameLst>
                                          <p:attrName>style.visibility</p:attrName>
                                        </p:attrNameLst>
                                      </p:cBhvr>
                                      <p:to>
                                        <p:strVal val="visible"/>
                                      </p:to>
                                    </p:set>
                                    <p:animEffect transition="in" filter="fade">
                                      <p:cBhvr>
                                        <p:cTn id="129" dur="500"/>
                                        <p:tgtEl>
                                          <p:spTgt spid="42"/>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43"/>
                                        </p:tgtEl>
                                        <p:attrNameLst>
                                          <p:attrName>style.visibility</p:attrName>
                                        </p:attrNameLst>
                                      </p:cBhvr>
                                      <p:to>
                                        <p:strVal val="visible"/>
                                      </p:to>
                                    </p:set>
                                    <p:animEffect transition="in" filter="fade">
                                      <p:cBhvr>
                                        <p:cTn id="132" dur="500"/>
                                        <p:tgtEl>
                                          <p:spTgt spid="43"/>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44"/>
                                        </p:tgtEl>
                                        <p:attrNameLst>
                                          <p:attrName>style.visibility</p:attrName>
                                        </p:attrNameLst>
                                      </p:cBhvr>
                                      <p:to>
                                        <p:strVal val="visible"/>
                                      </p:to>
                                    </p:set>
                                    <p:animEffect transition="in" filter="fade">
                                      <p:cBhvr>
                                        <p:cTn id="135" dur="500"/>
                                        <p:tgtEl>
                                          <p:spTgt spid="44"/>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45"/>
                                        </p:tgtEl>
                                        <p:attrNameLst>
                                          <p:attrName>style.visibility</p:attrName>
                                        </p:attrNameLst>
                                      </p:cBhvr>
                                      <p:to>
                                        <p:strVal val="visible"/>
                                      </p:to>
                                    </p:set>
                                    <p:animEffect transition="in" filter="fade">
                                      <p:cBhvr>
                                        <p:cTn id="138"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1" grpId="0" animBg="1"/>
      <p:bldP spid="12" grpId="0" animBg="1"/>
      <p:bldP spid="14" grpId="0" animBg="1"/>
      <p:bldP spid="15" grpId="0" animBg="1"/>
      <p:bldP spid="16" grpId="0" animBg="1"/>
      <p:bldP spid="17" grpId="0" animBg="1"/>
      <p:bldP spid="18" grpId="0" animBg="1"/>
      <p:bldP spid="19" grpId="0" animBg="1"/>
      <p:bldP spid="21" grpId="0" animBg="1"/>
      <p:bldP spid="22" grpId="0" animBg="1"/>
      <p:bldP spid="23" grpId="0" animBg="1"/>
      <p:bldP spid="24" grpId="0" animBg="1"/>
      <p:bldP spid="25" grpId="0" animBg="1"/>
      <p:bldP spid="26" grpId="0" animBg="1"/>
      <p:bldP spid="28" grpId="0" animBg="1"/>
      <p:bldP spid="29" grpId="0" animBg="1"/>
      <p:bldP spid="30" grpId="0" animBg="1"/>
      <p:bldP spid="31" grpId="0" animBg="1"/>
      <p:bldP spid="32" grpId="0" animBg="1"/>
      <p:bldP spid="33" grpId="0" animBg="1"/>
      <p:bldP spid="35" grpId="0" animBg="1"/>
      <p:bldP spid="36" grpId="0" animBg="1"/>
      <p:bldP spid="37" grpId="0" animBg="1"/>
      <p:bldP spid="38" grpId="0" animBg="1"/>
      <p:bldP spid="39" grpId="0" animBg="1"/>
      <p:bldP spid="40" grpId="0" animBg="1"/>
      <p:bldP spid="42" grpId="0" animBg="1"/>
      <p:bldP spid="43" grpId="0" animBg="1"/>
      <p:bldP spid="44" grpId="0" animBg="1"/>
      <p:bldP spid="4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01168"/>
            <a:ext cx="8229600" cy="566928"/>
          </a:xfrm>
          <a:prstGeom prst="rect">
            <a:avLst/>
          </a:prstGeom>
          <a:noFill/>
          <a:ln/>
        </p:spPr>
        <p:txBody>
          <a:bodyPr wrap="square" lIns="0" tIns="0" rIns="0" bIns="0" rtlCol="0" anchor="ctr"/>
          <a:lstStyle/>
          <a:p>
            <a:pPr indent="0" marL="0">
              <a:buNone/>
            </a:pPr>
            <a:r>
              <a:rPr lang="en-US" sz="2600" b="1" dirty="0">
                <a:solidFill>
                  <a:schemeClr val="bg1"/>
                </a:solidFill>
              </a:rPr>
              <a:t>Fuel, Doors and Operating Status</a:t>
            </a:r>
            <a:endParaRPr lang="en-US" sz="2600" dirty="0"/>
          </a:p>
        </p:txBody>
      </p:sp>
      <p:sp>
        <p:nvSpPr>
          <p:cNvPr id="4" name="clk01_card_166"/>
          <p:cNvSpPr/>
          <p:nvPr/>
        </p:nvSpPr>
        <p:spPr>
          <a:xfrm>
            <a:off x="457200" y="914400"/>
            <a:ext cx="2621280" cy="1700784"/>
          </a:xfrm>
          <a:prstGeom prst="roundRect">
            <a:avLst>
              <a:gd name="adj" fmla="val 5376"/>
            </a:avLst>
          </a:prstGeom>
          <a:solidFill>
            <a:srgbClr val="1C2128"/>
          </a:solidFill>
          <a:ln/>
          <a:effectLst>
            <a:outerShdw sx="100000" sy="100000" kx="0" ky="0" algn="bl" rotWithShape="0" blurRad="76200" dist="25400" dir="5400000">
              <a:srgbClr val="000000">
                <a:alpha val="40000"/>
              </a:srgbClr>
            </a:outerShdw>
          </a:effectLst>
        </p:spPr>
      </p:sp>
      <p:sp>
        <p:nvSpPr>
          <p:cNvPr id="5" name="clk01_iconbg_167"/>
          <p:cNvSpPr/>
          <p:nvPr/>
        </p:nvSpPr>
        <p:spPr>
          <a:xfrm>
            <a:off x="594360" y="1051560"/>
            <a:ext cx="714329" cy="714329"/>
          </a:xfrm>
          <a:prstGeom prst="ellipse">
            <a:avLst/>
          </a:prstGeom>
          <a:solidFill>
            <a:srgbClr val="000000"/>
          </a:solidFill>
          <a:ln w="12700">
            <a:solidFill>
              <a:srgbClr val="262C34"/>
            </a:solidFill>
            <a:prstDash val="solid"/>
          </a:ln>
        </p:spPr>
      </p:sp>
      <p:pic>
        <p:nvPicPr>
          <p:cNvPr id="6" name="clk01_icon_168" descr="Low Fuel symbol">    </p:cNvPr>
          <p:cNvPicPr>
            <a:picLocks noChangeAspect="1"/>
          </p:cNvPicPr>
          <p:nvPr/>
        </p:nvPicPr>
        <p:blipFill>
          <a:blip r:embed="rId1"/>
          <a:stretch>
            <a:fillRect/>
          </a:stretch>
        </p:blipFill>
        <p:spPr>
          <a:xfrm>
            <a:off x="694366" y="1151566"/>
            <a:ext cx="514317" cy="514317"/>
          </a:xfrm>
          <a:prstGeom prst="rect">
            <a:avLst/>
          </a:prstGeom>
        </p:spPr>
      </p:pic>
      <p:sp>
        <p:nvSpPr>
          <p:cNvPr id="7" name="clk01_name_169"/>
          <p:cNvSpPr txBox="1"/>
          <p:nvPr/>
        </p:nvSpPr>
        <p:spPr>
          <a:xfrm>
            <a:off x="1427561" y="1024128"/>
            <a:ext cx="1541191" cy="442884"/>
          </a:xfrm>
          <a:prstGeom prst="rect">
            <a:avLst/>
          </a:prstGeom>
          <a:noFill/>
          <a:ln/>
        </p:spPr>
        <p:txBody>
          <a:bodyPr wrap="square" lIns="0" tIns="0" rIns="0" bIns="0" rtlCol="0" anchor="ctr"/>
          <a:lstStyle/>
          <a:p>
            <a:pPr indent="0" marL="0">
              <a:buNone/>
            </a:pPr>
            <a:r>
              <a:rPr lang="en-US" sz="1300" b="1" dirty="0">
                <a:solidFill>
                  <a:srgbClr val="FFFFFF"/>
                </a:solidFill>
              </a:rPr>
              <a:t>Low Fuel</a:t>
            </a:r>
            <a:endParaRPr lang="en-US" sz="1300" dirty="0"/>
          </a:p>
        </p:txBody>
      </p:sp>
      <p:sp>
        <p:nvSpPr>
          <p:cNvPr id="8" name="clk01_respbox_170"/>
          <p:cNvSpPr/>
          <p:nvPr/>
        </p:nvSpPr>
        <p:spPr>
          <a:xfrm>
            <a:off x="1427561" y="1523017"/>
            <a:ext cx="1513759" cy="246888"/>
          </a:xfrm>
          <a:prstGeom prst="roundRect">
            <a:avLst>
              <a:gd name="adj" fmla="val 22222"/>
            </a:avLst>
          </a:prstGeom>
          <a:solidFill>
            <a:srgbClr val="FFB000"/>
          </a:solidFill>
          <a:ln/>
        </p:spPr>
      </p:sp>
      <p:sp>
        <p:nvSpPr>
          <p:cNvPr id="9" name="clk01_resp_171"/>
          <p:cNvSpPr txBox="1"/>
          <p:nvPr/>
        </p:nvSpPr>
        <p:spPr>
          <a:xfrm>
            <a:off x="1427561" y="1523017"/>
            <a:ext cx="1513759" cy="246888"/>
          </a:xfrm>
          <a:prstGeom prst="rect">
            <a:avLst/>
          </a:prstGeom>
          <a:noFill/>
          <a:ln/>
        </p:spPr>
        <p:txBody>
          <a:bodyPr wrap="square" lIns="0" tIns="0" rIns="0" bIns="0" rtlCol="0" anchor="ctr"/>
          <a:lstStyle/>
          <a:p>
            <a:pPr algn="ctr" indent="0" marL="0">
              <a:buNone/>
            </a:pPr>
            <a:r>
              <a:rPr lang="en-US" sz="900" b="1" spc="100" kern="0" dirty="0">
                <a:solidFill>
                  <a:srgbClr val="0F1215"/>
                </a:solidFill>
              </a:rPr>
              <a:t>REFUEL SOON</a:t>
            </a:r>
            <a:endParaRPr lang="en-US" sz="900" dirty="0"/>
          </a:p>
        </p:txBody>
      </p:sp>
      <p:sp>
        <p:nvSpPr>
          <p:cNvPr id="10" name="clk01_text_172"/>
          <p:cNvSpPr txBox="1"/>
          <p:nvPr/>
        </p:nvSpPr>
        <p:spPr>
          <a:xfrm>
            <a:off x="594360" y="1857329"/>
            <a:ext cx="2346960" cy="684703"/>
          </a:xfrm>
          <a:prstGeom prst="rect">
            <a:avLst/>
          </a:prstGeom>
          <a:noFill/>
          <a:ln/>
        </p:spPr>
        <p:txBody>
          <a:bodyPr wrap="square" lIns="0" tIns="0" rIns="0" bIns="0" rtlCol="0" anchor="t"/>
          <a:lstStyle/>
          <a:p>
            <a:pPr indent="0" marL="0">
              <a:spcAft>
                <a:spcPts val="300"/>
              </a:spcAft>
              <a:buNone/>
            </a:pPr>
            <a:r>
              <a:rPr lang="en-US" sz="1100" b="1" dirty="0">
                <a:solidFill>
                  <a:srgbClr val="FFB000"/>
                </a:solidFill>
              </a:rPr>
              <a:t>Means: </a:t>
            </a:r>
            <a:pPr indent="0" marL="0">
              <a:spcAft>
                <a:spcPts val="300"/>
              </a:spcAft>
              <a:buNone/>
            </a:pPr>
            <a:r>
              <a:rPr lang="en-US" sz="1100" dirty="0">
                <a:solidFill>
                  <a:srgbClr val="C9D1DA"/>
                </a:solidFill>
              </a:rPr>
              <a:t>Fuel is running low.</a:t>
            </a:r>
            <a:endParaRPr lang="en-US" sz="1100" dirty="0"/>
          </a:p>
          <a:p>
            <a:pPr indent="0" marL="0">
              <a:spcAft>
                <a:spcPts val="300"/>
              </a:spcAft>
              <a:buNone/>
            </a:pPr>
            <a:r>
              <a:rPr lang="en-US" sz="1100" b="1" dirty="0">
                <a:solidFill>
                  <a:srgbClr val="2ECC40"/>
                </a:solidFill>
              </a:rPr>
              <a:t>Do: </a:t>
            </a:r>
            <a:pPr indent="0" marL="0">
              <a:spcAft>
                <a:spcPts val="300"/>
              </a:spcAft>
              <a:buNone/>
            </a:pPr>
            <a:r>
              <a:rPr lang="en-US" sz="1100" dirty="0">
                <a:solidFill>
                  <a:srgbClr val="C9D1DA"/>
                </a:solidFill>
              </a:rPr>
              <a:t>Refuel soon; never risk running dry on a busy road.</a:t>
            </a:r>
            <a:endParaRPr lang="en-US" sz="1100" dirty="0"/>
          </a:p>
        </p:txBody>
      </p:sp>
      <p:sp>
        <p:nvSpPr>
          <p:cNvPr id="11" name="clk02_card_173"/>
          <p:cNvSpPr/>
          <p:nvPr/>
        </p:nvSpPr>
        <p:spPr>
          <a:xfrm>
            <a:off x="3261360" y="914400"/>
            <a:ext cx="2621280" cy="1700784"/>
          </a:xfrm>
          <a:prstGeom prst="roundRect">
            <a:avLst>
              <a:gd name="adj" fmla="val 5376"/>
            </a:avLst>
          </a:prstGeom>
          <a:solidFill>
            <a:srgbClr val="1C2128"/>
          </a:solidFill>
          <a:ln/>
          <a:effectLst>
            <a:outerShdw sx="100000" sy="100000" kx="0" ky="0" algn="bl" rotWithShape="0" blurRad="76200" dist="25400" dir="5400000">
              <a:srgbClr val="000000">
                <a:alpha val="40000"/>
              </a:srgbClr>
            </a:outerShdw>
          </a:effectLst>
        </p:spPr>
      </p:sp>
      <p:sp>
        <p:nvSpPr>
          <p:cNvPr id="12" name="clk02_iconbg_174"/>
          <p:cNvSpPr/>
          <p:nvPr/>
        </p:nvSpPr>
        <p:spPr>
          <a:xfrm>
            <a:off x="3398520" y="1051560"/>
            <a:ext cx="714329" cy="714329"/>
          </a:xfrm>
          <a:prstGeom prst="ellipse">
            <a:avLst/>
          </a:prstGeom>
          <a:solidFill>
            <a:srgbClr val="000000"/>
          </a:solidFill>
          <a:ln w="12700">
            <a:solidFill>
              <a:srgbClr val="262C34"/>
            </a:solidFill>
            <a:prstDash val="solid"/>
          </a:ln>
        </p:spPr>
      </p:sp>
      <p:pic>
        <p:nvPicPr>
          <p:cNvPr id="13" name="clk02_icon_175" descr="Low Washer Fluid symbol">    </p:cNvPr>
          <p:cNvPicPr>
            <a:picLocks noChangeAspect="1"/>
          </p:cNvPicPr>
          <p:nvPr/>
        </p:nvPicPr>
        <p:blipFill>
          <a:blip r:embed="rId2"/>
          <a:stretch>
            <a:fillRect/>
          </a:stretch>
        </p:blipFill>
        <p:spPr>
          <a:xfrm>
            <a:off x="3498526" y="1151566"/>
            <a:ext cx="514317" cy="514317"/>
          </a:xfrm>
          <a:prstGeom prst="rect">
            <a:avLst/>
          </a:prstGeom>
        </p:spPr>
      </p:pic>
      <p:sp>
        <p:nvSpPr>
          <p:cNvPr id="14" name="clk02_name_176"/>
          <p:cNvSpPr txBox="1"/>
          <p:nvPr/>
        </p:nvSpPr>
        <p:spPr>
          <a:xfrm>
            <a:off x="4231721" y="1024128"/>
            <a:ext cx="1541191" cy="442884"/>
          </a:xfrm>
          <a:prstGeom prst="rect">
            <a:avLst/>
          </a:prstGeom>
          <a:noFill/>
          <a:ln/>
        </p:spPr>
        <p:txBody>
          <a:bodyPr wrap="square" lIns="0" tIns="0" rIns="0" bIns="0" rtlCol="0" anchor="ctr"/>
          <a:lstStyle/>
          <a:p>
            <a:pPr indent="0" marL="0">
              <a:buNone/>
            </a:pPr>
            <a:r>
              <a:rPr lang="en-US" sz="1300" b="1" dirty="0">
                <a:solidFill>
                  <a:srgbClr val="FFFFFF"/>
                </a:solidFill>
              </a:rPr>
              <a:t>Low Washer Fluid</a:t>
            </a:r>
            <a:endParaRPr lang="en-US" sz="1300" dirty="0"/>
          </a:p>
        </p:txBody>
      </p:sp>
      <p:sp>
        <p:nvSpPr>
          <p:cNvPr id="15" name="clk02_respbox_177"/>
          <p:cNvSpPr/>
          <p:nvPr/>
        </p:nvSpPr>
        <p:spPr>
          <a:xfrm>
            <a:off x="4231721" y="1523017"/>
            <a:ext cx="1513759" cy="246888"/>
          </a:xfrm>
          <a:prstGeom prst="roundRect">
            <a:avLst>
              <a:gd name="adj" fmla="val 22222"/>
            </a:avLst>
          </a:prstGeom>
          <a:solidFill>
            <a:srgbClr val="FFB000"/>
          </a:solidFill>
          <a:ln/>
        </p:spPr>
      </p:sp>
      <p:sp>
        <p:nvSpPr>
          <p:cNvPr id="16" name="clk02_resp_178"/>
          <p:cNvSpPr txBox="1"/>
          <p:nvPr/>
        </p:nvSpPr>
        <p:spPr>
          <a:xfrm>
            <a:off x="4231721" y="1523017"/>
            <a:ext cx="1513759" cy="246888"/>
          </a:xfrm>
          <a:prstGeom prst="rect">
            <a:avLst/>
          </a:prstGeom>
          <a:noFill/>
          <a:ln/>
        </p:spPr>
        <p:txBody>
          <a:bodyPr wrap="square" lIns="0" tIns="0" rIns="0" bIns="0" rtlCol="0" anchor="ctr"/>
          <a:lstStyle/>
          <a:p>
            <a:pPr algn="ctr" indent="0" marL="0">
              <a:buNone/>
            </a:pPr>
            <a:r>
              <a:rPr lang="en-US" sz="900" b="1" spc="100" kern="0" dirty="0">
                <a:solidFill>
                  <a:srgbClr val="0F1215"/>
                </a:solidFill>
              </a:rPr>
              <a:t>TOP UP SOON</a:t>
            </a:r>
            <a:endParaRPr lang="en-US" sz="900" dirty="0"/>
          </a:p>
        </p:txBody>
      </p:sp>
      <p:sp>
        <p:nvSpPr>
          <p:cNvPr id="17" name="clk02_text_179"/>
          <p:cNvSpPr txBox="1"/>
          <p:nvPr/>
        </p:nvSpPr>
        <p:spPr>
          <a:xfrm>
            <a:off x="3398520" y="1857329"/>
            <a:ext cx="2346960" cy="684703"/>
          </a:xfrm>
          <a:prstGeom prst="rect">
            <a:avLst/>
          </a:prstGeom>
          <a:noFill/>
          <a:ln/>
        </p:spPr>
        <p:txBody>
          <a:bodyPr wrap="square" lIns="0" tIns="0" rIns="0" bIns="0" rtlCol="0" anchor="t"/>
          <a:lstStyle/>
          <a:p>
            <a:pPr indent="0" marL="0">
              <a:spcAft>
                <a:spcPts val="300"/>
              </a:spcAft>
              <a:buNone/>
            </a:pPr>
            <a:r>
              <a:rPr lang="en-US" sz="1100" b="1" dirty="0">
                <a:solidFill>
                  <a:srgbClr val="FFB000"/>
                </a:solidFill>
              </a:rPr>
              <a:t>Means: </a:t>
            </a:r>
            <a:pPr indent="0" marL="0">
              <a:spcAft>
                <a:spcPts val="300"/>
              </a:spcAft>
              <a:buNone/>
            </a:pPr>
            <a:r>
              <a:rPr lang="en-US" sz="1100" dirty="0">
                <a:solidFill>
                  <a:srgbClr val="C9D1DA"/>
                </a:solidFill>
              </a:rPr>
              <a:t>Washer reservoir is nearly empty (where fitted).</a:t>
            </a:r>
            <a:endParaRPr lang="en-US" sz="1100" dirty="0"/>
          </a:p>
          <a:p>
            <a:pPr indent="0" marL="0">
              <a:spcAft>
                <a:spcPts val="300"/>
              </a:spcAft>
              <a:buNone/>
            </a:pPr>
            <a:r>
              <a:rPr lang="en-US" sz="1100" b="1" dirty="0">
                <a:solidFill>
                  <a:srgbClr val="2ECC40"/>
                </a:solidFill>
              </a:rPr>
              <a:t>Do: </a:t>
            </a:r>
            <a:pPr indent="0" marL="0">
              <a:spcAft>
                <a:spcPts val="300"/>
              </a:spcAft>
              <a:buNone/>
            </a:pPr>
            <a:r>
              <a:rPr lang="en-US" sz="1100" dirty="0">
                <a:solidFill>
                  <a:srgbClr val="C9D1DA"/>
                </a:solidFill>
              </a:rPr>
              <a:t>Top up before your journey.</a:t>
            </a:r>
            <a:endParaRPr lang="en-US" sz="1100" dirty="0"/>
          </a:p>
        </p:txBody>
      </p:sp>
      <p:sp>
        <p:nvSpPr>
          <p:cNvPr id="18" name="clk03_card_180"/>
          <p:cNvSpPr/>
          <p:nvPr/>
        </p:nvSpPr>
        <p:spPr>
          <a:xfrm>
            <a:off x="6065520" y="914400"/>
            <a:ext cx="2621280" cy="1700784"/>
          </a:xfrm>
          <a:prstGeom prst="roundRect">
            <a:avLst>
              <a:gd name="adj" fmla="val 5376"/>
            </a:avLst>
          </a:prstGeom>
          <a:solidFill>
            <a:srgbClr val="1C2128"/>
          </a:solidFill>
          <a:ln/>
          <a:effectLst>
            <a:outerShdw sx="100000" sy="100000" kx="0" ky="0" algn="bl" rotWithShape="0" blurRad="76200" dist="25400" dir="5400000">
              <a:srgbClr val="000000">
                <a:alpha val="40000"/>
              </a:srgbClr>
            </a:outerShdw>
          </a:effectLst>
        </p:spPr>
      </p:sp>
      <p:sp>
        <p:nvSpPr>
          <p:cNvPr id="19" name="clk03_iconbg_181"/>
          <p:cNvSpPr/>
          <p:nvPr/>
        </p:nvSpPr>
        <p:spPr>
          <a:xfrm>
            <a:off x="6202680" y="1051560"/>
            <a:ext cx="714329" cy="714329"/>
          </a:xfrm>
          <a:prstGeom prst="ellipse">
            <a:avLst/>
          </a:prstGeom>
          <a:solidFill>
            <a:srgbClr val="000000"/>
          </a:solidFill>
          <a:ln w="12700">
            <a:solidFill>
              <a:srgbClr val="262C34"/>
            </a:solidFill>
            <a:prstDash val="solid"/>
          </a:ln>
        </p:spPr>
      </p:sp>
      <p:pic>
        <p:nvPicPr>
          <p:cNvPr id="20" name="clk03_icon_182" descr="Door Open symbol">    </p:cNvPr>
          <p:cNvPicPr>
            <a:picLocks noChangeAspect="1"/>
          </p:cNvPicPr>
          <p:nvPr/>
        </p:nvPicPr>
        <p:blipFill>
          <a:blip r:embed="rId3"/>
          <a:stretch>
            <a:fillRect/>
          </a:stretch>
        </p:blipFill>
        <p:spPr>
          <a:xfrm>
            <a:off x="6302686" y="1151566"/>
            <a:ext cx="514317" cy="514317"/>
          </a:xfrm>
          <a:prstGeom prst="rect">
            <a:avLst/>
          </a:prstGeom>
        </p:spPr>
      </p:pic>
      <p:sp>
        <p:nvSpPr>
          <p:cNvPr id="21" name="clk03_name_183"/>
          <p:cNvSpPr txBox="1"/>
          <p:nvPr/>
        </p:nvSpPr>
        <p:spPr>
          <a:xfrm>
            <a:off x="7035881" y="1024128"/>
            <a:ext cx="1541191" cy="442884"/>
          </a:xfrm>
          <a:prstGeom prst="rect">
            <a:avLst/>
          </a:prstGeom>
          <a:noFill/>
          <a:ln/>
        </p:spPr>
        <p:txBody>
          <a:bodyPr wrap="square" lIns="0" tIns="0" rIns="0" bIns="0" rtlCol="0" anchor="ctr"/>
          <a:lstStyle/>
          <a:p>
            <a:pPr indent="0" marL="0">
              <a:buNone/>
            </a:pPr>
            <a:r>
              <a:rPr lang="en-US" sz="1300" b="1" dirty="0">
                <a:solidFill>
                  <a:srgbClr val="FFFFFF"/>
                </a:solidFill>
              </a:rPr>
              <a:t>Door Open</a:t>
            </a:r>
            <a:endParaRPr lang="en-US" sz="1300" dirty="0"/>
          </a:p>
        </p:txBody>
      </p:sp>
      <p:sp>
        <p:nvSpPr>
          <p:cNvPr id="22" name="clk03_respbox_184"/>
          <p:cNvSpPr/>
          <p:nvPr/>
        </p:nvSpPr>
        <p:spPr>
          <a:xfrm>
            <a:off x="7035881" y="1523017"/>
            <a:ext cx="1513759" cy="246888"/>
          </a:xfrm>
          <a:prstGeom prst="roundRect">
            <a:avLst>
              <a:gd name="adj" fmla="val 22222"/>
            </a:avLst>
          </a:prstGeom>
          <a:solidFill>
            <a:srgbClr val="E53935"/>
          </a:solidFill>
          <a:ln/>
        </p:spPr>
      </p:sp>
      <p:sp>
        <p:nvSpPr>
          <p:cNvPr id="23" name="clk03_resp_185"/>
          <p:cNvSpPr txBox="1"/>
          <p:nvPr/>
        </p:nvSpPr>
        <p:spPr>
          <a:xfrm>
            <a:off x="7035881" y="1523017"/>
            <a:ext cx="1513759" cy="246888"/>
          </a:xfrm>
          <a:prstGeom prst="rect">
            <a:avLst/>
          </a:prstGeom>
          <a:noFill/>
          <a:ln/>
        </p:spPr>
        <p:txBody>
          <a:bodyPr wrap="square" lIns="0" tIns="0" rIns="0" bIns="0" rtlCol="0" anchor="ctr"/>
          <a:lstStyle/>
          <a:p>
            <a:pPr algn="ctr" indent="0" marL="0">
              <a:buNone/>
            </a:pPr>
            <a:r>
              <a:rPr lang="en-US" sz="900" b="1" spc="100" kern="0" dirty="0">
                <a:solidFill>
                  <a:srgbClr val="FFFFFF"/>
                </a:solidFill>
              </a:rPr>
              <a:t>CLOSE IT FIRST</a:t>
            </a:r>
            <a:endParaRPr lang="en-US" sz="900" dirty="0"/>
          </a:p>
        </p:txBody>
      </p:sp>
      <p:sp>
        <p:nvSpPr>
          <p:cNvPr id="24" name="clk03_text_186"/>
          <p:cNvSpPr txBox="1"/>
          <p:nvPr/>
        </p:nvSpPr>
        <p:spPr>
          <a:xfrm>
            <a:off x="6202680" y="1857329"/>
            <a:ext cx="2346960" cy="684703"/>
          </a:xfrm>
          <a:prstGeom prst="rect">
            <a:avLst/>
          </a:prstGeom>
          <a:noFill/>
          <a:ln/>
        </p:spPr>
        <p:txBody>
          <a:bodyPr wrap="square" lIns="0" tIns="0" rIns="0" bIns="0" rtlCol="0" anchor="t"/>
          <a:lstStyle/>
          <a:p>
            <a:pPr indent="0" marL="0">
              <a:spcAft>
                <a:spcPts val="300"/>
              </a:spcAft>
              <a:buNone/>
            </a:pPr>
            <a:r>
              <a:rPr lang="en-US" sz="1100" b="1" dirty="0">
                <a:solidFill>
                  <a:srgbClr val="FFB000"/>
                </a:solidFill>
              </a:rPr>
              <a:t>Means: </a:t>
            </a:r>
            <a:pPr indent="0" marL="0">
              <a:spcAft>
                <a:spcPts val="300"/>
              </a:spcAft>
              <a:buNone/>
            </a:pPr>
            <a:r>
              <a:rPr lang="en-US" sz="1100" dirty="0">
                <a:solidFill>
                  <a:srgbClr val="C9D1DA"/>
                </a:solidFill>
              </a:rPr>
              <a:t>A door is not fully closed.</a:t>
            </a:r>
            <a:endParaRPr lang="en-US" sz="1100" dirty="0"/>
          </a:p>
          <a:p>
            <a:pPr indent="0" marL="0">
              <a:spcAft>
                <a:spcPts val="300"/>
              </a:spcAft>
              <a:buNone/>
            </a:pPr>
            <a:r>
              <a:rPr lang="en-US" sz="1100" b="1" dirty="0">
                <a:solidFill>
                  <a:srgbClr val="2ECC40"/>
                </a:solidFill>
              </a:rPr>
              <a:t>Do: </a:t>
            </a:r>
            <a:pPr indent="0" marL="0">
              <a:spcAft>
                <a:spcPts val="300"/>
              </a:spcAft>
              <a:buNone/>
            </a:pPr>
            <a:r>
              <a:rPr lang="en-US" sz="1100" dirty="0">
                <a:solidFill>
                  <a:srgbClr val="C9D1DA"/>
                </a:solidFill>
              </a:rPr>
              <a:t>Stop and close it securely before moving.</a:t>
            </a:r>
            <a:endParaRPr lang="en-US" sz="1100" dirty="0"/>
          </a:p>
        </p:txBody>
      </p:sp>
      <p:sp>
        <p:nvSpPr>
          <p:cNvPr id="25" name="clk04_card_187"/>
          <p:cNvSpPr/>
          <p:nvPr/>
        </p:nvSpPr>
        <p:spPr>
          <a:xfrm>
            <a:off x="457200" y="2798064"/>
            <a:ext cx="2621280" cy="1700784"/>
          </a:xfrm>
          <a:prstGeom prst="roundRect">
            <a:avLst>
              <a:gd name="adj" fmla="val 5376"/>
            </a:avLst>
          </a:prstGeom>
          <a:solidFill>
            <a:srgbClr val="1C2128"/>
          </a:solidFill>
          <a:ln/>
          <a:effectLst>
            <a:outerShdw sx="100000" sy="100000" kx="0" ky="0" algn="bl" rotWithShape="0" blurRad="76200" dist="25400" dir="5400000">
              <a:srgbClr val="000000">
                <a:alpha val="40000"/>
              </a:srgbClr>
            </a:outerShdw>
          </a:effectLst>
        </p:spPr>
      </p:sp>
      <p:sp>
        <p:nvSpPr>
          <p:cNvPr id="26" name="clk04_iconbg_188"/>
          <p:cNvSpPr/>
          <p:nvPr/>
        </p:nvSpPr>
        <p:spPr>
          <a:xfrm>
            <a:off x="594360" y="2935224"/>
            <a:ext cx="714329" cy="714329"/>
          </a:xfrm>
          <a:prstGeom prst="ellipse">
            <a:avLst/>
          </a:prstGeom>
          <a:solidFill>
            <a:srgbClr val="000000"/>
          </a:solidFill>
          <a:ln w="12700">
            <a:solidFill>
              <a:srgbClr val="262C34"/>
            </a:solidFill>
            <a:prstDash val="solid"/>
          </a:ln>
        </p:spPr>
      </p:sp>
      <p:pic>
        <p:nvPicPr>
          <p:cNvPr id="27" name="clk04_icon_189" descr="Parking Brake On symbol">    </p:cNvPr>
          <p:cNvPicPr>
            <a:picLocks noChangeAspect="1"/>
          </p:cNvPicPr>
          <p:nvPr/>
        </p:nvPicPr>
        <p:blipFill>
          <a:blip r:embed="rId4"/>
          <a:stretch>
            <a:fillRect/>
          </a:stretch>
        </p:blipFill>
        <p:spPr>
          <a:xfrm>
            <a:off x="694366" y="3035230"/>
            <a:ext cx="514317" cy="514317"/>
          </a:xfrm>
          <a:prstGeom prst="rect">
            <a:avLst/>
          </a:prstGeom>
        </p:spPr>
      </p:pic>
      <p:sp>
        <p:nvSpPr>
          <p:cNvPr id="28" name="clk04_name_190"/>
          <p:cNvSpPr txBox="1"/>
          <p:nvPr/>
        </p:nvSpPr>
        <p:spPr>
          <a:xfrm>
            <a:off x="1427561" y="2907792"/>
            <a:ext cx="1541191" cy="442884"/>
          </a:xfrm>
          <a:prstGeom prst="rect">
            <a:avLst/>
          </a:prstGeom>
          <a:noFill/>
          <a:ln/>
        </p:spPr>
        <p:txBody>
          <a:bodyPr wrap="square" lIns="0" tIns="0" rIns="0" bIns="0" rtlCol="0" anchor="ctr"/>
          <a:lstStyle/>
          <a:p>
            <a:pPr indent="0" marL="0">
              <a:buNone/>
            </a:pPr>
            <a:r>
              <a:rPr lang="en-US" sz="1300" b="1" dirty="0">
                <a:solidFill>
                  <a:srgbClr val="FFFFFF"/>
                </a:solidFill>
              </a:rPr>
              <a:t>Parking Brake On</a:t>
            </a:r>
            <a:endParaRPr lang="en-US" sz="1300" dirty="0"/>
          </a:p>
        </p:txBody>
      </p:sp>
      <p:sp>
        <p:nvSpPr>
          <p:cNvPr id="29" name="clk04_respbox_191"/>
          <p:cNvSpPr/>
          <p:nvPr/>
        </p:nvSpPr>
        <p:spPr>
          <a:xfrm>
            <a:off x="1427561" y="3406681"/>
            <a:ext cx="1513759" cy="246888"/>
          </a:xfrm>
          <a:prstGeom prst="roundRect">
            <a:avLst>
              <a:gd name="adj" fmla="val 22222"/>
            </a:avLst>
          </a:prstGeom>
          <a:solidFill>
            <a:srgbClr val="E53935"/>
          </a:solidFill>
          <a:ln/>
        </p:spPr>
      </p:sp>
      <p:sp>
        <p:nvSpPr>
          <p:cNvPr id="30" name="clk04_resp_192"/>
          <p:cNvSpPr txBox="1"/>
          <p:nvPr/>
        </p:nvSpPr>
        <p:spPr>
          <a:xfrm>
            <a:off x="1427561" y="3406681"/>
            <a:ext cx="1513759" cy="246888"/>
          </a:xfrm>
          <a:prstGeom prst="rect">
            <a:avLst/>
          </a:prstGeom>
          <a:noFill/>
          <a:ln/>
        </p:spPr>
        <p:txBody>
          <a:bodyPr wrap="square" lIns="0" tIns="0" rIns="0" bIns="0" rtlCol="0" anchor="ctr"/>
          <a:lstStyle/>
          <a:p>
            <a:pPr algn="ctr" indent="0" marL="0">
              <a:buNone/>
            </a:pPr>
            <a:r>
              <a:rPr lang="en-US" sz="900" b="1" spc="100" kern="0" dirty="0">
                <a:solidFill>
                  <a:srgbClr val="FFFFFF"/>
                </a:solidFill>
              </a:rPr>
              <a:t>RELEASE FIRST</a:t>
            </a:r>
            <a:endParaRPr lang="en-US" sz="900" dirty="0"/>
          </a:p>
        </p:txBody>
      </p:sp>
      <p:sp>
        <p:nvSpPr>
          <p:cNvPr id="31" name="clk04_text_193"/>
          <p:cNvSpPr txBox="1"/>
          <p:nvPr/>
        </p:nvSpPr>
        <p:spPr>
          <a:xfrm>
            <a:off x="594360" y="3740993"/>
            <a:ext cx="2346960" cy="684703"/>
          </a:xfrm>
          <a:prstGeom prst="rect">
            <a:avLst/>
          </a:prstGeom>
          <a:noFill/>
          <a:ln/>
        </p:spPr>
        <p:txBody>
          <a:bodyPr wrap="square" lIns="0" tIns="0" rIns="0" bIns="0" rtlCol="0" anchor="t"/>
          <a:lstStyle/>
          <a:p>
            <a:pPr indent="0" marL="0">
              <a:spcAft>
                <a:spcPts val="300"/>
              </a:spcAft>
              <a:buNone/>
            </a:pPr>
            <a:r>
              <a:rPr lang="en-US" sz="1100" b="1" dirty="0">
                <a:solidFill>
                  <a:srgbClr val="FFB000"/>
                </a:solidFill>
              </a:rPr>
              <a:t>Means: </a:t>
            </a:r>
            <a:pPr indent="0" marL="0">
              <a:spcAft>
                <a:spcPts val="300"/>
              </a:spcAft>
              <a:buNone/>
            </a:pPr>
            <a:r>
              <a:rPr lang="en-US" sz="1100" dirty="0">
                <a:solidFill>
                  <a:srgbClr val="C9D1DA"/>
                </a:solidFill>
              </a:rPr>
              <a:t>The parking brake is applied.</a:t>
            </a:r>
            <a:endParaRPr lang="en-US" sz="1100" dirty="0"/>
          </a:p>
          <a:p>
            <a:pPr indent="0" marL="0">
              <a:spcAft>
                <a:spcPts val="300"/>
              </a:spcAft>
              <a:buNone/>
            </a:pPr>
            <a:r>
              <a:rPr lang="en-US" sz="1100" b="1" dirty="0">
                <a:solidFill>
                  <a:srgbClr val="2ECC40"/>
                </a:solidFill>
              </a:rPr>
              <a:t>Do: </a:t>
            </a:r>
            <a:pPr indent="0" marL="0">
              <a:spcAft>
                <a:spcPts val="300"/>
              </a:spcAft>
              <a:buNone/>
            </a:pPr>
            <a:r>
              <a:rPr lang="en-US" sz="1100" dirty="0">
                <a:solidFill>
                  <a:srgbClr val="C9D1DA"/>
                </a:solidFill>
              </a:rPr>
              <a:t>Release before driving. Still lit? See brake warning.</a:t>
            </a:r>
            <a:endParaRPr lang="en-US" sz="1100" dirty="0"/>
          </a:p>
        </p:txBody>
      </p:sp>
      <p:sp>
        <p:nvSpPr>
          <p:cNvPr id="32" name="clk05_card_194"/>
          <p:cNvSpPr/>
          <p:nvPr/>
        </p:nvSpPr>
        <p:spPr>
          <a:xfrm>
            <a:off x="3261360" y="2798064"/>
            <a:ext cx="2621280" cy="1700784"/>
          </a:xfrm>
          <a:prstGeom prst="roundRect">
            <a:avLst>
              <a:gd name="adj" fmla="val 5376"/>
            </a:avLst>
          </a:prstGeom>
          <a:solidFill>
            <a:srgbClr val="1C2128"/>
          </a:solidFill>
          <a:ln/>
          <a:effectLst>
            <a:outerShdw sx="100000" sy="100000" kx="0" ky="0" algn="bl" rotWithShape="0" blurRad="76200" dist="25400" dir="5400000">
              <a:srgbClr val="000000">
                <a:alpha val="40000"/>
              </a:srgbClr>
            </a:outerShdw>
          </a:effectLst>
        </p:spPr>
      </p:sp>
      <p:sp>
        <p:nvSpPr>
          <p:cNvPr id="33" name="clk05_iconbg_195"/>
          <p:cNvSpPr/>
          <p:nvPr/>
        </p:nvSpPr>
        <p:spPr>
          <a:xfrm>
            <a:off x="3398520" y="2935224"/>
            <a:ext cx="714329" cy="714329"/>
          </a:xfrm>
          <a:prstGeom prst="ellipse">
            <a:avLst/>
          </a:prstGeom>
          <a:solidFill>
            <a:srgbClr val="000000"/>
          </a:solidFill>
          <a:ln w="12700">
            <a:solidFill>
              <a:srgbClr val="262C34"/>
            </a:solidFill>
            <a:prstDash val="solid"/>
          </a:ln>
        </p:spPr>
      </p:sp>
      <p:pic>
        <p:nvPicPr>
          <p:cNvPr id="34" name="clk05_icon_196" descr="Glow Plug (Diesel) symbol">    </p:cNvPr>
          <p:cNvPicPr>
            <a:picLocks noChangeAspect="1"/>
          </p:cNvPicPr>
          <p:nvPr/>
        </p:nvPicPr>
        <p:blipFill>
          <a:blip r:embed="rId5"/>
          <a:stretch>
            <a:fillRect/>
          </a:stretch>
        </p:blipFill>
        <p:spPr>
          <a:xfrm>
            <a:off x="3498526" y="3035230"/>
            <a:ext cx="514317" cy="514317"/>
          </a:xfrm>
          <a:prstGeom prst="rect">
            <a:avLst/>
          </a:prstGeom>
        </p:spPr>
      </p:pic>
      <p:sp>
        <p:nvSpPr>
          <p:cNvPr id="35" name="clk05_name_197"/>
          <p:cNvSpPr txBox="1"/>
          <p:nvPr/>
        </p:nvSpPr>
        <p:spPr>
          <a:xfrm>
            <a:off x="4231721" y="2907792"/>
            <a:ext cx="1541191" cy="442884"/>
          </a:xfrm>
          <a:prstGeom prst="rect">
            <a:avLst/>
          </a:prstGeom>
          <a:noFill/>
          <a:ln/>
        </p:spPr>
        <p:txBody>
          <a:bodyPr wrap="square" lIns="0" tIns="0" rIns="0" bIns="0" rtlCol="0" anchor="ctr"/>
          <a:lstStyle/>
          <a:p>
            <a:pPr indent="0" marL="0">
              <a:buNone/>
            </a:pPr>
            <a:r>
              <a:rPr lang="en-US" sz="1300" b="1" dirty="0">
                <a:solidFill>
                  <a:srgbClr val="FFFFFF"/>
                </a:solidFill>
              </a:rPr>
              <a:t>Glow Plug (Diesel)</a:t>
            </a:r>
            <a:endParaRPr lang="en-US" sz="1300" dirty="0"/>
          </a:p>
        </p:txBody>
      </p:sp>
      <p:sp>
        <p:nvSpPr>
          <p:cNvPr id="36" name="clk05_respbox_198"/>
          <p:cNvSpPr/>
          <p:nvPr/>
        </p:nvSpPr>
        <p:spPr>
          <a:xfrm>
            <a:off x="4231721" y="3406681"/>
            <a:ext cx="1513759" cy="246888"/>
          </a:xfrm>
          <a:prstGeom prst="roundRect">
            <a:avLst>
              <a:gd name="adj" fmla="val 22222"/>
            </a:avLst>
          </a:prstGeom>
          <a:solidFill>
            <a:srgbClr val="FFB000"/>
          </a:solidFill>
          <a:ln/>
        </p:spPr>
      </p:sp>
      <p:sp>
        <p:nvSpPr>
          <p:cNvPr id="37" name="clk05_resp_199"/>
          <p:cNvSpPr txBox="1"/>
          <p:nvPr/>
        </p:nvSpPr>
        <p:spPr>
          <a:xfrm>
            <a:off x="4231721" y="3406681"/>
            <a:ext cx="1513759" cy="246888"/>
          </a:xfrm>
          <a:prstGeom prst="rect">
            <a:avLst/>
          </a:prstGeom>
          <a:noFill/>
          <a:ln/>
        </p:spPr>
        <p:txBody>
          <a:bodyPr wrap="square" lIns="0" tIns="0" rIns="0" bIns="0" rtlCol="0" anchor="ctr"/>
          <a:lstStyle/>
          <a:p>
            <a:pPr algn="ctr" indent="0" marL="0">
              <a:buNone/>
            </a:pPr>
            <a:r>
              <a:rPr lang="en-US" sz="900" b="1" spc="100" kern="0" dirty="0">
                <a:solidFill>
                  <a:srgbClr val="0F1215"/>
                </a:solidFill>
              </a:rPr>
              <a:t>WAIT, THEN START</a:t>
            </a:r>
            <a:endParaRPr lang="en-US" sz="900" dirty="0"/>
          </a:p>
        </p:txBody>
      </p:sp>
      <p:sp>
        <p:nvSpPr>
          <p:cNvPr id="38" name="clk05_text_200"/>
          <p:cNvSpPr txBox="1"/>
          <p:nvPr/>
        </p:nvSpPr>
        <p:spPr>
          <a:xfrm>
            <a:off x="3398520" y="3740993"/>
            <a:ext cx="2346960" cy="684703"/>
          </a:xfrm>
          <a:prstGeom prst="rect">
            <a:avLst/>
          </a:prstGeom>
          <a:noFill/>
          <a:ln/>
        </p:spPr>
        <p:txBody>
          <a:bodyPr wrap="square" lIns="0" tIns="0" rIns="0" bIns="0" rtlCol="0" anchor="t"/>
          <a:lstStyle/>
          <a:p>
            <a:pPr indent="0" marL="0">
              <a:spcAft>
                <a:spcPts val="300"/>
              </a:spcAft>
              <a:buNone/>
            </a:pPr>
            <a:r>
              <a:rPr lang="en-US" sz="1100" b="1" dirty="0">
                <a:solidFill>
                  <a:srgbClr val="FFB000"/>
                </a:solidFill>
              </a:rPr>
              <a:t>Means: </a:t>
            </a:r>
            <a:pPr indent="0" marL="0">
              <a:spcAft>
                <a:spcPts val="300"/>
              </a:spcAft>
              <a:buNone/>
            </a:pPr>
            <a:r>
              <a:rPr lang="en-US" sz="1100" dirty="0">
                <a:solidFill>
                  <a:srgbClr val="C9D1DA"/>
                </a:solidFill>
              </a:rPr>
              <a:t>Engine is pre-heating. Flashing = fault.</a:t>
            </a:r>
            <a:endParaRPr lang="en-US" sz="1100" dirty="0"/>
          </a:p>
          <a:p>
            <a:pPr indent="0" marL="0">
              <a:spcAft>
                <a:spcPts val="300"/>
              </a:spcAft>
              <a:buNone/>
            </a:pPr>
            <a:r>
              <a:rPr lang="en-US" sz="1100" b="1" dirty="0">
                <a:solidFill>
                  <a:srgbClr val="2ECC40"/>
                </a:solidFill>
              </a:rPr>
              <a:t>Do: </a:t>
            </a:r>
            <a:pPr indent="0" marL="0">
              <a:spcAft>
                <a:spcPts val="300"/>
              </a:spcAft>
              <a:buNone/>
            </a:pPr>
            <a:r>
              <a:rPr lang="en-US" sz="1100" dirty="0">
                <a:solidFill>
                  <a:srgbClr val="C9D1DA"/>
                </a:solidFill>
              </a:rPr>
              <a:t>Start when it goes out. Flashing: get it checked.</a:t>
            </a:r>
            <a:endParaRPr lang="en-US" sz="1100" dirty="0"/>
          </a:p>
        </p:txBody>
      </p:sp>
      <p:sp>
        <p:nvSpPr>
          <p:cNvPr id="39" name="clk06_note_201"/>
          <p:cNvSpPr/>
          <p:nvPr/>
        </p:nvSpPr>
        <p:spPr>
          <a:xfrm>
            <a:off x="6065520" y="2798064"/>
            <a:ext cx="2621280" cy="1700784"/>
          </a:xfrm>
          <a:prstGeom prst="roundRect">
            <a:avLst>
              <a:gd name="adj" fmla="val 5376"/>
            </a:avLst>
          </a:prstGeom>
          <a:solidFill>
            <a:srgbClr val="262C34"/>
          </a:solidFill>
          <a:ln w="15240">
            <a:solidFill>
              <a:srgbClr val="FFB000"/>
            </a:solidFill>
            <a:prstDash val="dash"/>
          </a:ln>
        </p:spPr>
      </p:sp>
      <p:sp>
        <p:nvSpPr>
          <p:cNvPr id="40" name="clk06_notetext_202"/>
          <p:cNvSpPr txBox="1"/>
          <p:nvPr/>
        </p:nvSpPr>
        <p:spPr>
          <a:xfrm>
            <a:off x="6230112" y="2907792"/>
            <a:ext cx="2292096" cy="1481328"/>
          </a:xfrm>
          <a:prstGeom prst="rect">
            <a:avLst/>
          </a:prstGeom>
          <a:noFill/>
          <a:ln/>
        </p:spPr>
        <p:txBody>
          <a:bodyPr wrap="square" lIns="0" tIns="0" rIns="0" bIns="0" rtlCol="0" anchor="t"/>
          <a:lstStyle/>
          <a:p>
            <a:pPr indent="0" marL="0">
              <a:spcAft>
                <a:spcPts val="400"/>
              </a:spcAft>
              <a:buNone/>
            </a:pPr>
            <a:r>
              <a:rPr lang="en-US" sz="1300" b="1" dirty="0">
                <a:solidFill>
                  <a:srgbClr val="FFB000"/>
                </a:solidFill>
              </a:rPr>
              <a:t>Good to know</a:t>
            </a:r>
            <a:endParaRPr lang="en-US" sz="1300" dirty="0"/>
          </a:p>
          <a:p>
            <a:pPr indent="0" marL="0">
              <a:spcAft>
                <a:spcPts val="400"/>
              </a:spcAft>
              <a:buNone/>
            </a:pPr>
            <a:r>
              <a:rPr lang="en-US" sz="1150" dirty="0">
                <a:solidFill>
                  <a:srgbClr val="C9D1DA"/>
                </a:solidFill>
              </a:rPr>
              <a:t>Some cars show a separate symbol for bonnet or boot open. Treat them like door open: close and latch before moving.</a:t>
            </a:r>
            <a:endParaRPr lang="en-US" sz="1300" dirty="0"/>
          </a:p>
        </p:txBody>
      </p:sp>
      <p:sp>
        <p:nvSpPr>
          <p:cNvPr id="25" name="Slide Number Placeholder 0"/>
          <p:cNvSpPr>
            <a:spLocks noGrp="1"/>
          </p:cNvSpPr>
          <p:nvPr>
            <p:ph type="sldNum" sz="quarter" idx="4294967295"/>
          </p:nvPr>
        </p:nvSpPr>
        <p:spPr>
          <a:xfrm>
            <a:off x="8275320" y="4818888"/>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9E"/>
                </a:solidFill>
              </a:defRPr>
            </a:lvl1pPr>
          </a:lstStyle>
          <a:p>
            <a:pPr algn="r"/>
            <a:fld id="{F7021451-1387-4CA6-816F-3879F97B5CBC}" type="slidenum">
              <a:rPr b="0" lang="en-US"/>
              <a:t>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4" fill="hold">
                      <p:stCondLst>
                        <p:cond delay="indefinite"/>
                      </p:stCondLst>
                      <p:childTnLst>
                        <p:par>
                          <p:cTn id="25"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500"/>
                                        <p:tgtEl>
                                          <p:spTgt spid="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500"/>
                                        <p:tgtEl>
                                          <p:spTgt spid="5"/>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par>
                    <p:cTn id="47" fill="hold">
                      <p:stCondLst>
                        <p:cond delay="indefinite"/>
                      </p:stCondLst>
                      <p:childTnLst>
                        <p:par>
                          <p:cTn id="48"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00"/>
                                        <p:tgtEl>
                                          <p:spTgt spid="17"/>
                                        </p:tgtEl>
                                      </p:cBhvr>
                                    </p:animEffect>
                                  </p:childTnLst>
                                </p:cTn>
                              </p:par>
                            </p:childTnLst>
                          </p:cTn>
                        </p:par>
                      </p:childTnLst>
                    </p:cTn>
                  </p:par>
                  <p:par>
                    <p:cTn id="70" fill="hold">
                      <p:stCondLst>
                        <p:cond delay="indefinite"/>
                      </p:stCondLst>
                      <p:childTnLst>
                        <p:par>
                          <p:cTn id="71"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500"/>
                                        <p:tgtEl>
                                          <p:spTgt spid="1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500"/>
                                        <p:tgtEl>
                                          <p:spTgt spid="2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500"/>
                                        <p:tgtEl>
                                          <p:spTgt spid="21"/>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50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500"/>
                                        <p:tgtEl>
                                          <p:spTgt spid="23"/>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500"/>
                                        <p:tgtEl>
                                          <p:spTgt spid="24"/>
                                        </p:tgtEl>
                                      </p:cBhvr>
                                    </p:animEffect>
                                  </p:childTnLst>
                                </p:cTn>
                              </p:par>
                            </p:childTnLst>
                          </p:cTn>
                        </p:par>
                      </p:childTnLst>
                    </p:cTn>
                  </p:par>
                  <p:par>
                    <p:cTn id="93" fill="hold">
                      <p:stCondLst>
                        <p:cond delay="indefinite"/>
                      </p:stCondLst>
                      <p:childTnLst>
                        <p:par>
                          <p:cTn id="94"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500"/>
                                        <p:tgtEl>
                                          <p:spTgt spid="25"/>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500"/>
                                        <p:tgtEl>
                                          <p:spTgt spid="26"/>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7"/>
                                        </p:tgtEl>
                                        <p:attrNameLst>
                                          <p:attrName>style.visibility</p:attrName>
                                        </p:attrNameLst>
                                      </p:cBhvr>
                                      <p:to>
                                        <p:strVal val="visible"/>
                                      </p:to>
                                    </p:set>
                                    <p:animEffect transition="in" filter="fade">
                                      <p:cBhvr>
                                        <p:cTn id="80" dur="500"/>
                                        <p:tgtEl>
                                          <p:spTgt spid="27"/>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8"/>
                                        </p:tgtEl>
                                        <p:attrNameLst>
                                          <p:attrName>style.visibility</p:attrName>
                                        </p:attrNameLst>
                                      </p:cBhvr>
                                      <p:to>
                                        <p:strVal val="visible"/>
                                      </p:to>
                                    </p:set>
                                    <p:animEffect transition="in" filter="fade">
                                      <p:cBhvr>
                                        <p:cTn id="83" dur="500"/>
                                        <p:tgtEl>
                                          <p:spTgt spid="28"/>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9"/>
                                        </p:tgtEl>
                                        <p:attrNameLst>
                                          <p:attrName>style.visibility</p:attrName>
                                        </p:attrNameLst>
                                      </p:cBhvr>
                                      <p:to>
                                        <p:strVal val="visible"/>
                                      </p:to>
                                    </p:set>
                                    <p:animEffect transition="in" filter="fade">
                                      <p:cBhvr>
                                        <p:cTn id="86" dur="500"/>
                                        <p:tgtEl>
                                          <p:spTgt spid="29"/>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9" dur="500"/>
                                        <p:tgtEl>
                                          <p:spTgt spid="30"/>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1"/>
                                        </p:tgtEl>
                                        <p:attrNameLst>
                                          <p:attrName>style.visibility</p:attrName>
                                        </p:attrNameLst>
                                      </p:cBhvr>
                                      <p:to>
                                        <p:strVal val="visible"/>
                                      </p:to>
                                    </p:set>
                                    <p:animEffect transition="in" filter="fade">
                                      <p:cBhvr>
                                        <p:cTn id="92" dur="500"/>
                                        <p:tgtEl>
                                          <p:spTgt spid="31"/>
                                        </p:tgtEl>
                                      </p:cBhvr>
                                    </p:animEffect>
                                  </p:childTnLst>
                                </p:cTn>
                              </p:par>
                            </p:childTnLst>
                          </p:cTn>
                        </p:par>
                      </p:childTnLst>
                    </p:cTn>
                  </p:par>
                  <p:par>
                    <p:cTn id="116" fill="hold">
                      <p:stCondLst>
                        <p:cond delay="indefinite"/>
                      </p:stCondLst>
                      <p:childTnLst>
                        <p:par>
                          <p:cTn id="117"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32"/>
                                        </p:tgtEl>
                                        <p:attrNameLst>
                                          <p:attrName>style.visibility</p:attrName>
                                        </p:attrNameLst>
                                      </p:cBhvr>
                                      <p:to>
                                        <p:strVal val="visible"/>
                                      </p:to>
                                    </p:set>
                                    <p:animEffect transition="in" filter="fade">
                                      <p:cBhvr>
                                        <p:cTn id="97" dur="500"/>
                                        <p:tgtEl>
                                          <p:spTgt spid="32"/>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3"/>
                                        </p:tgtEl>
                                        <p:attrNameLst>
                                          <p:attrName>style.visibility</p:attrName>
                                        </p:attrNameLst>
                                      </p:cBhvr>
                                      <p:to>
                                        <p:strVal val="visible"/>
                                      </p:to>
                                    </p:set>
                                    <p:animEffect transition="in" filter="fade">
                                      <p:cBhvr>
                                        <p:cTn id="100" dur="500"/>
                                        <p:tgtEl>
                                          <p:spTgt spid="33"/>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3" dur="500"/>
                                        <p:tgtEl>
                                          <p:spTgt spid="34"/>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5"/>
                                        </p:tgtEl>
                                        <p:attrNameLst>
                                          <p:attrName>style.visibility</p:attrName>
                                        </p:attrNameLst>
                                      </p:cBhvr>
                                      <p:to>
                                        <p:strVal val="visible"/>
                                      </p:to>
                                    </p:set>
                                    <p:animEffect transition="in" filter="fade">
                                      <p:cBhvr>
                                        <p:cTn id="106" dur="500"/>
                                        <p:tgtEl>
                                          <p:spTgt spid="35"/>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36"/>
                                        </p:tgtEl>
                                        <p:attrNameLst>
                                          <p:attrName>style.visibility</p:attrName>
                                        </p:attrNameLst>
                                      </p:cBhvr>
                                      <p:to>
                                        <p:strVal val="visible"/>
                                      </p:to>
                                    </p:set>
                                    <p:animEffect transition="in" filter="fade">
                                      <p:cBhvr>
                                        <p:cTn id="109" dur="500"/>
                                        <p:tgtEl>
                                          <p:spTgt spid="36"/>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37"/>
                                        </p:tgtEl>
                                        <p:attrNameLst>
                                          <p:attrName>style.visibility</p:attrName>
                                        </p:attrNameLst>
                                      </p:cBhvr>
                                      <p:to>
                                        <p:strVal val="visible"/>
                                      </p:to>
                                    </p:set>
                                    <p:animEffect transition="in" filter="fade">
                                      <p:cBhvr>
                                        <p:cTn id="112" dur="500"/>
                                        <p:tgtEl>
                                          <p:spTgt spid="37"/>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38"/>
                                        </p:tgtEl>
                                        <p:attrNameLst>
                                          <p:attrName>style.visibility</p:attrName>
                                        </p:attrNameLst>
                                      </p:cBhvr>
                                      <p:to>
                                        <p:strVal val="visible"/>
                                      </p:to>
                                    </p:set>
                                    <p:animEffect transition="in" filter="fade">
                                      <p:cBhvr>
                                        <p:cTn id="115" dur="500"/>
                                        <p:tgtEl>
                                          <p:spTgt spid="38"/>
                                        </p:tgtEl>
                                      </p:cBhvr>
                                    </p:animEffect>
                                  </p:childTnLst>
                                </p:cTn>
                              </p:par>
                            </p:childTnLst>
                          </p:cTn>
                        </p:par>
                      </p:childTnLst>
                    </p:cTn>
                  </p:par>
                  <p:par>
                    <p:cTn id="124" fill="hold">
                      <p:stCondLst>
                        <p:cond delay="indefinite"/>
                      </p:stCondLst>
                      <p:childTnLst>
                        <p:par>
                          <p:cTn id="125" fill="hold">
                            <p:stCondLst>
                              <p:cond delay="0"/>
                            </p:stCondLst>
                            <p:childTnLst>
                              <p:par>
                                <p:cTn id="118" presetID="10" presetClass="entr" presetSubtype="0" fill="hold" grpId="0" nodeType="clickEffect">
                                  <p:stCondLst>
                                    <p:cond delay="0"/>
                                  </p:stCondLst>
                                  <p:childTnLst>
                                    <p:set>
                                      <p:cBhvr>
                                        <p:cTn id="119" dur="1" fill="hold">
                                          <p:stCondLst>
                                            <p:cond delay="0"/>
                                          </p:stCondLst>
                                        </p:cTn>
                                        <p:tgtEl>
                                          <p:spTgt spid="39"/>
                                        </p:tgtEl>
                                        <p:attrNameLst>
                                          <p:attrName>style.visibility</p:attrName>
                                        </p:attrNameLst>
                                      </p:cBhvr>
                                      <p:to>
                                        <p:strVal val="visible"/>
                                      </p:to>
                                    </p:set>
                                    <p:animEffect transition="in" filter="fade">
                                      <p:cBhvr>
                                        <p:cTn id="120" dur="500"/>
                                        <p:tgtEl>
                                          <p:spTgt spid="39"/>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40"/>
                                        </p:tgtEl>
                                        <p:attrNameLst>
                                          <p:attrName>style.visibility</p:attrName>
                                        </p:attrNameLst>
                                      </p:cBhvr>
                                      <p:to>
                                        <p:strVal val="visible"/>
                                      </p:to>
                                    </p:set>
                                    <p:animEffect transition="in" filter="fade">
                                      <p:cBhvr>
                                        <p:cTn id="123"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1" grpId="0" animBg="1"/>
      <p:bldP spid="12" grpId="0" animBg="1"/>
      <p:bldP spid="14" grpId="0" animBg="1"/>
      <p:bldP spid="15" grpId="0" animBg="1"/>
      <p:bldP spid="16" grpId="0" animBg="1"/>
      <p:bldP spid="17" grpId="0" animBg="1"/>
      <p:bldP spid="18" grpId="0" animBg="1"/>
      <p:bldP spid="19" grpId="0" animBg="1"/>
      <p:bldP spid="21" grpId="0" animBg="1"/>
      <p:bldP spid="22" grpId="0" animBg="1"/>
      <p:bldP spid="23" grpId="0" animBg="1"/>
      <p:bldP spid="24" grpId="0" animBg="1"/>
      <p:bldP spid="25" grpId="0" animBg="1"/>
      <p:bldP spid="26" grpId="0" animBg="1"/>
      <p:bldP spid="28" grpId="0" animBg="1"/>
      <p:bldP spid="29" grpId="0" animBg="1"/>
      <p:bldP spid="30" grpId="0" animBg="1"/>
      <p:bldP spid="31" grpId="0" animBg="1"/>
      <p:bldP spid="32" grpId="0" animBg="1"/>
      <p:bldP spid="33" grpId="0" animBg="1"/>
      <p:bldP spid="35" grpId="0" animBg="1"/>
      <p:bldP spid="36" grpId="0" animBg="1"/>
      <p:bldP spid="37" grpId="0" animBg="1"/>
      <p:bldP spid="38" grpId="0" animBg="1"/>
      <p:bldP spid="39" grpId="0" animBg="1"/>
      <p:bldP spid="4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01168"/>
            <a:ext cx="8229600" cy="566928"/>
          </a:xfrm>
          <a:prstGeom prst="rect">
            <a:avLst/>
          </a:prstGeom>
          <a:noFill/>
          <a:ln/>
        </p:spPr>
        <p:txBody>
          <a:bodyPr wrap="square" lIns="0" tIns="0" rIns="0" bIns="0" rtlCol="0" anchor="ctr"/>
          <a:lstStyle/>
          <a:p>
            <a:pPr indent="0" marL="0">
              <a:buNone/>
            </a:pPr>
            <a:r>
              <a:rPr lang="en-US" sz="2600" b="1" dirty="0">
                <a:solidFill>
                  <a:schemeClr val="bg1"/>
                </a:solidFill>
              </a:rPr>
              <a:t>Lights and Visibility Indicators</a:t>
            </a:r>
            <a:endParaRPr lang="en-US" sz="2600" dirty="0"/>
          </a:p>
        </p:txBody>
      </p:sp>
      <p:sp>
        <p:nvSpPr>
          <p:cNvPr id="4" name="clk01_card_203"/>
          <p:cNvSpPr/>
          <p:nvPr/>
        </p:nvSpPr>
        <p:spPr>
          <a:xfrm>
            <a:off x="457200" y="914400"/>
            <a:ext cx="4023360" cy="1700784"/>
          </a:xfrm>
          <a:prstGeom prst="roundRect">
            <a:avLst>
              <a:gd name="adj" fmla="val 5376"/>
            </a:avLst>
          </a:prstGeom>
          <a:solidFill>
            <a:srgbClr val="1C2128"/>
          </a:solidFill>
          <a:ln/>
          <a:effectLst>
            <a:outerShdw sx="100000" sy="100000" kx="0" ky="0" algn="bl" rotWithShape="0" blurRad="76200" dist="25400" dir="5400000">
              <a:srgbClr val="000000">
                <a:alpha val="40000"/>
              </a:srgbClr>
            </a:outerShdw>
          </a:effectLst>
        </p:spPr>
      </p:sp>
      <p:sp>
        <p:nvSpPr>
          <p:cNvPr id="5" name="clk01_iconbg_204"/>
          <p:cNvSpPr/>
          <p:nvPr/>
        </p:nvSpPr>
        <p:spPr>
          <a:xfrm>
            <a:off x="594360" y="1051560"/>
            <a:ext cx="714329" cy="714329"/>
          </a:xfrm>
          <a:prstGeom prst="ellipse">
            <a:avLst/>
          </a:prstGeom>
          <a:solidFill>
            <a:srgbClr val="000000"/>
          </a:solidFill>
          <a:ln w="12700">
            <a:solidFill>
              <a:srgbClr val="262C34"/>
            </a:solidFill>
            <a:prstDash val="solid"/>
          </a:ln>
        </p:spPr>
      </p:sp>
      <p:pic>
        <p:nvPicPr>
          <p:cNvPr id="6" name="clk01_icon_205" descr="High Beam On symbol">    </p:cNvPr>
          <p:cNvPicPr>
            <a:picLocks noChangeAspect="1"/>
          </p:cNvPicPr>
          <p:nvPr/>
        </p:nvPicPr>
        <p:blipFill>
          <a:blip r:embed="rId1"/>
          <a:stretch>
            <a:fillRect/>
          </a:stretch>
        </p:blipFill>
        <p:spPr>
          <a:xfrm>
            <a:off x="694366" y="1151566"/>
            <a:ext cx="514317" cy="514317"/>
          </a:xfrm>
          <a:prstGeom prst="rect">
            <a:avLst/>
          </a:prstGeom>
        </p:spPr>
      </p:pic>
      <p:sp>
        <p:nvSpPr>
          <p:cNvPr id="7" name="clk01_name_206"/>
          <p:cNvSpPr txBox="1"/>
          <p:nvPr/>
        </p:nvSpPr>
        <p:spPr>
          <a:xfrm>
            <a:off x="1427561" y="1024128"/>
            <a:ext cx="2943271" cy="442884"/>
          </a:xfrm>
          <a:prstGeom prst="rect">
            <a:avLst/>
          </a:prstGeom>
          <a:noFill/>
          <a:ln/>
        </p:spPr>
        <p:txBody>
          <a:bodyPr wrap="square" lIns="0" tIns="0" rIns="0" bIns="0" rtlCol="0" anchor="ctr"/>
          <a:lstStyle/>
          <a:p>
            <a:pPr indent="0" marL="0">
              <a:buNone/>
            </a:pPr>
            <a:r>
              <a:rPr lang="en-US" sz="1300" b="1" dirty="0">
                <a:solidFill>
                  <a:srgbClr val="FFFFFF"/>
                </a:solidFill>
              </a:rPr>
              <a:t>High Beam On</a:t>
            </a:r>
            <a:endParaRPr lang="en-US" sz="1300" dirty="0"/>
          </a:p>
        </p:txBody>
      </p:sp>
      <p:sp>
        <p:nvSpPr>
          <p:cNvPr id="8" name="clk01_respbox_207"/>
          <p:cNvSpPr/>
          <p:nvPr/>
        </p:nvSpPr>
        <p:spPr>
          <a:xfrm>
            <a:off x="1427561" y="1523017"/>
            <a:ext cx="2915839" cy="246888"/>
          </a:xfrm>
          <a:prstGeom prst="roundRect">
            <a:avLst>
              <a:gd name="adj" fmla="val 22222"/>
            </a:avLst>
          </a:prstGeom>
          <a:solidFill>
            <a:srgbClr val="2F80FF"/>
          </a:solidFill>
          <a:ln/>
        </p:spPr>
      </p:sp>
      <p:sp>
        <p:nvSpPr>
          <p:cNvPr id="9" name="clk01_resp_208"/>
          <p:cNvSpPr txBox="1"/>
          <p:nvPr/>
        </p:nvSpPr>
        <p:spPr>
          <a:xfrm>
            <a:off x="1427561" y="1523017"/>
            <a:ext cx="2915839" cy="246888"/>
          </a:xfrm>
          <a:prstGeom prst="rect">
            <a:avLst/>
          </a:prstGeom>
          <a:noFill/>
          <a:ln/>
        </p:spPr>
        <p:txBody>
          <a:bodyPr wrap="square" lIns="0" tIns="0" rIns="0" bIns="0" rtlCol="0" anchor="ctr"/>
          <a:lstStyle/>
          <a:p>
            <a:pPr algn="ctr" indent="0" marL="0">
              <a:buNone/>
            </a:pPr>
            <a:r>
              <a:rPr lang="en-US" sz="900" b="1" spc="100" kern="0" dirty="0">
                <a:solidFill>
                  <a:srgbClr val="FFFFFF"/>
                </a:solidFill>
              </a:rPr>
              <a:t>INFORMATION</a:t>
            </a:r>
            <a:endParaRPr lang="en-US" sz="900" dirty="0"/>
          </a:p>
        </p:txBody>
      </p:sp>
      <p:sp>
        <p:nvSpPr>
          <p:cNvPr id="10" name="clk01_text_209"/>
          <p:cNvSpPr txBox="1"/>
          <p:nvPr/>
        </p:nvSpPr>
        <p:spPr>
          <a:xfrm>
            <a:off x="594360" y="1857329"/>
            <a:ext cx="3749040" cy="684703"/>
          </a:xfrm>
          <a:prstGeom prst="rect">
            <a:avLst/>
          </a:prstGeom>
          <a:noFill/>
          <a:ln/>
        </p:spPr>
        <p:txBody>
          <a:bodyPr wrap="square" lIns="0" tIns="0" rIns="0" bIns="0" rtlCol="0" anchor="t"/>
          <a:lstStyle/>
          <a:p>
            <a:pPr indent="0" marL="0">
              <a:spcAft>
                <a:spcPts val="300"/>
              </a:spcAft>
              <a:buNone/>
            </a:pPr>
            <a:r>
              <a:rPr lang="en-US" sz="1200" b="1" dirty="0">
                <a:solidFill>
                  <a:srgbClr val="FFB000"/>
                </a:solidFill>
              </a:rPr>
              <a:t>Means: </a:t>
            </a:r>
            <a:pPr indent="0" marL="0">
              <a:spcAft>
                <a:spcPts val="300"/>
              </a:spcAft>
              <a:buNone/>
            </a:pPr>
            <a:r>
              <a:rPr lang="en-US" sz="1200" dirty="0">
                <a:solidFill>
                  <a:srgbClr val="C9D1DA"/>
                </a:solidFill>
              </a:rPr>
              <a:t>Main-beam headlights are on.</a:t>
            </a:r>
            <a:endParaRPr lang="en-US" sz="1200" dirty="0"/>
          </a:p>
          <a:p>
            <a:pPr indent="0" marL="0">
              <a:spcAft>
                <a:spcPts val="300"/>
              </a:spcAft>
              <a:buNone/>
            </a:pPr>
            <a:r>
              <a:rPr lang="en-US" sz="1200" b="1" dirty="0">
                <a:solidFill>
                  <a:srgbClr val="2ECC40"/>
                </a:solidFill>
              </a:rPr>
              <a:t>Do: </a:t>
            </a:r>
            <a:pPr indent="0" marL="0">
              <a:spcAft>
                <a:spcPts val="300"/>
              </a:spcAft>
              <a:buNone/>
            </a:pPr>
            <a:r>
              <a:rPr lang="en-US" sz="1200" dirty="0">
                <a:solidFill>
                  <a:srgbClr val="C9D1DA"/>
                </a:solidFill>
              </a:rPr>
              <a:t>Dip for oncoming traffic and cars ahead.</a:t>
            </a:r>
            <a:endParaRPr lang="en-US" sz="1200" dirty="0"/>
          </a:p>
        </p:txBody>
      </p:sp>
      <p:sp>
        <p:nvSpPr>
          <p:cNvPr id="11" name="clk02_card_210"/>
          <p:cNvSpPr/>
          <p:nvPr/>
        </p:nvSpPr>
        <p:spPr>
          <a:xfrm>
            <a:off x="4663440" y="914400"/>
            <a:ext cx="4023360" cy="1700784"/>
          </a:xfrm>
          <a:prstGeom prst="roundRect">
            <a:avLst>
              <a:gd name="adj" fmla="val 5376"/>
            </a:avLst>
          </a:prstGeom>
          <a:solidFill>
            <a:srgbClr val="1C2128"/>
          </a:solidFill>
          <a:ln/>
          <a:effectLst>
            <a:outerShdw sx="100000" sy="100000" kx="0" ky="0" algn="bl" rotWithShape="0" blurRad="76200" dist="25400" dir="5400000">
              <a:srgbClr val="000000">
                <a:alpha val="40000"/>
              </a:srgbClr>
            </a:outerShdw>
          </a:effectLst>
        </p:spPr>
      </p:sp>
      <p:sp>
        <p:nvSpPr>
          <p:cNvPr id="12" name="clk02_iconbg_211"/>
          <p:cNvSpPr/>
          <p:nvPr/>
        </p:nvSpPr>
        <p:spPr>
          <a:xfrm>
            <a:off x="4800600" y="1051560"/>
            <a:ext cx="714329" cy="714329"/>
          </a:xfrm>
          <a:prstGeom prst="ellipse">
            <a:avLst/>
          </a:prstGeom>
          <a:solidFill>
            <a:srgbClr val="000000"/>
          </a:solidFill>
          <a:ln w="12700">
            <a:solidFill>
              <a:srgbClr val="262C34"/>
            </a:solidFill>
            <a:prstDash val="solid"/>
          </a:ln>
        </p:spPr>
      </p:sp>
      <p:pic>
        <p:nvPicPr>
          <p:cNvPr id="13" name="clk02_icon_212" descr="Turn Indicators symbol">    </p:cNvPr>
          <p:cNvPicPr>
            <a:picLocks noChangeAspect="1"/>
          </p:cNvPicPr>
          <p:nvPr/>
        </p:nvPicPr>
        <p:blipFill>
          <a:blip r:embed="rId2"/>
          <a:stretch>
            <a:fillRect/>
          </a:stretch>
        </p:blipFill>
        <p:spPr>
          <a:xfrm>
            <a:off x="4900606" y="1151566"/>
            <a:ext cx="514317" cy="514317"/>
          </a:xfrm>
          <a:prstGeom prst="rect">
            <a:avLst/>
          </a:prstGeom>
        </p:spPr>
      </p:pic>
      <p:sp>
        <p:nvSpPr>
          <p:cNvPr id="14" name="clk02_name_213"/>
          <p:cNvSpPr txBox="1"/>
          <p:nvPr/>
        </p:nvSpPr>
        <p:spPr>
          <a:xfrm>
            <a:off x="5633801" y="1024128"/>
            <a:ext cx="2943271" cy="442884"/>
          </a:xfrm>
          <a:prstGeom prst="rect">
            <a:avLst/>
          </a:prstGeom>
          <a:noFill/>
          <a:ln/>
        </p:spPr>
        <p:txBody>
          <a:bodyPr wrap="square" lIns="0" tIns="0" rIns="0" bIns="0" rtlCol="0" anchor="ctr"/>
          <a:lstStyle/>
          <a:p>
            <a:pPr indent="0" marL="0">
              <a:buNone/>
            </a:pPr>
            <a:r>
              <a:rPr lang="en-US" sz="1300" b="1" dirty="0">
                <a:solidFill>
                  <a:srgbClr val="FFFFFF"/>
                </a:solidFill>
              </a:rPr>
              <a:t>Turn Indicators</a:t>
            </a:r>
            <a:endParaRPr lang="en-US" sz="1300" dirty="0"/>
          </a:p>
        </p:txBody>
      </p:sp>
      <p:sp>
        <p:nvSpPr>
          <p:cNvPr id="15" name="clk02_respbox_214"/>
          <p:cNvSpPr/>
          <p:nvPr/>
        </p:nvSpPr>
        <p:spPr>
          <a:xfrm>
            <a:off x="5633801" y="1523017"/>
            <a:ext cx="2915839" cy="246888"/>
          </a:xfrm>
          <a:prstGeom prst="roundRect">
            <a:avLst>
              <a:gd name="adj" fmla="val 22222"/>
            </a:avLst>
          </a:prstGeom>
          <a:solidFill>
            <a:srgbClr val="2ECC40"/>
          </a:solidFill>
          <a:ln/>
        </p:spPr>
      </p:sp>
      <p:sp>
        <p:nvSpPr>
          <p:cNvPr id="16" name="clk02_resp_215"/>
          <p:cNvSpPr txBox="1"/>
          <p:nvPr/>
        </p:nvSpPr>
        <p:spPr>
          <a:xfrm>
            <a:off x="5633801" y="1523017"/>
            <a:ext cx="2915839" cy="246888"/>
          </a:xfrm>
          <a:prstGeom prst="rect">
            <a:avLst/>
          </a:prstGeom>
          <a:noFill/>
          <a:ln/>
        </p:spPr>
        <p:txBody>
          <a:bodyPr wrap="square" lIns="0" tIns="0" rIns="0" bIns="0" rtlCol="0" anchor="ctr"/>
          <a:lstStyle/>
          <a:p>
            <a:pPr algn="ctr" indent="0" marL="0">
              <a:buNone/>
            </a:pPr>
            <a:r>
              <a:rPr lang="en-US" sz="900" b="1" spc="100" kern="0" dirty="0">
                <a:solidFill>
                  <a:srgbClr val="0F1215"/>
                </a:solidFill>
              </a:rPr>
              <a:t>INFORMATION</a:t>
            </a:r>
            <a:endParaRPr lang="en-US" sz="900" dirty="0"/>
          </a:p>
        </p:txBody>
      </p:sp>
      <p:sp>
        <p:nvSpPr>
          <p:cNvPr id="17" name="clk02_text_216"/>
          <p:cNvSpPr txBox="1"/>
          <p:nvPr/>
        </p:nvSpPr>
        <p:spPr>
          <a:xfrm>
            <a:off x="4800600" y="1857329"/>
            <a:ext cx="3749040" cy="684703"/>
          </a:xfrm>
          <a:prstGeom prst="rect">
            <a:avLst/>
          </a:prstGeom>
          <a:noFill/>
          <a:ln/>
        </p:spPr>
        <p:txBody>
          <a:bodyPr wrap="square" lIns="0" tIns="0" rIns="0" bIns="0" rtlCol="0" anchor="t"/>
          <a:lstStyle/>
          <a:p>
            <a:pPr indent="0" marL="0">
              <a:spcAft>
                <a:spcPts val="300"/>
              </a:spcAft>
              <a:buNone/>
            </a:pPr>
            <a:r>
              <a:rPr lang="en-US" sz="1200" b="1" dirty="0">
                <a:solidFill>
                  <a:srgbClr val="FFB000"/>
                </a:solidFill>
              </a:rPr>
              <a:t>Means: </a:t>
            </a:r>
            <a:pPr indent="0" marL="0">
              <a:spcAft>
                <a:spcPts val="300"/>
              </a:spcAft>
              <a:buNone/>
            </a:pPr>
            <a:r>
              <a:rPr lang="en-US" sz="1200" dirty="0">
                <a:solidFill>
                  <a:srgbClr val="C9D1DA"/>
                </a:solidFill>
              </a:rPr>
              <a:t>Indicator is on. Fast flashing = bulb out.</a:t>
            </a:r>
            <a:endParaRPr lang="en-US" sz="1200" dirty="0"/>
          </a:p>
          <a:p>
            <a:pPr indent="0" marL="0">
              <a:spcAft>
                <a:spcPts val="300"/>
              </a:spcAft>
              <a:buNone/>
            </a:pPr>
            <a:r>
              <a:rPr lang="en-US" sz="1200" b="1" dirty="0">
                <a:solidFill>
                  <a:srgbClr val="2ECC40"/>
                </a:solidFill>
              </a:rPr>
              <a:t>Do: </a:t>
            </a:r>
            <a:pPr indent="0" marL="0">
              <a:spcAft>
                <a:spcPts val="300"/>
              </a:spcAft>
              <a:buNone/>
            </a:pPr>
            <a:r>
              <a:rPr lang="en-US" sz="1200" dirty="0">
                <a:solidFill>
                  <a:srgbClr val="C9D1DA"/>
                </a:solidFill>
              </a:rPr>
              <a:t>Cancel after turning; replace failed bulbs.</a:t>
            </a:r>
            <a:endParaRPr lang="en-US" sz="1200" dirty="0"/>
          </a:p>
        </p:txBody>
      </p:sp>
      <p:sp>
        <p:nvSpPr>
          <p:cNvPr id="18" name="clk03_card_217"/>
          <p:cNvSpPr/>
          <p:nvPr/>
        </p:nvSpPr>
        <p:spPr>
          <a:xfrm>
            <a:off x="457200" y="2798064"/>
            <a:ext cx="4023360" cy="1700784"/>
          </a:xfrm>
          <a:prstGeom prst="roundRect">
            <a:avLst>
              <a:gd name="adj" fmla="val 5376"/>
            </a:avLst>
          </a:prstGeom>
          <a:solidFill>
            <a:srgbClr val="1C2128"/>
          </a:solidFill>
          <a:ln/>
          <a:effectLst>
            <a:outerShdw sx="100000" sy="100000" kx="0" ky="0" algn="bl" rotWithShape="0" blurRad="76200" dist="25400" dir="5400000">
              <a:srgbClr val="000000">
                <a:alpha val="40000"/>
              </a:srgbClr>
            </a:outerShdw>
          </a:effectLst>
        </p:spPr>
      </p:sp>
      <p:sp>
        <p:nvSpPr>
          <p:cNvPr id="19" name="clk03_iconbg_218"/>
          <p:cNvSpPr/>
          <p:nvPr/>
        </p:nvSpPr>
        <p:spPr>
          <a:xfrm>
            <a:off x="594360" y="2935224"/>
            <a:ext cx="714329" cy="714329"/>
          </a:xfrm>
          <a:prstGeom prst="ellipse">
            <a:avLst/>
          </a:prstGeom>
          <a:solidFill>
            <a:srgbClr val="000000"/>
          </a:solidFill>
          <a:ln w="12700">
            <a:solidFill>
              <a:srgbClr val="262C34"/>
            </a:solidFill>
            <a:prstDash val="solid"/>
          </a:ln>
        </p:spPr>
      </p:sp>
      <p:pic>
        <p:nvPicPr>
          <p:cNvPr id="20" name="clk03_icon_219" descr="Front Fog Lamps symbol">    </p:cNvPr>
          <p:cNvPicPr>
            <a:picLocks noChangeAspect="1"/>
          </p:cNvPicPr>
          <p:nvPr/>
        </p:nvPicPr>
        <p:blipFill>
          <a:blip r:embed="rId3"/>
          <a:stretch>
            <a:fillRect/>
          </a:stretch>
        </p:blipFill>
        <p:spPr>
          <a:xfrm>
            <a:off x="694366" y="3035230"/>
            <a:ext cx="514317" cy="514317"/>
          </a:xfrm>
          <a:prstGeom prst="rect">
            <a:avLst/>
          </a:prstGeom>
        </p:spPr>
      </p:pic>
      <p:sp>
        <p:nvSpPr>
          <p:cNvPr id="21" name="clk03_name_220"/>
          <p:cNvSpPr txBox="1"/>
          <p:nvPr/>
        </p:nvSpPr>
        <p:spPr>
          <a:xfrm>
            <a:off x="1427561" y="2907792"/>
            <a:ext cx="2943271" cy="442884"/>
          </a:xfrm>
          <a:prstGeom prst="rect">
            <a:avLst/>
          </a:prstGeom>
          <a:noFill/>
          <a:ln/>
        </p:spPr>
        <p:txBody>
          <a:bodyPr wrap="square" lIns="0" tIns="0" rIns="0" bIns="0" rtlCol="0" anchor="ctr"/>
          <a:lstStyle/>
          <a:p>
            <a:pPr indent="0" marL="0">
              <a:buNone/>
            </a:pPr>
            <a:r>
              <a:rPr lang="en-US" sz="1300" b="1" dirty="0">
                <a:solidFill>
                  <a:srgbClr val="FFFFFF"/>
                </a:solidFill>
              </a:rPr>
              <a:t>Front Fog Lamps</a:t>
            </a:r>
            <a:endParaRPr lang="en-US" sz="1300" dirty="0"/>
          </a:p>
        </p:txBody>
      </p:sp>
      <p:sp>
        <p:nvSpPr>
          <p:cNvPr id="22" name="clk03_respbox_221"/>
          <p:cNvSpPr/>
          <p:nvPr/>
        </p:nvSpPr>
        <p:spPr>
          <a:xfrm>
            <a:off x="1427561" y="3406681"/>
            <a:ext cx="2915839" cy="246888"/>
          </a:xfrm>
          <a:prstGeom prst="roundRect">
            <a:avLst>
              <a:gd name="adj" fmla="val 22222"/>
            </a:avLst>
          </a:prstGeom>
          <a:solidFill>
            <a:srgbClr val="2ECC40"/>
          </a:solidFill>
          <a:ln/>
        </p:spPr>
      </p:sp>
      <p:sp>
        <p:nvSpPr>
          <p:cNvPr id="23" name="clk03_resp_222"/>
          <p:cNvSpPr txBox="1"/>
          <p:nvPr/>
        </p:nvSpPr>
        <p:spPr>
          <a:xfrm>
            <a:off x="1427561" y="3406681"/>
            <a:ext cx="2915839" cy="246888"/>
          </a:xfrm>
          <a:prstGeom prst="rect">
            <a:avLst/>
          </a:prstGeom>
          <a:noFill/>
          <a:ln/>
        </p:spPr>
        <p:txBody>
          <a:bodyPr wrap="square" lIns="0" tIns="0" rIns="0" bIns="0" rtlCol="0" anchor="ctr"/>
          <a:lstStyle/>
          <a:p>
            <a:pPr algn="ctr" indent="0" marL="0">
              <a:buNone/>
            </a:pPr>
            <a:r>
              <a:rPr lang="en-US" sz="900" b="1" spc="100" kern="0" dirty="0">
                <a:solidFill>
                  <a:srgbClr val="0F1215"/>
                </a:solidFill>
              </a:rPr>
              <a:t>INFORMATION</a:t>
            </a:r>
            <a:endParaRPr lang="en-US" sz="900" dirty="0"/>
          </a:p>
        </p:txBody>
      </p:sp>
      <p:sp>
        <p:nvSpPr>
          <p:cNvPr id="24" name="clk03_text_223"/>
          <p:cNvSpPr txBox="1"/>
          <p:nvPr/>
        </p:nvSpPr>
        <p:spPr>
          <a:xfrm>
            <a:off x="594360" y="3740993"/>
            <a:ext cx="3749040" cy="684703"/>
          </a:xfrm>
          <a:prstGeom prst="rect">
            <a:avLst/>
          </a:prstGeom>
          <a:noFill/>
          <a:ln/>
        </p:spPr>
        <p:txBody>
          <a:bodyPr wrap="square" lIns="0" tIns="0" rIns="0" bIns="0" rtlCol="0" anchor="t"/>
          <a:lstStyle/>
          <a:p>
            <a:pPr indent="0" marL="0">
              <a:spcAft>
                <a:spcPts val="300"/>
              </a:spcAft>
              <a:buNone/>
            </a:pPr>
            <a:r>
              <a:rPr lang="en-US" sz="1200" b="1" dirty="0">
                <a:solidFill>
                  <a:srgbClr val="FFB000"/>
                </a:solidFill>
              </a:rPr>
              <a:t>Means: </a:t>
            </a:r>
            <a:pPr indent="0" marL="0">
              <a:spcAft>
                <a:spcPts val="300"/>
              </a:spcAft>
              <a:buNone/>
            </a:pPr>
            <a:r>
              <a:rPr lang="en-US" sz="1200" dirty="0">
                <a:solidFill>
                  <a:srgbClr val="C9D1DA"/>
                </a:solidFill>
              </a:rPr>
              <a:t>Front fog lamps are on.</a:t>
            </a:r>
            <a:endParaRPr lang="en-US" sz="1200" dirty="0"/>
          </a:p>
          <a:p>
            <a:pPr indent="0" marL="0">
              <a:spcAft>
                <a:spcPts val="300"/>
              </a:spcAft>
              <a:buNone/>
            </a:pPr>
            <a:r>
              <a:rPr lang="en-US" sz="1200" b="1" dirty="0">
                <a:solidFill>
                  <a:srgbClr val="2ECC40"/>
                </a:solidFill>
              </a:rPr>
              <a:t>Do: </a:t>
            </a:r>
            <a:pPr indent="0" marL="0">
              <a:spcAft>
                <a:spcPts val="300"/>
              </a:spcAft>
              <a:buNone/>
            </a:pPr>
            <a:r>
              <a:rPr lang="en-US" sz="1200" dirty="0">
                <a:solidFill>
                  <a:srgbClr val="C9D1DA"/>
                </a:solidFill>
              </a:rPr>
              <a:t>Use only when visibility is poor.</a:t>
            </a:r>
            <a:endParaRPr lang="en-US" sz="1200" dirty="0"/>
          </a:p>
        </p:txBody>
      </p:sp>
      <p:sp>
        <p:nvSpPr>
          <p:cNvPr id="25" name="clk04_card_224"/>
          <p:cNvSpPr/>
          <p:nvPr/>
        </p:nvSpPr>
        <p:spPr>
          <a:xfrm>
            <a:off x="4663440" y="2798064"/>
            <a:ext cx="4023360" cy="1700784"/>
          </a:xfrm>
          <a:prstGeom prst="roundRect">
            <a:avLst>
              <a:gd name="adj" fmla="val 5376"/>
            </a:avLst>
          </a:prstGeom>
          <a:solidFill>
            <a:srgbClr val="1C2128"/>
          </a:solidFill>
          <a:ln/>
          <a:effectLst>
            <a:outerShdw sx="100000" sy="100000" kx="0" ky="0" algn="bl" rotWithShape="0" blurRad="76200" dist="25400" dir="5400000">
              <a:srgbClr val="000000">
                <a:alpha val="40000"/>
              </a:srgbClr>
            </a:outerShdw>
          </a:effectLst>
        </p:spPr>
      </p:sp>
      <p:sp>
        <p:nvSpPr>
          <p:cNvPr id="26" name="clk04_iconbg_225"/>
          <p:cNvSpPr/>
          <p:nvPr/>
        </p:nvSpPr>
        <p:spPr>
          <a:xfrm>
            <a:off x="4800600" y="2935224"/>
            <a:ext cx="714329" cy="714329"/>
          </a:xfrm>
          <a:prstGeom prst="ellipse">
            <a:avLst/>
          </a:prstGeom>
          <a:solidFill>
            <a:srgbClr val="000000"/>
          </a:solidFill>
          <a:ln w="12700">
            <a:solidFill>
              <a:srgbClr val="262C34"/>
            </a:solidFill>
            <a:prstDash val="solid"/>
          </a:ln>
        </p:spPr>
      </p:sp>
      <p:pic>
        <p:nvPicPr>
          <p:cNvPr id="27" name="clk04_icon_226" descr="Rear Fog Lamp symbol">    </p:cNvPr>
          <p:cNvPicPr>
            <a:picLocks noChangeAspect="1"/>
          </p:cNvPicPr>
          <p:nvPr/>
        </p:nvPicPr>
        <p:blipFill>
          <a:blip r:embed="rId4"/>
          <a:stretch>
            <a:fillRect/>
          </a:stretch>
        </p:blipFill>
        <p:spPr>
          <a:xfrm>
            <a:off x="4900606" y="3035230"/>
            <a:ext cx="514317" cy="514317"/>
          </a:xfrm>
          <a:prstGeom prst="rect">
            <a:avLst/>
          </a:prstGeom>
        </p:spPr>
      </p:pic>
      <p:sp>
        <p:nvSpPr>
          <p:cNvPr id="28" name="clk04_name_227"/>
          <p:cNvSpPr txBox="1"/>
          <p:nvPr/>
        </p:nvSpPr>
        <p:spPr>
          <a:xfrm>
            <a:off x="5633801" y="2907792"/>
            <a:ext cx="2943271" cy="442884"/>
          </a:xfrm>
          <a:prstGeom prst="rect">
            <a:avLst/>
          </a:prstGeom>
          <a:noFill/>
          <a:ln/>
        </p:spPr>
        <p:txBody>
          <a:bodyPr wrap="square" lIns="0" tIns="0" rIns="0" bIns="0" rtlCol="0" anchor="ctr"/>
          <a:lstStyle/>
          <a:p>
            <a:pPr indent="0" marL="0">
              <a:buNone/>
            </a:pPr>
            <a:r>
              <a:rPr lang="en-US" sz="1300" b="1" dirty="0">
                <a:solidFill>
                  <a:srgbClr val="FFFFFF"/>
                </a:solidFill>
              </a:rPr>
              <a:t>Rear Fog Lamp</a:t>
            </a:r>
            <a:endParaRPr lang="en-US" sz="1300" dirty="0"/>
          </a:p>
        </p:txBody>
      </p:sp>
      <p:sp>
        <p:nvSpPr>
          <p:cNvPr id="29" name="clk04_respbox_228"/>
          <p:cNvSpPr/>
          <p:nvPr/>
        </p:nvSpPr>
        <p:spPr>
          <a:xfrm>
            <a:off x="5633801" y="3406681"/>
            <a:ext cx="2915839" cy="246888"/>
          </a:xfrm>
          <a:prstGeom prst="roundRect">
            <a:avLst>
              <a:gd name="adj" fmla="val 22222"/>
            </a:avLst>
          </a:prstGeom>
          <a:solidFill>
            <a:srgbClr val="FFB000"/>
          </a:solidFill>
          <a:ln/>
        </p:spPr>
      </p:sp>
      <p:sp>
        <p:nvSpPr>
          <p:cNvPr id="30" name="clk04_resp_229"/>
          <p:cNvSpPr txBox="1"/>
          <p:nvPr/>
        </p:nvSpPr>
        <p:spPr>
          <a:xfrm>
            <a:off x="5633801" y="3406681"/>
            <a:ext cx="2915839" cy="246888"/>
          </a:xfrm>
          <a:prstGeom prst="rect">
            <a:avLst/>
          </a:prstGeom>
          <a:noFill/>
          <a:ln/>
        </p:spPr>
        <p:txBody>
          <a:bodyPr wrap="square" lIns="0" tIns="0" rIns="0" bIns="0" rtlCol="0" anchor="ctr"/>
          <a:lstStyle/>
          <a:p>
            <a:pPr algn="ctr" indent="0" marL="0">
              <a:buNone/>
            </a:pPr>
            <a:r>
              <a:rPr lang="en-US" sz="900" b="1" spc="100" kern="0" dirty="0">
                <a:solidFill>
                  <a:srgbClr val="0F1215"/>
                </a:solidFill>
              </a:rPr>
              <a:t>FOG ONLY</a:t>
            </a:r>
            <a:endParaRPr lang="en-US" sz="900" dirty="0"/>
          </a:p>
        </p:txBody>
      </p:sp>
      <p:sp>
        <p:nvSpPr>
          <p:cNvPr id="31" name="clk04_text_230"/>
          <p:cNvSpPr txBox="1"/>
          <p:nvPr/>
        </p:nvSpPr>
        <p:spPr>
          <a:xfrm>
            <a:off x="4800600" y="3740993"/>
            <a:ext cx="3749040" cy="684703"/>
          </a:xfrm>
          <a:prstGeom prst="rect">
            <a:avLst/>
          </a:prstGeom>
          <a:noFill/>
          <a:ln/>
        </p:spPr>
        <p:txBody>
          <a:bodyPr wrap="square" lIns="0" tIns="0" rIns="0" bIns="0" rtlCol="0" anchor="t"/>
          <a:lstStyle/>
          <a:p>
            <a:pPr indent="0" marL="0">
              <a:spcAft>
                <a:spcPts val="300"/>
              </a:spcAft>
              <a:buNone/>
            </a:pPr>
            <a:r>
              <a:rPr lang="en-US" sz="1200" b="1" dirty="0">
                <a:solidFill>
                  <a:srgbClr val="FFB000"/>
                </a:solidFill>
              </a:rPr>
              <a:t>Means: </a:t>
            </a:r>
            <a:pPr indent="0" marL="0">
              <a:spcAft>
                <a:spcPts val="300"/>
              </a:spcAft>
              <a:buNone/>
            </a:pPr>
            <a:r>
              <a:rPr lang="en-US" sz="1200" dirty="0">
                <a:solidFill>
                  <a:srgbClr val="C9D1DA"/>
                </a:solidFill>
              </a:rPr>
              <a:t>Rear fog lamp is on.</a:t>
            </a:r>
            <a:endParaRPr lang="en-US" sz="1200" dirty="0"/>
          </a:p>
          <a:p>
            <a:pPr indent="0" marL="0">
              <a:spcAft>
                <a:spcPts val="300"/>
              </a:spcAft>
              <a:buNone/>
            </a:pPr>
            <a:r>
              <a:rPr lang="en-US" sz="1200" b="1" dirty="0">
                <a:solidFill>
                  <a:srgbClr val="2ECC40"/>
                </a:solidFill>
              </a:rPr>
              <a:t>Do: </a:t>
            </a:r>
            <a:pPr indent="0" marL="0">
              <a:spcAft>
                <a:spcPts val="300"/>
              </a:spcAft>
              <a:buNone/>
            </a:pPr>
            <a:r>
              <a:rPr lang="en-US" sz="1200" dirty="0">
                <a:solidFill>
                  <a:srgbClr val="C9D1DA"/>
                </a:solidFill>
              </a:rPr>
              <a:t>Switch off when visibility improves; it dazzles others.</a:t>
            </a:r>
            <a:endParaRPr lang="en-US" sz="1200" dirty="0"/>
          </a:p>
        </p:txBody>
      </p:sp>
      <p:sp>
        <p:nvSpPr>
          <p:cNvPr id="25" name="Slide Number Placeholder 0"/>
          <p:cNvSpPr>
            <a:spLocks noGrp="1"/>
          </p:cNvSpPr>
          <p:nvPr>
            <p:ph type="sldNum" sz="quarter" idx="4294967295"/>
          </p:nvPr>
        </p:nvSpPr>
        <p:spPr>
          <a:xfrm>
            <a:off x="8275320" y="4818888"/>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9E"/>
                </a:solidFill>
              </a:defRPr>
            </a:lvl1pPr>
          </a:lstStyle>
          <a:p>
            <a:pPr algn="r"/>
            <a:fld id="{F7021451-1387-4CA6-816F-3879F97B5CBC}" type="slidenum">
              <a:rPr b="0" lang="en-US"/>
              <a:t>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4" fill="hold">
                      <p:stCondLst>
                        <p:cond delay="indefinite"/>
                      </p:stCondLst>
                      <p:childTnLst>
                        <p:par>
                          <p:cTn id="25"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500"/>
                                        <p:tgtEl>
                                          <p:spTgt spid="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500"/>
                                        <p:tgtEl>
                                          <p:spTgt spid="5"/>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par>
                    <p:cTn id="47" fill="hold">
                      <p:stCondLst>
                        <p:cond delay="indefinite"/>
                      </p:stCondLst>
                      <p:childTnLst>
                        <p:par>
                          <p:cTn id="48"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00"/>
                                        <p:tgtEl>
                                          <p:spTgt spid="17"/>
                                        </p:tgtEl>
                                      </p:cBhvr>
                                    </p:animEffect>
                                  </p:childTnLst>
                                </p:cTn>
                              </p:par>
                            </p:childTnLst>
                          </p:cTn>
                        </p:par>
                      </p:childTnLst>
                    </p:cTn>
                  </p:par>
                  <p:par>
                    <p:cTn id="70" fill="hold">
                      <p:stCondLst>
                        <p:cond delay="indefinite"/>
                      </p:stCondLst>
                      <p:childTnLst>
                        <p:par>
                          <p:cTn id="71"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500"/>
                                        <p:tgtEl>
                                          <p:spTgt spid="1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500"/>
                                        <p:tgtEl>
                                          <p:spTgt spid="2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500"/>
                                        <p:tgtEl>
                                          <p:spTgt spid="21"/>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50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500"/>
                                        <p:tgtEl>
                                          <p:spTgt spid="23"/>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500"/>
                                        <p:tgtEl>
                                          <p:spTgt spid="24"/>
                                        </p:tgtEl>
                                      </p:cBhvr>
                                    </p:animEffect>
                                  </p:childTnLst>
                                </p:cTn>
                              </p:par>
                            </p:childTnLst>
                          </p:cTn>
                        </p:par>
                      </p:childTnLst>
                    </p:cTn>
                  </p:par>
                  <p:par>
                    <p:cTn id="93" fill="hold">
                      <p:stCondLst>
                        <p:cond delay="indefinite"/>
                      </p:stCondLst>
                      <p:childTnLst>
                        <p:par>
                          <p:cTn id="94"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500"/>
                                        <p:tgtEl>
                                          <p:spTgt spid="25"/>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500"/>
                                        <p:tgtEl>
                                          <p:spTgt spid="26"/>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7"/>
                                        </p:tgtEl>
                                        <p:attrNameLst>
                                          <p:attrName>style.visibility</p:attrName>
                                        </p:attrNameLst>
                                      </p:cBhvr>
                                      <p:to>
                                        <p:strVal val="visible"/>
                                      </p:to>
                                    </p:set>
                                    <p:animEffect transition="in" filter="fade">
                                      <p:cBhvr>
                                        <p:cTn id="80" dur="500"/>
                                        <p:tgtEl>
                                          <p:spTgt spid="27"/>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8"/>
                                        </p:tgtEl>
                                        <p:attrNameLst>
                                          <p:attrName>style.visibility</p:attrName>
                                        </p:attrNameLst>
                                      </p:cBhvr>
                                      <p:to>
                                        <p:strVal val="visible"/>
                                      </p:to>
                                    </p:set>
                                    <p:animEffect transition="in" filter="fade">
                                      <p:cBhvr>
                                        <p:cTn id="83" dur="500"/>
                                        <p:tgtEl>
                                          <p:spTgt spid="28"/>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9"/>
                                        </p:tgtEl>
                                        <p:attrNameLst>
                                          <p:attrName>style.visibility</p:attrName>
                                        </p:attrNameLst>
                                      </p:cBhvr>
                                      <p:to>
                                        <p:strVal val="visible"/>
                                      </p:to>
                                    </p:set>
                                    <p:animEffect transition="in" filter="fade">
                                      <p:cBhvr>
                                        <p:cTn id="86" dur="500"/>
                                        <p:tgtEl>
                                          <p:spTgt spid="29"/>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9" dur="500"/>
                                        <p:tgtEl>
                                          <p:spTgt spid="30"/>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1"/>
                                        </p:tgtEl>
                                        <p:attrNameLst>
                                          <p:attrName>style.visibility</p:attrName>
                                        </p:attrNameLst>
                                      </p:cBhvr>
                                      <p:to>
                                        <p:strVal val="visible"/>
                                      </p:to>
                                    </p:set>
                                    <p:animEffect transition="in" filter="fade">
                                      <p:cBhvr>
                                        <p:cTn id="92"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1" grpId="0" animBg="1"/>
      <p:bldP spid="12" grpId="0" animBg="1"/>
      <p:bldP spid="14" grpId="0" animBg="1"/>
      <p:bldP spid="15" grpId="0" animBg="1"/>
      <p:bldP spid="16" grpId="0" animBg="1"/>
      <p:bldP spid="17" grpId="0" animBg="1"/>
      <p:bldP spid="18" grpId="0" animBg="1"/>
      <p:bldP spid="19" grpId="0" animBg="1"/>
      <p:bldP spid="21" grpId="0" animBg="1"/>
      <p:bldP spid="22" grpId="0" animBg="1"/>
      <p:bldP spid="23" grpId="0" animBg="1"/>
      <p:bldP spid="24" grpId="0" animBg="1"/>
      <p:bldP spid="25" grpId="0" animBg="1"/>
      <p:bldP spid="26" grpId="0" animBg="1"/>
      <p:bldP spid="28" grpId="0" animBg="1"/>
      <p:bldP spid="29" grpId="0" animBg="1"/>
      <p:bldP spid="30" grpId="0" animBg="1"/>
      <p:bldP spid="3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01168"/>
            <a:ext cx="8229600" cy="566928"/>
          </a:xfrm>
          <a:prstGeom prst="rect">
            <a:avLst/>
          </a:prstGeom>
          <a:noFill/>
          <a:ln/>
        </p:spPr>
        <p:txBody>
          <a:bodyPr wrap="square" lIns="0" tIns="0" rIns="0" bIns="0" rtlCol="0" anchor="ctr"/>
          <a:lstStyle/>
          <a:p>
            <a:pPr indent="0" marL="0">
              <a:buNone/>
            </a:pPr>
            <a:r>
              <a:rPr lang="en-US" sz="2600" b="1" dirty="0">
                <a:solidFill>
                  <a:schemeClr val="bg1"/>
                </a:solidFill>
              </a:rPr>
              <a:t>Annotated Dashboard Reference</a:t>
            </a:r>
            <a:endParaRPr lang="en-US" sz="2600" dirty="0"/>
          </a:p>
        </p:txBody>
      </p:sp>
      <p:pic>
        <p:nvPicPr>
          <p:cNvPr id="4" name="ref_picture" descr="Dashboard symbol board">    </p:cNvPr>
          <p:cNvPicPr>
            <a:picLocks noChangeAspect="1"/>
          </p:cNvPicPr>
          <p:nvPr/>
        </p:nvPicPr>
        <p:blipFill>
          <a:blip r:embed="rId1"/>
          <a:stretch>
            <a:fillRect/>
          </a:stretch>
        </p:blipFill>
        <p:spPr>
          <a:xfrm>
            <a:off x="1828800" y="914400"/>
            <a:ext cx="5486400" cy="2828569"/>
          </a:xfrm>
          <a:prstGeom prst="rect">
            <a:avLst/>
          </a:prstGeom>
        </p:spPr>
      </p:pic>
      <p:sp>
        <p:nvSpPr>
          <p:cNvPr id="5" name="clk01_ring_231"/>
          <p:cNvSpPr/>
          <p:nvPr/>
        </p:nvSpPr>
        <p:spPr>
          <a:xfrm>
            <a:off x="3137796" y="1472146"/>
            <a:ext cx="318712" cy="318712"/>
          </a:xfrm>
          <a:prstGeom prst="ellipse">
            <a:avLst/>
          </a:prstGeom>
          <a:ln w="38100">
            <a:solidFill>
              <a:srgbClr val="FFB000"/>
            </a:solidFill>
            <a:prstDash val="solid"/>
          </a:ln>
        </p:spPr>
      </p:sp>
      <p:sp>
        <p:nvSpPr>
          <p:cNvPr id="6" name="clk01_line_232"/>
          <p:cNvSpPr/>
          <p:nvPr/>
        </p:nvSpPr>
        <p:spPr>
          <a:xfrm>
            <a:off x="1709928" y="1243584"/>
            <a:ext cx="1432424" cy="350085"/>
          </a:xfrm>
          <a:prstGeom prst="line">
            <a:avLst/>
          </a:prstGeom>
          <a:noFill/>
          <a:ln w="25400">
            <a:solidFill>
              <a:srgbClr val="FFB000"/>
            </a:solidFill>
            <a:prstDash val="solid"/>
          </a:ln>
        </p:spPr>
      </p:sp>
      <p:sp>
        <p:nvSpPr>
          <p:cNvPr id="7" name="clk01_labelbox_233"/>
          <p:cNvSpPr/>
          <p:nvPr/>
        </p:nvSpPr>
        <p:spPr>
          <a:xfrm>
            <a:off x="228600" y="960120"/>
            <a:ext cx="1481328" cy="566928"/>
          </a:xfrm>
          <a:prstGeom prst="roundRect">
            <a:avLst>
              <a:gd name="adj" fmla="val 12903"/>
            </a:avLst>
          </a:prstGeom>
          <a:solidFill>
            <a:srgbClr val="0F1215">
              <a:alpha val="92000"/>
            </a:srgbClr>
          </a:solidFill>
          <a:ln w="19050">
            <a:solidFill>
              <a:srgbClr val="FFB000"/>
            </a:solidFill>
            <a:prstDash val="solid"/>
          </a:ln>
        </p:spPr>
      </p:sp>
      <p:sp>
        <p:nvSpPr>
          <p:cNvPr id="8" name="clk01_badge_234"/>
          <p:cNvSpPr/>
          <p:nvPr/>
        </p:nvSpPr>
        <p:spPr>
          <a:xfrm>
            <a:off x="301752" y="1088136"/>
            <a:ext cx="310896" cy="310896"/>
          </a:xfrm>
          <a:prstGeom prst="ellipse">
            <a:avLst/>
          </a:prstGeom>
          <a:solidFill>
            <a:srgbClr val="FFB000"/>
          </a:solidFill>
          <a:ln/>
        </p:spPr>
      </p:sp>
      <p:sp>
        <p:nvSpPr>
          <p:cNvPr id="9" name="clk01_num_235"/>
          <p:cNvSpPr txBox="1"/>
          <p:nvPr/>
        </p:nvSpPr>
        <p:spPr>
          <a:xfrm>
            <a:off x="301752" y="1088136"/>
            <a:ext cx="310896" cy="310896"/>
          </a:xfrm>
          <a:prstGeom prst="rect">
            <a:avLst/>
          </a:prstGeom>
          <a:noFill/>
          <a:ln/>
        </p:spPr>
        <p:txBody>
          <a:bodyPr wrap="square" lIns="0" tIns="0" rIns="0" bIns="0" rtlCol="0" anchor="ctr"/>
          <a:lstStyle/>
          <a:p>
            <a:pPr algn="ctr" indent="0" marL="0">
              <a:buNone/>
            </a:pPr>
            <a:r>
              <a:rPr lang="en-US" sz="1300" b="1" dirty="0">
                <a:solidFill>
                  <a:srgbClr val="0F1215"/>
                </a:solidFill>
              </a:rPr>
              <a:t>1</a:t>
            </a:r>
            <a:endParaRPr lang="en-US" sz="1300" dirty="0"/>
          </a:p>
        </p:txBody>
      </p:sp>
      <p:sp>
        <p:nvSpPr>
          <p:cNvPr id="10" name="clk01_label_236"/>
          <p:cNvSpPr txBox="1"/>
          <p:nvPr/>
        </p:nvSpPr>
        <p:spPr>
          <a:xfrm>
            <a:off x="685800" y="960120"/>
            <a:ext cx="950976" cy="566928"/>
          </a:xfrm>
          <a:prstGeom prst="rect">
            <a:avLst/>
          </a:prstGeom>
          <a:noFill/>
          <a:ln/>
        </p:spPr>
        <p:txBody>
          <a:bodyPr wrap="square" lIns="0" tIns="0" rIns="0" bIns="0" rtlCol="0" anchor="ctr"/>
          <a:lstStyle/>
          <a:p>
            <a:pPr indent="0" marL="0">
              <a:buNone/>
            </a:pPr>
            <a:r>
              <a:rPr lang="en-US" sz="1200" b="1" dirty="0">
                <a:solidFill>
                  <a:srgbClr val="FFFFFF"/>
                </a:solidFill>
              </a:rPr>
              <a:t>Tyre pressure</a:t>
            </a:r>
            <a:endParaRPr lang="en-US" sz="1200" dirty="0"/>
          </a:p>
        </p:txBody>
      </p:sp>
      <p:sp>
        <p:nvSpPr>
          <p:cNvPr id="11" name="clk02_ring_237"/>
          <p:cNvSpPr/>
          <p:nvPr/>
        </p:nvSpPr>
        <p:spPr>
          <a:xfrm>
            <a:off x="2386546" y="2303074"/>
            <a:ext cx="432538" cy="432538"/>
          </a:xfrm>
          <a:prstGeom prst="ellipse">
            <a:avLst/>
          </a:prstGeom>
          <a:ln w="38100">
            <a:solidFill>
              <a:srgbClr val="E53935"/>
            </a:solidFill>
            <a:prstDash val="solid"/>
          </a:ln>
        </p:spPr>
      </p:sp>
      <p:sp>
        <p:nvSpPr>
          <p:cNvPr id="12" name="clk02_line_238"/>
          <p:cNvSpPr/>
          <p:nvPr/>
        </p:nvSpPr>
        <p:spPr>
          <a:xfrm>
            <a:off x="1709928" y="2112264"/>
            <a:ext cx="696105" cy="317363"/>
          </a:xfrm>
          <a:prstGeom prst="line">
            <a:avLst/>
          </a:prstGeom>
          <a:noFill/>
          <a:ln w="25400">
            <a:solidFill>
              <a:srgbClr val="E53935"/>
            </a:solidFill>
            <a:prstDash val="solid"/>
          </a:ln>
        </p:spPr>
      </p:sp>
      <p:sp>
        <p:nvSpPr>
          <p:cNvPr id="13" name="clk02_labelbox_239"/>
          <p:cNvSpPr/>
          <p:nvPr/>
        </p:nvSpPr>
        <p:spPr>
          <a:xfrm>
            <a:off x="228600" y="1828800"/>
            <a:ext cx="1481328" cy="566928"/>
          </a:xfrm>
          <a:prstGeom prst="roundRect">
            <a:avLst>
              <a:gd name="adj" fmla="val 12903"/>
            </a:avLst>
          </a:prstGeom>
          <a:solidFill>
            <a:srgbClr val="0F1215">
              <a:alpha val="92000"/>
            </a:srgbClr>
          </a:solidFill>
          <a:ln w="19050">
            <a:solidFill>
              <a:srgbClr val="E53935"/>
            </a:solidFill>
            <a:prstDash val="solid"/>
          </a:ln>
        </p:spPr>
      </p:sp>
      <p:sp>
        <p:nvSpPr>
          <p:cNvPr id="14" name="clk02_badge_240"/>
          <p:cNvSpPr/>
          <p:nvPr/>
        </p:nvSpPr>
        <p:spPr>
          <a:xfrm>
            <a:off x="301752" y="1956816"/>
            <a:ext cx="310896" cy="310896"/>
          </a:xfrm>
          <a:prstGeom prst="ellipse">
            <a:avLst/>
          </a:prstGeom>
          <a:solidFill>
            <a:srgbClr val="E53935"/>
          </a:solidFill>
          <a:ln/>
        </p:spPr>
      </p:sp>
      <p:sp>
        <p:nvSpPr>
          <p:cNvPr id="15" name="clk02_num_241"/>
          <p:cNvSpPr txBox="1"/>
          <p:nvPr/>
        </p:nvSpPr>
        <p:spPr>
          <a:xfrm>
            <a:off x="301752" y="1956816"/>
            <a:ext cx="310896" cy="310896"/>
          </a:xfrm>
          <a:prstGeom prst="rect">
            <a:avLst/>
          </a:prstGeom>
          <a:noFill/>
          <a:ln/>
        </p:spPr>
        <p:txBody>
          <a:bodyPr wrap="square" lIns="0" tIns="0" rIns="0" bIns="0" rtlCol="0" anchor="ctr"/>
          <a:lstStyle/>
          <a:p>
            <a:pPr algn="ctr" indent="0" marL="0">
              <a:buNone/>
            </a:pPr>
            <a:r>
              <a:rPr lang="en-US" sz="1300" b="1" dirty="0">
                <a:solidFill>
                  <a:srgbClr val="0F1215"/>
                </a:solidFill>
              </a:rPr>
              <a:t>2</a:t>
            </a:r>
            <a:endParaRPr lang="en-US" sz="1300" dirty="0"/>
          </a:p>
        </p:txBody>
      </p:sp>
      <p:sp>
        <p:nvSpPr>
          <p:cNvPr id="16" name="clk02_label_242"/>
          <p:cNvSpPr txBox="1"/>
          <p:nvPr/>
        </p:nvSpPr>
        <p:spPr>
          <a:xfrm>
            <a:off x="685800" y="1828800"/>
            <a:ext cx="950976" cy="566928"/>
          </a:xfrm>
          <a:prstGeom prst="rect">
            <a:avLst/>
          </a:prstGeom>
          <a:noFill/>
          <a:ln/>
        </p:spPr>
        <p:txBody>
          <a:bodyPr wrap="square" lIns="0" tIns="0" rIns="0" bIns="0" rtlCol="0" anchor="ctr"/>
          <a:lstStyle/>
          <a:p>
            <a:pPr indent="0" marL="0">
              <a:buNone/>
            </a:pPr>
            <a:r>
              <a:rPr lang="en-US" sz="1200" b="1" dirty="0">
                <a:solidFill>
                  <a:srgbClr val="FFFFFF"/>
                </a:solidFill>
              </a:rPr>
              <a:t>Oil pressure</a:t>
            </a:r>
            <a:endParaRPr lang="en-US" sz="1200" dirty="0"/>
          </a:p>
        </p:txBody>
      </p:sp>
      <p:sp>
        <p:nvSpPr>
          <p:cNvPr id="17" name="clk03_ring_243"/>
          <p:cNvSpPr/>
          <p:nvPr/>
        </p:nvSpPr>
        <p:spPr>
          <a:xfrm>
            <a:off x="4469557" y="2792524"/>
            <a:ext cx="330095" cy="330095"/>
          </a:xfrm>
          <a:prstGeom prst="ellipse">
            <a:avLst/>
          </a:prstGeom>
          <a:ln w="38100">
            <a:solidFill>
              <a:srgbClr val="E53935"/>
            </a:solidFill>
            <a:prstDash val="solid"/>
          </a:ln>
        </p:spPr>
      </p:sp>
      <p:sp>
        <p:nvSpPr>
          <p:cNvPr id="18" name="clk03_line_244"/>
          <p:cNvSpPr/>
          <p:nvPr/>
        </p:nvSpPr>
        <p:spPr>
          <a:xfrm flipH="1">
            <a:off x="1709928" y="2958891"/>
            <a:ext cx="2759634" cy="22053"/>
          </a:xfrm>
          <a:prstGeom prst="line">
            <a:avLst/>
          </a:prstGeom>
          <a:noFill/>
          <a:ln w="25400">
            <a:solidFill>
              <a:srgbClr val="E53935"/>
            </a:solidFill>
            <a:prstDash val="solid"/>
          </a:ln>
        </p:spPr>
      </p:sp>
      <p:sp>
        <p:nvSpPr>
          <p:cNvPr id="19" name="clk03_labelbox_245"/>
          <p:cNvSpPr/>
          <p:nvPr/>
        </p:nvSpPr>
        <p:spPr>
          <a:xfrm>
            <a:off x="228600" y="2697480"/>
            <a:ext cx="1481328" cy="566928"/>
          </a:xfrm>
          <a:prstGeom prst="roundRect">
            <a:avLst>
              <a:gd name="adj" fmla="val 12903"/>
            </a:avLst>
          </a:prstGeom>
          <a:solidFill>
            <a:srgbClr val="0F1215">
              <a:alpha val="92000"/>
            </a:srgbClr>
          </a:solidFill>
          <a:ln w="19050">
            <a:solidFill>
              <a:srgbClr val="E53935"/>
            </a:solidFill>
            <a:prstDash val="solid"/>
          </a:ln>
        </p:spPr>
      </p:sp>
      <p:sp>
        <p:nvSpPr>
          <p:cNvPr id="20" name="clk03_badge_246"/>
          <p:cNvSpPr/>
          <p:nvPr/>
        </p:nvSpPr>
        <p:spPr>
          <a:xfrm>
            <a:off x="301752" y="2825496"/>
            <a:ext cx="310896" cy="310896"/>
          </a:xfrm>
          <a:prstGeom prst="ellipse">
            <a:avLst/>
          </a:prstGeom>
          <a:solidFill>
            <a:srgbClr val="E53935"/>
          </a:solidFill>
          <a:ln/>
        </p:spPr>
      </p:sp>
      <p:sp>
        <p:nvSpPr>
          <p:cNvPr id="21" name="clk03_num_247"/>
          <p:cNvSpPr txBox="1"/>
          <p:nvPr/>
        </p:nvSpPr>
        <p:spPr>
          <a:xfrm>
            <a:off x="301752" y="2825496"/>
            <a:ext cx="310896" cy="310896"/>
          </a:xfrm>
          <a:prstGeom prst="rect">
            <a:avLst/>
          </a:prstGeom>
          <a:noFill/>
          <a:ln/>
        </p:spPr>
        <p:txBody>
          <a:bodyPr wrap="square" lIns="0" tIns="0" rIns="0" bIns="0" rtlCol="0" anchor="ctr"/>
          <a:lstStyle/>
          <a:p>
            <a:pPr algn="ctr" indent="0" marL="0">
              <a:buNone/>
            </a:pPr>
            <a:r>
              <a:rPr lang="en-US" sz="1300" b="1" dirty="0">
                <a:solidFill>
                  <a:srgbClr val="0F1215"/>
                </a:solidFill>
              </a:rPr>
              <a:t>3</a:t>
            </a:r>
            <a:endParaRPr lang="en-US" sz="1300" dirty="0"/>
          </a:p>
        </p:txBody>
      </p:sp>
      <p:sp>
        <p:nvSpPr>
          <p:cNvPr id="22" name="clk03_label_248"/>
          <p:cNvSpPr txBox="1"/>
          <p:nvPr/>
        </p:nvSpPr>
        <p:spPr>
          <a:xfrm>
            <a:off x="685800" y="2697480"/>
            <a:ext cx="950976" cy="566928"/>
          </a:xfrm>
          <a:prstGeom prst="rect">
            <a:avLst/>
          </a:prstGeom>
          <a:noFill/>
          <a:ln/>
        </p:spPr>
        <p:txBody>
          <a:bodyPr wrap="square" lIns="0" tIns="0" rIns="0" bIns="0" rtlCol="0" anchor="ctr"/>
          <a:lstStyle/>
          <a:p>
            <a:pPr indent="0" marL="0">
              <a:buNone/>
            </a:pPr>
            <a:r>
              <a:rPr lang="en-US" sz="1200" b="1" dirty="0">
                <a:solidFill>
                  <a:srgbClr val="FFFFFF"/>
                </a:solidFill>
              </a:rPr>
              <a:t>Engine temp.</a:t>
            </a:r>
            <a:endParaRPr lang="en-US" sz="1200" dirty="0"/>
          </a:p>
        </p:txBody>
      </p:sp>
      <p:sp>
        <p:nvSpPr>
          <p:cNvPr id="23" name="clk04_ring_249"/>
          <p:cNvSpPr/>
          <p:nvPr/>
        </p:nvSpPr>
        <p:spPr>
          <a:xfrm>
            <a:off x="4793960" y="2792524"/>
            <a:ext cx="330095" cy="330095"/>
          </a:xfrm>
          <a:prstGeom prst="ellipse">
            <a:avLst/>
          </a:prstGeom>
          <a:ln w="38100">
            <a:solidFill>
              <a:srgbClr val="FFB000"/>
            </a:solidFill>
            <a:prstDash val="solid"/>
          </a:ln>
        </p:spPr>
      </p:sp>
      <p:sp>
        <p:nvSpPr>
          <p:cNvPr id="24" name="clk04_line_250"/>
          <p:cNvSpPr/>
          <p:nvPr/>
        </p:nvSpPr>
        <p:spPr>
          <a:xfrm flipH="1">
            <a:off x="1709928" y="3001269"/>
            <a:ext cx="3089922" cy="848355"/>
          </a:xfrm>
          <a:prstGeom prst="line">
            <a:avLst/>
          </a:prstGeom>
          <a:noFill/>
          <a:ln w="25400">
            <a:solidFill>
              <a:srgbClr val="FFB000"/>
            </a:solidFill>
            <a:prstDash val="solid"/>
          </a:ln>
        </p:spPr>
      </p:sp>
      <p:sp>
        <p:nvSpPr>
          <p:cNvPr id="25" name="clk04_labelbox_251"/>
          <p:cNvSpPr/>
          <p:nvPr/>
        </p:nvSpPr>
        <p:spPr>
          <a:xfrm>
            <a:off x="228600" y="3566160"/>
            <a:ext cx="1481328" cy="566928"/>
          </a:xfrm>
          <a:prstGeom prst="roundRect">
            <a:avLst>
              <a:gd name="adj" fmla="val 12903"/>
            </a:avLst>
          </a:prstGeom>
          <a:solidFill>
            <a:srgbClr val="0F1215">
              <a:alpha val="92000"/>
            </a:srgbClr>
          </a:solidFill>
          <a:ln w="19050">
            <a:solidFill>
              <a:srgbClr val="FFB000"/>
            </a:solidFill>
            <a:prstDash val="solid"/>
          </a:ln>
        </p:spPr>
      </p:sp>
      <p:sp>
        <p:nvSpPr>
          <p:cNvPr id="26" name="clk04_badge_252"/>
          <p:cNvSpPr/>
          <p:nvPr/>
        </p:nvSpPr>
        <p:spPr>
          <a:xfrm>
            <a:off x="301752" y="3694176"/>
            <a:ext cx="310896" cy="310896"/>
          </a:xfrm>
          <a:prstGeom prst="ellipse">
            <a:avLst/>
          </a:prstGeom>
          <a:solidFill>
            <a:srgbClr val="FFB000"/>
          </a:solidFill>
          <a:ln/>
        </p:spPr>
      </p:sp>
      <p:sp>
        <p:nvSpPr>
          <p:cNvPr id="27" name="clk04_num_253"/>
          <p:cNvSpPr txBox="1"/>
          <p:nvPr/>
        </p:nvSpPr>
        <p:spPr>
          <a:xfrm>
            <a:off x="301752" y="3694176"/>
            <a:ext cx="310896" cy="310896"/>
          </a:xfrm>
          <a:prstGeom prst="rect">
            <a:avLst/>
          </a:prstGeom>
          <a:noFill/>
          <a:ln/>
        </p:spPr>
        <p:txBody>
          <a:bodyPr wrap="square" lIns="0" tIns="0" rIns="0" bIns="0" rtlCol="0" anchor="ctr"/>
          <a:lstStyle/>
          <a:p>
            <a:pPr algn="ctr" indent="0" marL="0">
              <a:buNone/>
            </a:pPr>
            <a:r>
              <a:rPr lang="en-US" sz="1300" b="1" dirty="0">
                <a:solidFill>
                  <a:srgbClr val="0F1215"/>
                </a:solidFill>
              </a:rPr>
              <a:t>4</a:t>
            </a:r>
            <a:endParaRPr lang="en-US" sz="1300" dirty="0"/>
          </a:p>
        </p:txBody>
      </p:sp>
      <p:sp>
        <p:nvSpPr>
          <p:cNvPr id="28" name="clk04_label_254"/>
          <p:cNvSpPr txBox="1"/>
          <p:nvPr/>
        </p:nvSpPr>
        <p:spPr>
          <a:xfrm>
            <a:off x="685800" y="3566160"/>
            <a:ext cx="950976" cy="566928"/>
          </a:xfrm>
          <a:prstGeom prst="rect">
            <a:avLst/>
          </a:prstGeom>
          <a:noFill/>
          <a:ln/>
        </p:spPr>
        <p:txBody>
          <a:bodyPr wrap="square" lIns="0" tIns="0" rIns="0" bIns="0" rtlCol="0" anchor="ctr"/>
          <a:lstStyle/>
          <a:p>
            <a:pPr indent="0" marL="0">
              <a:buNone/>
            </a:pPr>
            <a:r>
              <a:rPr lang="en-US" sz="1200" b="1" dirty="0">
                <a:solidFill>
                  <a:srgbClr val="FFFFFF"/>
                </a:solidFill>
              </a:rPr>
              <a:t>ABS</a:t>
            </a:r>
            <a:endParaRPr lang="en-US" sz="1200" dirty="0"/>
          </a:p>
        </p:txBody>
      </p:sp>
      <p:sp>
        <p:nvSpPr>
          <p:cNvPr id="29" name="clk05_ring_255"/>
          <p:cNvSpPr/>
          <p:nvPr/>
        </p:nvSpPr>
        <p:spPr>
          <a:xfrm>
            <a:off x="6655011" y="1500602"/>
            <a:ext cx="318712" cy="318712"/>
          </a:xfrm>
          <a:prstGeom prst="ellipse">
            <a:avLst/>
          </a:prstGeom>
          <a:ln w="38100">
            <a:solidFill>
              <a:srgbClr val="E53935"/>
            </a:solidFill>
            <a:prstDash val="solid"/>
          </a:ln>
        </p:spPr>
      </p:sp>
      <p:sp>
        <p:nvSpPr>
          <p:cNvPr id="30" name="clk05_line_256"/>
          <p:cNvSpPr/>
          <p:nvPr/>
        </p:nvSpPr>
        <p:spPr>
          <a:xfrm flipH="1">
            <a:off x="6946639" y="1243584"/>
            <a:ext cx="487433" cy="327502"/>
          </a:xfrm>
          <a:prstGeom prst="line">
            <a:avLst/>
          </a:prstGeom>
          <a:noFill/>
          <a:ln w="25400">
            <a:solidFill>
              <a:srgbClr val="E53935"/>
            </a:solidFill>
            <a:prstDash val="solid"/>
          </a:ln>
        </p:spPr>
      </p:sp>
      <p:sp>
        <p:nvSpPr>
          <p:cNvPr id="31" name="clk05_labelbox_257"/>
          <p:cNvSpPr/>
          <p:nvPr/>
        </p:nvSpPr>
        <p:spPr>
          <a:xfrm>
            <a:off x="7434072" y="960120"/>
            <a:ext cx="1481328" cy="566928"/>
          </a:xfrm>
          <a:prstGeom prst="roundRect">
            <a:avLst>
              <a:gd name="adj" fmla="val 12903"/>
            </a:avLst>
          </a:prstGeom>
          <a:solidFill>
            <a:srgbClr val="0F1215">
              <a:alpha val="92000"/>
            </a:srgbClr>
          </a:solidFill>
          <a:ln w="19050">
            <a:solidFill>
              <a:srgbClr val="E53935"/>
            </a:solidFill>
            <a:prstDash val="solid"/>
          </a:ln>
        </p:spPr>
      </p:sp>
      <p:sp>
        <p:nvSpPr>
          <p:cNvPr id="32" name="clk05_badge_258"/>
          <p:cNvSpPr/>
          <p:nvPr/>
        </p:nvSpPr>
        <p:spPr>
          <a:xfrm>
            <a:off x="7507224" y="1088136"/>
            <a:ext cx="310896" cy="310896"/>
          </a:xfrm>
          <a:prstGeom prst="ellipse">
            <a:avLst/>
          </a:prstGeom>
          <a:solidFill>
            <a:srgbClr val="E53935"/>
          </a:solidFill>
          <a:ln/>
        </p:spPr>
      </p:sp>
      <p:sp>
        <p:nvSpPr>
          <p:cNvPr id="33" name="clk05_num_259"/>
          <p:cNvSpPr txBox="1"/>
          <p:nvPr/>
        </p:nvSpPr>
        <p:spPr>
          <a:xfrm>
            <a:off x="7507224" y="1088136"/>
            <a:ext cx="310896" cy="310896"/>
          </a:xfrm>
          <a:prstGeom prst="rect">
            <a:avLst/>
          </a:prstGeom>
          <a:noFill/>
          <a:ln/>
        </p:spPr>
        <p:txBody>
          <a:bodyPr wrap="square" lIns="0" tIns="0" rIns="0" bIns="0" rtlCol="0" anchor="ctr"/>
          <a:lstStyle/>
          <a:p>
            <a:pPr algn="ctr" indent="0" marL="0">
              <a:buNone/>
            </a:pPr>
            <a:r>
              <a:rPr lang="en-US" sz="1300" b="1" dirty="0">
                <a:solidFill>
                  <a:srgbClr val="0F1215"/>
                </a:solidFill>
              </a:rPr>
              <a:t>5</a:t>
            </a:r>
            <a:endParaRPr lang="en-US" sz="1300" dirty="0"/>
          </a:p>
        </p:txBody>
      </p:sp>
      <p:sp>
        <p:nvSpPr>
          <p:cNvPr id="34" name="clk05_label_260"/>
          <p:cNvSpPr txBox="1"/>
          <p:nvPr/>
        </p:nvSpPr>
        <p:spPr>
          <a:xfrm>
            <a:off x="7891272" y="960120"/>
            <a:ext cx="950976" cy="566928"/>
          </a:xfrm>
          <a:prstGeom prst="rect">
            <a:avLst/>
          </a:prstGeom>
          <a:noFill/>
          <a:ln/>
        </p:spPr>
        <p:txBody>
          <a:bodyPr wrap="square" lIns="0" tIns="0" rIns="0" bIns="0" rtlCol="0" anchor="ctr"/>
          <a:lstStyle/>
          <a:p>
            <a:pPr indent="0" marL="0">
              <a:buNone/>
            </a:pPr>
            <a:r>
              <a:rPr lang="en-US" sz="1200" b="1" dirty="0">
                <a:solidFill>
                  <a:srgbClr val="FFFFFF"/>
                </a:solidFill>
              </a:rPr>
              <a:t>Battery</a:t>
            </a:r>
            <a:endParaRPr lang="en-US" sz="1200" dirty="0"/>
          </a:p>
        </p:txBody>
      </p:sp>
      <p:sp>
        <p:nvSpPr>
          <p:cNvPr id="35" name="clk06_ring_261"/>
          <p:cNvSpPr/>
          <p:nvPr/>
        </p:nvSpPr>
        <p:spPr>
          <a:xfrm>
            <a:off x="5425693" y="1950214"/>
            <a:ext cx="318712" cy="318712"/>
          </a:xfrm>
          <a:prstGeom prst="ellipse">
            <a:avLst/>
          </a:prstGeom>
          <a:ln w="38100">
            <a:solidFill>
              <a:srgbClr val="E53935"/>
            </a:solidFill>
            <a:prstDash val="solid"/>
          </a:ln>
        </p:spPr>
      </p:sp>
      <p:sp>
        <p:nvSpPr>
          <p:cNvPr id="36" name="clk06_line_262"/>
          <p:cNvSpPr/>
          <p:nvPr/>
        </p:nvSpPr>
        <p:spPr>
          <a:xfrm>
            <a:off x="5744405" y="2109802"/>
            <a:ext cx="1689667" cy="2462"/>
          </a:xfrm>
          <a:prstGeom prst="line">
            <a:avLst/>
          </a:prstGeom>
          <a:noFill/>
          <a:ln w="25400">
            <a:solidFill>
              <a:srgbClr val="E53935"/>
            </a:solidFill>
            <a:prstDash val="solid"/>
          </a:ln>
        </p:spPr>
      </p:sp>
      <p:sp>
        <p:nvSpPr>
          <p:cNvPr id="37" name="clk06_labelbox_263"/>
          <p:cNvSpPr/>
          <p:nvPr/>
        </p:nvSpPr>
        <p:spPr>
          <a:xfrm>
            <a:off x="7434072" y="1828800"/>
            <a:ext cx="1481328" cy="566928"/>
          </a:xfrm>
          <a:prstGeom prst="roundRect">
            <a:avLst>
              <a:gd name="adj" fmla="val 12903"/>
            </a:avLst>
          </a:prstGeom>
          <a:solidFill>
            <a:srgbClr val="0F1215">
              <a:alpha val="92000"/>
            </a:srgbClr>
          </a:solidFill>
          <a:ln w="19050">
            <a:solidFill>
              <a:srgbClr val="E53935"/>
            </a:solidFill>
            <a:prstDash val="solid"/>
          </a:ln>
        </p:spPr>
      </p:sp>
      <p:sp>
        <p:nvSpPr>
          <p:cNvPr id="38" name="clk06_badge_264"/>
          <p:cNvSpPr/>
          <p:nvPr/>
        </p:nvSpPr>
        <p:spPr>
          <a:xfrm>
            <a:off x="7507224" y="1956816"/>
            <a:ext cx="310896" cy="310896"/>
          </a:xfrm>
          <a:prstGeom prst="ellipse">
            <a:avLst/>
          </a:prstGeom>
          <a:solidFill>
            <a:srgbClr val="E53935"/>
          </a:solidFill>
          <a:ln/>
        </p:spPr>
      </p:sp>
      <p:sp>
        <p:nvSpPr>
          <p:cNvPr id="39" name="clk06_num_265"/>
          <p:cNvSpPr txBox="1"/>
          <p:nvPr/>
        </p:nvSpPr>
        <p:spPr>
          <a:xfrm>
            <a:off x="7507224" y="1956816"/>
            <a:ext cx="310896" cy="310896"/>
          </a:xfrm>
          <a:prstGeom prst="rect">
            <a:avLst/>
          </a:prstGeom>
          <a:noFill/>
          <a:ln/>
        </p:spPr>
        <p:txBody>
          <a:bodyPr wrap="square" lIns="0" tIns="0" rIns="0" bIns="0" rtlCol="0" anchor="ctr"/>
          <a:lstStyle/>
          <a:p>
            <a:pPr algn="ctr" indent="0" marL="0">
              <a:buNone/>
            </a:pPr>
            <a:r>
              <a:rPr lang="en-US" sz="1300" b="1" dirty="0">
                <a:solidFill>
                  <a:srgbClr val="0F1215"/>
                </a:solidFill>
              </a:rPr>
              <a:t>6</a:t>
            </a:r>
            <a:endParaRPr lang="en-US" sz="1300" dirty="0"/>
          </a:p>
        </p:txBody>
      </p:sp>
      <p:sp>
        <p:nvSpPr>
          <p:cNvPr id="40" name="clk06_label_266"/>
          <p:cNvSpPr txBox="1"/>
          <p:nvPr/>
        </p:nvSpPr>
        <p:spPr>
          <a:xfrm>
            <a:off x="7891272" y="1828800"/>
            <a:ext cx="950976" cy="566928"/>
          </a:xfrm>
          <a:prstGeom prst="rect">
            <a:avLst/>
          </a:prstGeom>
          <a:noFill/>
          <a:ln/>
        </p:spPr>
        <p:txBody>
          <a:bodyPr wrap="square" lIns="0" tIns="0" rIns="0" bIns="0" rtlCol="0" anchor="ctr"/>
          <a:lstStyle/>
          <a:p>
            <a:pPr indent="0" marL="0">
              <a:buNone/>
            </a:pPr>
            <a:r>
              <a:rPr lang="en-US" sz="1200" b="1" dirty="0">
                <a:solidFill>
                  <a:srgbClr val="FFFFFF"/>
                </a:solidFill>
              </a:rPr>
              <a:t>Brake system</a:t>
            </a:r>
            <a:endParaRPr lang="en-US" sz="1200" dirty="0"/>
          </a:p>
        </p:txBody>
      </p:sp>
      <p:sp>
        <p:nvSpPr>
          <p:cNvPr id="41" name="clk07_ring_267"/>
          <p:cNvSpPr/>
          <p:nvPr/>
        </p:nvSpPr>
        <p:spPr>
          <a:xfrm>
            <a:off x="5129746" y="1961597"/>
            <a:ext cx="284564" cy="284564"/>
          </a:xfrm>
          <a:prstGeom prst="ellipse">
            <a:avLst/>
          </a:prstGeom>
          <a:ln w="38100">
            <a:solidFill>
              <a:srgbClr val="E53935"/>
            </a:solidFill>
            <a:prstDash val="solid"/>
          </a:ln>
        </p:spPr>
      </p:sp>
      <p:sp>
        <p:nvSpPr>
          <p:cNvPr id="42" name="clk07_line_268"/>
          <p:cNvSpPr/>
          <p:nvPr/>
        </p:nvSpPr>
        <p:spPr>
          <a:xfrm>
            <a:off x="5403875" y="2157364"/>
            <a:ext cx="2030197" cy="823580"/>
          </a:xfrm>
          <a:prstGeom prst="line">
            <a:avLst/>
          </a:prstGeom>
          <a:noFill/>
          <a:ln w="25400">
            <a:solidFill>
              <a:srgbClr val="E53935"/>
            </a:solidFill>
            <a:prstDash val="solid"/>
          </a:ln>
        </p:spPr>
      </p:sp>
      <p:sp>
        <p:nvSpPr>
          <p:cNvPr id="43" name="clk07_labelbox_269"/>
          <p:cNvSpPr/>
          <p:nvPr/>
        </p:nvSpPr>
        <p:spPr>
          <a:xfrm>
            <a:off x="7434072" y="2697480"/>
            <a:ext cx="1481328" cy="566928"/>
          </a:xfrm>
          <a:prstGeom prst="roundRect">
            <a:avLst>
              <a:gd name="adj" fmla="val 12903"/>
            </a:avLst>
          </a:prstGeom>
          <a:solidFill>
            <a:srgbClr val="0F1215">
              <a:alpha val="92000"/>
            </a:srgbClr>
          </a:solidFill>
          <a:ln w="19050">
            <a:solidFill>
              <a:srgbClr val="E53935"/>
            </a:solidFill>
            <a:prstDash val="solid"/>
          </a:ln>
        </p:spPr>
      </p:sp>
      <p:sp>
        <p:nvSpPr>
          <p:cNvPr id="44" name="clk07_badge_270"/>
          <p:cNvSpPr/>
          <p:nvPr/>
        </p:nvSpPr>
        <p:spPr>
          <a:xfrm>
            <a:off x="7507224" y="2825496"/>
            <a:ext cx="310896" cy="310896"/>
          </a:xfrm>
          <a:prstGeom prst="ellipse">
            <a:avLst/>
          </a:prstGeom>
          <a:solidFill>
            <a:srgbClr val="E53935"/>
          </a:solidFill>
          <a:ln/>
        </p:spPr>
      </p:sp>
      <p:sp>
        <p:nvSpPr>
          <p:cNvPr id="45" name="clk07_num_271"/>
          <p:cNvSpPr txBox="1"/>
          <p:nvPr/>
        </p:nvSpPr>
        <p:spPr>
          <a:xfrm>
            <a:off x="7507224" y="2825496"/>
            <a:ext cx="310896" cy="310896"/>
          </a:xfrm>
          <a:prstGeom prst="rect">
            <a:avLst/>
          </a:prstGeom>
          <a:noFill/>
          <a:ln/>
        </p:spPr>
        <p:txBody>
          <a:bodyPr wrap="square" lIns="0" tIns="0" rIns="0" bIns="0" rtlCol="0" anchor="ctr"/>
          <a:lstStyle/>
          <a:p>
            <a:pPr algn="ctr" indent="0" marL="0">
              <a:buNone/>
            </a:pPr>
            <a:r>
              <a:rPr lang="en-US" sz="1300" b="1" dirty="0">
                <a:solidFill>
                  <a:srgbClr val="0F1215"/>
                </a:solidFill>
              </a:rPr>
              <a:t>7</a:t>
            </a:r>
            <a:endParaRPr lang="en-US" sz="1300" dirty="0"/>
          </a:p>
        </p:txBody>
      </p:sp>
      <p:sp>
        <p:nvSpPr>
          <p:cNvPr id="46" name="clk07_label_272"/>
          <p:cNvSpPr txBox="1"/>
          <p:nvPr/>
        </p:nvSpPr>
        <p:spPr>
          <a:xfrm>
            <a:off x="7891272" y="2697480"/>
            <a:ext cx="950976" cy="566928"/>
          </a:xfrm>
          <a:prstGeom prst="rect">
            <a:avLst/>
          </a:prstGeom>
          <a:noFill/>
          <a:ln/>
        </p:spPr>
        <p:txBody>
          <a:bodyPr wrap="square" lIns="0" tIns="0" rIns="0" bIns="0" rtlCol="0" anchor="ctr"/>
          <a:lstStyle/>
          <a:p>
            <a:pPr indent="0" marL="0">
              <a:buNone/>
            </a:pPr>
            <a:r>
              <a:rPr lang="en-US" sz="1200" b="1" dirty="0">
                <a:solidFill>
                  <a:srgbClr val="FFFFFF"/>
                </a:solidFill>
              </a:rPr>
              <a:t>Airbag (SRS)</a:t>
            </a:r>
            <a:endParaRPr lang="en-US" sz="1200" dirty="0"/>
          </a:p>
        </p:txBody>
      </p:sp>
      <p:sp>
        <p:nvSpPr>
          <p:cNvPr id="47" name="clk08_ring_273"/>
          <p:cNvSpPr/>
          <p:nvPr/>
        </p:nvSpPr>
        <p:spPr>
          <a:xfrm>
            <a:off x="6410285" y="2433973"/>
            <a:ext cx="341477" cy="341477"/>
          </a:xfrm>
          <a:prstGeom prst="ellipse">
            <a:avLst/>
          </a:prstGeom>
          <a:ln w="38100">
            <a:solidFill>
              <a:srgbClr val="FFB000"/>
            </a:solidFill>
            <a:prstDash val="solid"/>
          </a:ln>
        </p:spPr>
      </p:sp>
      <p:sp>
        <p:nvSpPr>
          <p:cNvPr id="48" name="clk08_line_274"/>
          <p:cNvSpPr/>
          <p:nvPr/>
        </p:nvSpPr>
        <p:spPr>
          <a:xfrm>
            <a:off x="6677535" y="2745557"/>
            <a:ext cx="756537" cy="1104067"/>
          </a:xfrm>
          <a:prstGeom prst="line">
            <a:avLst/>
          </a:prstGeom>
          <a:noFill/>
          <a:ln w="25400">
            <a:solidFill>
              <a:srgbClr val="FFB000"/>
            </a:solidFill>
            <a:prstDash val="solid"/>
          </a:ln>
        </p:spPr>
      </p:sp>
      <p:sp>
        <p:nvSpPr>
          <p:cNvPr id="49" name="clk08_labelbox_275"/>
          <p:cNvSpPr/>
          <p:nvPr/>
        </p:nvSpPr>
        <p:spPr>
          <a:xfrm>
            <a:off x="7434072" y="3566160"/>
            <a:ext cx="1481328" cy="566928"/>
          </a:xfrm>
          <a:prstGeom prst="roundRect">
            <a:avLst>
              <a:gd name="adj" fmla="val 12903"/>
            </a:avLst>
          </a:prstGeom>
          <a:solidFill>
            <a:srgbClr val="0F1215">
              <a:alpha val="92000"/>
            </a:srgbClr>
          </a:solidFill>
          <a:ln w="19050">
            <a:solidFill>
              <a:srgbClr val="FFB000"/>
            </a:solidFill>
            <a:prstDash val="solid"/>
          </a:ln>
        </p:spPr>
      </p:sp>
      <p:sp>
        <p:nvSpPr>
          <p:cNvPr id="50" name="clk08_badge_276"/>
          <p:cNvSpPr/>
          <p:nvPr/>
        </p:nvSpPr>
        <p:spPr>
          <a:xfrm>
            <a:off x="7507224" y="3694176"/>
            <a:ext cx="310896" cy="310896"/>
          </a:xfrm>
          <a:prstGeom prst="ellipse">
            <a:avLst/>
          </a:prstGeom>
          <a:solidFill>
            <a:srgbClr val="FFB000"/>
          </a:solidFill>
          <a:ln/>
        </p:spPr>
      </p:sp>
      <p:sp>
        <p:nvSpPr>
          <p:cNvPr id="51" name="clk08_num_277"/>
          <p:cNvSpPr txBox="1"/>
          <p:nvPr/>
        </p:nvSpPr>
        <p:spPr>
          <a:xfrm>
            <a:off x="7507224" y="3694176"/>
            <a:ext cx="310896" cy="310896"/>
          </a:xfrm>
          <a:prstGeom prst="rect">
            <a:avLst/>
          </a:prstGeom>
          <a:noFill/>
          <a:ln/>
        </p:spPr>
        <p:txBody>
          <a:bodyPr wrap="square" lIns="0" tIns="0" rIns="0" bIns="0" rtlCol="0" anchor="ctr"/>
          <a:lstStyle/>
          <a:p>
            <a:pPr algn="ctr" indent="0" marL="0">
              <a:buNone/>
            </a:pPr>
            <a:r>
              <a:rPr lang="en-US" sz="1300" b="1" dirty="0">
                <a:solidFill>
                  <a:srgbClr val="0F1215"/>
                </a:solidFill>
              </a:rPr>
              <a:t>8</a:t>
            </a:r>
            <a:endParaRPr lang="en-US" sz="1300" dirty="0"/>
          </a:p>
        </p:txBody>
      </p:sp>
      <p:sp>
        <p:nvSpPr>
          <p:cNvPr id="52" name="clk08_label_278"/>
          <p:cNvSpPr txBox="1"/>
          <p:nvPr/>
        </p:nvSpPr>
        <p:spPr>
          <a:xfrm>
            <a:off x="7891272" y="3566160"/>
            <a:ext cx="950976" cy="566928"/>
          </a:xfrm>
          <a:prstGeom prst="rect">
            <a:avLst/>
          </a:prstGeom>
          <a:noFill/>
          <a:ln/>
        </p:spPr>
        <p:txBody>
          <a:bodyPr wrap="square" lIns="0" tIns="0" rIns="0" bIns="0" rtlCol="0" anchor="ctr"/>
          <a:lstStyle/>
          <a:p>
            <a:pPr indent="0" marL="0">
              <a:buNone/>
            </a:pPr>
            <a:r>
              <a:rPr lang="en-US" sz="1200" b="1" dirty="0">
                <a:solidFill>
                  <a:srgbClr val="FFFFFF"/>
                </a:solidFill>
              </a:rPr>
              <a:t>Check engine</a:t>
            </a:r>
            <a:endParaRPr lang="en-US" sz="1200" dirty="0"/>
          </a:p>
        </p:txBody>
      </p:sp>
      <p:sp>
        <p:nvSpPr>
          <p:cNvPr id="25" name="Slide Number Placeholder 0"/>
          <p:cNvSpPr>
            <a:spLocks noGrp="1"/>
          </p:cNvSpPr>
          <p:nvPr>
            <p:ph type="sldNum" sz="quarter" idx="4294967295"/>
          </p:nvPr>
        </p:nvSpPr>
        <p:spPr>
          <a:xfrm>
            <a:off x="8275320" y="4818888"/>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9E"/>
                </a:solidFill>
              </a:defRPr>
            </a:lvl1pPr>
          </a:lstStyle>
          <a:p>
            <a:pPr algn="r"/>
            <a:fld id="{F7021451-1387-4CA6-816F-3879F97B5CBC}" type="slidenum">
              <a:rPr b="0" lang="en-US"/>
              <a:t>10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500"/>
                                        <p:tgtEl>
                                          <p:spTgt spid="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childTnLst>
                          </p:cTn>
                        </p:par>
                      </p:childTnLst>
                    </p:cTn>
                  </p:par>
                  <p:par>
                    <p:cTn id="61" fill="hold">
                      <p:stCondLst>
                        <p:cond delay="indefinite"/>
                      </p:stCondLst>
                      <p:childTnLst>
                        <p:par>
                          <p:cTn id="6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500"/>
                                        <p:tgtEl>
                                          <p:spTgt spid="17"/>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500"/>
                                        <p:tgtEl>
                                          <p:spTgt spid="1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500"/>
                                        <p:tgtEl>
                                          <p:spTgt spid="19"/>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500"/>
                                        <p:tgtEl>
                                          <p:spTgt spid="20"/>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500"/>
                                        <p:tgtEl>
                                          <p:spTgt spid="21"/>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500"/>
                                        <p:tgtEl>
                                          <p:spTgt spid="22"/>
                                        </p:tgtEl>
                                      </p:cBhvr>
                                    </p:animEffect>
                                  </p:childTnLst>
                                </p:cTn>
                              </p:par>
                            </p:childTnLst>
                          </p:cTn>
                        </p:par>
                      </p:childTnLst>
                    </p:cTn>
                  </p:par>
                  <p:par>
                    <p:cTn id="81" fill="hold">
                      <p:stCondLst>
                        <p:cond delay="indefinite"/>
                      </p:stCondLst>
                      <p:childTnLst>
                        <p:par>
                          <p:cTn id="8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23"/>
                                        </p:tgtEl>
                                        <p:attrNameLst>
                                          <p:attrName>style.visibility</p:attrName>
                                        </p:attrNameLst>
                                      </p:cBhvr>
                                      <p:to>
                                        <p:strVal val="visible"/>
                                      </p:to>
                                    </p:set>
                                    <p:animEffect transition="in" filter="fade">
                                      <p:cBhvr>
                                        <p:cTn id="65" dur="500"/>
                                        <p:tgtEl>
                                          <p:spTgt spid="23"/>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4"/>
                                        </p:tgtEl>
                                        <p:attrNameLst>
                                          <p:attrName>style.visibility</p:attrName>
                                        </p:attrNameLst>
                                      </p:cBhvr>
                                      <p:to>
                                        <p:strVal val="visible"/>
                                      </p:to>
                                    </p:set>
                                    <p:animEffect transition="in" filter="fade">
                                      <p:cBhvr>
                                        <p:cTn id="68" dur="500"/>
                                        <p:tgtEl>
                                          <p:spTgt spid="24"/>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500"/>
                                        <p:tgtEl>
                                          <p:spTgt spid="25"/>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6"/>
                                        </p:tgtEl>
                                        <p:attrNameLst>
                                          <p:attrName>style.visibility</p:attrName>
                                        </p:attrNameLst>
                                      </p:cBhvr>
                                      <p:to>
                                        <p:strVal val="visible"/>
                                      </p:to>
                                    </p:set>
                                    <p:animEffect transition="in" filter="fade">
                                      <p:cBhvr>
                                        <p:cTn id="74" dur="500"/>
                                        <p:tgtEl>
                                          <p:spTgt spid="26"/>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7"/>
                                        </p:tgtEl>
                                        <p:attrNameLst>
                                          <p:attrName>style.visibility</p:attrName>
                                        </p:attrNameLst>
                                      </p:cBhvr>
                                      <p:to>
                                        <p:strVal val="visible"/>
                                      </p:to>
                                    </p:set>
                                    <p:animEffect transition="in" filter="fade">
                                      <p:cBhvr>
                                        <p:cTn id="77" dur="500"/>
                                        <p:tgtEl>
                                          <p:spTgt spid="27"/>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8"/>
                                        </p:tgtEl>
                                        <p:attrNameLst>
                                          <p:attrName>style.visibility</p:attrName>
                                        </p:attrNameLst>
                                      </p:cBhvr>
                                      <p:to>
                                        <p:strVal val="visible"/>
                                      </p:to>
                                    </p:set>
                                    <p:animEffect transition="in" filter="fade">
                                      <p:cBhvr>
                                        <p:cTn id="80" dur="500"/>
                                        <p:tgtEl>
                                          <p:spTgt spid="28"/>
                                        </p:tgtEl>
                                      </p:cBhvr>
                                    </p:animEffect>
                                  </p:childTnLst>
                                </p:cTn>
                              </p:par>
                            </p:childTnLst>
                          </p:cTn>
                        </p:par>
                      </p:childTnLst>
                    </p:cTn>
                  </p:par>
                  <p:par>
                    <p:cTn id="101" fill="hold">
                      <p:stCondLst>
                        <p:cond delay="indefinite"/>
                      </p:stCondLst>
                      <p:childTnLst>
                        <p:par>
                          <p:cTn id="102"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29"/>
                                        </p:tgtEl>
                                        <p:attrNameLst>
                                          <p:attrName>style.visibility</p:attrName>
                                        </p:attrNameLst>
                                      </p:cBhvr>
                                      <p:to>
                                        <p:strVal val="visible"/>
                                      </p:to>
                                    </p:set>
                                    <p:animEffect transition="in" filter="fade">
                                      <p:cBhvr>
                                        <p:cTn id="85" dur="500"/>
                                        <p:tgtEl>
                                          <p:spTgt spid="29"/>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0"/>
                                        </p:tgtEl>
                                        <p:attrNameLst>
                                          <p:attrName>style.visibility</p:attrName>
                                        </p:attrNameLst>
                                      </p:cBhvr>
                                      <p:to>
                                        <p:strVal val="visible"/>
                                      </p:to>
                                    </p:set>
                                    <p:animEffect transition="in" filter="fade">
                                      <p:cBhvr>
                                        <p:cTn id="88" dur="500"/>
                                        <p:tgtEl>
                                          <p:spTgt spid="30"/>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91" dur="500"/>
                                        <p:tgtEl>
                                          <p:spTgt spid="31"/>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2"/>
                                        </p:tgtEl>
                                        <p:attrNameLst>
                                          <p:attrName>style.visibility</p:attrName>
                                        </p:attrNameLst>
                                      </p:cBhvr>
                                      <p:to>
                                        <p:strVal val="visible"/>
                                      </p:to>
                                    </p:set>
                                    <p:animEffect transition="in" filter="fade">
                                      <p:cBhvr>
                                        <p:cTn id="94" dur="500"/>
                                        <p:tgtEl>
                                          <p:spTgt spid="32"/>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3"/>
                                        </p:tgtEl>
                                        <p:attrNameLst>
                                          <p:attrName>style.visibility</p:attrName>
                                        </p:attrNameLst>
                                      </p:cBhvr>
                                      <p:to>
                                        <p:strVal val="visible"/>
                                      </p:to>
                                    </p:set>
                                    <p:animEffect transition="in" filter="fade">
                                      <p:cBhvr>
                                        <p:cTn id="97" dur="500"/>
                                        <p:tgtEl>
                                          <p:spTgt spid="33"/>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4"/>
                                        </p:tgtEl>
                                        <p:attrNameLst>
                                          <p:attrName>style.visibility</p:attrName>
                                        </p:attrNameLst>
                                      </p:cBhvr>
                                      <p:to>
                                        <p:strVal val="visible"/>
                                      </p:to>
                                    </p:set>
                                    <p:animEffect transition="in" filter="fade">
                                      <p:cBhvr>
                                        <p:cTn id="100" dur="500"/>
                                        <p:tgtEl>
                                          <p:spTgt spid="34"/>
                                        </p:tgtEl>
                                      </p:cBhvr>
                                    </p:animEffect>
                                  </p:childTnLst>
                                </p:cTn>
                              </p:par>
                            </p:childTnLst>
                          </p:cTn>
                        </p:par>
                      </p:childTnLst>
                    </p:cTn>
                  </p:par>
                  <p:par>
                    <p:cTn id="121" fill="hold">
                      <p:stCondLst>
                        <p:cond delay="indefinite"/>
                      </p:stCondLst>
                      <p:childTnLst>
                        <p:par>
                          <p:cTn id="122" fill="hold">
                            <p:stCondLst>
                              <p:cond delay="0"/>
                            </p:stCondLst>
                            <p:childTnLst>
                              <p:par>
                                <p:cTn id="103" presetID="10" presetClass="entr" presetSubtype="0" fill="hold" grpId="0" nodeType="clickEffect">
                                  <p:stCondLst>
                                    <p:cond delay="0"/>
                                  </p:stCondLst>
                                  <p:childTnLst>
                                    <p:set>
                                      <p:cBhvr>
                                        <p:cTn id="104" dur="1" fill="hold">
                                          <p:stCondLst>
                                            <p:cond delay="0"/>
                                          </p:stCondLst>
                                        </p:cTn>
                                        <p:tgtEl>
                                          <p:spTgt spid="35"/>
                                        </p:tgtEl>
                                        <p:attrNameLst>
                                          <p:attrName>style.visibility</p:attrName>
                                        </p:attrNameLst>
                                      </p:cBhvr>
                                      <p:to>
                                        <p:strVal val="visible"/>
                                      </p:to>
                                    </p:set>
                                    <p:animEffect transition="in" filter="fade">
                                      <p:cBhvr>
                                        <p:cTn id="105" dur="500"/>
                                        <p:tgtEl>
                                          <p:spTgt spid="35"/>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6"/>
                                        </p:tgtEl>
                                        <p:attrNameLst>
                                          <p:attrName>style.visibility</p:attrName>
                                        </p:attrNameLst>
                                      </p:cBhvr>
                                      <p:to>
                                        <p:strVal val="visible"/>
                                      </p:to>
                                    </p:set>
                                    <p:animEffect transition="in" filter="fade">
                                      <p:cBhvr>
                                        <p:cTn id="108" dur="500"/>
                                        <p:tgtEl>
                                          <p:spTgt spid="36"/>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37"/>
                                        </p:tgtEl>
                                        <p:attrNameLst>
                                          <p:attrName>style.visibility</p:attrName>
                                        </p:attrNameLst>
                                      </p:cBhvr>
                                      <p:to>
                                        <p:strVal val="visible"/>
                                      </p:to>
                                    </p:set>
                                    <p:animEffect transition="in" filter="fade">
                                      <p:cBhvr>
                                        <p:cTn id="111" dur="500"/>
                                        <p:tgtEl>
                                          <p:spTgt spid="37"/>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38"/>
                                        </p:tgtEl>
                                        <p:attrNameLst>
                                          <p:attrName>style.visibility</p:attrName>
                                        </p:attrNameLst>
                                      </p:cBhvr>
                                      <p:to>
                                        <p:strVal val="visible"/>
                                      </p:to>
                                    </p:set>
                                    <p:animEffect transition="in" filter="fade">
                                      <p:cBhvr>
                                        <p:cTn id="114" dur="500"/>
                                        <p:tgtEl>
                                          <p:spTgt spid="38"/>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39"/>
                                        </p:tgtEl>
                                        <p:attrNameLst>
                                          <p:attrName>style.visibility</p:attrName>
                                        </p:attrNameLst>
                                      </p:cBhvr>
                                      <p:to>
                                        <p:strVal val="visible"/>
                                      </p:to>
                                    </p:set>
                                    <p:animEffect transition="in" filter="fade">
                                      <p:cBhvr>
                                        <p:cTn id="117" dur="500"/>
                                        <p:tgtEl>
                                          <p:spTgt spid="39"/>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40"/>
                                        </p:tgtEl>
                                        <p:attrNameLst>
                                          <p:attrName>style.visibility</p:attrName>
                                        </p:attrNameLst>
                                      </p:cBhvr>
                                      <p:to>
                                        <p:strVal val="visible"/>
                                      </p:to>
                                    </p:set>
                                    <p:animEffect transition="in" filter="fade">
                                      <p:cBhvr>
                                        <p:cTn id="120" dur="500"/>
                                        <p:tgtEl>
                                          <p:spTgt spid="40"/>
                                        </p:tgtEl>
                                      </p:cBhvr>
                                    </p:animEffect>
                                  </p:childTnLst>
                                </p:cTn>
                              </p:par>
                            </p:childTnLst>
                          </p:cTn>
                        </p:par>
                      </p:childTnLst>
                    </p:cTn>
                  </p:par>
                  <p:par>
                    <p:cTn id="141" fill="hold">
                      <p:stCondLst>
                        <p:cond delay="indefinite"/>
                      </p:stCondLst>
                      <p:childTnLst>
                        <p:par>
                          <p:cTn id="142" fill="hold">
                            <p:stCondLst>
                              <p:cond delay="0"/>
                            </p:stCondLst>
                            <p:childTnLst>
                              <p:par>
                                <p:cTn id="123" presetID="10" presetClass="entr" presetSubtype="0" fill="hold" grpId="0" nodeType="clickEffect">
                                  <p:stCondLst>
                                    <p:cond delay="0"/>
                                  </p:stCondLst>
                                  <p:childTnLst>
                                    <p:set>
                                      <p:cBhvr>
                                        <p:cTn id="124" dur="1" fill="hold">
                                          <p:stCondLst>
                                            <p:cond delay="0"/>
                                          </p:stCondLst>
                                        </p:cTn>
                                        <p:tgtEl>
                                          <p:spTgt spid="41"/>
                                        </p:tgtEl>
                                        <p:attrNameLst>
                                          <p:attrName>style.visibility</p:attrName>
                                        </p:attrNameLst>
                                      </p:cBhvr>
                                      <p:to>
                                        <p:strVal val="visible"/>
                                      </p:to>
                                    </p:set>
                                    <p:animEffect transition="in" filter="fade">
                                      <p:cBhvr>
                                        <p:cTn id="125" dur="500"/>
                                        <p:tgtEl>
                                          <p:spTgt spid="41"/>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42"/>
                                        </p:tgtEl>
                                        <p:attrNameLst>
                                          <p:attrName>style.visibility</p:attrName>
                                        </p:attrNameLst>
                                      </p:cBhvr>
                                      <p:to>
                                        <p:strVal val="visible"/>
                                      </p:to>
                                    </p:set>
                                    <p:animEffect transition="in" filter="fade">
                                      <p:cBhvr>
                                        <p:cTn id="128" dur="500"/>
                                        <p:tgtEl>
                                          <p:spTgt spid="42"/>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43"/>
                                        </p:tgtEl>
                                        <p:attrNameLst>
                                          <p:attrName>style.visibility</p:attrName>
                                        </p:attrNameLst>
                                      </p:cBhvr>
                                      <p:to>
                                        <p:strVal val="visible"/>
                                      </p:to>
                                    </p:set>
                                    <p:animEffect transition="in" filter="fade">
                                      <p:cBhvr>
                                        <p:cTn id="131" dur="500"/>
                                        <p:tgtEl>
                                          <p:spTgt spid="43"/>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44"/>
                                        </p:tgtEl>
                                        <p:attrNameLst>
                                          <p:attrName>style.visibility</p:attrName>
                                        </p:attrNameLst>
                                      </p:cBhvr>
                                      <p:to>
                                        <p:strVal val="visible"/>
                                      </p:to>
                                    </p:set>
                                    <p:animEffect transition="in" filter="fade">
                                      <p:cBhvr>
                                        <p:cTn id="134" dur="500"/>
                                        <p:tgtEl>
                                          <p:spTgt spid="44"/>
                                        </p:tgtEl>
                                      </p:cBhvr>
                                    </p:animEffect>
                                  </p:childTnLst>
                                </p:cTn>
                              </p:par>
                              <p:par>
                                <p:cTn id="135" presetID="10" presetClass="entr" presetSubtype="0" fill="hold" grpId="0" nodeType="withEffect">
                                  <p:stCondLst>
                                    <p:cond delay="0"/>
                                  </p:stCondLst>
                                  <p:childTnLst>
                                    <p:set>
                                      <p:cBhvr>
                                        <p:cTn id="136" dur="1" fill="hold">
                                          <p:stCondLst>
                                            <p:cond delay="0"/>
                                          </p:stCondLst>
                                        </p:cTn>
                                        <p:tgtEl>
                                          <p:spTgt spid="45"/>
                                        </p:tgtEl>
                                        <p:attrNameLst>
                                          <p:attrName>style.visibility</p:attrName>
                                        </p:attrNameLst>
                                      </p:cBhvr>
                                      <p:to>
                                        <p:strVal val="visible"/>
                                      </p:to>
                                    </p:set>
                                    <p:animEffect transition="in" filter="fade">
                                      <p:cBhvr>
                                        <p:cTn id="137" dur="500"/>
                                        <p:tgtEl>
                                          <p:spTgt spid="45"/>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46"/>
                                        </p:tgtEl>
                                        <p:attrNameLst>
                                          <p:attrName>style.visibility</p:attrName>
                                        </p:attrNameLst>
                                      </p:cBhvr>
                                      <p:to>
                                        <p:strVal val="visible"/>
                                      </p:to>
                                    </p:set>
                                    <p:animEffect transition="in" filter="fade">
                                      <p:cBhvr>
                                        <p:cTn id="140" dur="500"/>
                                        <p:tgtEl>
                                          <p:spTgt spid="46"/>
                                        </p:tgtEl>
                                      </p:cBhvr>
                                    </p:animEffect>
                                  </p:childTnLst>
                                </p:cTn>
                              </p:par>
                            </p:childTnLst>
                          </p:cTn>
                        </p:par>
                      </p:childTnLst>
                    </p:cTn>
                  </p:par>
                  <p:par>
                    <p:cTn id="161" fill="hold">
                      <p:stCondLst>
                        <p:cond delay="indefinite"/>
                      </p:stCondLst>
                      <p:childTnLst>
                        <p:par>
                          <p:cTn id="162" fill="hold">
                            <p:stCondLst>
                              <p:cond delay="0"/>
                            </p:stCondLst>
                            <p:childTnLst>
                              <p:par>
                                <p:cTn id="143" presetID="10" presetClass="entr" presetSubtype="0" fill="hold" grpId="0" nodeType="clickEffect">
                                  <p:stCondLst>
                                    <p:cond delay="0"/>
                                  </p:stCondLst>
                                  <p:childTnLst>
                                    <p:set>
                                      <p:cBhvr>
                                        <p:cTn id="144" dur="1" fill="hold">
                                          <p:stCondLst>
                                            <p:cond delay="0"/>
                                          </p:stCondLst>
                                        </p:cTn>
                                        <p:tgtEl>
                                          <p:spTgt spid="47"/>
                                        </p:tgtEl>
                                        <p:attrNameLst>
                                          <p:attrName>style.visibility</p:attrName>
                                        </p:attrNameLst>
                                      </p:cBhvr>
                                      <p:to>
                                        <p:strVal val="visible"/>
                                      </p:to>
                                    </p:set>
                                    <p:animEffect transition="in" filter="fade">
                                      <p:cBhvr>
                                        <p:cTn id="145" dur="500"/>
                                        <p:tgtEl>
                                          <p:spTgt spid="47"/>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48"/>
                                        </p:tgtEl>
                                        <p:attrNameLst>
                                          <p:attrName>style.visibility</p:attrName>
                                        </p:attrNameLst>
                                      </p:cBhvr>
                                      <p:to>
                                        <p:strVal val="visible"/>
                                      </p:to>
                                    </p:set>
                                    <p:animEffect transition="in" filter="fade">
                                      <p:cBhvr>
                                        <p:cTn id="148" dur="500"/>
                                        <p:tgtEl>
                                          <p:spTgt spid="48"/>
                                        </p:tgtEl>
                                      </p:cBhvr>
                                    </p:animEffect>
                                  </p:childTnLst>
                                </p:cTn>
                              </p:par>
                              <p:par>
                                <p:cTn id="149" presetID="10" presetClass="entr" presetSubtype="0" fill="hold" grpId="0" nodeType="withEffect">
                                  <p:stCondLst>
                                    <p:cond delay="0"/>
                                  </p:stCondLst>
                                  <p:childTnLst>
                                    <p:set>
                                      <p:cBhvr>
                                        <p:cTn id="150" dur="1" fill="hold">
                                          <p:stCondLst>
                                            <p:cond delay="0"/>
                                          </p:stCondLst>
                                        </p:cTn>
                                        <p:tgtEl>
                                          <p:spTgt spid="49"/>
                                        </p:tgtEl>
                                        <p:attrNameLst>
                                          <p:attrName>style.visibility</p:attrName>
                                        </p:attrNameLst>
                                      </p:cBhvr>
                                      <p:to>
                                        <p:strVal val="visible"/>
                                      </p:to>
                                    </p:set>
                                    <p:animEffect transition="in" filter="fade">
                                      <p:cBhvr>
                                        <p:cTn id="151" dur="500"/>
                                        <p:tgtEl>
                                          <p:spTgt spid="49"/>
                                        </p:tgtEl>
                                      </p:cBhvr>
                                    </p:animEffect>
                                  </p:childTnLst>
                                </p:cTn>
                              </p:par>
                              <p:par>
                                <p:cTn id="152" presetID="10" presetClass="entr" presetSubtype="0" fill="hold" grpId="0" nodeType="withEffect">
                                  <p:stCondLst>
                                    <p:cond delay="0"/>
                                  </p:stCondLst>
                                  <p:childTnLst>
                                    <p:set>
                                      <p:cBhvr>
                                        <p:cTn id="153" dur="1" fill="hold">
                                          <p:stCondLst>
                                            <p:cond delay="0"/>
                                          </p:stCondLst>
                                        </p:cTn>
                                        <p:tgtEl>
                                          <p:spTgt spid="50"/>
                                        </p:tgtEl>
                                        <p:attrNameLst>
                                          <p:attrName>style.visibility</p:attrName>
                                        </p:attrNameLst>
                                      </p:cBhvr>
                                      <p:to>
                                        <p:strVal val="visible"/>
                                      </p:to>
                                    </p:set>
                                    <p:animEffect transition="in" filter="fade">
                                      <p:cBhvr>
                                        <p:cTn id="154" dur="500"/>
                                        <p:tgtEl>
                                          <p:spTgt spid="50"/>
                                        </p:tgtEl>
                                      </p:cBhvr>
                                    </p:animEffect>
                                  </p:childTnLst>
                                </p:cTn>
                              </p:par>
                              <p:par>
                                <p:cTn id="155" presetID="10" presetClass="entr" presetSubtype="0" fill="hold" grpId="0" nodeType="withEffect">
                                  <p:stCondLst>
                                    <p:cond delay="0"/>
                                  </p:stCondLst>
                                  <p:childTnLst>
                                    <p:set>
                                      <p:cBhvr>
                                        <p:cTn id="156" dur="1" fill="hold">
                                          <p:stCondLst>
                                            <p:cond delay="0"/>
                                          </p:stCondLst>
                                        </p:cTn>
                                        <p:tgtEl>
                                          <p:spTgt spid="51"/>
                                        </p:tgtEl>
                                        <p:attrNameLst>
                                          <p:attrName>style.visibility</p:attrName>
                                        </p:attrNameLst>
                                      </p:cBhvr>
                                      <p:to>
                                        <p:strVal val="visible"/>
                                      </p:to>
                                    </p:set>
                                    <p:animEffect transition="in" filter="fade">
                                      <p:cBhvr>
                                        <p:cTn id="157" dur="500"/>
                                        <p:tgtEl>
                                          <p:spTgt spid="51"/>
                                        </p:tgtEl>
                                      </p:cBhvr>
                                    </p:animEffect>
                                  </p:childTnLst>
                                </p:cTn>
                              </p:par>
                              <p:par>
                                <p:cTn id="158" presetID="10" presetClass="entr" presetSubtype="0" fill="hold" grpId="0" nodeType="withEffect">
                                  <p:stCondLst>
                                    <p:cond delay="0"/>
                                  </p:stCondLst>
                                  <p:childTnLst>
                                    <p:set>
                                      <p:cBhvr>
                                        <p:cTn id="159" dur="1" fill="hold">
                                          <p:stCondLst>
                                            <p:cond delay="0"/>
                                          </p:stCondLst>
                                        </p:cTn>
                                        <p:tgtEl>
                                          <p:spTgt spid="52"/>
                                        </p:tgtEl>
                                        <p:attrNameLst>
                                          <p:attrName>style.visibility</p:attrName>
                                        </p:attrNameLst>
                                      </p:cBhvr>
                                      <p:to>
                                        <p:strVal val="visible"/>
                                      </p:to>
                                    </p:set>
                                    <p:animEffect transition="in" filter="fade">
                                      <p:cBhvr>
                                        <p:cTn id="160"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01168"/>
            <a:ext cx="8229600" cy="566928"/>
          </a:xfrm>
          <a:prstGeom prst="rect">
            <a:avLst/>
          </a:prstGeom>
          <a:noFill/>
          <a:ln/>
        </p:spPr>
        <p:txBody>
          <a:bodyPr wrap="square" lIns="0" tIns="0" rIns="0" bIns="0" rtlCol="0" anchor="ctr"/>
          <a:lstStyle/>
          <a:p>
            <a:pPr indent="0" marL="0">
              <a:buNone/>
            </a:pPr>
            <a:r>
              <a:rPr lang="en-US" sz="2600" b="1" dirty="0">
                <a:solidFill>
                  <a:schemeClr val="bg1"/>
                </a:solidFill>
              </a:rPr>
              <a:t>Complete Dashboard Reference (1–32)</a:t>
            </a:r>
            <a:endParaRPr lang="en-US" sz="2600" dirty="0"/>
          </a:p>
        </p:txBody>
      </p:sp>
      <p:sp>
        <p:nvSpPr>
          <p:cNvPr id="4" name="ref_num_bg_279"/>
          <p:cNvSpPr/>
          <p:nvPr/>
        </p:nvSpPr>
        <p:spPr>
          <a:xfrm>
            <a:off x="457200" y="978408"/>
            <a:ext cx="329184" cy="329184"/>
          </a:xfrm>
          <a:prstGeom prst="ellipse">
            <a:avLst/>
          </a:prstGeom>
          <a:solidFill>
            <a:srgbClr val="FFB000"/>
          </a:solidFill>
          <a:ln/>
        </p:spPr>
      </p:sp>
      <p:sp>
        <p:nvSpPr>
          <p:cNvPr id="5" name="ref_num_280"/>
          <p:cNvSpPr txBox="1"/>
          <p:nvPr/>
        </p:nvSpPr>
        <p:spPr>
          <a:xfrm>
            <a:off x="457200" y="978408"/>
            <a:ext cx="329184" cy="329184"/>
          </a:xfrm>
          <a:prstGeom prst="rect">
            <a:avLst/>
          </a:prstGeom>
          <a:noFill/>
          <a:ln/>
        </p:spPr>
        <p:txBody>
          <a:bodyPr wrap="square" lIns="0" tIns="0" rIns="0" bIns="0" rtlCol="0" anchor="ctr"/>
          <a:lstStyle/>
          <a:p>
            <a:pPr algn="ctr" indent="0" marL="0">
              <a:buNone/>
            </a:pPr>
            <a:r>
              <a:rPr lang="en-US" sz="1000" b="1" dirty="0">
                <a:solidFill>
                  <a:srgbClr val="0F1215"/>
                </a:solidFill>
              </a:rPr>
              <a:t>1</a:t>
            </a:r>
            <a:endParaRPr lang="en-US" sz="1000" dirty="0"/>
          </a:p>
        </p:txBody>
      </p:sp>
      <p:sp>
        <p:nvSpPr>
          <p:cNvPr id="6" name="ref_label_281"/>
          <p:cNvSpPr txBox="1"/>
          <p:nvPr/>
        </p:nvSpPr>
        <p:spPr>
          <a:xfrm>
            <a:off x="859536" y="914400"/>
            <a:ext cx="1627632" cy="457200"/>
          </a:xfrm>
          <a:prstGeom prst="rect">
            <a:avLst/>
          </a:prstGeom>
          <a:noFill/>
          <a:ln/>
        </p:spPr>
        <p:txBody>
          <a:bodyPr wrap="square" lIns="0" tIns="0" rIns="0" bIns="0" rtlCol="0" anchor="ctr"/>
          <a:lstStyle/>
          <a:p>
            <a:pPr indent="0" marL="0">
              <a:buNone/>
            </a:pPr>
            <a:r>
              <a:rPr lang="en-US" sz="1150" dirty="0">
                <a:solidFill>
                  <a:srgbClr val="FFFFFF"/>
                </a:solidFill>
              </a:rPr>
              <a:t>Fog light (front)</a:t>
            </a:r>
            <a:endParaRPr lang="en-US" sz="1150" dirty="0"/>
          </a:p>
        </p:txBody>
      </p:sp>
      <p:sp>
        <p:nvSpPr>
          <p:cNvPr id="7" name="ref_num_bg_282"/>
          <p:cNvSpPr/>
          <p:nvPr/>
        </p:nvSpPr>
        <p:spPr>
          <a:xfrm>
            <a:off x="457200" y="1435608"/>
            <a:ext cx="329184" cy="329184"/>
          </a:xfrm>
          <a:prstGeom prst="ellipse">
            <a:avLst/>
          </a:prstGeom>
          <a:solidFill>
            <a:srgbClr val="FFB000"/>
          </a:solidFill>
          <a:ln/>
        </p:spPr>
      </p:sp>
      <p:sp>
        <p:nvSpPr>
          <p:cNvPr id="8" name="ref_num_283"/>
          <p:cNvSpPr txBox="1"/>
          <p:nvPr/>
        </p:nvSpPr>
        <p:spPr>
          <a:xfrm>
            <a:off x="457200" y="1435608"/>
            <a:ext cx="329184" cy="329184"/>
          </a:xfrm>
          <a:prstGeom prst="rect">
            <a:avLst/>
          </a:prstGeom>
          <a:noFill/>
          <a:ln/>
        </p:spPr>
        <p:txBody>
          <a:bodyPr wrap="square" lIns="0" tIns="0" rIns="0" bIns="0" rtlCol="0" anchor="ctr"/>
          <a:lstStyle/>
          <a:p>
            <a:pPr algn="ctr" indent="0" marL="0">
              <a:buNone/>
            </a:pPr>
            <a:r>
              <a:rPr lang="en-US" sz="1000" b="1" dirty="0">
                <a:solidFill>
                  <a:srgbClr val="0F1215"/>
                </a:solidFill>
              </a:rPr>
              <a:t>2</a:t>
            </a:r>
            <a:endParaRPr lang="en-US" sz="1000" dirty="0"/>
          </a:p>
        </p:txBody>
      </p:sp>
      <p:sp>
        <p:nvSpPr>
          <p:cNvPr id="9" name="ref_label_284"/>
          <p:cNvSpPr txBox="1"/>
          <p:nvPr/>
        </p:nvSpPr>
        <p:spPr>
          <a:xfrm>
            <a:off x="859536" y="1371600"/>
            <a:ext cx="1627632" cy="457200"/>
          </a:xfrm>
          <a:prstGeom prst="rect">
            <a:avLst/>
          </a:prstGeom>
          <a:noFill/>
          <a:ln/>
        </p:spPr>
        <p:txBody>
          <a:bodyPr wrap="square" lIns="0" tIns="0" rIns="0" bIns="0" rtlCol="0" anchor="ctr"/>
          <a:lstStyle/>
          <a:p>
            <a:pPr indent="0" marL="0">
              <a:buNone/>
            </a:pPr>
            <a:r>
              <a:rPr lang="en-US" sz="1150" dirty="0">
                <a:solidFill>
                  <a:srgbClr val="FFFFFF"/>
                </a:solidFill>
              </a:rPr>
              <a:t>Power steering warning</a:t>
            </a:r>
            <a:endParaRPr lang="en-US" sz="1150" dirty="0"/>
          </a:p>
        </p:txBody>
      </p:sp>
      <p:sp>
        <p:nvSpPr>
          <p:cNvPr id="10" name="ref_num_bg_285"/>
          <p:cNvSpPr/>
          <p:nvPr/>
        </p:nvSpPr>
        <p:spPr>
          <a:xfrm>
            <a:off x="457200" y="1892808"/>
            <a:ext cx="329184" cy="329184"/>
          </a:xfrm>
          <a:prstGeom prst="ellipse">
            <a:avLst/>
          </a:prstGeom>
          <a:solidFill>
            <a:srgbClr val="FFB000"/>
          </a:solidFill>
          <a:ln/>
        </p:spPr>
      </p:sp>
      <p:sp>
        <p:nvSpPr>
          <p:cNvPr id="11" name="ref_num_286"/>
          <p:cNvSpPr txBox="1"/>
          <p:nvPr/>
        </p:nvSpPr>
        <p:spPr>
          <a:xfrm>
            <a:off x="457200" y="1892808"/>
            <a:ext cx="329184" cy="329184"/>
          </a:xfrm>
          <a:prstGeom prst="rect">
            <a:avLst/>
          </a:prstGeom>
          <a:noFill/>
          <a:ln/>
        </p:spPr>
        <p:txBody>
          <a:bodyPr wrap="square" lIns="0" tIns="0" rIns="0" bIns="0" rtlCol="0" anchor="ctr"/>
          <a:lstStyle/>
          <a:p>
            <a:pPr algn="ctr" indent="0" marL="0">
              <a:buNone/>
            </a:pPr>
            <a:r>
              <a:rPr lang="en-US" sz="1000" b="1" dirty="0">
                <a:solidFill>
                  <a:srgbClr val="0F1215"/>
                </a:solidFill>
              </a:rPr>
              <a:t>3</a:t>
            </a:r>
            <a:endParaRPr lang="en-US" sz="1000" dirty="0"/>
          </a:p>
        </p:txBody>
      </p:sp>
      <p:sp>
        <p:nvSpPr>
          <p:cNvPr id="12" name="ref_label_287"/>
          <p:cNvSpPr txBox="1"/>
          <p:nvPr/>
        </p:nvSpPr>
        <p:spPr>
          <a:xfrm>
            <a:off x="859536" y="1828800"/>
            <a:ext cx="1627632" cy="457200"/>
          </a:xfrm>
          <a:prstGeom prst="rect">
            <a:avLst/>
          </a:prstGeom>
          <a:noFill/>
          <a:ln/>
        </p:spPr>
        <p:txBody>
          <a:bodyPr wrap="square" lIns="0" tIns="0" rIns="0" bIns="0" rtlCol="0" anchor="ctr"/>
          <a:lstStyle/>
          <a:p>
            <a:pPr indent="0" marL="0">
              <a:buNone/>
            </a:pPr>
            <a:r>
              <a:rPr lang="en-US" sz="1150" dirty="0">
                <a:solidFill>
                  <a:srgbClr val="FFFFFF"/>
                </a:solidFill>
              </a:rPr>
              <a:t>Fog light (rear)</a:t>
            </a:r>
            <a:endParaRPr lang="en-US" sz="1150" dirty="0"/>
          </a:p>
        </p:txBody>
      </p:sp>
      <p:sp>
        <p:nvSpPr>
          <p:cNvPr id="13" name="ref_num_bg_288"/>
          <p:cNvSpPr/>
          <p:nvPr/>
        </p:nvSpPr>
        <p:spPr>
          <a:xfrm>
            <a:off x="457200" y="2350008"/>
            <a:ext cx="329184" cy="329184"/>
          </a:xfrm>
          <a:prstGeom prst="ellipse">
            <a:avLst/>
          </a:prstGeom>
          <a:solidFill>
            <a:srgbClr val="FFB000"/>
          </a:solidFill>
          <a:ln/>
        </p:spPr>
      </p:sp>
      <p:sp>
        <p:nvSpPr>
          <p:cNvPr id="14" name="ref_num_289"/>
          <p:cNvSpPr txBox="1"/>
          <p:nvPr/>
        </p:nvSpPr>
        <p:spPr>
          <a:xfrm>
            <a:off x="457200" y="2350008"/>
            <a:ext cx="329184" cy="329184"/>
          </a:xfrm>
          <a:prstGeom prst="rect">
            <a:avLst/>
          </a:prstGeom>
          <a:noFill/>
          <a:ln/>
        </p:spPr>
        <p:txBody>
          <a:bodyPr wrap="square" lIns="0" tIns="0" rIns="0" bIns="0" rtlCol="0" anchor="ctr"/>
          <a:lstStyle/>
          <a:p>
            <a:pPr algn="ctr" indent="0" marL="0">
              <a:buNone/>
            </a:pPr>
            <a:r>
              <a:rPr lang="en-US" sz="1000" b="1" dirty="0">
                <a:solidFill>
                  <a:srgbClr val="0F1215"/>
                </a:solidFill>
              </a:rPr>
              <a:t>4</a:t>
            </a:r>
            <a:endParaRPr lang="en-US" sz="1000" dirty="0"/>
          </a:p>
        </p:txBody>
      </p:sp>
      <p:sp>
        <p:nvSpPr>
          <p:cNvPr id="15" name="ref_label_290"/>
          <p:cNvSpPr txBox="1"/>
          <p:nvPr/>
        </p:nvSpPr>
        <p:spPr>
          <a:xfrm>
            <a:off x="859536" y="2286000"/>
            <a:ext cx="1627632" cy="457200"/>
          </a:xfrm>
          <a:prstGeom prst="rect">
            <a:avLst/>
          </a:prstGeom>
          <a:noFill/>
          <a:ln/>
        </p:spPr>
        <p:txBody>
          <a:bodyPr wrap="square" lIns="0" tIns="0" rIns="0" bIns="0" rtlCol="0" anchor="ctr"/>
          <a:lstStyle/>
          <a:p>
            <a:pPr indent="0" marL="0">
              <a:buNone/>
            </a:pPr>
            <a:r>
              <a:rPr lang="en-US" sz="1150" dirty="0">
                <a:solidFill>
                  <a:srgbClr val="FFFFFF"/>
                </a:solidFill>
              </a:rPr>
              <a:t>Washer fluid low</a:t>
            </a:r>
            <a:endParaRPr lang="en-US" sz="1150" dirty="0"/>
          </a:p>
        </p:txBody>
      </p:sp>
      <p:sp>
        <p:nvSpPr>
          <p:cNvPr id="16" name="ref_num_bg_291"/>
          <p:cNvSpPr/>
          <p:nvPr/>
        </p:nvSpPr>
        <p:spPr>
          <a:xfrm>
            <a:off x="457200" y="2807208"/>
            <a:ext cx="329184" cy="329184"/>
          </a:xfrm>
          <a:prstGeom prst="ellipse">
            <a:avLst/>
          </a:prstGeom>
          <a:solidFill>
            <a:srgbClr val="FFB000"/>
          </a:solidFill>
          <a:ln/>
        </p:spPr>
      </p:sp>
      <p:sp>
        <p:nvSpPr>
          <p:cNvPr id="17" name="ref_num_292"/>
          <p:cNvSpPr txBox="1"/>
          <p:nvPr/>
        </p:nvSpPr>
        <p:spPr>
          <a:xfrm>
            <a:off x="457200" y="2807208"/>
            <a:ext cx="329184" cy="329184"/>
          </a:xfrm>
          <a:prstGeom prst="rect">
            <a:avLst/>
          </a:prstGeom>
          <a:noFill/>
          <a:ln/>
        </p:spPr>
        <p:txBody>
          <a:bodyPr wrap="square" lIns="0" tIns="0" rIns="0" bIns="0" rtlCol="0" anchor="ctr"/>
          <a:lstStyle/>
          <a:p>
            <a:pPr algn="ctr" indent="0" marL="0">
              <a:buNone/>
            </a:pPr>
            <a:r>
              <a:rPr lang="en-US" sz="1000" b="1" dirty="0">
                <a:solidFill>
                  <a:srgbClr val="0F1215"/>
                </a:solidFill>
              </a:rPr>
              <a:t>5</a:t>
            </a:r>
            <a:endParaRPr lang="en-US" sz="1000" dirty="0"/>
          </a:p>
        </p:txBody>
      </p:sp>
      <p:sp>
        <p:nvSpPr>
          <p:cNvPr id="18" name="ref_label_293"/>
          <p:cNvSpPr txBox="1"/>
          <p:nvPr/>
        </p:nvSpPr>
        <p:spPr>
          <a:xfrm>
            <a:off x="859536" y="2743200"/>
            <a:ext cx="1627632" cy="457200"/>
          </a:xfrm>
          <a:prstGeom prst="rect">
            <a:avLst/>
          </a:prstGeom>
          <a:noFill/>
          <a:ln/>
        </p:spPr>
        <p:txBody>
          <a:bodyPr wrap="square" lIns="0" tIns="0" rIns="0" bIns="0" rtlCol="0" anchor="ctr"/>
          <a:lstStyle/>
          <a:p>
            <a:pPr indent="0" marL="0">
              <a:buNone/>
            </a:pPr>
            <a:r>
              <a:rPr lang="en-US" sz="1150" dirty="0">
                <a:solidFill>
                  <a:srgbClr val="FFFFFF"/>
                </a:solidFill>
              </a:rPr>
              <a:t>Brake pad warning</a:t>
            </a:r>
            <a:endParaRPr lang="en-US" sz="1150" dirty="0"/>
          </a:p>
        </p:txBody>
      </p:sp>
      <p:sp>
        <p:nvSpPr>
          <p:cNvPr id="19" name="ref_num_bg_294"/>
          <p:cNvSpPr/>
          <p:nvPr/>
        </p:nvSpPr>
        <p:spPr>
          <a:xfrm>
            <a:off x="457200" y="3264408"/>
            <a:ext cx="329184" cy="329184"/>
          </a:xfrm>
          <a:prstGeom prst="ellipse">
            <a:avLst/>
          </a:prstGeom>
          <a:solidFill>
            <a:srgbClr val="FFB000"/>
          </a:solidFill>
          <a:ln/>
        </p:spPr>
      </p:sp>
      <p:sp>
        <p:nvSpPr>
          <p:cNvPr id="20" name="ref_num_295"/>
          <p:cNvSpPr txBox="1"/>
          <p:nvPr/>
        </p:nvSpPr>
        <p:spPr>
          <a:xfrm>
            <a:off x="457200" y="3264408"/>
            <a:ext cx="329184" cy="329184"/>
          </a:xfrm>
          <a:prstGeom prst="rect">
            <a:avLst/>
          </a:prstGeom>
          <a:noFill/>
          <a:ln/>
        </p:spPr>
        <p:txBody>
          <a:bodyPr wrap="square" lIns="0" tIns="0" rIns="0" bIns="0" rtlCol="0" anchor="ctr"/>
          <a:lstStyle/>
          <a:p>
            <a:pPr algn="ctr" indent="0" marL="0">
              <a:buNone/>
            </a:pPr>
            <a:r>
              <a:rPr lang="en-US" sz="1000" b="1" dirty="0">
                <a:solidFill>
                  <a:srgbClr val="0F1215"/>
                </a:solidFill>
              </a:rPr>
              <a:t>6</a:t>
            </a:r>
            <a:endParaRPr lang="en-US" sz="1000" dirty="0"/>
          </a:p>
        </p:txBody>
      </p:sp>
      <p:sp>
        <p:nvSpPr>
          <p:cNvPr id="21" name="ref_label_296"/>
          <p:cNvSpPr txBox="1"/>
          <p:nvPr/>
        </p:nvSpPr>
        <p:spPr>
          <a:xfrm>
            <a:off x="859536" y="3200400"/>
            <a:ext cx="1627632" cy="457200"/>
          </a:xfrm>
          <a:prstGeom prst="rect">
            <a:avLst/>
          </a:prstGeom>
          <a:noFill/>
          <a:ln/>
        </p:spPr>
        <p:txBody>
          <a:bodyPr wrap="square" lIns="0" tIns="0" rIns="0" bIns="0" rtlCol="0" anchor="ctr"/>
          <a:lstStyle/>
          <a:p>
            <a:pPr indent="0" marL="0">
              <a:buNone/>
            </a:pPr>
            <a:r>
              <a:rPr lang="en-US" sz="1150" dirty="0">
                <a:solidFill>
                  <a:srgbClr val="FFFFFF"/>
                </a:solidFill>
              </a:rPr>
              <a:t>Cruise control on</a:t>
            </a:r>
            <a:endParaRPr lang="en-US" sz="1150" dirty="0"/>
          </a:p>
        </p:txBody>
      </p:sp>
      <p:sp>
        <p:nvSpPr>
          <p:cNvPr id="22" name="ref_num_bg_297"/>
          <p:cNvSpPr/>
          <p:nvPr/>
        </p:nvSpPr>
        <p:spPr>
          <a:xfrm>
            <a:off x="457200" y="3721608"/>
            <a:ext cx="329184" cy="329184"/>
          </a:xfrm>
          <a:prstGeom prst="ellipse">
            <a:avLst/>
          </a:prstGeom>
          <a:solidFill>
            <a:srgbClr val="FFB000"/>
          </a:solidFill>
          <a:ln/>
        </p:spPr>
      </p:sp>
      <p:sp>
        <p:nvSpPr>
          <p:cNvPr id="23" name="ref_num_298"/>
          <p:cNvSpPr txBox="1"/>
          <p:nvPr/>
        </p:nvSpPr>
        <p:spPr>
          <a:xfrm>
            <a:off x="457200" y="3721608"/>
            <a:ext cx="329184" cy="329184"/>
          </a:xfrm>
          <a:prstGeom prst="rect">
            <a:avLst/>
          </a:prstGeom>
          <a:noFill/>
          <a:ln/>
        </p:spPr>
        <p:txBody>
          <a:bodyPr wrap="square" lIns="0" tIns="0" rIns="0" bIns="0" rtlCol="0" anchor="ctr"/>
          <a:lstStyle/>
          <a:p>
            <a:pPr algn="ctr" indent="0" marL="0">
              <a:buNone/>
            </a:pPr>
            <a:r>
              <a:rPr lang="en-US" sz="1000" b="1" dirty="0">
                <a:solidFill>
                  <a:srgbClr val="0F1215"/>
                </a:solidFill>
              </a:rPr>
              <a:t>7</a:t>
            </a:r>
            <a:endParaRPr lang="en-US" sz="1000" dirty="0"/>
          </a:p>
        </p:txBody>
      </p:sp>
      <p:sp>
        <p:nvSpPr>
          <p:cNvPr id="24" name="ref_label_299"/>
          <p:cNvSpPr txBox="1"/>
          <p:nvPr/>
        </p:nvSpPr>
        <p:spPr>
          <a:xfrm>
            <a:off x="859536" y="3657600"/>
            <a:ext cx="1627632" cy="457200"/>
          </a:xfrm>
          <a:prstGeom prst="rect">
            <a:avLst/>
          </a:prstGeom>
          <a:noFill/>
          <a:ln/>
        </p:spPr>
        <p:txBody>
          <a:bodyPr wrap="square" lIns="0" tIns="0" rIns="0" bIns="0" rtlCol="0" anchor="ctr"/>
          <a:lstStyle/>
          <a:p>
            <a:pPr indent="0" marL="0">
              <a:buNone/>
            </a:pPr>
            <a:r>
              <a:rPr lang="en-US" sz="1150" dirty="0">
                <a:solidFill>
                  <a:srgbClr val="FFFFFF"/>
                </a:solidFill>
              </a:rPr>
              <a:t>Direction indicators</a:t>
            </a:r>
            <a:endParaRPr lang="en-US" sz="1150" dirty="0"/>
          </a:p>
        </p:txBody>
      </p:sp>
      <p:sp>
        <p:nvSpPr>
          <p:cNvPr id="25" name="ref_num_bg_300"/>
          <p:cNvSpPr/>
          <p:nvPr/>
        </p:nvSpPr>
        <p:spPr>
          <a:xfrm>
            <a:off x="457200" y="4178808"/>
            <a:ext cx="329184" cy="329184"/>
          </a:xfrm>
          <a:prstGeom prst="ellipse">
            <a:avLst/>
          </a:prstGeom>
          <a:solidFill>
            <a:srgbClr val="FFB000"/>
          </a:solidFill>
          <a:ln/>
        </p:spPr>
      </p:sp>
      <p:sp>
        <p:nvSpPr>
          <p:cNvPr id="26" name="ref_num_301"/>
          <p:cNvSpPr txBox="1"/>
          <p:nvPr/>
        </p:nvSpPr>
        <p:spPr>
          <a:xfrm>
            <a:off x="457200" y="4178808"/>
            <a:ext cx="329184" cy="329184"/>
          </a:xfrm>
          <a:prstGeom prst="rect">
            <a:avLst/>
          </a:prstGeom>
          <a:noFill/>
          <a:ln/>
        </p:spPr>
        <p:txBody>
          <a:bodyPr wrap="square" lIns="0" tIns="0" rIns="0" bIns="0" rtlCol="0" anchor="ctr"/>
          <a:lstStyle/>
          <a:p>
            <a:pPr algn="ctr" indent="0" marL="0">
              <a:buNone/>
            </a:pPr>
            <a:r>
              <a:rPr lang="en-US" sz="1000" b="1" dirty="0">
                <a:solidFill>
                  <a:srgbClr val="0F1215"/>
                </a:solidFill>
              </a:rPr>
              <a:t>8</a:t>
            </a:r>
            <a:endParaRPr lang="en-US" sz="1000" dirty="0"/>
          </a:p>
        </p:txBody>
      </p:sp>
      <p:sp>
        <p:nvSpPr>
          <p:cNvPr id="27" name="ref_label_302"/>
          <p:cNvSpPr txBox="1"/>
          <p:nvPr/>
        </p:nvSpPr>
        <p:spPr>
          <a:xfrm>
            <a:off x="859536" y="4114800"/>
            <a:ext cx="1627632" cy="457200"/>
          </a:xfrm>
          <a:prstGeom prst="rect">
            <a:avLst/>
          </a:prstGeom>
          <a:noFill/>
          <a:ln/>
        </p:spPr>
        <p:txBody>
          <a:bodyPr wrap="square" lIns="0" tIns="0" rIns="0" bIns="0" rtlCol="0" anchor="ctr"/>
          <a:lstStyle/>
          <a:p>
            <a:pPr indent="0" marL="0">
              <a:buNone/>
            </a:pPr>
            <a:r>
              <a:rPr lang="en-US" sz="1150" dirty="0">
                <a:solidFill>
                  <a:srgbClr val="FFFFFF"/>
                </a:solidFill>
              </a:rPr>
              <a:t>Rain and light sensor</a:t>
            </a:r>
            <a:endParaRPr lang="en-US" sz="1150" dirty="0"/>
          </a:p>
        </p:txBody>
      </p:sp>
      <p:sp>
        <p:nvSpPr>
          <p:cNvPr id="28" name="ref_num_bg_303"/>
          <p:cNvSpPr/>
          <p:nvPr/>
        </p:nvSpPr>
        <p:spPr>
          <a:xfrm>
            <a:off x="2532888" y="978408"/>
            <a:ext cx="329184" cy="329184"/>
          </a:xfrm>
          <a:prstGeom prst="ellipse">
            <a:avLst/>
          </a:prstGeom>
          <a:solidFill>
            <a:srgbClr val="FFB000"/>
          </a:solidFill>
          <a:ln/>
        </p:spPr>
      </p:sp>
      <p:sp>
        <p:nvSpPr>
          <p:cNvPr id="29" name="ref_num_304"/>
          <p:cNvSpPr txBox="1"/>
          <p:nvPr/>
        </p:nvSpPr>
        <p:spPr>
          <a:xfrm>
            <a:off x="2532888" y="978408"/>
            <a:ext cx="329184" cy="329184"/>
          </a:xfrm>
          <a:prstGeom prst="rect">
            <a:avLst/>
          </a:prstGeom>
          <a:noFill/>
          <a:ln/>
        </p:spPr>
        <p:txBody>
          <a:bodyPr wrap="square" lIns="0" tIns="0" rIns="0" bIns="0" rtlCol="0" anchor="ctr"/>
          <a:lstStyle/>
          <a:p>
            <a:pPr algn="ctr" indent="0" marL="0">
              <a:buNone/>
            </a:pPr>
            <a:r>
              <a:rPr lang="en-US" sz="1000" b="1" dirty="0">
                <a:solidFill>
                  <a:srgbClr val="0F1215"/>
                </a:solidFill>
              </a:rPr>
              <a:t>9</a:t>
            </a:r>
            <a:endParaRPr lang="en-US" sz="1000" dirty="0"/>
          </a:p>
        </p:txBody>
      </p:sp>
      <p:sp>
        <p:nvSpPr>
          <p:cNvPr id="30" name="ref_label_305"/>
          <p:cNvSpPr txBox="1"/>
          <p:nvPr/>
        </p:nvSpPr>
        <p:spPr>
          <a:xfrm>
            <a:off x="2935224" y="914400"/>
            <a:ext cx="1627632" cy="457200"/>
          </a:xfrm>
          <a:prstGeom prst="rect">
            <a:avLst/>
          </a:prstGeom>
          <a:noFill/>
          <a:ln/>
        </p:spPr>
        <p:txBody>
          <a:bodyPr wrap="square" lIns="0" tIns="0" rIns="0" bIns="0" rtlCol="0" anchor="ctr"/>
          <a:lstStyle/>
          <a:p>
            <a:pPr indent="0" marL="0">
              <a:buNone/>
            </a:pPr>
            <a:r>
              <a:rPr lang="en-US" sz="1150" dirty="0">
                <a:solidFill>
                  <a:srgbClr val="FFFFFF"/>
                </a:solidFill>
              </a:rPr>
              <a:t>Winter mode</a:t>
            </a:r>
            <a:endParaRPr lang="en-US" sz="1150" dirty="0"/>
          </a:p>
        </p:txBody>
      </p:sp>
      <p:sp>
        <p:nvSpPr>
          <p:cNvPr id="31" name="ref_num_bg_306"/>
          <p:cNvSpPr/>
          <p:nvPr/>
        </p:nvSpPr>
        <p:spPr>
          <a:xfrm>
            <a:off x="2532888" y="1435608"/>
            <a:ext cx="329184" cy="329184"/>
          </a:xfrm>
          <a:prstGeom prst="ellipse">
            <a:avLst/>
          </a:prstGeom>
          <a:solidFill>
            <a:srgbClr val="FFB000"/>
          </a:solidFill>
          <a:ln/>
        </p:spPr>
      </p:sp>
      <p:sp>
        <p:nvSpPr>
          <p:cNvPr id="32" name="ref_num_307"/>
          <p:cNvSpPr txBox="1"/>
          <p:nvPr/>
        </p:nvSpPr>
        <p:spPr>
          <a:xfrm>
            <a:off x="2532888" y="1435608"/>
            <a:ext cx="329184" cy="329184"/>
          </a:xfrm>
          <a:prstGeom prst="rect">
            <a:avLst/>
          </a:prstGeom>
          <a:noFill/>
          <a:ln/>
        </p:spPr>
        <p:txBody>
          <a:bodyPr wrap="square" lIns="0" tIns="0" rIns="0" bIns="0" rtlCol="0" anchor="ctr"/>
          <a:lstStyle/>
          <a:p>
            <a:pPr algn="ctr" indent="0" marL="0">
              <a:buNone/>
            </a:pPr>
            <a:r>
              <a:rPr lang="en-US" sz="1000" b="1" dirty="0">
                <a:solidFill>
                  <a:srgbClr val="0F1215"/>
                </a:solidFill>
              </a:rPr>
              <a:t>10</a:t>
            </a:r>
            <a:endParaRPr lang="en-US" sz="1000" dirty="0"/>
          </a:p>
        </p:txBody>
      </p:sp>
      <p:sp>
        <p:nvSpPr>
          <p:cNvPr id="33" name="ref_label_308"/>
          <p:cNvSpPr txBox="1"/>
          <p:nvPr/>
        </p:nvSpPr>
        <p:spPr>
          <a:xfrm>
            <a:off x="2935224" y="1371600"/>
            <a:ext cx="1627632" cy="457200"/>
          </a:xfrm>
          <a:prstGeom prst="rect">
            <a:avLst/>
          </a:prstGeom>
          <a:noFill/>
          <a:ln/>
        </p:spPr>
        <p:txBody>
          <a:bodyPr wrap="square" lIns="0" tIns="0" rIns="0" bIns="0" rtlCol="0" anchor="ctr"/>
          <a:lstStyle/>
          <a:p>
            <a:pPr indent="0" marL="0">
              <a:buNone/>
            </a:pPr>
            <a:r>
              <a:rPr lang="en-US" sz="1150" dirty="0">
                <a:solidFill>
                  <a:srgbClr val="FFFFFF"/>
                </a:solidFill>
              </a:rPr>
              <a:t>Information indicator</a:t>
            </a:r>
            <a:endParaRPr lang="en-US" sz="1150" dirty="0"/>
          </a:p>
        </p:txBody>
      </p:sp>
      <p:sp>
        <p:nvSpPr>
          <p:cNvPr id="34" name="ref_num_bg_309"/>
          <p:cNvSpPr/>
          <p:nvPr/>
        </p:nvSpPr>
        <p:spPr>
          <a:xfrm>
            <a:off x="2532888" y="1892808"/>
            <a:ext cx="329184" cy="329184"/>
          </a:xfrm>
          <a:prstGeom prst="ellipse">
            <a:avLst/>
          </a:prstGeom>
          <a:solidFill>
            <a:srgbClr val="FFB000"/>
          </a:solidFill>
          <a:ln/>
        </p:spPr>
      </p:sp>
      <p:sp>
        <p:nvSpPr>
          <p:cNvPr id="35" name="ref_num_310"/>
          <p:cNvSpPr txBox="1"/>
          <p:nvPr/>
        </p:nvSpPr>
        <p:spPr>
          <a:xfrm>
            <a:off x="2532888" y="1892808"/>
            <a:ext cx="329184" cy="329184"/>
          </a:xfrm>
          <a:prstGeom prst="rect">
            <a:avLst/>
          </a:prstGeom>
          <a:noFill/>
          <a:ln/>
        </p:spPr>
        <p:txBody>
          <a:bodyPr wrap="square" lIns="0" tIns="0" rIns="0" bIns="0" rtlCol="0" anchor="ctr"/>
          <a:lstStyle/>
          <a:p>
            <a:pPr algn="ctr" indent="0" marL="0">
              <a:buNone/>
            </a:pPr>
            <a:r>
              <a:rPr lang="en-US" sz="1000" b="1" dirty="0">
                <a:solidFill>
                  <a:srgbClr val="0F1215"/>
                </a:solidFill>
              </a:rPr>
              <a:t>11</a:t>
            </a:r>
            <a:endParaRPr lang="en-US" sz="1000" dirty="0"/>
          </a:p>
        </p:txBody>
      </p:sp>
      <p:sp>
        <p:nvSpPr>
          <p:cNvPr id="36" name="ref_label_311"/>
          <p:cNvSpPr txBox="1"/>
          <p:nvPr/>
        </p:nvSpPr>
        <p:spPr>
          <a:xfrm>
            <a:off x="2935224" y="1828800"/>
            <a:ext cx="1627632" cy="457200"/>
          </a:xfrm>
          <a:prstGeom prst="rect">
            <a:avLst/>
          </a:prstGeom>
          <a:noFill/>
          <a:ln/>
        </p:spPr>
        <p:txBody>
          <a:bodyPr wrap="square" lIns="0" tIns="0" rIns="0" bIns="0" rtlCol="0" anchor="ctr"/>
          <a:lstStyle/>
          <a:p>
            <a:pPr indent="0" marL="0">
              <a:buNone/>
            </a:pPr>
            <a:r>
              <a:rPr lang="en-US" sz="1150" dirty="0">
                <a:solidFill>
                  <a:srgbClr val="FFFFFF"/>
                </a:solidFill>
              </a:rPr>
              <a:t>Glow plug / diesel pre-heat</a:t>
            </a:r>
            <a:endParaRPr lang="en-US" sz="1150" dirty="0"/>
          </a:p>
        </p:txBody>
      </p:sp>
      <p:sp>
        <p:nvSpPr>
          <p:cNvPr id="37" name="ref_num_bg_312"/>
          <p:cNvSpPr/>
          <p:nvPr/>
        </p:nvSpPr>
        <p:spPr>
          <a:xfrm>
            <a:off x="2532888" y="2350008"/>
            <a:ext cx="329184" cy="329184"/>
          </a:xfrm>
          <a:prstGeom prst="ellipse">
            <a:avLst/>
          </a:prstGeom>
          <a:solidFill>
            <a:srgbClr val="FFB000"/>
          </a:solidFill>
          <a:ln/>
        </p:spPr>
      </p:sp>
      <p:sp>
        <p:nvSpPr>
          <p:cNvPr id="38" name="ref_num_313"/>
          <p:cNvSpPr txBox="1"/>
          <p:nvPr/>
        </p:nvSpPr>
        <p:spPr>
          <a:xfrm>
            <a:off x="2532888" y="2350008"/>
            <a:ext cx="329184" cy="329184"/>
          </a:xfrm>
          <a:prstGeom prst="rect">
            <a:avLst/>
          </a:prstGeom>
          <a:noFill/>
          <a:ln/>
        </p:spPr>
        <p:txBody>
          <a:bodyPr wrap="square" lIns="0" tIns="0" rIns="0" bIns="0" rtlCol="0" anchor="ctr"/>
          <a:lstStyle/>
          <a:p>
            <a:pPr algn="ctr" indent="0" marL="0">
              <a:buNone/>
            </a:pPr>
            <a:r>
              <a:rPr lang="en-US" sz="1000" b="1" dirty="0">
                <a:solidFill>
                  <a:srgbClr val="0F1215"/>
                </a:solidFill>
              </a:rPr>
              <a:t>12</a:t>
            </a:r>
            <a:endParaRPr lang="en-US" sz="1000" dirty="0"/>
          </a:p>
        </p:txBody>
      </p:sp>
      <p:sp>
        <p:nvSpPr>
          <p:cNvPr id="39" name="ref_label_314"/>
          <p:cNvSpPr txBox="1"/>
          <p:nvPr/>
        </p:nvSpPr>
        <p:spPr>
          <a:xfrm>
            <a:off x="2935224" y="2286000"/>
            <a:ext cx="1627632" cy="457200"/>
          </a:xfrm>
          <a:prstGeom prst="rect">
            <a:avLst/>
          </a:prstGeom>
          <a:noFill/>
          <a:ln/>
        </p:spPr>
        <p:txBody>
          <a:bodyPr wrap="square" lIns="0" tIns="0" rIns="0" bIns="0" rtlCol="0" anchor="ctr"/>
          <a:lstStyle/>
          <a:p>
            <a:pPr indent="0" marL="0">
              <a:buNone/>
            </a:pPr>
            <a:r>
              <a:rPr lang="en-US" sz="1150" dirty="0">
                <a:solidFill>
                  <a:srgbClr val="FFFFFF"/>
                </a:solidFill>
              </a:rPr>
              <a:t>Frost warning</a:t>
            </a:r>
            <a:endParaRPr lang="en-US" sz="1150" dirty="0"/>
          </a:p>
        </p:txBody>
      </p:sp>
      <p:sp>
        <p:nvSpPr>
          <p:cNvPr id="40" name="ref_num_bg_315"/>
          <p:cNvSpPr/>
          <p:nvPr/>
        </p:nvSpPr>
        <p:spPr>
          <a:xfrm>
            <a:off x="2532888" y="2807208"/>
            <a:ext cx="329184" cy="329184"/>
          </a:xfrm>
          <a:prstGeom prst="ellipse">
            <a:avLst/>
          </a:prstGeom>
          <a:solidFill>
            <a:srgbClr val="FFB000"/>
          </a:solidFill>
          <a:ln/>
        </p:spPr>
      </p:sp>
      <p:sp>
        <p:nvSpPr>
          <p:cNvPr id="41" name="ref_num_316"/>
          <p:cNvSpPr txBox="1"/>
          <p:nvPr/>
        </p:nvSpPr>
        <p:spPr>
          <a:xfrm>
            <a:off x="2532888" y="2807208"/>
            <a:ext cx="329184" cy="329184"/>
          </a:xfrm>
          <a:prstGeom prst="rect">
            <a:avLst/>
          </a:prstGeom>
          <a:noFill/>
          <a:ln/>
        </p:spPr>
        <p:txBody>
          <a:bodyPr wrap="square" lIns="0" tIns="0" rIns="0" bIns="0" rtlCol="0" anchor="ctr"/>
          <a:lstStyle/>
          <a:p>
            <a:pPr algn="ctr" indent="0" marL="0">
              <a:buNone/>
            </a:pPr>
            <a:r>
              <a:rPr lang="en-US" sz="1000" b="1" dirty="0">
                <a:solidFill>
                  <a:srgbClr val="0F1215"/>
                </a:solidFill>
              </a:rPr>
              <a:t>13</a:t>
            </a:r>
            <a:endParaRPr lang="en-US" sz="1000" dirty="0"/>
          </a:p>
        </p:txBody>
      </p:sp>
      <p:sp>
        <p:nvSpPr>
          <p:cNvPr id="42" name="ref_label_317"/>
          <p:cNvSpPr txBox="1"/>
          <p:nvPr/>
        </p:nvSpPr>
        <p:spPr>
          <a:xfrm>
            <a:off x="2935224" y="2743200"/>
            <a:ext cx="1627632" cy="457200"/>
          </a:xfrm>
          <a:prstGeom prst="rect">
            <a:avLst/>
          </a:prstGeom>
          <a:noFill/>
          <a:ln/>
        </p:spPr>
        <p:txBody>
          <a:bodyPr wrap="square" lIns="0" tIns="0" rIns="0" bIns="0" rtlCol="0" anchor="ctr"/>
          <a:lstStyle/>
          <a:p>
            <a:pPr indent="0" marL="0">
              <a:buNone/>
            </a:pPr>
            <a:r>
              <a:rPr lang="en-US" sz="1150" dirty="0">
                <a:solidFill>
                  <a:srgbClr val="FFFFFF"/>
                </a:solidFill>
              </a:rPr>
              <a:t>Ignition switch warning</a:t>
            </a:r>
            <a:endParaRPr lang="en-US" sz="1150" dirty="0"/>
          </a:p>
        </p:txBody>
      </p:sp>
      <p:sp>
        <p:nvSpPr>
          <p:cNvPr id="43" name="ref_num_bg_318"/>
          <p:cNvSpPr/>
          <p:nvPr/>
        </p:nvSpPr>
        <p:spPr>
          <a:xfrm>
            <a:off x="2532888" y="3264408"/>
            <a:ext cx="329184" cy="329184"/>
          </a:xfrm>
          <a:prstGeom prst="ellipse">
            <a:avLst/>
          </a:prstGeom>
          <a:solidFill>
            <a:srgbClr val="FFB000"/>
          </a:solidFill>
          <a:ln/>
        </p:spPr>
      </p:sp>
      <p:sp>
        <p:nvSpPr>
          <p:cNvPr id="44" name="ref_num_319"/>
          <p:cNvSpPr txBox="1"/>
          <p:nvPr/>
        </p:nvSpPr>
        <p:spPr>
          <a:xfrm>
            <a:off x="2532888" y="3264408"/>
            <a:ext cx="329184" cy="329184"/>
          </a:xfrm>
          <a:prstGeom prst="rect">
            <a:avLst/>
          </a:prstGeom>
          <a:noFill/>
          <a:ln/>
        </p:spPr>
        <p:txBody>
          <a:bodyPr wrap="square" lIns="0" tIns="0" rIns="0" bIns="0" rtlCol="0" anchor="ctr"/>
          <a:lstStyle/>
          <a:p>
            <a:pPr algn="ctr" indent="0" marL="0">
              <a:buNone/>
            </a:pPr>
            <a:r>
              <a:rPr lang="en-US" sz="1000" b="1" dirty="0">
                <a:solidFill>
                  <a:srgbClr val="0F1215"/>
                </a:solidFill>
              </a:rPr>
              <a:t>14</a:t>
            </a:r>
            <a:endParaRPr lang="en-US" sz="1000" dirty="0"/>
          </a:p>
        </p:txBody>
      </p:sp>
      <p:sp>
        <p:nvSpPr>
          <p:cNvPr id="45" name="ref_label_320"/>
          <p:cNvSpPr txBox="1"/>
          <p:nvPr/>
        </p:nvSpPr>
        <p:spPr>
          <a:xfrm>
            <a:off x="2935224" y="3200400"/>
            <a:ext cx="1627632" cy="457200"/>
          </a:xfrm>
          <a:prstGeom prst="rect">
            <a:avLst/>
          </a:prstGeom>
          <a:noFill/>
          <a:ln/>
        </p:spPr>
        <p:txBody>
          <a:bodyPr wrap="square" lIns="0" tIns="0" rIns="0" bIns="0" rtlCol="0" anchor="ctr"/>
          <a:lstStyle/>
          <a:p>
            <a:pPr indent="0" marL="0">
              <a:buNone/>
            </a:pPr>
            <a:r>
              <a:rPr lang="en-US" sz="1150" dirty="0">
                <a:solidFill>
                  <a:srgbClr val="FFFFFF"/>
                </a:solidFill>
              </a:rPr>
              <a:t>Key not in vehicle</a:t>
            </a:r>
            <a:endParaRPr lang="en-US" sz="1150" dirty="0"/>
          </a:p>
        </p:txBody>
      </p:sp>
      <p:sp>
        <p:nvSpPr>
          <p:cNvPr id="46" name="ref_num_bg_321"/>
          <p:cNvSpPr/>
          <p:nvPr/>
        </p:nvSpPr>
        <p:spPr>
          <a:xfrm>
            <a:off x="2532888" y="3721608"/>
            <a:ext cx="329184" cy="329184"/>
          </a:xfrm>
          <a:prstGeom prst="ellipse">
            <a:avLst/>
          </a:prstGeom>
          <a:solidFill>
            <a:srgbClr val="FFB000"/>
          </a:solidFill>
          <a:ln/>
        </p:spPr>
      </p:sp>
      <p:sp>
        <p:nvSpPr>
          <p:cNvPr id="47" name="ref_num_322"/>
          <p:cNvSpPr txBox="1"/>
          <p:nvPr/>
        </p:nvSpPr>
        <p:spPr>
          <a:xfrm>
            <a:off x="2532888" y="3721608"/>
            <a:ext cx="329184" cy="329184"/>
          </a:xfrm>
          <a:prstGeom prst="rect">
            <a:avLst/>
          </a:prstGeom>
          <a:noFill/>
          <a:ln/>
        </p:spPr>
        <p:txBody>
          <a:bodyPr wrap="square" lIns="0" tIns="0" rIns="0" bIns="0" rtlCol="0" anchor="ctr"/>
          <a:lstStyle/>
          <a:p>
            <a:pPr algn="ctr" indent="0" marL="0">
              <a:buNone/>
            </a:pPr>
            <a:r>
              <a:rPr lang="en-US" sz="1000" b="1" dirty="0">
                <a:solidFill>
                  <a:srgbClr val="0F1215"/>
                </a:solidFill>
              </a:rPr>
              <a:t>15</a:t>
            </a:r>
            <a:endParaRPr lang="en-US" sz="1000" dirty="0"/>
          </a:p>
        </p:txBody>
      </p:sp>
      <p:sp>
        <p:nvSpPr>
          <p:cNvPr id="48" name="ref_label_323"/>
          <p:cNvSpPr txBox="1"/>
          <p:nvPr/>
        </p:nvSpPr>
        <p:spPr>
          <a:xfrm>
            <a:off x="2935224" y="3657600"/>
            <a:ext cx="1627632" cy="457200"/>
          </a:xfrm>
          <a:prstGeom prst="rect">
            <a:avLst/>
          </a:prstGeom>
          <a:noFill/>
          <a:ln/>
        </p:spPr>
        <p:txBody>
          <a:bodyPr wrap="square" lIns="0" tIns="0" rIns="0" bIns="0" rtlCol="0" anchor="ctr"/>
          <a:lstStyle/>
          <a:p>
            <a:pPr indent="0" marL="0">
              <a:buNone/>
            </a:pPr>
            <a:r>
              <a:rPr lang="en-US" sz="1150" dirty="0">
                <a:solidFill>
                  <a:srgbClr val="FFFFFF"/>
                </a:solidFill>
              </a:rPr>
              <a:t>Key fob battery low</a:t>
            </a:r>
            <a:endParaRPr lang="en-US" sz="1150" dirty="0"/>
          </a:p>
        </p:txBody>
      </p:sp>
      <p:sp>
        <p:nvSpPr>
          <p:cNvPr id="49" name="ref_num_bg_324"/>
          <p:cNvSpPr/>
          <p:nvPr/>
        </p:nvSpPr>
        <p:spPr>
          <a:xfrm>
            <a:off x="2532888" y="4178808"/>
            <a:ext cx="329184" cy="329184"/>
          </a:xfrm>
          <a:prstGeom prst="ellipse">
            <a:avLst/>
          </a:prstGeom>
          <a:solidFill>
            <a:srgbClr val="FFB000"/>
          </a:solidFill>
          <a:ln/>
        </p:spPr>
      </p:sp>
      <p:sp>
        <p:nvSpPr>
          <p:cNvPr id="50" name="ref_num_325"/>
          <p:cNvSpPr txBox="1"/>
          <p:nvPr/>
        </p:nvSpPr>
        <p:spPr>
          <a:xfrm>
            <a:off x="2532888" y="4178808"/>
            <a:ext cx="329184" cy="329184"/>
          </a:xfrm>
          <a:prstGeom prst="rect">
            <a:avLst/>
          </a:prstGeom>
          <a:noFill/>
          <a:ln/>
        </p:spPr>
        <p:txBody>
          <a:bodyPr wrap="square" lIns="0" tIns="0" rIns="0" bIns="0" rtlCol="0" anchor="ctr"/>
          <a:lstStyle/>
          <a:p>
            <a:pPr algn="ctr" indent="0" marL="0">
              <a:buNone/>
            </a:pPr>
            <a:r>
              <a:rPr lang="en-US" sz="1000" b="1" dirty="0">
                <a:solidFill>
                  <a:srgbClr val="0F1215"/>
                </a:solidFill>
              </a:rPr>
              <a:t>16</a:t>
            </a:r>
            <a:endParaRPr lang="en-US" sz="1000" dirty="0"/>
          </a:p>
        </p:txBody>
      </p:sp>
      <p:sp>
        <p:nvSpPr>
          <p:cNvPr id="51" name="ref_label_326"/>
          <p:cNvSpPr txBox="1"/>
          <p:nvPr/>
        </p:nvSpPr>
        <p:spPr>
          <a:xfrm>
            <a:off x="2935224" y="4114800"/>
            <a:ext cx="1627632" cy="457200"/>
          </a:xfrm>
          <a:prstGeom prst="rect">
            <a:avLst/>
          </a:prstGeom>
          <a:noFill/>
          <a:ln/>
        </p:spPr>
        <p:txBody>
          <a:bodyPr wrap="square" lIns="0" tIns="0" rIns="0" bIns="0" rtlCol="0" anchor="ctr"/>
          <a:lstStyle/>
          <a:p>
            <a:pPr indent="0" marL="0">
              <a:buNone/>
            </a:pPr>
            <a:r>
              <a:rPr lang="en-US" sz="1150" dirty="0">
                <a:solidFill>
                  <a:srgbClr val="FFFFFF"/>
                </a:solidFill>
              </a:rPr>
              <a:t>Distance warning</a:t>
            </a:r>
            <a:endParaRPr lang="en-US" sz="1150" dirty="0"/>
          </a:p>
        </p:txBody>
      </p:sp>
      <p:sp>
        <p:nvSpPr>
          <p:cNvPr id="52" name="ref_num_bg_327"/>
          <p:cNvSpPr/>
          <p:nvPr/>
        </p:nvSpPr>
        <p:spPr>
          <a:xfrm>
            <a:off x="4608576" y="978408"/>
            <a:ext cx="329184" cy="329184"/>
          </a:xfrm>
          <a:prstGeom prst="ellipse">
            <a:avLst/>
          </a:prstGeom>
          <a:solidFill>
            <a:srgbClr val="FFB000"/>
          </a:solidFill>
          <a:ln/>
        </p:spPr>
      </p:sp>
      <p:sp>
        <p:nvSpPr>
          <p:cNvPr id="53" name="ref_num_328"/>
          <p:cNvSpPr txBox="1"/>
          <p:nvPr/>
        </p:nvSpPr>
        <p:spPr>
          <a:xfrm>
            <a:off x="4608576" y="978408"/>
            <a:ext cx="329184" cy="329184"/>
          </a:xfrm>
          <a:prstGeom prst="rect">
            <a:avLst/>
          </a:prstGeom>
          <a:noFill/>
          <a:ln/>
        </p:spPr>
        <p:txBody>
          <a:bodyPr wrap="square" lIns="0" tIns="0" rIns="0" bIns="0" rtlCol="0" anchor="ctr"/>
          <a:lstStyle/>
          <a:p>
            <a:pPr algn="ctr" indent="0" marL="0">
              <a:buNone/>
            </a:pPr>
            <a:r>
              <a:rPr lang="en-US" sz="1000" b="1" dirty="0">
                <a:solidFill>
                  <a:srgbClr val="0F1215"/>
                </a:solidFill>
              </a:rPr>
              <a:t>17</a:t>
            </a:r>
            <a:endParaRPr lang="en-US" sz="1000" dirty="0"/>
          </a:p>
        </p:txBody>
      </p:sp>
      <p:sp>
        <p:nvSpPr>
          <p:cNvPr id="54" name="ref_label_329"/>
          <p:cNvSpPr txBox="1"/>
          <p:nvPr/>
        </p:nvSpPr>
        <p:spPr>
          <a:xfrm>
            <a:off x="5010912" y="914400"/>
            <a:ext cx="1627632" cy="457200"/>
          </a:xfrm>
          <a:prstGeom prst="rect">
            <a:avLst/>
          </a:prstGeom>
          <a:noFill/>
          <a:ln/>
        </p:spPr>
        <p:txBody>
          <a:bodyPr wrap="square" lIns="0" tIns="0" rIns="0" bIns="0" rtlCol="0" anchor="ctr"/>
          <a:lstStyle/>
          <a:p>
            <a:pPr indent="0" marL="0">
              <a:buNone/>
            </a:pPr>
            <a:r>
              <a:rPr lang="en-US" sz="1150" dirty="0">
                <a:solidFill>
                  <a:srgbClr val="FFFFFF"/>
                </a:solidFill>
              </a:rPr>
              <a:t>Press clutch pedal</a:t>
            </a:r>
            <a:endParaRPr lang="en-US" sz="1150" dirty="0"/>
          </a:p>
        </p:txBody>
      </p:sp>
      <p:sp>
        <p:nvSpPr>
          <p:cNvPr id="55" name="ref_num_bg_330"/>
          <p:cNvSpPr/>
          <p:nvPr/>
        </p:nvSpPr>
        <p:spPr>
          <a:xfrm>
            <a:off x="4608576" y="1435608"/>
            <a:ext cx="329184" cy="329184"/>
          </a:xfrm>
          <a:prstGeom prst="ellipse">
            <a:avLst/>
          </a:prstGeom>
          <a:solidFill>
            <a:srgbClr val="FFB000"/>
          </a:solidFill>
          <a:ln/>
        </p:spPr>
      </p:sp>
      <p:sp>
        <p:nvSpPr>
          <p:cNvPr id="56" name="ref_num_331"/>
          <p:cNvSpPr txBox="1"/>
          <p:nvPr/>
        </p:nvSpPr>
        <p:spPr>
          <a:xfrm>
            <a:off x="4608576" y="1435608"/>
            <a:ext cx="329184" cy="329184"/>
          </a:xfrm>
          <a:prstGeom prst="rect">
            <a:avLst/>
          </a:prstGeom>
          <a:noFill/>
          <a:ln/>
        </p:spPr>
        <p:txBody>
          <a:bodyPr wrap="square" lIns="0" tIns="0" rIns="0" bIns="0" rtlCol="0" anchor="ctr"/>
          <a:lstStyle/>
          <a:p>
            <a:pPr algn="ctr" indent="0" marL="0">
              <a:buNone/>
            </a:pPr>
            <a:r>
              <a:rPr lang="en-US" sz="1000" b="1" dirty="0">
                <a:solidFill>
                  <a:srgbClr val="0F1215"/>
                </a:solidFill>
              </a:rPr>
              <a:t>18</a:t>
            </a:r>
            <a:endParaRPr lang="en-US" sz="1000" dirty="0"/>
          </a:p>
        </p:txBody>
      </p:sp>
      <p:sp>
        <p:nvSpPr>
          <p:cNvPr id="57" name="ref_label_332"/>
          <p:cNvSpPr txBox="1"/>
          <p:nvPr/>
        </p:nvSpPr>
        <p:spPr>
          <a:xfrm>
            <a:off x="5010912" y="1371600"/>
            <a:ext cx="1627632" cy="457200"/>
          </a:xfrm>
          <a:prstGeom prst="rect">
            <a:avLst/>
          </a:prstGeom>
          <a:noFill/>
          <a:ln/>
        </p:spPr>
        <p:txBody>
          <a:bodyPr wrap="square" lIns="0" tIns="0" rIns="0" bIns="0" rtlCol="0" anchor="ctr"/>
          <a:lstStyle/>
          <a:p>
            <a:pPr indent="0" marL="0">
              <a:buNone/>
            </a:pPr>
            <a:r>
              <a:rPr lang="en-US" sz="1150" dirty="0">
                <a:solidFill>
                  <a:srgbClr val="FFFFFF"/>
                </a:solidFill>
              </a:rPr>
              <a:t>Press brake pedal</a:t>
            </a:r>
            <a:endParaRPr lang="en-US" sz="1150" dirty="0"/>
          </a:p>
        </p:txBody>
      </p:sp>
      <p:sp>
        <p:nvSpPr>
          <p:cNvPr id="58" name="ref_num_bg_333"/>
          <p:cNvSpPr/>
          <p:nvPr/>
        </p:nvSpPr>
        <p:spPr>
          <a:xfrm>
            <a:off x="4608576" y="1892808"/>
            <a:ext cx="329184" cy="329184"/>
          </a:xfrm>
          <a:prstGeom prst="ellipse">
            <a:avLst/>
          </a:prstGeom>
          <a:solidFill>
            <a:srgbClr val="FFB000"/>
          </a:solidFill>
          <a:ln/>
        </p:spPr>
      </p:sp>
      <p:sp>
        <p:nvSpPr>
          <p:cNvPr id="59" name="ref_num_334"/>
          <p:cNvSpPr txBox="1"/>
          <p:nvPr/>
        </p:nvSpPr>
        <p:spPr>
          <a:xfrm>
            <a:off x="4608576" y="1892808"/>
            <a:ext cx="329184" cy="329184"/>
          </a:xfrm>
          <a:prstGeom prst="rect">
            <a:avLst/>
          </a:prstGeom>
          <a:noFill/>
          <a:ln/>
        </p:spPr>
        <p:txBody>
          <a:bodyPr wrap="square" lIns="0" tIns="0" rIns="0" bIns="0" rtlCol="0" anchor="ctr"/>
          <a:lstStyle/>
          <a:p>
            <a:pPr algn="ctr" indent="0" marL="0">
              <a:buNone/>
            </a:pPr>
            <a:r>
              <a:rPr lang="en-US" sz="1000" b="1" dirty="0">
                <a:solidFill>
                  <a:srgbClr val="0F1215"/>
                </a:solidFill>
              </a:rPr>
              <a:t>19</a:t>
            </a:r>
            <a:endParaRPr lang="en-US" sz="1000" dirty="0"/>
          </a:p>
        </p:txBody>
      </p:sp>
      <p:sp>
        <p:nvSpPr>
          <p:cNvPr id="60" name="ref_label_335"/>
          <p:cNvSpPr txBox="1"/>
          <p:nvPr/>
        </p:nvSpPr>
        <p:spPr>
          <a:xfrm>
            <a:off x="5010912" y="1828800"/>
            <a:ext cx="1627632" cy="457200"/>
          </a:xfrm>
          <a:prstGeom prst="rect">
            <a:avLst/>
          </a:prstGeom>
          <a:noFill/>
          <a:ln/>
        </p:spPr>
        <p:txBody>
          <a:bodyPr wrap="square" lIns="0" tIns="0" rIns="0" bIns="0" rtlCol="0" anchor="ctr"/>
          <a:lstStyle/>
          <a:p>
            <a:pPr indent="0" marL="0">
              <a:buNone/>
            </a:pPr>
            <a:r>
              <a:rPr lang="en-US" sz="1150" dirty="0">
                <a:solidFill>
                  <a:srgbClr val="FFFFFF"/>
                </a:solidFill>
              </a:rPr>
              <a:t>Steering lock warning</a:t>
            </a:r>
            <a:endParaRPr lang="en-US" sz="1150" dirty="0"/>
          </a:p>
        </p:txBody>
      </p:sp>
      <p:sp>
        <p:nvSpPr>
          <p:cNvPr id="61" name="ref_num_bg_336"/>
          <p:cNvSpPr/>
          <p:nvPr/>
        </p:nvSpPr>
        <p:spPr>
          <a:xfrm>
            <a:off x="4608576" y="2350008"/>
            <a:ext cx="329184" cy="329184"/>
          </a:xfrm>
          <a:prstGeom prst="ellipse">
            <a:avLst/>
          </a:prstGeom>
          <a:solidFill>
            <a:srgbClr val="FFB000"/>
          </a:solidFill>
          <a:ln/>
        </p:spPr>
      </p:sp>
      <p:sp>
        <p:nvSpPr>
          <p:cNvPr id="62" name="ref_num_337"/>
          <p:cNvSpPr txBox="1"/>
          <p:nvPr/>
        </p:nvSpPr>
        <p:spPr>
          <a:xfrm>
            <a:off x="4608576" y="2350008"/>
            <a:ext cx="329184" cy="329184"/>
          </a:xfrm>
          <a:prstGeom prst="rect">
            <a:avLst/>
          </a:prstGeom>
          <a:noFill/>
          <a:ln/>
        </p:spPr>
        <p:txBody>
          <a:bodyPr wrap="square" lIns="0" tIns="0" rIns="0" bIns="0" rtlCol="0" anchor="ctr"/>
          <a:lstStyle/>
          <a:p>
            <a:pPr algn="ctr" indent="0" marL="0">
              <a:buNone/>
            </a:pPr>
            <a:r>
              <a:rPr lang="en-US" sz="1000" b="1" dirty="0">
                <a:solidFill>
                  <a:srgbClr val="0F1215"/>
                </a:solidFill>
              </a:rPr>
              <a:t>20</a:t>
            </a:r>
            <a:endParaRPr lang="en-US" sz="1000" dirty="0"/>
          </a:p>
        </p:txBody>
      </p:sp>
      <p:sp>
        <p:nvSpPr>
          <p:cNvPr id="63" name="ref_label_338"/>
          <p:cNvSpPr txBox="1"/>
          <p:nvPr/>
        </p:nvSpPr>
        <p:spPr>
          <a:xfrm>
            <a:off x="5010912" y="2286000"/>
            <a:ext cx="1627632" cy="457200"/>
          </a:xfrm>
          <a:prstGeom prst="rect">
            <a:avLst/>
          </a:prstGeom>
          <a:noFill/>
          <a:ln/>
        </p:spPr>
        <p:txBody>
          <a:bodyPr wrap="square" lIns="0" tIns="0" rIns="0" bIns="0" rtlCol="0" anchor="ctr"/>
          <a:lstStyle/>
          <a:p>
            <a:pPr indent="0" marL="0">
              <a:buNone/>
            </a:pPr>
            <a:r>
              <a:rPr lang="en-US" sz="1150" dirty="0">
                <a:solidFill>
                  <a:srgbClr val="FFFFFF"/>
                </a:solidFill>
              </a:rPr>
              <a:t>Main beam (high beam)</a:t>
            </a:r>
            <a:endParaRPr lang="en-US" sz="1150" dirty="0"/>
          </a:p>
        </p:txBody>
      </p:sp>
      <p:sp>
        <p:nvSpPr>
          <p:cNvPr id="64" name="ref_num_bg_339"/>
          <p:cNvSpPr/>
          <p:nvPr/>
        </p:nvSpPr>
        <p:spPr>
          <a:xfrm>
            <a:off x="4608576" y="2807208"/>
            <a:ext cx="329184" cy="329184"/>
          </a:xfrm>
          <a:prstGeom prst="ellipse">
            <a:avLst/>
          </a:prstGeom>
          <a:solidFill>
            <a:srgbClr val="FFB000"/>
          </a:solidFill>
          <a:ln/>
        </p:spPr>
      </p:sp>
      <p:sp>
        <p:nvSpPr>
          <p:cNvPr id="65" name="ref_num_340"/>
          <p:cNvSpPr txBox="1"/>
          <p:nvPr/>
        </p:nvSpPr>
        <p:spPr>
          <a:xfrm>
            <a:off x="4608576" y="2807208"/>
            <a:ext cx="329184" cy="329184"/>
          </a:xfrm>
          <a:prstGeom prst="rect">
            <a:avLst/>
          </a:prstGeom>
          <a:noFill/>
          <a:ln/>
        </p:spPr>
        <p:txBody>
          <a:bodyPr wrap="square" lIns="0" tIns="0" rIns="0" bIns="0" rtlCol="0" anchor="ctr"/>
          <a:lstStyle/>
          <a:p>
            <a:pPr algn="ctr" indent="0" marL="0">
              <a:buNone/>
            </a:pPr>
            <a:r>
              <a:rPr lang="en-US" sz="1000" b="1" dirty="0">
                <a:solidFill>
                  <a:srgbClr val="0F1215"/>
                </a:solidFill>
              </a:rPr>
              <a:t>21</a:t>
            </a:r>
            <a:endParaRPr lang="en-US" sz="1000" dirty="0"/>
          </a:p>
        </p:txBody>
      </p:sp>
      <p:sp>
        <p:nvSpPr>
          <p:cNvPr id="66" name="ref_label_341"/>
          <p:cNvSpPr txBox="1"/>
          <p:nvPr/>
        </p:nvSpPr>
        <p:spPr>
          <a:xfrm>
            <a:off x="5010912" y="2743200"/>
            <a:ext cx="1627632" cy="457200"/>
          </a:xfrm>
          <a:prstGeom prst="rect">
            <a:avLst/>
          </a:prstGeom>
          <a:noFill/>
          <a:ln/>
        </p:spPr>
        <p:txBody>
          <a:bodyPr wrap="square" lIns="0" tIns="0" rIns="0" bIns="0" rtlCol="0" anchor="ctr"/>
          <a:lstStyle/>
          <a:p>
            <a:pPr indent="0" marL="0">
              <a:buNone/>
            </a:pPr>
            <a:r>
              <a:rPr lang="en-US" sz="1150" dirty="0">
                <a:solidFill>
                  <a:srgbClr val="FFFFFF"/>
                </a:solidFill>
              </a:rPr>
              <a:t>Tyre pressure low</a:t>
            </a:r>
            <a:endParaRPr lang="en-US" sz="1150" dirty="0"/>
          </a:p>
        </p:txBody>
      </p:sp>
      <p:sp>
        <p:nvSpPr>
          <p:cNvPr id="67" name="ref_num_bg_342"/>
          <p:cNvSpPr/>
          <p:nvPr/>
        </p:nvSpPr>
        <p:spPr>
          <a:xfrm>
            <a:off x="4608576" y="3264408"/>
            <a:ext cx="329184" cy="329184"/>
          </a:xfrm>
          <a:prstGeom prst="ellipse">
            <a:avLst/>
          </a:prstGeom>
          <a:solidFill>
            <a:srgbClr val="FFB000"/>
          </a:solidFill>
          <a:ln/>
        </p:spPr>
      </p:sp>
      <p:sp>
        <p:nvSpPr>
          <p:cNvPr id="68" name="ref_num_343"/>
          <p:cNvSpPr txBox="1"/>
          <p:nvPr/>
        </p:nvSpPr>
        <p:spPr>
          <a:xfrm>
            <a:off x="4608576" y="3264408"/>
            <a:ext cx="329184" cy="329184"/>
          </a:xfrm>
          <a:prstGeom prst="rect">
            <a:avLst/>
          </a:prstGeom>
          <a:noFill/>
          <a:ln/>
        </p:spPr>
        <p:txBody>
          <a:bodyPr wrap="square" lIns="0" tIns="0" rIns="0" bIns="0" rtlCol="0" anchor="ctr"/>
          <a:lstStyle/>
          <a:p>
            <a:pPr algn="ctr" indent="0" marL="0">
              <a:buNone/>
            </a:pPr>
            <a:r>
              <a:rPr lang="en-US" sz="1000" b="1" dirty="0">
                <a:solidFill>
                  <a:srgbClr val="0F1215"/>
                </a:solidFill>
              </a:rPr>
              <a:t>22</a:t>
            </a:r>
            <a:endParaRPr lang="en-US" sz="1000" dirty="0"/>
          </a:p>
        </p:txBody>
      </p:sp>
      <p:sp>
        <p:nvSpPr>
          <p:cNvPr id="69" name="ref_label_344"/>
          <p:cNvSpPr txBox="1"/>
          <p:nvPr/>
        </p:nvSpPr>
        <p:spPr>
          <a:xfrm>
            <a:off x="5010912" y="3200400"/>
            <a:ext cx="1627632" cy="457200"/>
          </a:xfrm>
          <a:prstGeom prst="rect">
            <a:avLst/>
          </a:prstGeom>
          <a:noFill/>
          <a:ln/>
        </p:spPr>
        <p:txBody>
          <a:bodyPr wrap="square" lIns="0" tIns="0" rIns="0" bIns="0" rtlCol="0" anchor="ctr"/>
          <a:lstStyle/>
          <a:p>
            <a:pPr indent="0" marL="0">
              <a:buNone/>
            </a:pPr>
            <a:r>
              <a:rPr lang="en-US" sz="1150" dirty="0">
                <a:solidFill>
                  <a:srgbClr val="FFFFFF"/>
                </a:solidFill>
              </a:rPr>
              <a:t>Sidelight information</a:t>
            </a:r>
            <a:endParaRPr lang="en-US" sz="1150" dirty="0"/>
          </a:p>
        </p:txBody>
      </p:sp>
      <p:sp>
        <p:nvSpPr>
          <p:cNvPr id="70" name="ref_num_bg_345"/>
          <p:cNvSpPr/>
          <p:nvPr/>
        </p:nvSpPr>
        <p:spPr>
          <a:xfrm>
            <a:off x="4608576" y="3721608"/>
            <a:ext cx="329184" cy="329184"/>
          </a:xfrm>
          <a:prstGeom prst="ellipse">
            <a:avLst/>
          </a:prstGeom>
          <a:solidFill>
            <a:srgbClr val="FFB000"/>
          </a:solidFill>
          <a:ln/>
        </p:spPr>
      </p:sp>
      <p:sp>
        <p:nvSpPr>
          <p:cNvPr id="71" name="ref_num_346"/>
          <p:cNvSpPr txBox="1"/>
          <p:nvPr/>
        </p:nvSpPr>
        <p:spPr>
          <a:xfrm>
            <a:off x="4608576" y="3721608"/>
            <a:ext cx="329184" cy="329184"/>
          </a:xfrm>
          <a:prstGeom prst="rect">
            <a:avLst/>
          </a:prstGeom>
          <a:noFill/>
          <a:ln/>
        </p:spPr>
        <p:txBody>
          <a:bodyPr wrap="square" lIns="0" tIns="0" rIns="0" bIns="0" rtlCol="0" anchor="ctr"/>
          <a:lstStyle/>
          <a:p>
            <a:pPr algn="ctr" indent="0" marL="0">
              <a:buNone/>
            </a:pPr>
            <a:r>
              <a:rPr lang="en-US" sz="1000" b="1" dirty="0">
                <a:solidFill>
                  <a:srgbClr val="0F1215"/>
                </a:solidFill>
              </a:rPr>
              <a:t>23</a:t>
            </a:r>
            <a:endParaRPr lang="en-US" sz="1000" dirty="0"/>
          </a:p>
        </p:txBody>
      </p:sp>
      <p:sp>
        <p:nvSpPr>
          <p:cNvPr id="72" name="ref_label_347"/>
          <p:cNvSpPr txBox="1"/>
          <p:nvPr/>
        </p:nvSpPr>
        <p:spPr>
          <a:xfrm>
            <a:off x="5010912" y="3657600"/>
            <a:ext cx="1627632" cy="457200"/>
          </a:xfrm>
          <a:prstGeom prst="rect">
            <a:avLst/>
          </a:prstGeom>
          <a:noFill/>
          <a:ln/>
        </p:spPr>
        <p:txBody>
          <a:bodyPr wrap="square" lIns="0" tIns="0" rIns="0" bIns="0" rtlCol="0" anchor="ctr"/>
          <a:lstStyle/>
          <a:p>
            <a:pPr indent="0" marL="0">
              <a:buNone/>
            </a:pPr>
            <a:r>
              <a:rPr lang="en-US" sz="1150" dirty="0">
                <a:solidFill>
                  <a:srgbClr val="FFFFFF"/>
                </a:solidFill>
              </a:rPr>
              <a:t>Exterior light fault</a:t>
            </a:r>
            <a:endParaRPr lang="en-US" sz="1150" dirty="0"/>
          </a:p>
        </p:txBody>
      </p:sp>
      <p:sp>
        <p:nvSpPr>
          <p:cNvPr id="73" name="ref_num_bg_348"/>
          <p:cNvSpPr/>
          <p:nvPr/>
        </p:nvSpPr>
        <p:spPr>
          <a:xfrm>
            <a:off x="4608576" y="4178808"/>
            <a:ext cx="329184" cy="329184"/>
          </a:xfrm>
          <a:prstGeom prst="ellipse">
            <a:avLst/>
          </a:prstGeom>
          <a:solidFill>
            <a:srgbClr val="FFB000"/>
          </a:solidFill>
          <a:ln/>
        </p:spPr>
      </p:sp>
      <p:sp>
        <p:nvSpPr>
          <p:cNvPr id="74" name="ref_num_349"/>
          <p:cNvSpPr txBox="1"/>
          <p:nvPr/>
        </p:nvSpPr>
        <p:spPr>
          <a:xfrm>
            <a:off x="4608576" y="4178808"/>
            <a:ext cx="329184" cy="329184"/>
          </a:xfrm>
          <a:prstGeom prst="rect">
            <a:avLst/>
          </a:prstGeom>
          <a:noFill/>
          <a:ln/>
        </p:spPr>
        <p:txBody>
          <a:bodyPr wrap="square" lIns="0" tIns="0" rIns="0" bIns="0" rtlCol="0" anchor="ctr"/>
          <a:lstStyle/>
          <a:p>
            <a:pPr algn="ctr" indent="0" marL="0">
              <a:buNone/>
            </a:pPr>
            <a:r>
              <a:rPr lang="en-US" sz="1000" b="1" dirty="0">
                <a:solidFill>
                  <a:srgbClr val="0F1215"/>
                </a:solidFill>
              </a:rPr>
              <a:t>24</a:t>
            </a:r>
            <a:endParaRPr lang="en-US" sz="1000" dirty="0"/>
          </a:p>
        </p:txBody>
      </p:sp>
      <p:sp>
        <p:nvSpPr>
          <p:cNvPr id="75" name="ref_label_350"/>
          <p:cNvSpPr txBox="1"/>
          <p:nvPr/>
        </p:nvSpPr>
        <p:spPr>
          <a:xfrm>
            <a:off x="5010912" y="4114800"/>
            <a:ext cx="1627632" cy="457200"/>
          </a:xfrm>
          <a:prstGeom prst="rect">
            <a:avLst/>
          </a:prstGeom>
          <a:noFill/>
          <a:ln/>
        </p:spPr>
        <p:txBody>
          <a:bodyPr wrap="square" lIns="0" tIns="0" rIns="0" bIns="0" rtlCol="0" anchor="ctr"/>
          <a:lstStyle/>
          <a:p>
            <a:pPr indent="0" marL="0">
              <a:buNone/>
            </a:pPr>
            <a:r>
              <a:rPr lang="en-US" sz="1150" dirty="0">
                <a:solidFill>
                  <a:srgbClr val="FFFFFF"/>
                </a:solidFill>
              </a:rPr>
              <a:t>Brake lights warning</a:t>
            </a:r>
            <a:endParaRPr lang="en-US" sz="1150" dirty="0"/>
          </a:p>
        </p:txBody>
      </p:sp>
      <p:sp>
        <p:nvSpPr>
          <p:cNvPr id="76" name="ref_num_bg_351"/>
          <p:cNvSpPr/>
          <p:nvPr/>
        </p:nvSpPr>
        <p:spPr>
          <a:xfrm>
            <a:off x="6684264" y="978408"/>
            <a:ext cx="329184" cy="329184"/>
          </a:xfrm>
          <a:prstGeom prst="ellipse">
            <a:avLst/>
          </a:prstGeom>
          <a:solidFill>
            <a:srgbClr val="FFB000"/>
          </a:solidFill>
          <a:ln/>
        </p:spPr>
      </p:sp>
      <p:sp>
        <p:nvSpPr>
          <p:cNvPr id="77" name="ref_num_352"/>
          <p:cNvSpPr txBox="1"/>
          <p:nvPr/>
        </p:nvSpPr>
        <p:spPr>
          <a:xfrm>
            <a:off x="6684264" y="978408"/>
            <a:ext cx="329184" cy="329184"/>
          </a:xfrm>
          <a:prstGeom prst="rect">
            <a:avLst/>
          </a:prstGeom>
          <a:noFill/>
          <a:ln/>
        </p:spPr>
        <p:txBody>
          <a:bodyPr wrap="square" lIns="0" tIns="0" rIns="0" bIns="0" rtlCol="0" anchor="ctr"/>
          <a:lstStyle/>
          <a:p>
            <a:pPr algn="ctr" indent="0" marL="0">
              <a:buNone/>
            </a:pPr>
            <a:r>
              <a:rPr lang="en-US" sz="1000" b="1" dirty="0">
                <a:solidFill>
                  <a:srgbClr val="0F1215"/>
                </a:solidFill>
              </a:rPr>
              <a:t>25</a:t>
            </a:r>
            <a:endParaRPr lang="en-US" sz="1000" dirty="0"/>
          </a:p>
        </p:txBody>
      </p:sp>
      <p:sp>
        <p:nvSpPr>
          <p:cNvPr id="78" name="ref_label_353"/>
          <p:cNvSpPr txBox="1"/>
          <p:nvPr/>
        </p:nvSpPr>
        <p:spPr>
          <a:xfrm>
            <a:off x="7086600" y="914400"/>
            <a:ext cx="1627632" cy="457200"/>
          </a:xfrm>
          <a:prstGeom prst="rect">
            <a:avLst/>
          </a:prstGeom>
          <a:noFill/>
          <a:ln/>
        </p:spPr>
        <p:txBody>
          <a:bodyPr wrap="square" lIns="0" tIns="0" rIns="0" bIns="0" rtlCol="0" anchor="ctr"/>
          <a:lstStyle/>
          <a:p>
            <a:pPr indent="0" marL="0">
              <a:buNone/>
            </a:pPr>
            <a:r>
              <a:rPr lang="en-US" sz="1150" dirty="0">
                <a:solidFill>
                  <a:srgbClr val="FFFFFF"/>
                </a:solidFill>
              </a:rPr>
              <a:t>Diesel particulate filter</a:t>
            </a:r>
            <a:endParaRPr lang="en-US" sz="1150" dirty="0"/>
          </a:p>
        </p:txBody>
      </p:sp>
      <p:sp>
        <p:nvSpPr>
          <p:cNvPr id="79" name="ref_num_bg_354"/>
          <p:cNvSpPr/>
          <p:nvPr/>
        </p:nvSpPr>
        <p:spPr>
          <a:xfrm>
            <a:off x="6684264" y="1435608"/>
            <a:ext cx="329184" cy="329184"/>
          </a:xfrm>
          <a:prstGeom prst="ellipse">
            <a:avLst/>
          </a:prstGeom>
          <a:solidFill>
            <a:srgbClr val="FFB000"/>
          </a:solidFill>
          <a:ln/>
        </p:spPr>
      </p:sp>
      <p:sp>
        <p:nvSpPr>
          <p:cNvPr id="80" name="ref_num_355"/>
          <p:cNvSpPr txBox="1"/>
          <p:nvPr/>
        </p:nvSpPr>
        <p:spPr>
          <a:xfrm>
            <a:off x="6684264" y="1435608"/>
            <a:ext cx="329184" cy="329184"/>
          </a:xfrm>
          <a:prstGeom prst="rect">
            <a:avLst/>
          </a:prstGeom>
          <a:noFill/>
          <a:ln/>
        </p:spPr>
        <p:txBody>
          <a:bodyPr wrap="square" lIns="0" tIns="0" rIns="0" bIns="0" rtlCol="0" anchor="ctr"/>
          <a:lstStyle/>
          <a:p>
            <a:pPr algn="ctr" indent="0" marL="0">
              <a:buNone/>
            </a:pPr>
            <a:r>
              <a:rPr lang="en-US" sz="1000" b="1" dirty="0">
                <a:solidFill>
                  <a:srgbClr val="0F1215"/>
                </a:solidFill>
              </a:rPr>
              <a:t>26</a:t>
            </a:r>
            <a:endParaRPr lang="en-US" sz="1000" dirty="0"/>
          </a:p>
        </p:txBody>
      </p:sp>
      <p:sp>
        <p:nvSpPr>
          <p:cNvPr id="81" name="ref_label_356"/>
          <p:cNvSpPr txBox="1"/>
          <p:nvPr/>
        </p:nvSpPr>
        <p:spPr>
          <a:xfrm>
            <a:off x="7086600" y="1371600"/>
            <a:ext cx="1627632" cy="457200"/>
          </a:xfrm>
          <a:prstGeom prst="rect">
            <a:avLst/>
          </a:prstGeom>
          <a:noFill/>
          <a:ln/>
        </p:spPr>
        <p:txBody>
          <a:bodyPr wrap="square" lIns="0" tIns="0" rIns="0" bIns="0" rtlCol="0" anchor="ctr"/>
          <a:lstStyle/>
          <a:p>
            <a:pPr indent="0" marL="0">
              <a:buNone/>
            </a:pPr>
            <a:r>
              <a:rPr lang="en-US" sz="1150" dirty="0">
                <a:solidFill>
                  <a:srgbClr val="FFFFFF"/>
                </a:solidFill>
              </a:rPr>
              <a:t>Trailer tow hitch warning</a:t>
            </a:r>
            <a:endParaRPr lang="en-US" sz="1150" dirty="0"/>
          </a:p>
        </p:txBody>
      </p:sp>
      <p:sp>
        <p:nvSpPr>
          <p:cNvPr id="82" name="ref_num_bg_357"/>
          <p:cNvSpPr/>
          <p:nvPr/>
        </p:nvSpPr>
        <p:spPr>
          <a:xfrm>
            <a:off x="6684264" y="1892808"/>
            <a:ext cx="329184" cy="329184"/>
          </a:xfrm>
          <a:prstGeom prst="ellipse">
            <a:avLst/>
          </a:prstGeom>
          <a:solidFill>
            <a:srgbClr val="FFB000"/>
          </a:solidFill>
          <a:ln/>
        </p:spPr>
      </p:sp>
      <p:sp>
        <p:nvSpPr>
          <p:cNvPr id="83" name="ref_num_358"/>
          <p:cNvSpPr txBox="1"/>
          <p:nvPr/>
        </p:nvSpPr>
        <p:spPr>
          <a:xfrm>
            <a:off x="6684264" y="1892808"/>
            <a:ext cx="329184" cy="329184"/>
          </a:xfrm>
          <a:prstGeom prst="rect">
            <a:avLst/>
          </a:prstGeom>
          <a:noFill/>
          <a:ln/>
        </p:spPr>
        <p:txBody>
          <a:bodyPr wrap="square" lIns="0" tIns="0" rIns="0" bIns="0" rtlCol="0" anchor="ctr"/>
          <a:lstStyle/>
          <a:p>
            <a:pPr algn="ctr" indent="0" marL="0">
              <a:buNone/>
            </a:pPr>
            <a:r>
              <a:rPr lang="en-US" sz="1000" b="1" dirty="0">
                <a:solidFill>
                  <a:srgbClr val="0F1215"/>
                </a:solidFill>
              </a:rPr>
              <a:t>27</a:t>
            </a:r>
            <a:endParaRPr lang="en-US" sz="1000" dirty="0"/>
          </a:p>
        </p:txBody>
      </p:sp>
      <p:sp>
        <p:nvSpPr>
          <p:cNvPr id="84" name="ref_label_359"/>
          <p:cNvSpPr txBox="1"/>
          <p:nvPr/>
        </p:nvSpPr>
        <p:spPr>
          <a:xfrm>
            <a:off x="7086600" y="1828800"/>
            <a:ext cx="1627632" cy="457200"/>
          </a:xfrm>
          <a:prstGeom prst="rect">
            <a:avLst/>
          </a:prstGeom>
          <a:noFill/>
          <a:ln/>
        </p:spPr>
        <p:txBody>
          <a:bodyPr wrap="square" lIns="0" tIns="0" rIns="0" bIns="0" rtlCol="0" anchor="ctr"/>
          <a:lstStyle/>
          <a:p>
            <a:pPr indent="0" marL="0">
              <a:buNone/>
            </a:pPr>
            <a:r>
              <a:rPr lang="en-US" sz="1150" dirty="0">
                <a:solidFill>
                  <a:srgbClr val="FFFFFF"/>
                </a:solidFill>
              </a:rPr>
              <a:t>Air suspension warning</a:t>
            </a:r>
            <a:endParaRPr lang="en-US" sz="1150" dirty="0"/>
          </a:p>
        </p:txBody>
      </p:sp>
      <p:sp>
        <p:nvSpPr>
          <p:cNvPr id="85" name="ref_num_bg_360"/>
          <p:cNvSpPr/>
          <p:nvPr/>
        </p:nvSpPr>
        <p:spPr>
          <a:xfrm>
            <a:off x="6684264" y="2350008"/>
            <a:ext cx="329184" cy="329184"/>
          </a:xfrm>
          <a:prstGeom prst="ellipse">
            <a:avLst/>
          </a:prstGeom>
          <a:solidFill>
            <a:srgbClr val="FFB000"/>
          </a:solidFill>
          <a:ln/>
        </p:spPr>
      </p:sp>
      <p:sp>
        <p:nvSpPr>
          <p:cNvPr id="86" name="ref_num_361"/>
          <p:cNvSpPr txBox="1"/>
          <p:nvPr/>
        </p:nvSpPr>
        <p:spPr>
          <a:xfrm>
            <a:off x="6684264" y="2350008"/>
            <a:ext cx="329184" cy="329184"/>
          </a:xfrm>
          <a:prstGeom prst="rect">
            <a:avLst/>
          </a:prstGeom>
          <a:noFill/>
          <a:ln/>
        </p:spPr>
        <p:txBody>
          <a:bodyPr wrap="square" lIns="0" tIns="0" rIns="0" bIns="0" rtlCol="0" anchor="ctr"/>
          <a:lstStyle/>
          <a:p>
            <a:pPr algn="ctr" indent="0" marL="0">
              <a:buNone/>
            </a:pPr>
            <a:r>
              <a:rPr lang="en-US" sz="1000" b="1" dirty="0">
                <a:solidFill>
                  <a:srgbClr val="0F1215"/>
                </a:solidFill>
              </a:rPr>
              <a:t>28</a:t>
            </a:r>
            <a:endParaRPr lang="en-US" sz="1000" dirty="0"/>
          </a:p>
        </p:txBody>
      </p:sp>
      <p:sp>
        <p:nvSpPr>
          <p:cNvPr id="87" name="ref_label_362"/>
          <p:cNvSpPr txBox="1"/>
          <p:nvPr/>
        </p:nvSpPr>
        <p:spPr>
          <a:xfrm>
            <a:off x="7086600" y="2286000"/>
            <a:ext cx="1627632" cy="457200"/>
          </a:xfrm>
          <a:prstGeom prst="rect">
            <a:avLst/>
          </a:prstGeom>
          <a:noFill/>
          <a:ln/>
        </p:spPr>
        <p:txBody>
          <a:bodyPr wrap="square" lIns="0" tIns="0" rIns="0" bIns="0" rtlCol="0" anchor="ctr"/>
          <a:lstStyle/>
          <a:p>
            <a:pPr indent="0" marL="0">
              <a:buNone/>
            </a:pPr>
            <a:r>
              <a:rPr lang="en-US" sz="1150" dirty="0">
                <a:solidFill>
                  <a:srgbClr val="FFFFFF"/>
                </a:solidFill>
              </a:rPr>
              <a:t>Lane departure warning</a:t>
            </a:r>
            <a:endParaRPr lang="en-US" sz="1150" dirty="0"/>
          </a:p>
        </p:txBody>
      </p:sp>
      <p:sp>
        <p:nvSpPr>
          <p:cNvPr id="88" name="ref_num_bg_363"/>
          <p:cNvSpPr/>
          <p:nvPr/>
        </p:nvSpPr>
        <p:spPr>
          <a:xfrm>
            <a:off x="6684264" y="2807208"/>
            <a:ext cx="329184" cy="329184"/>
          </a:xfrm>
          <a:prstGeom prst="ellipse">
            <a:avLst/>
          </a:prstGeom>
          <a:solidFill>
            <a:srgbClr val="FFB000"/>
          </a:solidFill>
          <a:ln/>
        </p:spPr>
      </p:sp>
      <p:sp>
        <p:nvSpPr>
          <p:cNvPr id="89" name="ref_num_364"/>
          <p:cNvSpPr txBox="1"/>
          <p:nvPr/>
        </p:nvSpPr>
        <p:spPr>
          <a:xfrm>
            <a:off x="6684264" y="2807208"/>
            <a:ext cx="329184" cy="329184"/>
          </a:xfrm>
          <a:prstGeom prst="rect">
            <a:avLst/>
          </a:prstGeom>
          <a:noFill/>
          <a:ln/>
        </p:spPr>
        <p:txBody>
          <a:bodyPr wrap="square" lIns="0" tIns="0" rIns="0" bIns="0" rtlCol="0" anchor="ctr"/>
          <a:lstStyle/>
          <a:p>
            <a:pPr algn="ctr" indent="0" marL="0">
              <a:buNone/>
            </a:pPr>
            <a:r>
              <a:rPr lang="en-US" sz="1000" b="1" dirty="0">
                <a:solidFill>
                  <a:srgbClr val="0F1215"/>
                </a:solidFill>
              </a:rPr>
              <a:t>29</a:t>
            </a:r>
            <a:endParaRPr lang="en-US" sz="1000" dirty="0"/>
          </a:p>
        </p:txBody>
      </p:sp>
      <p:sp>
        <p:nvSpPr>
          <p:cNvPr id="90" name="ref_label_365"/>
          <p:cNvSpPr txBox="1"/>
          <p:nvPr/>
        </p:nvSpPr>
        <p:spPr>
          <a:xfrm>
            <a:off x="7086600" y="2743200"/>
            <a:ext cx="1627632" cy="457200"/>
          </a:xfrm>
          <a:prstGeom prst="rect">
            <a:avLst/>
          </a:prstGeom>
          <a:noFill/>
          <a:ln/>
        </p:spPr>
        <p:txBody>
          <a:bodyPr wrap="square" lIns="0" tIns="0" rIns="0" bIns="0" rtlCol="0" anchor="ctr"/>
          <a:lstStyle/>
          <a:p>
            <a:pPr indent="0" marL="0">
              <a:buNone/>
            </a:pPr>
            <a:r>
              <a:rPr lang="en-US" sz="1150" dirty="0">
                <a:solidFill>
                  <a:srgbClr val="FFFFFF"/>
                </a:solidFill>
              </a:rPr>
              <a:t>Catalytic converter warning</a:t>
            </a:r>
            <a:endParaRPr lang="en-US" sz="1150" dirty="0"/>
          </a:p>
        </p:txBody>
      </p:sp>
      <p:sp>
        <p:nvSpPr>
          <p:cNvPr id="91" name="ref_num_bg_366"/>
          <p:cNvSpPr/>
          <p:nvPr/>
        </p:nvSpPr>
        <p:spPr>
          <a:xfrm>
            <a:off x="6684264" y="3264408"/>
            <a:ext cx="329184" cy="329184"/>
          </a:xfrm>
          <a:prstGeom prst="ellipse">
            <a:avLst/>
          </a:prstGeom>
          <a:solidFill>
            <a:srgbClr val="FFB000"/>
          </a:solidFill>
          <a:ln/>
        </p:spPr>
      </p:sp>
      <p:sp>
        <p:nvSpPr>
          <p:cNvPr id="92" name="ref_num_367"/>
          <p:cNvSpPr txBox="1"/>
          <p:nvPr/>
        </p:nvSpPr>
        <p:spPr>
          <a:xfrm>
            <a:off x="6684264" y="3264408"/>
            <a:ext cx="329184" cy="329184"/>
          </a:xfrm>
          <a:prstGeom prst="rect">
            <a:avLst/>
          </a:prstGeom>
          <a:noFill/>
          <a:ln/>
        </p:spPr>
        <p:txBody>
          <a:bodyPr wrap="square" lIns="0" tIns="0" rIns="0" bIns="0" rtlCol="0" anchor="ctr"/>
          <a:lstStyle/>
          <a:p>
            <a:pPr algn="ctr" indent="0" marL="0">
              <a:buNone/>
            </a:pPr>
            <a:r>
              <a:rPr lang="en-US" sz="1000" b="1" dirty="0">
                <a:solidFill>
                  <a:srgbClr val="0F1215"/>
                </a:solidFill>
              </a:rPr>
              <a:t>30</a:t>
            </a:r>
            <a:endParaRPr lang="en-US" sz="1000" dirty="0"/>
          </a:p>
        </p:txBody>
      </p:sp>
      <p:sp>
        <p:nvSpPr>
          <p:cNvPr id="93" name="ref_label_368"/>
          <p:cNvSpPr txBox="1"/>
          <p:nvPr/>
        </p:nvSpPr>
        <p:spPr>
          <a:xfrm>
            <a:off x="7086600" y="3200400"/>
            <a:ext cx="1627632" cy="457200"/>
          </a:xfrm>
          <a:prstGeom prst="rect">
            <a:avLst/>
          </a:prstGeom>
          <a:noFill/>
          <a:ln/>
        </p:spPr>
        <p:txBody>
          <a:bodyPr wrap="square" lIns="0" tIns="0" rIns="0" bIns="0" rtlCol="0" anchor="ctr"/>
          <a:lstStyle/>
          <a:p>
            <a:pPr indent="0" marL="0">
              <a:buNone/>
            </a:pPr>
            <a:r>
              <a:rPr lang="en-US" sz="1150" dirty="0">
                <a:solidFill>
                  <a:srgbClr val="FFFFFF"/>
                </a:solidFill>
              </a:rPr>
              <a:t>Seat belt not on</a:t>
            </a:r>
            <a:endParaRPr lang="en-US" sz="1150" dirty="0"/>
          </a:p>
        </p:txBody>
      </p:sp>
      <p:sp>
        <p:nvSpPr>
          <p:cNvPr id="94" name="ref_num_bg_369"/>
          <p:cNvSpPr/>
          <p:nvPr/>
        </p:nvSpPr>
        <p:spPr>
          <a:xfrm>
            <a:off x="6684264" y="3721608"/>
            <a:ext cx="329184" cy="329184"/>
          </a:xfrm>
          <a:prstGeom prst="ellipse">
            <a:avLst/>
          </a:prstGeom>
          <a:solidFill>
            <a:srgbClr val="FFB000"/>
          </a:solidFill>
          <a:ln/>
        </p:spPr>
      </p:sp>
      <p:sp>
        <p:nvSpPr>
          <p:cNvPr id="95" name="ref_num_370"/>
          <p:cNvSpPr txBox="1"/>
          <p:nvPr/>
        </p:nvSpPr>
        <p:spPr>
          <a:xfrm>
            <a:off x="6684264" y="3721608"/>
            <a:ext cx="329184" cy="329184"/>
          </a:xfrm>
          <a:prstGeom prst="rect">
            <a:avLst/>
          </a:prstGeom>
          <a:noFill/>
          <a:ln/>
        </p:spPr>
        <p:txBody>
          <a:bodyPr wrap="square" lIns="0" tIns="0" rIns="0" bIns="0" rtlCol="0" anchor="ctr"/>
          <a:lstStyle/>
          <a:p>
            <a:pPr algn="ctr" indent="0" marL="0">
              <a:buNone/>
            </a:pPr>
            <a:r>
              <a:rPr lang="en-US" sz="1000" b="1" dirty="0">
                <a:solidFill>
                  <a:srgbClr val="0F1215"/>
                </a:solidFill>
              </a:rPr>
              <a:t>31</a:t>
            </a:r>
            <a:endParaRPr lang="en-US" sz="1000" dirty="0"/>
          </a:p>
        </p:txBody>
      </p:sp>
      <p:sp>
        <p:nvSpPr>
          <p:cNvPr id="96" name="ref_label_371"/>
          <p:cNvSpPr txBox="1"/>
          <p:nvPr/>
        </p:nvSpPr>
        <p:spPr>
          <a:xfrm>
            <a:off x="7086600" y="3657600"/>
            <a:ext cx="1627632" cy="457200"/>
          </a:xfrm>
          <a:prstGeom prst="rect">
            <a:avLst/>
          </a:prstGeom>
          <a:noFill/>
          <a:ln/>
        </p:spPr>
        <p:txBody>
          <a:bodyPr wrap="square" lIns="0" tIns="0" rIns="0" bIns="0" rtlCol="0" anchor="ctr"/>
          <a:lstStyle/>
          <a:p>
            <a:pPr indent="0" marL="0">
              <a:buNone/>
            </a:pPr>
            <a:r>
              <a:rPr lang="en-US" sz="1150" dirty="0">
                <a:solidFill>
                  <a:srgbClr val="FFFFFF"/>
                </a:solidFill>
              </a:rPr>
              <a:t>Parking brake light</a:t>
            </a:r>
            <a:endParaRPr lang="en-US" sz="1150" dirty="0"/>
          </a:p>
        </p:txBody>
      </p:sp>
      <p:sp>
        <p:nvSpPr>
          <p:cNvPr id="97" name="ref_num_bg_372"/>
          <p:cNvSpPr/>
          <p:nvPr/>
        </p:nvSpPr>
        <p:spPr>
          <a:xfrm>
            <a:off x="6684264" y="4178808"/>
            <a:ext cx="329184" cy="329184"/>
          </a:xfrm>
          <a:prstGeom prst="ellipse">
            <a:avLst/>
          </a:prstGeom>
          <a:solidFill>
            <a:srgbClr val="FFB000"/>
          </a:solidFill>
          <a:ln/>
        </p:spPr>
      </p:sp>
      <p:sp>
        <p:nvSpPr>
          <p:cNvPr id="98" name="ref_num_373"/>
          <p:cNvSpPr txBox="1"/>
          <p:nvPr/>
        </p:nvSpPr>
        <p:spPr>
          <a:xfrm>
            <a:off x="6684264" y="4178808"/>
            <a:ext cx="329184" cy="329184"/>
          </a:xfrm>
          <a:prstGeom prst="rect">
            <a:avLst/>
          </a:prstGeom>
          <a:noFill/>
          <a:ln/>
        </p:spPr>
        <p:txBody>
          <a:bodyPr wrap="square" lIns="0" tIns="0" rIns="0" bIns="0" rtlCol="0" anchor="ctr"/>
          <a:lstStyle/>
          <a:p>
            <a:pPr algn="ctr" indent="0" marL="0">
              <a:buNone/>
            </a:pPr>
            <a:r>
              <a:rPr lang="en-US" sz="1000" b="1" dirty="0">
                <a:solidFill>
                  <a:srgbClr val="0F1215"/>
                </a:solidFill>
              </a:rPr>
              <a:t>32</a:t>
            </a:r>
            <a:endParaRPr lang="en-US" sz="1000" dirty="0"/>
          </a:p>
        </p:txBody>
      </p:sp>
      <p:sp>
        <p:nvSpPr>
          <p:cNvPr id="99" name="ref_label_374"/>
          <p:cNvSpPr txBox="1"/>
          <p:nvPr/>
        </p:nvSpPr>
        <p:spPr>
          <a:xfrm>
            <a:off x="7086600" y="4114800"/>
            <a:ext cx="1627632" cy="457200"/>
          </a:xfrm>
          <a:prstGeom prst="rect">
            <a:avLst/>
          </a:prstGeom>
          <a:noFill/>
          <a:ln/>
        </p:spPr>
        <p:txBody>
          <a:bodyPr wrap="square" lIns="0" tIns="0" rIns="0" bIns="0" rtlCol="0" anchor="ctr"/>
          <a:lstStyle/>
          <a:p>
            <a:pPr indent="0" marL="0">
              <a:buNone/>
            </a:pPr>
            <a:r>
              <a:rPr lang="en-US" sz="1150" dirty="0">
                <a:solidFill>
                  <a:srgbClr val="FFFFFF"/>
                </a:solidFill>
              </a:rPr>
              <a:t>Battery / alternator</a:t>
            </a:r>
            <a:endParaRPr lang="en-US" sz="1150" dirty="0"/>
          </a:p>
        </p:txBody>
      </p:sp>
      <p:sp>
        <p:nvSpPr>
          <p:cNvPr id="25" name="Slide Number Placeholder 0"/>
          <p:cNvSpPr>
            <a:spLocks noGrp="1"/>
          </p:cNvSpPr>
          <p:nvPr>
            <p:ph type="sldNum" sz="quarter" idx="4294967295"/>
          </p:nvPr>
        </p:nvSpPr>
        <p:spPr>
          <a:xfrm>
            <a:off x="8275320" y="4818888"/>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9E"/>
                </a:solidFill>
              </a:defRPr>
            </a:lvl1pPr>
          </a:lstStyle>
          <a:p>
            <a:pPr algn="r"/>
            <a:fld id="{F7021451-1387-4CA6-816F-3879F97B5CBC}" type="slidenum">
              <a:rPr b="0" lang="en-US"/>
              <a:t>11</a:t>
            </a:fld>
            <a:endParaRPr lang="en-US"/>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01168"/>
            <a:ext cx="8229600" cy="566928"/>
          </a:xfrm>
          <a:prstGeom prst="rect">
            <a:avLst/>
          </a:prstGeom>
          <a:noFill/>
          <a:ln/>
        </p:spPr>
        <p:txBody>
          <a:bodyPr wrap="square" lIns="0" tIns="0" rIns="0" bIns="0" rtlCol="0" anchor="ctr"/>
          <a:lstStyle/>
          <a:p>
            <a:pPr indent="0" marL="0">
              <a:buNone/>
            </a:pPr>
            <a:r>
              <a:rPr lang="en-US" sz="2600" b="1" dirty="0">
                <a:solidFill>
                  <a:schemeClr val="bg1"/>
                </a:solidFill>
              </a:rPr>
              <a:t>Complete Dashboard Reference (33–64)</a:t>
            </a:r>
            <a:endParaRPr lang="en-US" sz="2600" dirty="0"/>
          </a:p>
        </p:txBody>
      </p:sp>
      <p:sp>
        <p:nvSpPr>
          <p:cNvPr id="4" name="ref_num_bg_375"/>
          <p:cNvSpPr/>
          <p:nvPr/>
        </p:nvSpPr>
        <p:spPr>
          <a:xfrm>
            <a:off x="457200" y="978408"/>
            <a:ext cx="329184" cy="329184"/>
          </a:xfrm>
          <a:prstGeom prst="ellipse">
            <a:avLst/>
          </a:prstGeom>
          <a:solidFill>
            <a:srgbClr val="FFB000"/>
          </a:solidFill>
          <a:ln/>
        </p:spPr>
      </p:sp>
      <p:sp>
        <p:nvSpPr>
          <p:cNvPr id="5" name="ref_num_376"/>
          <p:cNvSpPr txBox="1"/>
          <p:nvPr/>
        </p:nvSpPr>
        <p:spPr>
          <a:xfrm>
            <a:off x="457200" y="978408"/>
            <a:ext cx="329184" cy="329184"/>
          </a:xfrm>
          <a:prstGeom prst="rect">
            <a:avLst/>
          </a:prstGeom>
          <a:noFill/>
          <a:ln/>
        </p:spPr>
        <p:txBody>
          <a:bodyPr wrap="square" lIns="0" tIns="0" rIns="0" bIns="0" rtlCol="0" anchor="ctr"/>
          <a:lstStyle/>
          <a:p>
            <a:pPr algn="ctr" indent="0" marL="0">
              <a:buNone/>
            </a:pPr>
            <a:r>
              <a:rPr lang="en-US" sz="1000" b="1" dirty="0">
                <a:solidFill>
                  <a:srgbClr val="0F1215"/>
                </a:solidFill>
              </a:rPr>
              <a:t>33</a:t>
            </a:r>
            <a:endParaRPr lang="en-US" sz="1000" dirty="0"/>
          </a:p>
        </p:txBody>
      </p:sp>
      <p:sp>
        <p:nvSpPr>
          <p:cNvPr id="6" name="ref_label_377"/>
          <p:cNvSpPr txBox="1"/>
          <p:nvPr/>
        </p:nvSpPr>
        <p:spPr>
          <a:xfrm>
            <a:off x="859536" y="914400"/>
            <a:ext cx="1627632" cy="457200"/>
          </a:xfrm>
          <a:prstGeom prst="rect">
            <a:avLst/>
          </a:prstGeom>
          <a:noFill/>
          <a:ln/>
        </p:spPr>
        <p:txBody>
          <a:bodyPr wrap="square" lIns="0" tIns="0" rIns="0" bIns="0" rtlCol="0" anchor="ctr"/>
          <a:lstStyle/>
          <a:p>
            <a:pPr indent="0" marL="0">
              <a:buNone/>
            </a:pPr>
            <a:r>
              <a:rPr lang="en-US" sz="1150" dirty="0">
                <a:solidFill>
                  <a:srgbClr val="FFFFFF"/>
                </a:solidFill>
              </a:rPr>
              <a:t>Parking assist</a:t>
            </a:r>
            <a:endParaRPr lang="en-US" sz="1150" dirty="0"/>
          </a:p>
        </p:txBody>
      </p:sp>
      <p:sp>
        <p:nvSpPr>
          <p:cNvPr id="7" name="ref_num_bg_378"/>
          <p:cNvSpPr/>
          <p:nvPr/>
        </p:nvSpPr>
        <p:spPr>
          <a:xfrm>
            <a:off x="457200" y="1435608"/>
            <a:ext cx="329184" cy="329184"/>
          </a:xfrm>
          <a:prstGeom prst="ellipse">
            <a:avLst/>
          </a:prstGeom>
          <a:solidFill>
            <a:srgbClr val="FFB000"/>
          </a:solidFill>
          <a:ln/>
        </p:spPr>
      </p:sp>
      <p:sp>
        <p:nvSpPr>
          <p:cNvPr id="8" name="ref_num_379"/>
          <p:cNvSpPr txBox="1"/>
          <p:nvPr/>
        </p:nvSpPr>
        <p:spPr>
          <a:xfrm>
            <a:off x="457200" y="1435608"/>
            <a:ext cx="329184" cy="329184"/>
          </a:xfrm>
          <a:prstGeom prst="rect">
            <a:avLst/>
          </a:prstGeom>
          <a:noFill/>
          <a:ln/>
        </p:spPr>
        <p:txBody>
          <a:bodyPr wrap="square" lIns="0" tIns="0" rIns="0" bIns="0" rtlCol="0" anchor="ctr"/>
          <a:lstStyle/>
          <a:p>
            <a:pPr algn="ctr" indent="0" marL="0">
              <a:buNone/>
            </a:pPr>
            <a:r>
              <a:rPr lang="en-US" sz="1000" b="1" dirty="0">
                <a:solidFill>
                  <a:srgbClr val="0F1215"/>
                </a:solidFill>
              </a:rPr>
              <a:t>34</a:t>
            </a:r>
            <a:endParaRPr lang="en-US" sz="1000" dirty="0"/>
          </a:p>
        </p:txBody>
      </p:sp>
      <p:sp>
        <p:nvSpPr>
          <p:cNvPr id="9" name="ref_label_380"/>
          <p:cNvSpPr txBox="1"/>
          <p:nvPr/>
        </p:nvSpPr>
        <p:spPr>
          <a:xfrm>
            <a:off x="859536" y="1371600"/>
            <a:ext cx="1627632" cy="457200"/>
          </a:xfrm>
          <a:prstGeom prst="rect">
            <a:avLst/>
          </a:prstGeom>
          <a:noFill/>
          <a:ln/>
        </p:spPr>
        <p:txBody>
          <a:bodyPr wrap="square" lIns="0" tIns="0" rIns="0" bIns="0" rtlCol="0" anchor="ctr"/>
          <a:lstStyle/>
          <a:p>
            <a:pPr indent="0" marL="0">
              <a:buNone/>
            </a:pPr>
            <a:r>
              <a:rPr lang="en-US" sz="1150" dirty="0">
                <a:solidFill>
                  <a:srgbClr val="FFFFFF"/>
                </a:solidFill>
              </a:rPr>
              <a:t>Service required</a:t>
            </a:r>
            <a:endParaRPr lang="en-US" sz="1150" dirty="0"/>
          </a:p>
        </p:txBody>
      </p:sp>
      <p:sp>
        <p:nvSpPr>
          <p:cNvPr id="10" name="ref_num_bg_381"/>
          <p:cNvSpPr/>
          <p:nvPr/>
        </p:nvSpPr>
        <p:spPr>
          <a:xfrm>
            <a:off x="457200" y="1892808"/>
            <a:ext cx="329184" cy="329184"/>
          </a:xfrm>
          <a:prstGeom prst="ellipse">
            <a:avLst/>
          </a:prstGeom>
          <a:solidFill>
            <a:srgbClr val="FFB000"/>
          </a:solidFill>
          <a:ln/>
        </p:spPr>
      </p:sp>
      <p:sp>
        <p:nvSpPr>
          <p:cNvPr id="11" name="ref_num_382"/>
          <p:cNvSpPr txBox="1"/>
          <p:nvPr/>
        </p:nvSpPr>
        <p:spPr>
          <a:xfrm>
            <a:off x="457200" y="1892808"/>
            <a:ext cx="329184" cy="329184"/>
          </a:xfrm>
          <a:prstGeom prst="rect">
            <a:avLst/>
          </a:prstGeom>
          <a:noFill/>
          <a:ln/>
        </p:spPr>
        <p:txBody>
          <a:bodyPr wrap="square" lIns="0" tIns="0" rIns="0" bIns="0" rtlCol="0" anchor="ctr"/>
          <a:lstStyle/>
          <a:p>
            <a:pPr algn="ctr" indent="0" marL="0">
              <a:buNone/>
            </a:pPr>
            <a:r>
              <a:rPr lang="en-US" sz="1000" b="1" dirty="0">
                <a:solidFill>
                  <a:srgbClr val="0F1215"/>
                </a:solidFill>
              </a:rPr>
              <a:t>35</a:t>
            </a:r>
            <a:endParaRPr lang="en-US" sz="1000" dirty="0"/>
          </a:p>
        </p:txBody>
      </p:sp>
      <p:sp>
        <p:nvSpPr>
          <p:cNvPr id="12" name="ref_label_383"/>
          <p:cNvSpPr txBox="1"/>
          <p:nvPr/>
        </p:nvSpPr>
        <p:spPr>
          <a:xfrm>
            <a:off x="859536" y="1828800"/>
            <a:ext cx="1627632" cy="457200"/>
          </a:xfrm>
          <a:prstGeom prst="rect">
            <a:avLst/>
          </a:prstGeom>
          <a:noFill/>
          <a:ln/>
        </p:spPr>
        <p:txBody>
          <a:bodyPr wrap="square" lIns="0" tIns="0" rIns="0" bIns="0" rtlCol="0" anchor="ctr"/>
          <a:lstStyle/>
          <a:p>
            <a:pPr indent="0" marL="0">
              <a:buNone/>
            </a:pPr>
            <a:r>
              <a:rPr lang="en-US" sz="1150" dirty="0">
                <a:solidFill>
                  <a:srgbClr val="FFFFFF"/>
                </a:solidFill>
              </a:rPr>
              <a:t>Adaptive lighting</a:t>
            </a:r>
            <a:endParaRPr lang="en-US" sz="1150" dirty="0"/>
          </a:p>
        </p:txBody>
      </p:sp>
      <p:sp>
        <p:nvSpPr>
          <p:cNvPr id="13" name="ref_num_bg_384"/>
          <p:cNvSpPr/>
          <p:nvPr/>
        </p:nvSpPr>
        <p:spPr>
          <a:xfrm>
            <a:off x="457200" y="2350008"/>
            <a:ext cx="329184" cy="329184"/>
          </a:xfrm>
          <a:prstGeom prst="ellipse">
            <a:avLst/>
          </a:prstGeom>
          <a:solidFill>
            <a:srgbClr val="FFB000"/>
          </a:solidFill>
          <a:ln/>
        </p:spPr>
      </p:sp>
      <p:sp>
        <p:nvSpPr>
          <p:cNvPr id="14" name="ref_num_385"/>
          <p:cNvSpPr txBox="1"/>
          <p:nvPr/>
        </p:nvSpPr>
        <p:spPr>
          <a:xfrm>
            <a:off x="457200" y="2350008"/>
            <a:ext cx="329184" cy="329184"/>
          </a:xfrm>
          <a:prstGeom prst="rect">
            <a:avLst/>
          </a:prstGeom>
          <a:noFill/>
          <a:ln/>
        </p:spPr>
        <p:txBody>
          <a:bodyPr wrap="square" lIns="0" tIns="0" rIns="0" bIns="0" rtlCol="0" anchor="ctr"/>
          <a:lstStyle/>
          <a:p>
            <a:pPr algn="ctr" indent="0" marL="0">
              <a:buNone/>
            </a:pPr>
            <a:r>
              <a:rPr lang="en-US" sz="1000" b="1" dirty="0">
                <a:solidFill>
                  <a:srgbClr val="0F1215"/>
                </a:solidFill>
              </a:rPr>
              <a:t>36</a:t>
            </a:r>
            <a:endParaRPr lang="en-US" sz="1000" dirty="0"/>
          </a:p>
        </p:txBody>
      </p:sp>
      <p:sp>
        <p:nvSpPr>
          <p:cNvPr id="15" name="ref_label_386"/>
          <p:cNvSpPr txBox="1"/>
          <p:nvPr/>
        </p:nvSpPr>
        <p:spPr>
          <a:xfrm>
            <a:off x="859536" y="2286000"/>
            <a:ext cx="1627632" cy="457200"/>
          </a:xfrm>
          <a:prstGeom prst="rect">
            <a:avLst/>
          </a:prstGeom>
          <a:noFill/>
          <a:ln/>
        </p:spPr>
        <p:txBody>
          <a:bodyPr wrap="square" lIns="0" tIns="0" rIns="0" bIns="0" rtlCol="0" anchor="ctr"/>
          <a:lstStyle/>
          <a:p>
            <a:pPr indent="0" marL="0">
              <a:buNone/>
            </a:pPr>
            <a:r>
              <a:rPr lang="en-US" sz="1150" dirty="0">
                <a:solidFill>
                  <a:srgbClr val="FFFFFF"/>
                </a:solidFill>
              </a:rPr>
              <a:t>Headlight range control</a:t>
            </a:r>
            <a:endParaRPr lang="en-US" sz="1150" dirty="0"/>
          </a:p>
        </p:txBody>
      </p:sp>
      <p:sp>
        <p:nvSpPr>
          <p:cNvPr id="16" name="ref_num_bg_387"/>
          <p:cNvSpPr/>
          <p:nvPr/>
        </p:nvSpPr>
        <p:spPr>
          <a:xfrm>
            <a:off x="457200" y="2807208"/>
            <a:ext cx="329184" cy="329184"/>
          </a:xfrm>
          <a:prstGeom prst="ellipse">
            <a:avLst/>
          </a:prstGeom>
          <a:solidFill>
            <a:srgbClr val="FFB000"/>
          </a:solidFill>
          <a:ln/>
        </p:spPr>
      </p:sp>
      <p:sp>
        <p:nvSpPr>
          <p:cNvPr id="17" name="ref_num_388"/>
          <p:cNvSpPr txBox="1"/>
          <p:nvPr/>
        </p:nvSpPr>
        <p:spPr>
          <a:xfrm>
            <a:off x="457200" y="2807208"/>
            <a:ext cx="329184" cy="329184"/>
          </a:xfrm>
          <a:prstGeom prst="rect">
            <a:avLst/>
          </a:prstGeom>
          <a:noFill/>
          <a:ln/>
        </p:spPr>
        <p:txBody>
          <a:bodyPr wrap="square" lIns="0" tIns="0" rIns="0" bIns="0" rtlCol="0" anchor="ctr"/>
          <a:lstStyle/>
          <a:p>
            <a:pPr algn="ctr" indent="0" marL="0">
              <a:buNone/>
            </a:pPr>
            <a:r>
              <a:rPr lang="en-US" sz="1000" b="1" dirty="0">
                <a:solidFill>
                  <a:srgbClr val="0F1215"/>
                </a:solidFill>
              </a:rPr>
              <a:t>37</a:t>
            </a:r>
            <a:endParaRPr lang="en-US" sz="1000" dirty="0"/>
          </a:p>
        </p:txBody>
      </p:sp>
      <p:sp>
        <p:nvSpPr>
          <p:cNvPr id="18" name="ref_label_389"/>
          <p:cNvSpPr txBox="1"/>
          <p:nvPr/>
        </p:nvSpPr>
        <p:spPr>
          <a:xfrm>
            <a:off x="859536" y="2743200"/>
            <a:ext cx="1627632" cy="457200"/>
          </a:xfrm>
          <a:prstGeom prst="rect">
            <a:avLst/>
          </a:prstGeom>
          <a:noFill/>
          <a:ln/>
        </p:spPr>
        <p:txBody>
          <a:bodyPr wrap="square" lIns="0" tIns="0" rIns="0" bIns="0" rtlCol="0" anchor="ctr"/>
          <a:lstStyle/>
          <a:p>
            <a:pPr indent="0" marL="0">
              <a:buNone/>
            </a:pPr>
            <a:r>
              <a:rPr lang="en-US" sz="1150" dirty="0">
                <a:solidFill>
                  <a:srgbClr val="FFFFFF"/>
                </a:solidFill>
              </a:rPr>
              <a:t>Rear spoiler warning</a:t>
            </a:r>
            <a:endParaRPr lang="en-US" sz="1150" dirty="0"/>
          </a:p>
        </p:txBody>
      </p:sp>
      <p:sp>
        <p:nvSpPr>
          <p:cNvPr id="19" name="ref_num_bg_390"/>
          <p:cNvSpPr/>
          <p:nvPr/>
        </p:nvSpPr>
        <p:spPr>
          <a:xfrm>
            <a:off x="457200" y="3264408"/>
            <a:ext cx="329184" cy="329184"/>
          </a:xfrm>
          <a:prstGeom prst="ellipse">
            <a:avLst/>
          </a:prstGeom>
          <a:solidFill>
            <a:srgbClr val="FFB000"/>
          </a:solidFill>
          <a:ln/>
        </p:spPr>
      </p:sp>
      <p:sp>
        <p:nvSpPr>
          <p:cNvPr id="20" name="ref_num_391"/>
          <p:cNvSpPr txBox="1"/>
          <p:nvPr/>
        </p:nvSpPr>
        <p:spPr>
          <a:xfrm>
            <a:off x="457200" y="3264408"/>
            <a:ext cx="329184" cy="329184"/>
          </a:xfrm>
          <a:prstGeom prst="rect">
            <a:avLst/>
          </a:prstGeom>
          <a:noFill/>
          <a:ln/>
        </p:spPr>
        <p:txBody>
          <a:bodyPr wrap="square" lIns="0" tIns="0" rIns="0" bIns="0" rtlCol="0" anchor="ctr"/>
          <a:lstStyle/>
          <a:p>
            <a:pPr algn="ctr" indent="0" marL="0">
              <a:buNone/>
            </a:pPr>
            <a:r>
              <a:rPr lang="en-US" sz="1000" b="1" dirty="0">
                <a:solidFill>
                  <a:srgbClr val="0F1215"/>
                </a:solidFill>
              </a:rPr>
              <a:t>38</a:t>
            </a:r>
            <a:endParaRPr lang="en-US" sz="1000" dirty="0"/>
          </a:p>
        </p:txBody>
      </p:sp>
      <p:sp>
        <p:nvSpPr>
          <p:cNvPr id="21" name="ref_label_392"/>
          <p:cNvSpPr txBox="1"/>
          <p:nvPr/>
        </p:nvSpPr>
        <p:spPr>
          <a:xfrm>
            <a:off x="859536" y="3200400"/>
            <a:ext cx="1627632" cy="457200"/>
          </a:xfrm>
          <a:prstGeom prst="rect">
            <a:avLst/>
          </a:prstGeom>
          <a:noFill/>
          <a:ln/>
        </p:spPr>
        <p:txBody>
          <a:bodyPr wrap="square" lIns="0" tIns="0" rIns="0" bIns="0" rtlCol="0" anchor="ctr"/>
          <a:lstStyle/>
          <a:p>
            <a:pPr indent="0" marL="0">
              <a:buNone/>
            </a:pPr>
            <a:r>
              <a:rPr lang="en-US" sz="1150" dirty="0">
                <a:solidFill>
                  <a:srgbClr val="FFFFFF"/>
                </a:solidFill>
              </a:rPr>
              <a:t>Convertible roof warning</a:t>
            </a:r>
            <a:endParaRPr lang="en-US" sz="1150" dirty="0"/>
          </a:p>
        </p:txBody>
      </p:sp>
      <p:sp>
        <p:nvSpPr>
          <p:cNvPr id="22" name="ref_num_bg_393"/>
          <p:cNvSpPr/>
          <p:nvPr/>
        </p:nvSpPr>
        <p:spPr>
          <a:xfrm>
            <a:off x="457200" y="3721608"/>
            <a:ext cx="329184" cy="329184"/>
          </a:xfrm>
          <a:prstGeom prst="ellipse">
            <a:avLst/>
          </a:prstGeom>
          <a:solidFill>
            <a:srgbClr val="FFB000"/>
          </a:solidFill>
          <a:ln/>
        </p:spPr>
      </p:sp>
      <p:sp>
        <p:nvSpPr>
          <p:cNvPr id="23" name="ref_num_394"/>
          <p:cNvSpPr txBox="1"/>
          <p:nvPr/>
        </p:nvSpPr>
        <p:spPr>
          <a:xfrm>
            <a:off x="457200" y="3721608"/>
            <a:ext cx="329184" cy="329184"/>
          </a:xfrm>
          <a:prstGeom prst="rect">
            <a:avLst/>
          </a:prstGeom>
          <a:noFill/>
          <a:ln/>
        </p:spPr>
        <p:txBody>
          <a:bodyPr wrap="square" lIns="0" tIns="0" rIns="0" bIns="0" rtlCol="0" anchor="ctr"/>
          <a:lstStyle/>
          <a:p>
            <a:pPr algn="ctr" indent="0" marL="0">
              <a:buNone/>
            </a:pPr>
            <a:r>
              <a:rPr lang="en-US" sz="1000" b="1" dirty="0">
                <a:solidFill>
                  <a:srgbClr val="0F1215"/>
                </a:solidFill>
              </a:rPr>
              <a:t>39</a:t>
            </a:r>
            <a:endParaRPr lang="en-US" sz="1000" dirty="0"/>
          </a:p>
        </p:txBody>
      </p:sp>
      <p:sp>
        <p:nvSpPr>
          <p:cNvPr id="24" name="ref_label_395"/>
          <p:cNvSpPr txBox="1"/>
          <p:nvPr/>
        </p:nvSpPr>
        <p:spPr>
          <a:xfrm>
            <a:off x="859536" y="3657600"/>
            <a:ext cx="1627632" cy="457200"/>
          </a:xfrm>
          <a:prstGeom prst="rect">
            <a:avLst/>
          </a:prstGeom>
          <a:noFill/>
          <a:ln/>
        </p:spPr>
        <p:txBody>
          <a:bodyPr wrap="square" lIns="0" tIns="0" rIns="0" bIns="0" rtlCol="0" anchor="ctr"/>
          <a:lstStyle/>
          <a:p>
            <a:pPr indent="0" marL="0">
              <a:buNone/>
            </a:pPr>
            <a:r>
              <a:rPr lang="en-US" sz="1150" dirty="0">
                <a:solidFill>
                  <a:srgbClr val="FFFFFF"/>
                </a:solidFill>
              </a:rPr>
              <a:t>Airbag warning</a:t>
            </a:r>
            <a:endParaRPr lang="en-US" sz="1150" dirty="0"/>
          </a:p>
        </p:txBody>
      </p:sp>
      <p:sp>
        <p:nvSpPr>
          <p:cNvPr id="25" name="ref_num_bg_396"/>
          <p:cNvSpPr/>
          <p:nvPr/>
        </p:nvSpPr>
        <p:spPr>
          <a:xfrm>
            <a:off x="457200" y="4178808"/>
            <a:ext cx="329184" cy="329184"/>
          </a:xfrm>
          <a:prstGeom prst="ellipse">
            <a:avLst/>
          </a:prstGeom>
          <a:solidFill>
            <a:srgbClr val="FFB000"/>
          </a:solidFill>
          <a:ln/>
        </p:spPr>
      </p:sp>
      <p:sp>
        <p:nvSpPr>
          <p:cNvPr id="26" name="ref_num_397"/>
          <p:cNvSpPr txBox="1"/>
          <p:nvPr/>
        </p:nvSpPr>
        <p:spPr>
          <a:xfrm>
            <a:off x="457200" y="4178808"/>
            <a:ext cx="329184" cy="329184"/>
          </a:xfrm>
          <a:prstGeom prst="rect">
            <a:avLst/>
          </a:prstGeom>
          <a:noFill/>
          <a:ln/>
        </p:spPr>
        <p:txBody>
          <a:bodyPr wrap="square" lIns="0" tIns="0" rIns="0" bIns="0" rtlCol="0" anchor="ctr"/>
          <a:lstStyle/>
          <a:p>
            <a:pPr algn="ctr" indent="0" marL="0">
              <a:buNone/>
            </a:pPr>
            <a:r>
              <a:rPr lang="en-US" sz="1000" b="1" dirty="0">
                <a:solidFill>
                  <a:srgbClr val="0F1215"/>
                </a:solidFill>
              </a:rPr>
              <a:t>40</a:t>
            </a:r>
            <a:endParaRPr lang="en-US" sz="1000" dirty="0"/>
          </a:p>
        </p:txBody>
      </p:sp>
      <p:sp>
        <p:nvSpPr>
          <p:cNvPr id="27" name="ref_label_398"/>
          <p:cNvSpPr txBox="1"/>
          <p:nvPr/>
        </p:nvSpPr>
        <p:spPr>
          <a:xfrm>
            <a:off x="859536" y="4114800"/>
            <a:ext cx="1627632" cy="457200"/>
          </a:xfrm>
          <a:prstGeom prst="rect">
            <a:avLst/>
          </a:prstGeom>
          <a:noFill/>
          <a:ln/>
        </p:spPr>
        <p:txBody>
          <a:bodyPr wrap="square" lIns="0" tIns="0" rIns="0" bIns="0" rtlCol="0" anchor="ctr"/>
          <a:lstStyle/>
          <a:p>
            <a:pPr indent="0" marL="0">
              <a:buNone/>
            </a:pPr>
            <a:r>
              <a:rPr lang="en-US" sz="1150" dirty="0">
                <a:solidFill>
                  <a:srgbClr val="FFFFFF"/>
                </a:solidFill>
              </a:rPr>
              <a:t>Brake system / handbrake</a:t>
            </a:r>
            <a:endParaRPr lang="en-US" sz="1150" dirty="0"/>
          </a:p>
        </p:txBody>
      </p:sp>
      <p:sp>
        <p:nvSpPr>
          <p:cNvPr id="28" name="ref_num_bg_399"/>
          <p:cNvSpPr/>
          <p:nvPr/>
        </p:nvSpPr>
        <p:spPr>
          <a:xfrm>
            <a:off x="2532888" y="978408"/>
            <a:ext cx="329184" cy="329184"/>
          </a:xfrm>
          <a:prstGeom prst="ellipse">
            <a:avLst/>
          </a:prstGeom>
          <a:solidFill>
            <a:srgbClr val="FFB000"/>
          </a:solidFill>
          <a:ln/>
        </p:spPr>
      </p:sp>
      <p:sp>
        <p:nvSpPr>
          <p:cNvPr id="29" name="ref_num_400"/>
          <p:cNvSpPr txBox="1"/>
          <p:nvPr/>
        </p:nvSpPr>
        <p:spPr>
          <a:xfrm>
            <a:off x="2532888" y="978408"/>
            <a:ext cx="329184" cy="329184"/>
          </a:xfrm>
          <a:prstGeom prst="rect">
            <a:avLst/>
          </a:prstGeom>
          <a:noFill/>
          <a:ln/>
        </p:spPr>
        <p:txBody>
          <a:bodyPr wrap="square" lIns="0" tIns="0" rIns="0" bIns="0" rtlCol="0" anchor="ctr"/>
          <a:lstStyle/>
          <a:p>
            <a:pPr algn="ctr" indent="0" marL="0">
              <a:buNone/>
            </a:pPr>
            <a:r>
              <a:rPr lang="en-US" sz="1000" b="1" dirty="0">
                <a:solidFill>
                  <a:srgbClr val="0F1215"/>
                </a:solidFill>
              </a:rPr>
              <a:t>41</a:t>
            </a:r>
            <a:endParaRPr lang="en-US" sz="1000" dirty="0"/>
          </a:p>
        </p:txBody>
      </p:sp>
      <p:sp>
        <p:nvSpPr>
          <p:cNvPr id="30" name="ref_label_401"/>
          <p:cNvSpPr txBox="1"/>
          <p:nvPr/>
        </p:nvSpPr>
        <p:spPr>
          <a:xfrm>
            <a:off x="2935224" y="914400"/>
            <a:ext cx="1627632" cy="457200"/>
          </a:xfrm>
          <a:prstGeom prst="rect">
            <a:avLst/>
          </a:prstGeom>
          <a:noFill/>
          <a:ln/>
        </p:spPr>
        <p:txBody>
          <a:bodyPr wrap="square" lIns="0" tIns="0" rIns="0" bIns="0" rtlCol="0" anchor="ctr"/>
          <a:lstStyle/>
          <a:p>
            <a:pPr indent="0" marL="0">
              <a:buNone/>
            </a:pPr>
            <a:r>
              <a:rPr lang="en-US" sz="1150" dirty="0">
                <a:solidFill>
                  <a:srgbClr val="FFFFFF"/>
                </a:solidFill>
              </a:rPr>
              <a:t>Water in fuel filter</a:t>
            </a:r>
            <a:endParaRPr lang="en-US" sz="1150" dirty="0"/>
          </a:p>
        </p:txBody>
      </p:sp>
      <p:sp>
        <p:nvSpPr>
          <p:cNvPr id="31" name="ref_num_bg_402"/>
          <p:cNvSpPr/>
          <p:nvPr/>
        </p:nvSpPr>
        <p:spPr>
          <a:xfrm>
            <a:off x="2532888" y="1435608"/>
            <a:ext cx="329184" cy="329184"/>
          </a:xfrm>
          <a:prstGeom prst="ellipse">
            <a:avLst/>
          </a:prstGeom>
          <a:solidFill>
            <a:srgbClr val="FFB000"/>
          </a:solidFill>
          <a:ln/>
        </p:spPr>
      </p:sp>
      <p:sp>
        <p:nvSpPr>
          <p:cNvPr id="32" name="ref_num_403"/>
          <p:cNvSpPr txBox="1"/>
          <p:nvPr/>
        </p:nvSpPr>
        <p:spPr>
          <a:xfrm>
            <a:off x="2532888" y="1435608"/>
            <a:ext cx="329184" cy="329184"/>
          </a:xfrm>
          <a:prstGeom prst="rect">
            <a:avLst/>
          </a:prstGeom>
          <a:noFill/>
          <a:ln/>
        </p:spPr>
        <p:txBody>
          <a:bodyPr wrap="square" lIns="0" tIns="0" rIns="0" bIns="0" rtlCol="0" anchor="ctr"/>
          <a:lstStyle/>
          <a:p>
            <a:pPr algn="ctr" indent="0" marL="0">
              <a:buNone/>
            </a:pPr>
            <a:r>
              <a:rPr lang="en-US" sz="1000" b="1" dirty="0">
                <a:solidFill>
                  <a:srgbClr val="0F1215"/>
                </a:solidFill>
              </a:rPr>
              <a:t>42</a:t>
            </a:r>
            <a:endParaRPr lang="en-US" sz="1000" dirty="0"/>
          </a:p>
        </p:txBody>
      </p:sp>
      <p:sp>
        <p:nvSpPr>
          <p:cNvPr id="33" name="ref_label_404"/>
          <p:cNvSpPr txBox="1"/>
          <p:nvPr/>
        </p:nvSpPr>
        <p:spPr>
          <a:xfrm>
            <a:off x="2935224" y="1371600"/>
            <a:ext cx="1627632" cy="457200"/>
          </a:xfrm>
          <a:prstGeom prst="rect">
            <a:avLst/>
          </a:prstGeom>
          <a:noFill/>
          <a:ln/>
        </p:spPr>
        <p:txBody>
          <a:bodyPr wrap="square" lIns="0" tIns="0" rIns="0" bIns="0" rtlCol="0" anchor="ctr"/>
          <a:lstStyle/>
          <a:p>
            <a:pPr indent="0" marL="0">
              <a:buNone/>
            </a:pPr>
            <a:r>
              <a:rPr lang="en-US" sz="1150" dirty="0">
                <a:solidFill>
                  <a:srgbClr val="FFFFFF"/>
                </a:solidFill>
              </a:rPr>
              <a:t>Airbag deactivated</a:t>
            </a:r>
            <a:endParaRPr lang="en-US" sz="1150" dirty="0"/>
          </a:p>
        </p:txBody>
      </p:sp>
      <p:sp>
        <p:nvSpPr>
          <p:cNvPr id="34" name="ref_num_bg_405"/>
          <p:cNvSpPr/>
          <p:nvPr/>
        </p:nvSpPr>
        <p:spPr>
          <a:xfrm>
            <a:off x="2532888" y="1892808"/>
            <a:ext cx="329184" cy="329184"/>
          </a:xfrm>
          <a:prstGeom prst="ellipse">
            <a:avLst/>
          </a:prstGeom>
          <a:solidFill>
            <a:srgbClr val="FFB000"/>
          </a:solidFill>
          <a:ln/>
        </p:spPr>
      </p:sp>
      <p:sp>
        <p:nvSpPr>
          <p:cNvPr id="35" name="ref_num_406"/>
          <p:cNvSpPr txBox="1"/>
          <p:nvPr/>
        </p:nvSpPr>
        <p:spPr>
          <a:xfrm>
            <a:off x="2532888" y="1892808"/>
            <a:ext cx="329184" cy="329184"/>
          </a:xfrm>
          <a:prstGeom prst="rect">
            <a:avLst/>
          </a:prstGeom>
          <a:noFill/>
          <a:ln/>
        </p:spPr>
        <p:txBody>
          <a:bodyPr wrap="square" lIns="0" tIns="0" rIns="0" bIns="0" rtlCol="0" anchor="ctr"/>
          <a:lstStyle/>
          <a:p>
            <a:pPr algn="ctr" indent="0" marL="0">
              <a:buNone/>
            </a:pPr>
            <a:r>
              <a:rPr lang="en-US" sz="1000" b="1" dirty="0">
                <a:solidFill>
                  <a:srgbClr val="0F1215"/>
                </a:solidFill>
              </a:rPr>
              <a:t>43</a:t>
            </a:r>
            <a:endParaRPr lang="en-US" sz="1000" dirty="0"/>
          </a:p>
        </p:txBody>
      </p:sp>
      <p:sp>
        <p:nvSpPr>
          <p:cNvPr id="36" name="ref_label_407"/>
          <p:cNvSpPr txBox="1"/>
          <p:nvPr/>
        </p:nvSpPr>
        <p:spPr>
          <a:xfrm>
            <a:off x="2935224" y="1828800"/>
            <a:ext cx="1627632" cy="457200"/>
          </a:xfrm>
          <a:prstGeom prst="rect">
            <a:avLst/>
          </a:prstGeom>
          <a:noFill/>
          <a:ln/>
        </p:spPr>
        <p:txBody>
          <a:bodyPr wrap="square" lIns="0" tIns="0" rIns="0" bIns="0" rtlCol="0" anchor="ctr"/>
          <a:lstStyle/>
          <a:p>
            <a:pPr indent="0" marL="0">
              <a:buNone/>
            </a:pPr>
            <a:r>
              <a:rPr lang="en-US" sz="1150" dirty="0">
                <a:solidFill>
                  <a:srgbClr val="FFFFFF"/>
                </a:solidFill>
              </a:rPr>
              <a:t>Fault (general)</a:t>
            </a:r>
            <a:endParaRPr lang="en-US" sz="1150" dirty="0"/>
          </a:p>
        </p:txBody>
      </p:sp>
      <p:sp>
        <p:nvSpPr>
          <p:cNvPr id="37" name="ref_num_bg_408"/>
          <p:cNvSpPr/>
          <p:nvPr/>
        </p:nvSpPr>
        <p:spPr>
          <a:xfrm>
            <a:off x="2532888" y="2350008"/>
            <a:ext cx="329184" cy="329184"/>
          </a:xfrm>
          <a:prstGeom prst="ellipse">
            <a:avLst/>
          </a:prstGeom>
          <a:solidFill>
            <a:srgbClr val="FFB000"/>
          </a:solidFill>
          <a:ln/>
        </p:spPr>
      </p:sp>
      <p:sp>
        <p:nvSpPr>
          <p:cNvPr id="38" name="ref_num_409"/>
          <p:cNvSpPr txBox="1"/>
          <p:nvPr/>
        </p:nvSpPr>
        <p:spPr>
          <a:xfrm>
            <a:off x="2532888" y="2350008"/>
            <a:ext cx="329184" cy="329184"/>
          </a:xfrm>
          <a:prstGeom prst="rect">
            <a:avLst/>
          </a:prstGeom>
          <a:noFill/>
          <a:ln/>
        </p:spPr>
        <p:txBody>
          <a:bodyPr wrap="square" lIns="0" tIns="0" rIns="0" bIns="0" rtlCol="0" anchor="ctr"/>
          <a:lstStyle/>
          <a:p>
            <a:pPr algn="ctr" indent="0" marL="0">
              <a:buNone/>
            </a:pPr>
            <a:r>
              <a:rPr lang="en-US" sz="1000" b="1" dirty="0">
                <a:solidFill>
                  <a:srgbClr val="0F1215"/>
                </a:solidFill>
              </a:rPr>
              <a:t>44</a:t>
            </a:r>
            <a:endParaRPr lang="en-US" sz="1000" dirty="0"/>
          </a:p>
        </p:txBody>
      </p:sp>
      <p:sp>
        <p:nvSpPr>
          <p:cNvPr id="39" name="ref_label_410"/>
          <p:cNvSpPr txBox="1"/>
          <p:nvPr/>
        </p:nvSpPr>
        <p:spPr>
          <a:xfrm>
            <a:off x="2935224" y="2286000"/>
            <a:ext cx="1627632" cy="457200"/>
          </a:xfrm>
          <a:prstGeom prst="rect">
            <a:avLst/>
          </a:prstGeom>
          <a:noFill/>
          <a:ln/>
        </p:spPr>
        <p:txBody>
          <a:bodyPr wrap="square" lIns="0" tIns="0" rIns="0" bIns="0" rtlCol="0" anchor="ctr"/>
          <a:lstStyle/>
          <a:p>
            <a:pPr indent="0" marL="0">
              <a:buNone/>
            </a:pPr>
            <a:r>
              <a:rPr lang="en-US" sz="1150" dirty="0">
                <a:solidFill>
                  <a:srgbClr val="FFFFFF"/>
                </a:solidFill>
              </a:rPr>
              <a:t>Dipped beam headlights</a:t>
            </a:r>
            <a:endParaRPr lang="en-US" sz="1150" dirty="0"/>
          </a:p>
        </p:txBody>
      </p:sp>
      <p:sp>
        <p:nvSpPr>
          <p:cNvPr id="40" name="ref_num_bg_411"/>
          <p:cNvSpPr/>
          <p:nvPr/>
        </p:nvSpPr>
        <p:spPr>
          <a:xfrm>
            <a:off x="2532888" y="2807208"/>
            <a:ext cx="329184" cy="329184"/>
          </a:xfrm>
          <a:prstGeom prst="ellipse">
            <a:avLst/>
          </a:prstGeom>
          <a:solidFill>
            <a:srgbClr val="FFB000"/>
          </a:solidFill>
          <a:ln/>
        </p:spPr>
      </p:sp>
      <p:sp>
        <p:nvSpPr>
          <p:cNvPr id="41" name="ref_num_412"/>
          <p:cNvSpPr txBox="1"/>
          <p:nvPr/>
        </p:nvSpPr>
        <p:spPr>
          <a:xfrm>
            <a:off x="2532888" y="2807208"/>
            <a:ext cx="329184" cy="329184"/>
          </a:xfrm>
          <a:prstGeom prst="rect">
            <a:avLst/>
          </a:prstGeom>
          <a:noFill/>
          <a:ln/>
        </p:spPr>
        <p:txBody>
          <a:bodyPr wrap="square" lIns="0" tIns="0" rIns="0" bIns="0" rtlCol="0" anchor="ctr"/>
          <a:lstStyle/>
          <a:p>
            <a:pPr algn="ctr" indent="0" marL="0">
              <a:buNone/>
            </a:pPr>
            <a:r>
              <a:rPr lang="en-US" sz="1000" b="1" dirty="0">
                <a:solidFill>
                  <a:srgbClr val="0F1215"/>
                </a:solidFill>
              </a:rPr>
              <a:t>45</a:t>
            </a:r>
            <a:endParaRPr lang="en-US" sz="1000" dirty="0"/>
          </a:p>
        </p:txBody>
      </p:sp>
      <p:sp>
        <p:nvSpPr>
          <p:cNvPr id="42" name="ref_label_413"/>
          <p:cNvSpPr txBox="1"/>
          <p:nvPr/>
        </p:nvSpPr>
        <p:spPr>
          <a:xfrm>
            <a:off x="2935224" y="2743200"/>
            <a:ext cx="1627632" cy="457200"/>
          </a:xfrm>
          <a:prstGeom prst="rect">
            <a:avLst/>
          </a:prstGeom>
          <a:noFill/>
          <a:ln/>
        </p:spPr>
        <p:txBody>
          <a:bodyPr wrap="square" lIns="0" tIns="0" rIns="0" bIns="0" rtlCol="0" anchor="ctr"/>
          <a:lstStyle/>
          <a:p>
            <a:pPr indent="0" marL="0">
              <a:buNone/>
            </a:pPr>
            <a:r>
              <a:rPr lang="en-US" sz="1150" dirty="0">
                <a:solidFill>
                  <a:srgbClr val="FFFFFF"/>
                </a:solidFill>
              </a:rPr>
              <a:t>Dirty air filter</a:t>
            </a:r>
            <a:endParaRPr lang="en-US" sz="1150" dirty="0"/>
          </a:p>
        </p:txBody>
      </p:sp>
      <p:sp>
        <p:nvSpPr>
          <p:cNvPr id="43" name="ref_num_bg_414"/>
          <p:cNvSpPr/>
          <p:nvPr/>
        </p:nvSpPr>
        <p:spPr>
          <a:xfrm>
            <a:off x="2532888" y="3264408"/>
            <a:ext cx="329184" cy="329184"/>
          </a:xfrm>
          <a:prstGeom prst="ellipse">
            <a:avLst/>
          </a:prstGeom>
          <a:solidFill>
            <a:srgbClr val="FFB000"/>
          </a:solidFill>
          <a:ln/>
        </p:spPr>
      </p:sp>
      <p:sp>
        <p:nvSpPr>
          <p:cNvPr id="44" name="ref_num_415"/>
          <p:cNvSpPr txBox="1"/>
          <p:nvPr/>
        </p:nvSpPr>
        <p:spPr>
          <a:xfrm>
            <a:off x="2532888" y="3264408"/>
            <a:ext cx="329184" cy="329184"/>
          </a:xfrm>
          <a:prstGeom prst="rect">
            <a:avLst/>
          </a:prstGeom>
          <a:noFill/>
          <a:ln/>
        </p:spPr>
        <p:txBody>
          <a:bodyPr wrap="square" lIns="0" tIns="0" rIns="0" bIns="0" rtlCol="0" anchor="ctr"/>
          <a:lstStyle/>
          <a:p>
            <a:pPr algn="ctr" indent="0" marL="0">
              <a:buNone/>
            </a:pPr>
            <a:r>
              <a:rPr lang="en-US" sz="1000" b="1" dirty="0">
                <a:solidFill>
                  <a:srgbClr val="0F1215"/>
                </a:solidFill>
              </a:rPr>
              <a:t>46</a:t>
            </a:r>
            <a:endParaRPr lang="en-US" sz="1000" dirty="0"/>
          </a:p>
        </p:txBody>
      </p:sp>
      <p:sp>
        <p:nvSpPr>
          <p:cNvPr id="45" name="ref_label_416"/>
          <p:cNvSpPr txBox="1"/>
          <p:nvPr/>
        </p:nvSpPr>
        <p:spPr>
          <a:xfrm>
            <a:off x="2935224" y="3200400"/>
            <a:ext cx="1627632" cy="457200"/>
          </a:xfrm>
          <a:prstGeom prst="rect">
            <a:avLst/>
          </a:prstGeom>
          <a:noFill/>
          <a:ln/>
        </p:spPr>
        <p:txBody>
          <a:bodyPr wrap="square" lIns="0" tIns="0" rIns="0" bIns="0" rtlCol="0" anchor="ctr"/>
          <a:lstStyle/>
          <a:p>
            <a:pPr indent="0" marL="0">
              <a:buNone/>
            </a:pPr>
            <a:r>
              <a:rPr lang="en-US" sz="1150" dirty="0">
                <a:solidFill>
                  <a:srgbClr val="FFFFFF"/>
                </a:solidFill>
              </a:rPr>
              <a:t>Eco driving indicator</a:t>
            </a:r>
            <a:endParaRPr lang="en-US" sz="1150" dirty="0"/>
          </a:p>
        </p:txBody>
      </p:sp>
      <p:sp>
        <p:nvSpPr>
          <p:cNvPr id="46" name="ref_num_bg_417"/>
          <p:cNvSpPr/>
          <p:nvPr/>
        </p:nvSpPr>
        <p:spPr>
          <a:xfrm>
            <a:off x="2532888" y="3721608"/>
            <a:ext cx="329184" cy="329184"/>
          </a:xfrm>
          <a:prstGeom prst="ellipse">
            <a:avLst/>
          </a:prstGeom>
          <a:solidFill>
            <a:srgbClr val="FFB000"/>
          </a:solidFill>
          <a:ln/>
        </p:spPr>
      </p:sp>
      <p:sp>
        <p:nvSpPr>
          <p:cNvPr id="47" name="ref_num_418"/>
          <p:cNvSpPr txBox="1"/>
          <p:nvPr/>
        </p:nvSpPr>
        <p:spPr>
          <a:xfrm>
            <a:off x="2532888" y="3721608"/>
            <a:ext cx="329184" cy="329184"/>
          </a:xfrm>
          <a:prstGeom prst="rect">
            <a:avLst/>
          </a:prstGeom>
          <a:noFill/>
          <a:ln/>
        </p:spPr>
        <p:txBody>
          <a:bodyPr wrap="square" lIns="0" tIns="0" rIns="0" bIns="0" rtlCol="0" anchor="ctr"/>
          <a:lstStyle/>
          <a:p>
            <a:pPr algn="ctr" indent="0" marL="0">
              <a:buNone/>
            </a:pPr>
            <a:r>
              <a:rPr lang="en-US" sz="1000" b="1" dirty="0">
                <a:solidFill>
                  <a:srgbClr val="0F1215"/>
                </a:solidFill>
              </a:rPr>
              <a:t>47</a:t>
            </a:r>
            <a:endParaRPr lang="en-US" sz="1000" dirty="0"/>
          </a:p>
        </p:txBody>
      </p:sp>
      <p:sp>
        <p:nvSpPr>
          <p:cNvPr id="48" name="ref_label_419"/>
          <p:cNvSpPr txBox="1"/>
          <p:nvPr/>
        </p:nvSpPr>
        <p:spPr>
          <a:xfrm>
            <a:off x="2935224" y="3657600"/>
            <a:ext cx="1627632" cy="457200"/>
          </a:xfrm>
          <a:prstGeom prst="rect">
            <a:avLst/>
          </a:prstGeom>
          <a:noFill/>
          <a:ln/>
        </p:spPr>
        <p:txBody>
          <a:bodyPr wrap="square" lIns="0" tIns="0" rIns="0" bIns="0" rtlCol="0" anchor="ctr"/>
          <a:lstStyle/>
          <a:p>
            <a:pPr indent="0" marL="0">
              <a:buNone/>
            </a:pPr>
            <a:r>
              <a:rPr lang="en-US" sz="1150" dirty="0">
                <a:solidFill>
                  <a:srgbClr val="FFFFFF"/>
                </a:solidFill>
              </a:rPr>
              <a:t>Hill descent control</a:t>
            </a:r>
            <a:endParaRPr lang="en-US" sz="1150" dirty="0"/>
          </a:p>
        </p:txBody>
      </p:sp>
      <p:sp>
        <p:nvSpPr>
          <p:cNvPr id="49" name="ref_num_bg_420"/>
          <p:cNvSpPr/>
          <p:nvPr/>
        </p:nvSpPr>
        <p:spPr>
          <a:xfrm>
            <a:off x="2532888" y="4178808"/>
            <a:ext cx="329184" cy="329184"/>
          </a:xfrm>
          <a:prstGeom prst="ellipse">
            <a:avLst/>
          </a:prstGeom>
          <a:solidFill>
            <a:srgbClr val="FFB000"/>
          </a:solidFill>
          <a:ln/>
        </p:spPr>
      </p:sp>
      <p:sp>
        <p:nvSpPr>
          <p:cNvPr id="50" name="ref_num_421"/>
          <p:cNvSpPr txBox="1"/>
          <p:nvPr/>
        </p:nvSpPr>
        <p:spPr>
          <a:xfrm>
            <a:off x="2532888" y="4178808"/>
            <a:ext cx="329184" cy="329184"/>
          </a:xfrm>
          <a:prstGeom prst="rect">
            <a:avLst/>
          </a:prstGeom>
          <a:noFill/>
          <a:ln/>
        </p:spPr>
        <p:txBody>
          <a:bodyPr wrap="square" lIns="0" tIns="0" rIns="0" bIns="0" rtlCol="0" anchor="ctr"/>
          <a:lstStyle/>
          <a:p>
            <a:pPr algn="ctr" indent="0" marL="0">
              <a:buNone/>
            </a:pPr>
            <a:r>
              <a:rPr lang="en-US" sz="1000" b="1" dirty="0">
                <a:solidFill>
                  <a:srgbClr val="0F1215"/>
                </a:solidFill>
              </a:rPr>
              <a:t>48</a:t>
            </a:r>
            <a:endParaRPr lang="en-US" sz="1000" dirty="0"/>
          </a:p>
        </p:txBody>
      </p:sp>
      <p:sp>
        <p:nvSpPr>
          <p:cNvPr id="51" name="ref_label_422"/>
          <p:cNvSpPr txBox="1"/>
          <p:nvPr/>
        </p:nvSpPr>
        <p:spPr>
          <a:xfrm>
            <a:off x="2935224" y="4114800"/>
            <a:ext cx="1627632" cy="457200"/>
          </a:xfrm>
          <a:prstGeom prst="rect">
            <a:avLst/>
          </a:prstGeom>
          <a:noFill/>
          <a:ln/>
        </p:spPr>
        <p:txBody>
          <a:bodyPr wrap="square" lIns="0" tIns="0" rIns="0" bIns="0" rtlCol="0" anchor="ctr"/>
          <a:lstStyle/>
          <a:p>
            <a:pPr indent="0" marL="0">
              <a:buNone/>
            </a:pPr>
            <a:r>
              <a:rPr lang="en-US" sz="1150" dirty="0">
                <a:solidFill>
                  <a:srgbClr val="FFFFFF"/>
                </a:solidFill>
              </a:rPr>
              <a:t>Temperature warning</a:t>
            </a:r>
            <a:endParaRPr lang="en-US" sz="1150" dirty="0"/>
          </a:p>
        </p:txBody>
      </p:sp>
      <p:sp>
        <p:nvSpPr>
          <p:cNvPr id="52" name="ref_num_bg_423"/>
          <p:cNvSpPr/>
          <p:nvPr/>
        </p:nvSpPr>
        <p:spPr>
          <a:xfrm>
            <a:off x="4608576" y="978408"/>
            <a:ext cx="329184" cy="329184"/>
          </a:xfrm>
          <a:prstGeom prst="ellipse">
            <a:avLst/>
          </a:prstGeom>
          <a:solidFill>
            <a:srgbClr val="FFB000"/>
          </a:solidFill>
          <a:ln/>
        </p:spPr>
      </p:sp>
      <p:sp>
        <p:nvSpPr>
          <p:cNvPr id="53" name="ref_num_424"/>
          <p:cNvSpPr txBox="1"/>
          <p:nvPr/>
        </p:nvSpPr>
        <p:spPr>
          <a:xfrm>
            <a:off x="4608576" y="978408"/>
            <a:ext cx="329184" cy="329184"/>
          </a:xfrm>
          <a:prstGeom prst="rect">
            <a:avLst/>
          </a:prstGeom>
          <a:noFill/>
          <a:ln/>
        </p:spPr>
        <p:txBody>
          <a:bodyPr wrap="square" lIns="0" tIns="0" rIns="0" bIns="0" rtlCol="0" anchor="ctr"/>
          <a:lstStyle/>
          <a:p>
            <a:pPr algn="ctr" indent="0" marL="0">
              <a:buNone/>
            </a:pPr>
            <a:r>
              <a:rPr lang="en-US" sz="1000" b="1" dirty="0">
                <a:solidFill>
                  <a:srgbClr val="0F1215"/>
                </a:solidFill>
              </a:rPr>
              <a:t>49</a:t>
            </a:r>
            <a:endParaRPr lang="en-US" sz="1000" dirty="0"/>
          </a:p>
        </p:txBody>
      </p:sp>
      <p:sp>
        <p:nvSpPr>
          <p:cNvPr id="54" name="ref_label_425"/>
          <p:cNvSpPr txBox="1"/>
          <p:nvPr/>
        </p:nvSpPr>
        <p:spPr>
          <a:xfrm>
            <a:off x="5010912" y="914400"/>
            <a:ext cx="1627632" cy="457200"/>
          </a:xfrm>
          <a:prstGeom prst="rect">
            <a:avLst/>
          </a:prstGeom>
          <a:noFill/>
          <a:ln/>
        </p:spPr>
        <p:txBody>
          <a:bodyPr wrap="square" lIns="0" tIns="0" rIns="0" bIns="0" rtlCol="0" anchor="ctr"/>
          <a:lstStyle/>
          <a:p>
            <a:pPr indent="0" marL="0">
              <a:buNone/>
            </a:pPr>
            <a:r>
              <a:rPr lang="en-US" sz="1150" dirty="0">
                <a:solidFill>
                  <a:srgbClr val="FFFFFF"/>
                </a:solidFill>
              </a:rPr>
              <a:t>ABS warning</a:t>
            </a:r>
            <a:endParaRPr lang="en-US" sz="1150" dirty="0"/>
          </a:p>
        </p:txBody>
      </p:sp>
      <p:sp>
        <p:nvSpPr>
          <p:cNvPr id="55" name="ref_num_bg_426"/>
          <p:cNvSpPr/>
          <p:nvPr/>
        </p:nvSpPr>
        <p:spPr>
          <a:xfrm>
            <a:off x="4608576" y="1435608"/>
            <a:ext cx="329184" cy="329184"/>
          </a:xfrm>
          <a:prstGeom prst="ellipse">
            <a:avLst/>
          </a:prstGeom>
          <a:solidFill>
            <a:srgbClr val="FFB000"/>
          </a:solidFill>
          <a:ln/>
        </p:spPr>
      </p:sp>
      <p:sp>
        <p:nvSpPr>
          <p:cNvPr id="56" name="ref_num_427"/>
          <p:cNvSpPr txBox="1"/>
          <p:nvPr/>
        </p:nvSpPr>
        <p:spPr>
          <a:xfrm>
            <a:off x="4608576" y="1435608"/>
            <a:ext cx="329184" cy="329184"/>
          </a:xfrm>
          <a:prstGeom prst="rect">
            <a:avLst/>
          </a:prstGeom>
          <a:noFill/>
          <a:ln/>
        </p:spPr>
        <p:txBody>
          <a:bodyPr wrap="square" lIns="0" tIns="0" rIns="0" bIns="0" rtlCol="0" anchor="ctr"/>
          <a:lstStyle/>
          <a:p>
            <a:pPr algn="ctr" indent="0" marL="0">
              <a:buNone/>
            </a:pPr>
            <a:r>
              <a:rPr lang="en-US" sz="1000" b="1" dirty="0">
                <a:solidFill>
                  <a:srgbClr val="0F1215"/>
                </a:solidFill>
              </a:rPr>
              <a:t>50</a:t>
            </a:r>
            <a:endParaRPr lang="en-US" sz="1000" dirty="0"/>
          </a:p>
        </p:txBody>
      </p:sp>
      <p:sp>
        <p:nvSpPr>
          <p:cNvPr id="57" name="ref_label_428"/>
          <p:cNvSpPr txBox="1"/>
          <p:nvPr/>
        </p:nvSpPr>
        <p:spPr>
          <a:xfrm>
            <a:off x="5010912" y="1371600"/>
            <a:ext cx="1627632" cy="457200"/>
          </a:xfrm>
          <a:prstGeom prst="rect">
            <a:avLst/>
          </a:prstGeom>
          <a:noFill/>
          <a:ln/>
        </p:spPr>
        <p:txBody>
          <a:bodyPr wrap="square" lIns="0" tIns="0" rIns="0" bIns="0" rtlCol="0" anchor="ctr"/>
          <a:lstStyle/>
          <a:p>
            <a:pPr indent="0" marL="0">
              <a:buNone/>
            </a:pPr>
            <a:r>
              <a:rPr lang="en-US" sz="1150" dirty="0">
                <a:solidFill>
                  <a:srgbClr val="FFFFFF"/>
                </a:solidFill>
              </a:rPr>
              <a:t>Fuel filter warning</a:t>
            </a:r>
            <a:endParaRPr lang="en-US" sz="1150" dirty="0"/>
          </a:p>
        </p:txBody>
      </p:sp>
      <p:sp>
        <p:nvSpPr>
          <p:cNvPr id="58" name="ref_num_bg_429"/>
          <p:cNvSpPr/>
          <p:nvPr/>
        </p:nvSpPr>
        <p:spPr>
          <a:xfrm>
            <a:off x="4608576" y="1892808"/>
            <a:ext cx="329184" cy="329184"/>
          </a:xfrm>
          <a:prstGeom prst="ellipse">
            <a:avLst/>
          </a:prstGeom>
          <a:solidFill>
            <a:srgbClr val="FFB000"/>
          </a:solidFill>
          <a:ln/>
        </p:spPr>
      </p:sp>
      <p:sp>
        <p:nvSpPr>
          <p:cNvPr id="59" name="ref_num_430"/>
          <p:cNvSpPr txBox="1"/>
          <p:nvPr/>
        </p:nvSpPr>
        <p:spPr>
          <a:xfrm>
            <a:off x="4608576" y="1892808"/>
            <a:ext cx="329184" cy="329184"/>
          </a:xfrm>
          <a:prstGeom prst="rect">
            <a:avLst/>
          </a:prstGeom>
          <a:noFill/>
          <a:ln/>
        </p:spPr>
        <p:txBody>
          <a:bodyPr wrap="square" lIns="0" tIns="0" rIns="0" bIns="0" rtlCol="0" anchor="ctr"/>
          <a:lstStyle/>
          <a:p>
            <a:pPr algn="ctr" indent="0" marL="0">
              <a:buNone/>
            </a:pPr>
            <a:r>
              <a:rPr lang="en-US" sz="1000" b="1" dirty="0">
                <a:solidFill>
                  <a:srgbClr val="0F1215"/>
                </a:solidFill>
              </a:rPr>
              <a:t>51</a:t>
            </a:r>
            <a:endParaRPr lang="en-US" sz="1000" dirty="0"/>
          </a:p>
        </p:txBody>
      </p:sp>
      <p:sp>
        <p:nvSpPr>
          <p:cNvPr id="60" name="ref_label_431"/>
          <p:cNvSpPr txBox="1"/>
          <p:nvPr/>
        </p:nvSpPr>
        <p:spPr>
          <a:xfrm>
            <a:off x="5010912" y="1828800"/>
            <a:ext cx="1627632" cy="457200"/>
          </a:xfrm>
          <a:prstGeom prst="rect">
            <a:avLst/>
          </a:prstGeom>
          <a:noFill/>
          <a:ln/>
        </p:spPr>
        <p:txBody>
          <a:bodyPr wrap="square" lIns="0" tIns="0" rIns="0" bIns="0" rtlCol="0" anchor="ctr"/>
          <a:lstStyle/>
          <a:p>
            <a:pPr indent="0" marL="0">
              <a:buNone/>
            </a:pPr>
            <a:r>
              <a:rPr lang="en-US" sz="1150" dirty="0">
                <a:solidFill>
                  <a:srgbClr val="FFFFFF"/>
                </a:solidFill>
              </a:rPr>
              <a:t>Door open</a:t>
            </a:r>
            <a:endParaRPr lang="en-US" sz="1150" dirty="0"/>
          </a:p>
        </p:txBody>
      </p:sp>
      <p:sp>
        <p:nvSpPr>
          <p:cNvPr id="61" name="ref_num_bg_432"/>
          <p:cNvSpPr/>
          <p:nvPr/>
        </p:nvSpPr>
        <p:spPr>
          <a:xfrm>
            <a:off x="4608576" y="2350008"/>
            <a:ext cx="329184" cy="329184"/>
          </a:xfrm>
          <a:prstGeom prst="ellipse">
            <a:avLst/>
          </a:prstGeom>
          <a:solidFill>
            <a:srgbClr val="FFB000"/>
          </a:solidFill>
          <a:ln/>
        </p:spPr>
      </p:sp>
      <p:sp>
        <p:nvSpPr>
          <p:cNvPr id="62" name="ref_num_433"/>
          <p:cNvSpPr txBox="1"/>
          <p:nvPr/>
        </p:nvSpPr>
        <p:spPr>
          <a:xfrm>
            <a:off x="4608576" y="2350008"/>
            <a:ext cx="329184" cy="329184"/>
          </a:xfrm>
          <a:prstGeom prst="rect">
            <a:avLst/>
          </a:prstGeom>
          <a:noFill/>
          <a:ln/>
        </p:spPr>
        <p:txBody>
          <a:bodyPr wrap="square" lIns="0" tIns="0" rIns="0" bIns="0" rtlCol="0" anchor="ctr"/>
          <a:lstStyle/>
          <a:p>
            <a:pPr algn="ctr" indent="0" marL="0">
              <a:buNone/>
            </a:pPr>
            <a:r>
              <a:rPr lang="en-US" sz="1000" b="1" dirty="0">
                <a:solidFill>
                  <a:srgbClr val="0F1215"/>
                </a:solidFill>
              </a:rPr>
              <a:t>52</a:t>
            </a:r>
            <a:endParaRPr lang="en-US" sz="1000" dirty="0"/>
          </a:p>
        </p:txBody>
      </p:sp>
      <p:sp>
        <p:nvSpPr>
          <p:cNvPr id="63" name="ref_label_434"/>
          <p:cNvSpPr txBox="1"/>
          <p:nvPr/>
        </p:nvSpPr>
        <p:spPr>
          <a:xfrm>
            <a:off x="5010912" y="2286000"/>
            <a:ext cx="1627632" cy="457200"/>
          </a:xfrm>
          <a:prstGeom prst="rect">
            <a:avLst/>
          </a:prstGeom>
          <a:noFill/>
          <a:ln/>
        </p:spPr>
        <p:txBody>
          <a:bodyPr wrap="square" lIns="0" tIns="0" rIns="0" bIns="0" rtlCol="0" anchor="ctr"/>
          <a:lstStyle/>
          <a:p>
            <a:pPr indent="0" marL="0">
              <a:buNone/>
            </a:pPr>
            <a:r>
              <a:rPr lang="en-US" sz="1150" dirty="0">
                <a:solidFill>
                  <a:srgbClr val="FFFFFF"/>
                </a:solidFill>
              </a:rPr>
              <a:t>Bonnet open</a:t>
            </a:r>
            <a:endParaRPr lang="en-US" sz="1150" dirty="0"/>
          </a:p>
        </p:txBody>
      </p:sp>
      <p:sp>
        <p:nvSpPr>
          <p:cNvPr id="64" name="ref_num_bg_435"/>
          <p:cNvSpPr/>
          <p:nvPr/>
        </p:nvSpPr>
        <p:spPr>
          <a:xfrm>
            <a:off x="4608576" y="2807208"/>
            <a:ext cx="329184" cy="329184"/>
          </a:xfrm>
          <a:prstGeom prst="ellipse">
            <a:avLst/>
          </a:prstGeom>
          <a:solidFill>
            <a:srgbClr val="FFB000"/>
          </a:solidFill>
          <a:ln/>
        </p:spPr>
      </p:sp>
      <p:sp>
        <p:nvSpPr>
          <p:cNvPr id="65" name="ref_num_436"/>
          <p:cNvSpPr txBox="1"/>
          <p:nvPr/>
        </p:nvSpPr>
        <p:spPr>
          <a:xfrm>
            <a:off x="4608576" y="2807208"/>
            <a:ext cx="329184" cy="329184"/>
          </a:xfrm>
          <a:prstGeom prst="rect">
            <a:avLst/>
          </a:prstGeom>
          <a:noFill/>
          <a:ln/>
        </p:spPr>
        <p:txBody>
          <a:bodyPr wrap="square" lIns="0" tIns="0" rIns="0" bIns="0" rtlCol="0" anchor="ctr"/>
          <a:lstStyle/>
          <a:p>
            <a:pPr algn="ctr" indent="0" marL="0">
              <a:buNone/>
            </a:pPr>
            <a:r>
              <a:rPr lang="en-US" sz="1000" b="1" dirty="0">
                <a:solidFill>
                  <a:srgbClr val="0F1215"/>
                </a:solidFill>
              </a:rPr>
              <a:t>53</a:t>
            </a:r>
            <a:endParaRPr lang="en-US" sz="1000" dirty="0"/>
          </a:p>
        </p:txBody>
      </p:sp>
      <p:sp>
        <p:nvSpPr>
          <p:cNvPr id="66" name="ref_label_437"/>
          <p:cNvSpPr txBox="1"/>
          <p:nvPr/>
        </p:nvSpPr>
        <p:spPr>
          <a:xfrm>
            <a:off x="5010912" y="2743200"/>
            <a:ext cx="1627632" cy="457200"/>
          </a:xfrm>
          <a:prstGeom prst="rect">
            <a:avLst/>
          </a:prstGeom>
          <a:noFill/>
          <a:ln/>
        </p:spPr>
        <p:txBody>
          <a:bodyPr wrap="square" lIns="0" tIns="0" rIns="0" bIns="0" rtlCol="0" anchor="ctr"/>
          <a:lstStyle/>
          <a:p>
            <a:pPr indent="0" marL="0">
              <a:buNone/>
            </a:pPr>
            <a:r>
              <a:rPr lang="en-US" sz="1150" dirty="0">
                <a:solidFill>
                  <a:srgbClr val="FFFFFF"/>
                </a:solidFill>
              </a:rPr>
              <a:t>Low fuel</a:t>
            </a:r>
            <a:endParaRPr lang="en-US" sz="1150" dirty="0"/>
          </a:p>
        </p:txBody>
      </p:sp>
      <p:sp>
        <p:nvSpPr>
          <p:cNvPr id="67" name="ref_num_bg_438"/>
          <p:cNvSpPr/>
          <p:nvPr/>
        </p:nvSpPr>
        <p:spPr>
          <a:xfrm>
            <a:off x="4608576" y="3264408"/>
            <a:ext cx="329184" cy="329184"/>
          </a:xfrm>
          <a:prstGeom prst="ellipse">
            <a:avLst/>
          </a:prstGeom>
          <a:solidFill>
            <a:srgbClr val="FFB000"/>
          </a:solidFill>
          <a:ln/>
        </p:spPr>
      </p:sp>
      <p:sp>
        <p:nvSpPr>
          <p:cNvPr id="68" name="ref_num_439"/>
          <p:cNvSpPr txBox="1"/>
          <p:nvPr/>
        </p:nvSpPr>
        <p:spPr>
          <a:xfrm>
            <a:off x="4608576" y="3264408"/>
            <a:ext cx="329184" cy="329184"/>
          </a:xfrm>
          <a:prstGeom prst="rect">
            <a:avLst/>
          </a:prstGeom>
          <a:noFill/>
          <a:ln/>
        </p:spPr>
        <p:txBody>
          <a:bodyPr wrap="square" lIns="0" tIns="0" rIns="0" bIns="0" rtlCol="0" anchor="ctr"/>
          <a:lstStyle/>
          <a:p>
            <a:pPr algn="ctr" indent="0" marL="0">
              <a:buNone/>
            </a:pPr>
            <a:r>
              <a:rPr lang="en-US" sz="1000" b="1" dirty="0">
                <a:solidFill>
                  <a:srgbClr val="0F1215"/>
                </a:solidFill>
              </a:rPr>
              <a:t>54</a:t>
            </a:r>
            <a:endParaRPr lang="en-US" sz="1000" dirty="0"/>
          </a:p>
        </p:txBody>
      </p:sp>
      <p:sp>
        <p:nvSpPr>
          <p:cNvPr id="69" name="ref_label_440"/>
          <p:cNvSpPr txBox="1"/>
          <p:nvPr/>
        </p:nvSpPr>
        <p:spPr>
          <a:xfrm>
            <a:off x="5010912" y="3200400"/>
            <a:ext cx="1627632" cy="457200"/>
          </a:xfrm>
          <a:prstGeom prst="rect">
            <a:avLst/>
          </a:prstGeom>
          <a:noFill/>
          <a:ln/>
        </p:spPr>
        <p:txBody>
          <a:bodyPr wrap="square" lIns="0" tIns="0" rIns="0" bIns="0" rtlCol="0" anchor="ctr"/>
          <a:lstStyle/>
          <a:p>
            <a:pPr indent="0" marL="0">
              <a:buNone/>
            </a:pPr>
            <a:r>
              <a:rPr lang="en-US" sz="1150" dirty="0">
                <a:solidFill>
                  <a:srgbClr val="FFFFFF"/>
                </a:solidFill>
              </a:rPr>
              <a:t>Automatic gearbox warning</a:t>
            </a:r>
            <a:endParaRPr lang="en-US" sz="1150" dirty="0"/>
          </a:p>
        </p:txBody>
      </p:sp>
      <p:sp>
        <p:nvSpPr>
          <p:cNvPr id="70" name="ref_num_bg_441"/>
          <p:cNvSpPr/>
          <p:nvPr/>
        </p:nvSpPr>
        <p:spPr>
          <a:xfrm>
            <a:off x="4608576" y="3721608"/>
            <a:ext cx="329184" cy="329184"/>
          </a:xfrm>
          <a:prstGeom prst="ellipse">
            <a:avLst/>
          </a:prstGeom>
          <a:solidFill>
            <a:srgbClr val="FFB000"/>
          </a:solidFill>
          <a:ln/>
        </p:spPr>
      </p:sp>
      <p:sp>
        <p:nvSpPr>
          <p:cNvPr id="71" name="ref_num_442"/>
          <p:cNvSpPr txBox="1"/>
          <p:nvPr/>
        </p:nvSpPr>
        <p:spPr>
          <a:xfrm>
            <a:off x="4608576" y="3721608"/>
            <a:ext cx="329184" cy="329184"/>
          </a:xfrm>
          <a:prstGeom prst="rect">
            <a:avLst/>
          </a:prstGeom>
          <a:noFill/>
          <a:ln/>
        </p:spPr>
        <p:txBody>
          <a:bodyPr wrap="square" lIns="0" tIns="0" rIns="0" bIns="0" rtlCol="0" anchor="ctr"/>
          <a:lstStyle/>
          <a:p>
            <a:pPr algn="ctr" indent="0" marL="0">
              <a:buNone/>
            </a:pPr>
            <a:r>
              <a:rPr lang="en-US" sz="1000" b="1" dirty="0">
                <a:solidFill>
                  <a:srgbClr val="0F1215"/>
                </a:solidFill>
              </a:rPr>
              <a:t>55</a:t>
            </a:r>
            <a:endParaRPr lang="en-US" sz="1000" dirty="0"/>
          </a:p>
        </p:txBody>
      </p:sp>
      <p:sp>
        <p:nvSpPr>
          <p:cNvPr id="72" name="ref_label_443"/>
          <p:cNvSpPr txBox="1"/>
          <p:nvPr/>
        </p:nvSpPr>
        <p:spPr>
          <a:xfrm>
            <a:off x="5010912" y="3657600"/>
            <a:ext cx="1627632" cy="457200"/>
          </a:xfrm>
          <a:prstGeom prst="rect">
            <a:avLst/>
          </a:prstGeom>
          <a:noFill/>
          <a:ln/>
        </p:spPr>
        <p:txBody>
          <a:bodyPr wrap="square" lIns="0" tIns="0" rIns="0" bIns="0" rtlCol="0" anchor="ctr"/>
          <a:lstStyle/>
          <a:p>
            <a:pPr indent="0" marL="0">
              <a:buNone/>
            </a:pPr>
            <a:r>
              <a:rPr lang="en-US" sz="1150" dirty="0">
                <a:solidFill>
                  <a:srgbClr val="FFFFFF"/>
                </a:solidFill>
              </a:rPr>
              <a:t>Speed limiter</a:t>
            </a:r>
            <a:endParaRPr lang="en-US" sz="1150" dirty="0"/>
          </a:p>
        </p:txBody>
      </p:sp>
      <p:sp>
        <p:nvSpPr>
          <p:cNvPr id="73" name="ref_num_bg_444"/>
          <p:cNvSpPr/>
          <p:nvPr/>
        </p:nvSpPr>
        <p:spPr>
          <a:xfrm>
            <a:off x="4608576" y="4178808"/>
            <a:ext cx="329184" cy="329184"/>
          </a:xfrm>
          <a:prstGeom prst="ellipse">
            <a:avLst/>
          </a:prstGeom>
          <a:solidFill>
            <a:srgbClr val="FFB000"/>
          </a:solidFill>
          <a:ln/>
        </p:spPr>
      </p:sp>
      <p:sp>
        <p:nvSpPr>
          <p:cNvPr id="74" name="ref_num_445"/>
          <p:cNvSpPr txBox="1"/>
          <p:nvPr/>
        </p:nvSpPr>
        <p:spPr>
          <a:xfrm>
            <a:off x="4608576" y="4178808"/>
            <a:ext cx="329184" cy="329184"/>
          </a:xfrm>
          <a:prstGeom prst="rect">
            <a:avLst/>
          </a:prstGeom>
          <a:noFill/>
          <a:ln/>
        </p:spPr>
        <p:txBody>
          <a:bodyPr wrap="square" lIns="0" tIns="0" rIns="0" bIns="0" rtlCol="0" anchor="ctr"/>
          <a:lstStyle/>
          <a:p>
            <a:pPr algn="ctr" indent="0" marL="0">
              <a:buNone/>
            </a:pPr>
            <a:r>
              <a:rPr lang="en-US" sz="1000" b="1" dirty="0">
                <a:solidFill>
                  <a:srgbClr val="0F1215"/>
                </a:solidFill>
              </a:rPr>
              <a:t>56</a:t>
            </a:r>
            <a:endParaRPr lang="en-US" sz="1000" dirty="0"/>
          </a:p>
        </p:txBody>
      </p:sp>
      <p:sp>
        <p:nvSpPr>
          <p:cNvPr id="75" name="ref_label_446"/>
          <p:cNvSpPr txBox="1"/>
          <p:nvPr/>
        </p:nvSpPr>
        <p:spPr>
          <a:xfrm>
            <a:off x="5010912" y="4114800"/>
            <a:ext cx="1627632" cy="457200"/>
          </a:xfrm>
          <a:prstGeom prst="rect">
            <a:avLst/>
          </a:prstGeom>
          <a:noFill/>
          <a:ln/>
        </p:spPr>
        <p:txBody>
          <a:bodyPr wrap="square" lIns="0" tIns="0" rIns="0" bIns="0" rtlCol="0" anchor="ctr"/>
          <a:lstStyle/>
          <a:p>
            <a:pPr indent="0" marL="0">
              <a:buNone/>
            </a:pPr>
            <a:r>
              <a:rPr lang="en-US" sz="1150" dirty="0">
                <a:solidFill>
                  <a:srgbClr val="FFFFFF"/>
                </a:solidFill>
              </a:rPr>
              <a:t>Suspension dampers</a:t>
            </a:r>
            <a:endParaRPr lang="en-US" sz="1150" dirty="0"/>
          </a:p>
        </p:txBody>
      </p:sp>
      <p:sp>
        <p:nvSpPr>
          <p:cNvPr id="76" name="ref_num_bg_447"/>
          <p:cNvSpPr/>
          <p:nvPr/>
        </p:nvSpPr>
        <p:spPr>
          <a:xfrm>
            <a:off x="6684264" y="978408"/>
            <a:ext cx="329184" cy="329184"/>
          </a:xfrm>
          <a:prstGeom prst="ellipse">
            <a:avLst/>
          </a:prstGeom>
          <a:solidFill>
            <a:srgbClr val="FFB000"/>
          </a:solidFill>
          <a:ln/>
        </p:spPr>
      </p:sp>
      <p:sp>
        <p:nvSpPr>
          <p:cNvPr id="77" name="ref_num_448"/>
          <p:cNvSpPr txBox="1"/>
          <p:nvPr/>
        </p:nvSpPr>
        <p:spPr>
          <a:xfrm>
            <a:off x="6684264" y="978408"/>
            <a:ext cx="329184" cy="329184"/>
          </a:xfrm>
          <a:prstGeom prst="rect">
            <a:avLst/>
          </a:prstGeom>
          <a:noFill/>
          <a:ln/>
        </p:spPr>
        <p:txBody>
          <a:bodyPr wrap="square" lIns="0" tIns="0" rIns="0" bIns="0" rtlCol="0" anchor="ctr"/>
          <a:lstStyle/>
          <a:p>
            <a:pPr algn="ctr" indent="0" marL="0">
              <a:buNone/>
            </a:pPr>
            <a:r>
              <a:rPr lang="en-US" sz="1000" b="1" dirty="0">
                <a:solidFill>
                  <a:srgbClr val="0F1215"/>
                </a:solidFill>
              </a:rPr>
              <a:t>57</a:t>
            </a:r>
            <a:endParaRPr lang="en-US" sz="1000" dirty="0"/>
          </a:p>
        </p:txBody>
      </p:sp>
      <p:sp>
        <p:nvSpPr>
          <p:cNvPr id="78" name="ref_label_449"/>
          <p:cNvSpPr txBox="1"/>
          <p:nvPr/>
        </p:nvSpPr>
        <p:spPr>
          <a:xfrm>
            <a:off x="7086600" y="914400"/>
            <a:ext cx="1627632" cy="457200"/>
          </a:xfrm>
          <a:prstGeom prst="rect">
            <a:avLst/>
          </a:prstGeom>
          <a:noFill/>
          <a:ln/>
        </p:spPr>
        <p:txBody>
          <a:bodyPr wrap="square" lIns="0" tIns="0" rIns="0" bIns="0" rtlCol="0" anchor="ctr"/>
          <a:lstStyle/>
          <a:p>
            <a:pPr indent="0" marL="0">
              <a:buNone/>
            </a:pPr>
            <a:r>
              <a:rPr lang="en-US" sz="1150" dirty="0">
                <a:solidFill>
                  <a:srgbClr val="FFFFFF"/>
                </a:solidFill>
              </a:rPr>
              <a:t>Oil pressure low</a:t>
            </a:r>
            <a:endParaRPr lang="en-US" sz="1150" dirty="0"/>
          </a:p>
        </p:txBody>
      </p:sp>
      <p:sp>
        <p:nvSpPr>
          <p:cNvPr id="79" name="ref_num_bg_450"/>
          <p:cNvSpPr/>
          <p:nvPr/>
        </p:nvSpPr>
        <p:spPr>
          <a:xfrm>
            <a:off x="6684264" y="1435608"/>
            <a:ext cx="329184" cy="329184"/>
          </a:xfrm>
          <a:prstGeom prst="ellipse">
            <a:avLst/>
          </a:prstGeom>
          <a:solidFill>
            <a:srgbClr val="FFB000"/>
          </a:solidFill>
          <a:ln/>
        </p:spPr>
      </p:sp>
      <p:sp>
        <p:nvSpPr>
          <p:cNvPr id="80" name="ref_num_451"/>
          <p:cNvSpPr txBox="1"/>
          <p:nvPr/>
        </p:nvSpPr>
        <p:spPr>
          <a:xfrm>
            <a:off x="6684264" y="1435608"/>
            <a:ext cx="329184" cy="329184"/>
          </a:xfrm>
          <a:prstGeom prst="rect">
            <a:avLst/>
          </a:prstGeom>
          <a:noFill/>
          <a:ln/>
        </p:spPr>
        <p:txBody>
          <a:bodyPr wrap="square" lIns="0" tIns="0" rIns="0" bIns="0" rtlCol="0" anchor="ctr"/>
          <a:lstStyle/>
          <a:p>
            <a:pPr algn="ctr" indent="0" marL="0">
              <a:buNone/>
            </a:pPr>
            <a:r>
              <a:rPr lang="en-US" sz="1000" b="1" dirty="0">
                <a:solidFill>
                  <a:srgbClr val="0F1215"/>
                </a:solidFill>
              </a:rPr>
              <a:t>58</a:t>
            </a:r>
            <a:endParaRPr lang="en-US" sz="1000" dirty="0"/>
          </a:p>
        </p:txBody>
      </p:sp>
      <p:sp>
        <p:nvSpPr>
          <p:cNvPr id="81" name="ref_label_452"/>
          <p:cNvSpPr txBox="1"/>
          <p:nvPr/>
        </p:nvSpPr>
        <p:spPr>
          <a:xfrm>
            <a:off x="7086600" y="1371600"/>
            <a:ext cx="1627632" cy="457200"/>
          </a:xfrm>
          <a:prstGeom prst="rect">
            <a:avLst/>
          </a:prstGeom>
          <a:noFill/>
          <a:ln/>
        </p:spPr>
        <p:txBody>
          <a:bodyPr wrap="square" lIns="0" tIns="0" rIns="0" bIns="0" rtlCol="0" anchor="ctr"/>
          <a:lstStyle/>
          <a:p>
            <a:pPr indent="0" marL="0">
              <a:buNone/>
            </a:pPr>
            <a:r>
              <a:rPr lang="en-US" sz="1150" dirty="0">
                <a:solidFill>
                  <a:srgbClr val="FFFFFF"/>
                </a:solidFill>
              </a:rPr>
              <a:t>Windscreen defrost</a:t>
            </a:r>
            <a:endParaRPr lang="en-US" sz="1150" dirty="0"/>
          </a:p>
        </p:txBody>
      </p:sp>
      <p:sp>
        <p:nvSpPr>
          <p:cNvPr id="82" name="ref_num_bg_453"/>
          <p:cNvSpPr/>
          <p:nvPr/>
        </p:nvSpPr>
        <p:spPr>
          <a:xfrm>
            <a:off x="6684264" y="1892808"/>
            <a:ext cx="329184" cy="329184"/>
          </a:xfrm>
          <a:prstGeom prst="ellipse">
            <a:avLst/>
          </a:prstGeom>
          <a:solidFill>
            <a:srgbClr val="FFB000"/>
          </a:solidFill>
          <a:ln/>
        </p:spPr>
      </p:sp>
      <p:sp>
        <p:nvSpPr>
          <p:cNvPr id="83" name="ref_num_454"/>
          <p:cNvSpPr txBox="1"/>
          <p:nvPr/>
        </p:nvSpPr>
        <p:spPr>
          <a:xfrm>
            <a:off x="6684264" y="1892808"/>
            <a:ext cx="329184" cy="329184"/>
          </a:xfrm>
          <a:prstGeom prst="rect">
            <a:avLst/>
          </a:prstGeom>
          <a:noFill/>
          <a:ln/>
        </p:spPr>
        <p:txBody>
          <a:bodyPr wrap="square" lIns="0" tIns="0" rIns="0" bIns="0" rtlCol="0" anchor="ctr"/>
          <a:lstStyle/>
          <a:p>
            <a:pPr algn="ctr" indent="0" marL="0">
              <a:buNone/>
            </a:pPr>
            <a:r>
              <a:rPr lang="en-US" sz="1000" b="1" dirty="0">
                <a:solidFill>
                  <a:srgbClr val="0F1215"/>
                </a:solidFill>
              </a:rPr>
              <a:t>59</a:t>
            </a:r>
            <a:endParaRPr lang="en-US" sz="1000" dirty="0"/>
          </a:p>
        </p:txBody>
      </p:sp>
      <p:sp>
        <p:nvSpPr>
          <p:cNvPr id="84" name="ref_label_455"/>
          <p:cNvSpPr txBox="1"/>
          <p:nvPr/>
        </p:nvSpPr>
        <p:spPr>
          <a:xfrm>
            <a:off x="7086600" y="1828800"/>
            <a:ext cx="1627632" cy="457200"/>
          </a:xfrm>
          <a:prstGeom prst="rect">
            <a:avLst/>
          </a:prstGeom>
          <a:noFill/>
          <a:ln/>
        </p:spPr>
        <p:txBody>
          <a:bodyPr wrap="square" lIns="0" tIns="0" rIns="0" bIns="0" rtlCol="0" anchor="ctr"/>
          <a:lstStyle/>
          <a:p>
            <a:pPr indent="0" marL="0">
              <a:buNone/>
            </a:pPr>
            <a:r>
              <a:rPr lang="en-US" sz="1150" dirty="0">
                <a:solidFill>
                  <a:srgbClr val="FFFFFF"/>
                </a:solidFill>
              </a:rPr>
              <a:t>Boot open</a:t>
            </a:r>
            <a:endParaRPr lang="en-US" sz="1150" dirty="0"/>
          </a:p>
        </p:txBody>
      </p:sp>
      <p:sp>
        <p:nvSpPr>
          <p:cNvPr id="85" name="ref_num_bg_456"/>
          <p:cNvSpPr/>
          <p:nvPr/>
        </p:nvSpPr>
        <p:spPr>
          <a:xfrm>
            <a:off x="6684264" y="2350008"/>
            <a:ext cx="329184" cy="329184"/>
          </a:xfrm>
          <a:prstGeom prst="ellipse">
            <a:avLst/>
          </a:prstGeom>
          <a:solidFill>
            <a:srgbClr val="FFB000"/>
          </a:solidFill>
          <a:ln/>
        </p:spPr>
      </p:sp>
      <p:sp>
        <p:nvSpPr>
          <p:cNvPr id="86" name="ref_num_457"/>
          <p:cNvSpPr txBox="1"/>
          <p:nvPr/>
        </p:nvSpPr>
        <p:spPr>
          <a:xfrm>
            <a:off x="6684264" y="2350008"/>
            <a:ext cx="329184" cy="329184"/>
          </a:xfrm>
          <a:prstGeom prst="rect">
            <a:avLst/>
          </a:prstGeom>
          <a:noFill/>
          <a:ln/>
        </p:spPr>
        <p:txBody>
          <a:bodyPr wrap="square" lIns="0" tIns="0" rIns="0" bIns="0" rtlCol="0" anchor="ctr"/>
          <a:lstStyle/>
          <a:p>
            <a:pPr algn="ctr" indent="0" marL="0">
              <a:buNone/>
            </a:pPr>
            <a:r>
              <a:rPr lang="en-US" sz="1000" b="1" dirty="0">
                <a:solidFill>
                  <a:srgbClr val="0F1215"/>
                </a:solidFill>
              </a:rPr>
              <a:t>60</a:t>
            </a:r>
            <a:endParaRPr lang="en-US" sz="1000" dirty="0"/>
          </a:p>
        </p:txBody>
      </p:sp>
      <p:sp>
        <p:nvSpPr>
          <p:cNvPr id="87" name="ref_label_458"/>
          <p:cNvSpPr txBox="1"/>
          <p:nvPr/>
        </p:nvSpPr>
        <p:spPr>
          <a:xfrm>
            <a:off x="7086600" y="2286000"/>
            <a:ext cx="1627632" cy="457200"/>
          </a:xfrm>
          <a:prstGeom prst="rect">
            <a:avLst/>
          </a:prstGeom>
          <a:noFill/>
          <a:ln/>
        </p:spPr>
        <p:txBody>
          <a:bodyPr wrap="square" lIns="0" tIns="0" rIns="0" bIns="0" rtlCol="0" anchor="ctr"/>
          <a:lstStyle/>
          <a:p>
            <a:pPr indent="0" marL="0">
              <a:buNone/>
            </a:pPr>
            <a:r>
              <a:rPr lang="en-US" sz="1150" dirty="0">
                <a:solidFill>
                  <a:srgbClr val="FFFFFF"/>
                </a:solidFill>
              </a:rPr>
              <a:t>Stability control (ESC)</a:t>
            </a:r>
            <a:endParaRPr lang="en-US" sz="1150" dirty="0"/>
          </a:p>
        </p:txBody>
      </p:sp>
      <p:sp>
        <p:nvSpPr>
          <p:cNvPr id="88" name="ref_num_bg_459"/>
          <p:cNvSpPr/>
          <p:nvPr/>
        </p:nvSpPr>
        <p:spPr>
          <a:xfrm>
            <a:off x="6684264" y="2807208"/>
            <a:ext cx="329184" cy="329184"/>
          </a:xfrm>
          <a:prstGeom prst="ellipse">
            <a:avLst/>
          </a:prstGeom>
          <a:solidFill>
            <a:srgbClr val="FFB000"/>
          </a:solidFill>
          <a:ln/>
        </p:spPr>
      </p:sp>
      <p:sp>
        <p:nvSpPr>
          <p:cNvPr id="89" name="ref_num_460"/>
          <p:cNvSpPr txBox="1"/>
          <p:nvPr/>
        </p:nvSpPr>
        <p:spPr>
          <a:xfrm>
            <a:off x="6684264" y="2807208"/>
            <a:ext cx="329184" cy="329184"/>
          </a:xfrm>
          <a:prstGeom prst="rect">
            <a:avLst/>
          </a:prstGeom>
          <a:noFill/>
          <a:ln/>
        </p:spPr>
        <p:txBody>
          <a:bodyPr wrap="square" lIns="0" tIns="0" rIns="0" bIns="0" rtlCol="0" anchor="ctr"/>
          <a:lstStyle/>
          <a:p>
            <a:pPr algn="ctr" indent="0" marL="0">
              <a:buNone/>
            </a:pPr>
            <a:r>
              <a:rPr lang="en-US" sz="1000" b="1" dirty="0">
                <a:solidFill>
                  <a:srgbClr val="0F1215"/>
                </a:solidFill>
              </a:rPr>
              <a:t>61</a:t>
            </a:r>
            <a:endParaRPr lang="en-US" sz="1000" dirty="0"/>
          </a:p>
        </p:txBody>
      </p:sp>
      <p:sp>
        <p:nvSpPr>
          <p:cNvPr id="90" name="ref_label_461"/>
          <p:cNvSpPr txBox="1"/>
          <p:nvPr/>
        </p:nvSpPr>
        <p:spPr>
          <a:xfrm>
            <a:off x="7086600" y="2743200"/>
            <a:ext cx="1627632" cy="457200"/>
          </a:xfrm>
          <a:prstGeom prst="rect">
            <a:avLst/>
          </a:prstGeom>
          <a:noFill/>
          <a:ln/>
        </p:spPr>
        <p:txBody>
          <a:bodyPr wrap="square" lIns="0" tIns="0" rIns="0" bIns="0" rtlCol="0" anchor="ctr"/>
          <a:lstStyle/>
          <a:p>
            <a:pPr indent="0" marL="0">
              <a:buNone/>
            </a:pPr>
            <a:r>
              <a:rPr lang="en-US" sz="1150" dirty="0">
                <a:solidFill>
                  <a:srgbClr val="FFFFFF"/>
                </a:solidFill>
              </a:rPr>
              <a:t>Rain sensor</a:t>
            </a:r>
            <a:endParaRPr lang="en-US" sz="1150" dirty="0"/>
          </a:p>
        </p:txBody>
      </p:sp>
      <p:sp>
        <p:nvSpPr>
          <p:cNvPr id="91" name="ref_num_bg_462"/>
          <p:cNvSpPr/>
          <p:nvPr/>
        </p:nvSpPr>
        <p:spPr>
          <a:xfrm>
            <a:off x="6684264" y="3264408"/>
            <a:ext cx="329184" cy="329184"/>
          </a:xfrm>
          <a:prstGeom prst="ellipse">
            <a:avLst/>
          </a:prstGeom>
          <a:solidFill>
            <a:srgbClr val="FFB000"/>
          </a:solidFill>
          <a:ln/>
        </p:spPr>
      </p:sp>
      <p:sp>
        <p:nvSpPr>
          <p:cNvPr id="92" name="ref_num_463"/>
          <p:cNvSpPr txBox="1"/>
          <p:nvPr/>
        </p:nvSpPr>
        <p:spPr>
          <a:xfrm>
            <a:off x="6684264" y="3264408"/>
            <a:ext cx="329184" cy="329184"/>
          </a:xfrm>
          <a:prstGeom prst="rect">
            <a:avLst/>
          </a:prstGeom>
          <a:noFill/>
          <a:ln/>
        </p:spPr>
        <p:txBody>
          <a:bodyPr wrap="square" lIns="0" tIns="0" rIns="0" bIns="0" rtlCol="0" anchor="ctr"/>
          <a:lstStyle/>
          <a:p>
            <a:pPr algn="ctr" indent="0" marL="0">
              <a:buNone/>
            </a:pPr>
            <a:r>
              <a:rPr lang="en-US" sz="1000" b="1" dirty="0">
                <a:solidFill>
                  <a:srgbClr val="0F1215"/>
                </a:solidFill>
              </a:rPr>
              <a:t>62</a:t>
            </a:r>
            <a:endParaRPr lang="en-US" sz="1000" dirty="0"/>
          </a:p>
        </p:txBody>
      </p:sp>
      <p:sp>
        <p:nvSpPr>
          <p:cNvPr id="93" name="ref_label_464"/>
          <p:cNvSpPr txBox="1"/>
          <p:nvPr/>
        </p:nvSpPr>
        <p:spPr>
          <a:xfrm>
            <a:off x="7086600" y="3200400"/>
            <a:ext cx="1627632" cy="457200"/>
          </a:xfrm>
          <a:prstGeom prst="rect">
            <a:avLst/>
          </a:prstGeom>
          <a:noFill/>
          <a:ln/>
        </p:spPr>
        <p:txBody>
          <a:bodyPr wrap="square" lIns="0" tIns="0" rIns="0" bIns="0" rtlCol="0" anchor="ctr"/>
          <a:lstStyle/>
          <a:p>
            <a:pPr indent="0" marL="0">
              <a:buNone/>
            </a:pPr>
            <a:r>
              <a:rPr lang="en-US" sz="1150" dirty="0">
                <a:solidFill>
                  <a:srgbClr val="FFFFFF"/>
                </a:solidFill>
              </a:rPr>
              <a:t>Engine / emissions warning</a:t>
            </a:r>
            <a:endParaRPr lang="en-US" sz="1150" dirty="0"/>
          </a:p>
        </p:txBody>
      </p:sp>
      <p:sp>
        <p:nvSpPr>
          <p:cNvPr id="94" name="ref_num_bg_465"/>
          <p:cNvSpPr/>
          <p:nvPr/>
        </p:nvSpPr>
        <p:spPr>
          <a:xfrm>
            <a:off x="6684264" y="3721608"/>
            <a:ext cx="329184" cy="329184"/>
          </a:xfrm>
          <a:prstGeom prst="ellipse">
            <a:avLst/>
          </a:prstGeom>
          <a:solidFill>
            <a:srgbClr val="FFB000"/>
          </a:solidFill>
          <a:ln/>
        </p:spPr>
      </p:sp>
      <p:sp>
        <p:nvSpPr>
          <p:cNvPr id="95" name="ref_num_466"/>
          <p:cNvSpPr txBox="1"/>
          <p:nvPr/>
        </p:nvSpPr>
        <p:spPr>
          <a:xfrm>
            <a:off x="6684264" y="3721608"/>
            <a:ext cx="329184" cy="329184"/>
          </a:xfrm>
          <a:prstGeom prst="rect">
            <a:avLst/>
          </a:prstGeom>
          <a:noFill/>
          <a:ln/>
        </p:spPr>
        <p:txBody>
          <a:bodyPr wrap="square" lIns="0" tIns="0" rIns="0" bIns="0" rtlCol="0" anchor="ctr"/>
          <a:lstStyle/>
          <a:p>
            <a:pPr algn="ctr" indent="0" marL="0">
              <a:buNone/>
            </a:pPr>
            <a:r>
              <a:rPr lang="en-US" sz="1000" b="1" dirty="0">
                <a:solidFill>
                  <a:srgbClr val="0F1215"/>
                </a:solidFill>
              </a:rPr>
              <a:t>63</a:t>
            </a:r>
            <a:endParaRPr lang="en-US" sz="1000" dirty="0"/>
          </a:p>
        </p:txBody>
      </p:sp>
      <p:sp>
        <p:nvSpPr>
          <p:cNvPr id="96" name="ref_label_467"/>
          <p:cNvSpPr txBox="1"/>
          <p:nvPr/>
        </p:nvSpPr>
        <p:spPr>
          <a:xfrm>
            <a:off x="7086600" y="3657600"/>
            <a:ext cx="1627632" cy="457200"/>
          </a:xfrm>
          <a:prstGeom prst="rect">
            <a:avLst/>
          </a:prstGeom>
          <a:noFill/>
          <a:ln/>
        </p:spPr>
        <p:txBody>
          <a:bodyPr wrap="square" lIns="0" tIns="0" rIns="0" bIns="0" rtlCol="0" anchor="ctr"/>
          <a:lstStyle/>
          <a:p>
            <a:pPr indent="0" marL="0">
              <a:buNone/>
            </a:pPr>
            <a:r>
              <a:rPr lang="en-US" sz="1150" dirty="0">
                <a:solidFill>
                  <a:srgbClr val="FFFFFF"/>
                </a:solidFill>
              </a:rPr>
              <a:t>Rear window defrost</a:t>
            </a:r>
            <a:endParaRPr lang="en-US" sz="1150" dirty="0"/>
          </a:p>
        </p:txBody>
      </p:sp>
      <p:sp>
        <p:nvSpPr>
          <p:cNvPr id="97" name="ref_num_bg_468"/>
          <p:cNvSpPr/>
          <p:nvPr/>
        </p:nvSpPr>
        <p:spPr>
          <a:xfrm>
            <a:off x="6684264" y="4178808"/>
            <a:ext cx="329184" cy="329184"/>
          </a:xfrm>
          <a:prstGeom prst="ellipse">
            <a:avLst/>
          </a:prstGeom>
          <a:solidFill>
            <a:srgbClr val="FFB000"/>
          </a:solidFill>
          <a:ln/>
        </p:spPr>
      </p:sp>
      <p:sp>
        <p:nvSpPr>
          <p:cNvPr id="98" name="ref_num_469"/>
          <p:cNvSpPr txBox="1"/>
          <p:nvPr/>
        </p:nvSpPr>
        <p:spPr>
          <a:xfrm>
            <a:off x="6684264" y="4178808"/>
            <a:ext cx="329184" cy="329184"/>
          </a:xfrm>
          <a:prstGeom prst="rect">
            <a:avLst/>
          </a:prstGeom>
          <a:noFill/>
          <a:ln/>
        </p:spPr>
        <p:txBody>
          <a:bodyPr wrap="square" lIns="0" tIns="0" rIns="0" bIns="0" rtlCol="0" anchor="ctr"/>
          <a:lstStyle/>
          <a:p>
            <a:pPr algn="ctr" indent="0" marL="0">
              <a:buNone/>
            </a:pPr>
            <a:r>
              <a:rPr lang="en-US" sz="1000" b="1" dirty="0">
                <a:solidFill>
                  <a:srgbClr val="0F1215"/>
                </a:solidFill>
              </a:rPr>
              <a:t>64</a:t>
            </a:r>
            <a:endParaRPr lang="en-US" sz="1000" dirty="0"/>
          </a:p>
        </p:txBody>
      </p:sp>
      <p:sp>
        <p:nvSpPr>
          <p:cNvPr id="99" name="ref_label_470"/>
          <p:cNvSpPr txBox="1"/>
          <p:nvPr/>
        </p:nvSpPr>
        <p:spPr>
          <a:xfrm>
            <a:off x="7086600" y="4114800"/>
            <a:ext cx="1627632" cy="457200"/>
          </a:xfrm>
          <a:prstGeom prst="rect">
            <a:avLst/>
          </a:prstGeom>
          <a:noFill/>
          <a:ln/>
        </p:spPr>
        <p:txBody>
          <a:bodyPr wrap="square" lIns="0" tIns="0" rIns="0" bIns="0" rtlCol="0" anchor="ctr"/>
          <a:lstStyle/>
          <a:p>
            <a:pPr indent="0" marL="0">
              <a:buNone/>
            </a:pPr>
            <a:r>
              <a:rPr lang="en-US" sz="1150" dirty="0">
                <a:solidFill>
                  <a:srgbClr val="FFFFFF"/>
                </a:solidFill>
              </a:rPr>
              <a:t>Auto windscreen wiping</a:t>
            </a:r>
            <a:endParaRPr lang="en-US" sz="1150" dirty="0"/>
          </a:p>
        </p:txBody>
      </p:sp>
      <p:sp>
        <p:nvSpPr>
          <p:cNvPr id="25" name="Slide Number Placeholder 0"/>
          <p:cNvSpPr>
            <a:spLocks noGrp="1"/>
          </p:cNvSpPr>
          <p:nvPr>
            <p:ph type="sldNum" sz="quarter" idx="4294967295"/>
          </p:nvPr>
        </p:nvSpPr>
        <p:spPr>
          <a:xfrm>
            <a:off x="8275320" y="4818888"/>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9E"/>
                </a:solidFill>
              </a:defRPr>
            </a:lvl1pPr>
          </a:lstStyle>
          <a:p>
            <a:pPr algn="r"/>
            <a:fld id="{F7021451-1387-4CA6-816F-3879F97B5CBC}" type="slidenum">
              <a:rPr b="0" lang="en-US"/>
              <a:t>12</a:t>
            </a:fld>
            <a:endParaRPr lang="en-US"/>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01168"/>
            <a:ext cx="8229600" cy="566928"/>
          </a:xfrm>
          <a:prstGeom prst="rect">
            <a:avLst/>
          </a:prstGeom>
          <a:noFill/>
          <a:ln/>
        </p:spPr>
        <p:txBody>
          <a:bodyPr wrap="square" lIns="0" tIns="0" rIns="0" bIns="0" rtlCol="0" anchor="ctr"/>
          <a:lstStyle/>
          <a:p>
            <a:pPr indent="0" marL="0">
              <a:buNone/>
            </a:pPr>
            <a:r>
              <a:rPr lang="en-US" sz="2600" b="1" dirty="0">
                <a:solidFill>
                  <a:schemeClr val="bg1"/>
                </a:solidFill>
              </a:rPr>
              <a:t>Warning Light On: What Should I Do?</a:t>
            </a:r>
            <a:endParaRPr lang="en-US" sz="2600" dirty="0"/>
          </a:p>
        </p:txBody>
      </p:sp>
      <p:sp>
        <p:nvSpPr>
          <p:cNvPr id="4" name="clk01_tag_471"/>
          <p:cNvSpPr/>
          <p:nvPr/>
        </p:nvSpPr>
        <p:spPr>
          <a:xfrm>
            <a:off x="457200" y="960120"/>
            <a:ext cx="1417320" cy="960120"/>
          </a:xfrm>
          <a:prstGeom prst="roundRect">
            <a:avLst>
              <a:gd name="adj" fmla="val 9524"/>
            </a:avLst>
          </a:prstGeom>
          <a:solidFill>
            <a:srgbClr val="E53935"/>
          </a:solidFill>
          <a:ln/>
        </p:spPr>
      </p:sp>
      <p:sp>
        <p:nvSpPr>
          <p:cNvPr id="5" name="clk01_tagtext_472"/>
          <p:cNvSpPr txBox="1"/>
          <p:nvPr/>
        </p:nvSpPr>
        <p:spPr>
          <a:xfrm>
            <a:off x="457200" y="960120"/>
            <a:ext cx="1417320" cy="960120"/>
          </a:xfrm>
          <a:prstGeom prst="rect">
            <a:avLst/>
          </a:prstGeom>
          <a:noFill/>
          <a:ln/>
        </p:spPr>
        <p:txBody>
          <a:bodyPr wrap="square" lIns="0" tIns="0" rIns="0" bIns="0" rtlCol="0" anchor="ctr"/>
          <a:lstStyle/>
          <a:p>
            <a:pPr algn="ctr" indent="0" marL="0">
              <a:buNone/>
            </a:pPr>
            <a:r>
              <a:rPr lang="en-US" sz="1500" b="1" dirty="0">
                <a:solidFill>
                  <a:srgbClr val="FFFFFF"/>
                </a:solidFill>
              </a:rPr>
              <a:t>RED</a:t>
            </a:r>
            <a:endParaRPr lang="en-US" sz="1500" dirty="0"/>
          </a:p>
        </p:txBody>
      </p:sp>
      <p:sp>
        <p:nvSpPr>
          <p:cNvPr id="6" name="clk01_step_473"/>
          <p:cNvSpPr/>
          <p:nvPr/>
        </p:nvSpPr>
        <p:spPr>
          <a:xfrm>
            <a:off x="2057400" y="1051560"/>
            <a:ext cx="1600200" cy="777240"/>
          </a:xfrm>
          <a:prstGeom prst="chevron">
            <a:avLst/>
          </a:prstGeom>
          <a:solidFill>
            <a:srgbClr val="1C2128"/>
          </a:solidFill>
          <a:ln w="15240">
            <a:solidFill>
              <a:srgbClr val="E53935"/>
            </a:solidFill>
            <a:prstDash val="solid"/>
          </a:ln>
        </p:spPr>
      </p:sp>
      <p:sp>
        <p:nvSpPr>
          <p:cNvPr id="7" name="clk01_steptext_474"/>
          <p:cNvSpPr txBox="1"/>
          <p:nvPr/>
        </p:nvSpPr>
        <p:spPr>
          <a:xfrm>
            <a:off x="2350008" y="1051560"/>
            <a:ext cx="1051560" cy="777240"/>
          </a:xfrm>
          <a:prstGeom prst="rect">
            <a:avLst/>
          </a:prstGeom>
          <a:noFill/>
          <a:ln/>
        </p:spPr>
        <p:txBody>
          <a:bodyPr wrap="square" lIns="0" tIns="0" rIns="0" bIns="0" rtlCol="0" anchor="ctr"/>
          <a:lstStyle/>
          <a:p>
            <a:pPr algn="ctr" indent="0" marL="0">
              <a:buNone/>
            </a:pPr>
            <a:r>
              <a:rPr lang="en-US" sz="1150" b="1" dirty="0">
                <a:solidFill>
                  <a:srgbClr val="FFFFFF"/>
                </a:solidFill>
              </a:rPr>
              <a:t>Find a safe place</a:t>
            </a:r>
            <a:endParaRPr lang="en-US" sz="1150" dirty="0"/>
          </a:p>
        </p:txBody>
      </p:sp>
      <p:sp>
        <p:nvSpPr>
          <p:cNvPr id="8" name="clk01_step_475"/>
          <p:cNvSpPr/>
          <p:nvPr/>
        </p:nvSpPr>
        <p:spPr>
          <a:xfrm>
            <a:off x="3730752" y="1051560"/>
            <a:ext cx="1600200" cy="777240"/>
          </a:xfrm>
          <a:prstGeom prst="chevron">
            <a:avLst/>
          </a:prstGeom>
          <a:solidFill>
            <a:srgbClr val="1C2128"/>
          </a:solidFill>
          <a:ln w="15240">
            <a:solidFill>
              <a:srgbClr val="E53935"/>
            </a:solidFill>
            <a:prstDash val="solid"/>
          </a:ln>
        </p:spPr>
      </p:sp>
      <p:sp>
        <p:nvSpPr>
          <p:cNvPr id="9" name="clk01_steptext_476"/>
          <p:cNvSpPr txBox="1"/>
          <p:nvPr/>
        </p:nvSpPr>
        <p:spPr>
          <a:xfrm>
            <a:off x="4023360" y="1051560"/>
            <a:ext cx="1051560" cy="777240"/>
          </a:xfrm>
          <a:prstGeom prst="rect">
            <a:avLst/>
          </a:prstGeom>
          <a:noFill/>
          <a:ln/>
        </p:spPr>
        <p:txBody>
          <a:bodyPr wrap="square" lIns="0" tIns="0" rIns="0" bIns="0" rtlCol="0" anchor="ctr"/>
          <a:lstStyle/>
          <a:p>
            <a:pPr algn="ctr" indent="0" marL="0">
              <a:buNone/>
            </a:pPr>
            <a:r>
              <a:rPr lang="en-US" sz="1150" b="1" dirty="0">
                <a:solidFill>
                  <a:srgbClr val="FFFFFF"/>
                </a:solidFill>
              </a:rPr>
              <a:t>Stop &amp; switch off</a:t>
            </a:r>
            <a:endParaRPr lang="en-US" sz="1150" dirty="0"/>
          </a:p>
        </p:txBody>
      </p:sp>
      <p:sp>
        <p:nvSpPr>
          <p:cNvPr id="10" name="clk01_step_477"/>
          <p:cNvSpPr/>
          <p:nvPr/>
        </p:nvSpPr>
        <p:spPr>
          <a:xfrm>
            <a:off x="5404104" y="1051560"/>
            <a:ext cx="1600200" cy="777240"/>
          </a:xfrm>
          <a:prstGeom prst="chevron">
            <a:avLst/>
          </a:prstGeom>
          <a:solidFill>
            <a:srgbClr val="1C2128"/>
          </a:solidFill>
          <a:ln w="15240">
            <a:solidFill>
              <a:srgbClr val="E53935"/>
            </a:solidFill>
            <a:prstDash val="solid"/>
          </a:ln>
        </p:spPr>
      </p:sp>
      <p:sp>
        <p:nvSpPr>
          <p:cNvPr id="11" name="clk01_steptext_478"/>
          <p:cNvSpPr txBox="1"/>
          <p:nvPr/>
        </p:nvSpPr>
        <p:spPr>
          <a:xfrm>
            <a:off x="5696712" y="1051560"/>
            <a:ext cx="1051560" cy="777240"/>
          </a:xfrm>
          <a:prstGeom prst="rect">
            <a:avLst/>
          </a:prstGeom>
          <a:noFill/>
          <a:ln/>
        </p:spPr>
        <p:txBody>
          <a:bodyPr wrap="square" lIns="0" tIns="0" rIns="0" bIns="0" rtlCol="0" anchor="ctr"/>
          <a:lstStyle/>
          <a:p>
            <a:pPr algn="ctr" indent="0" marL="0">
              <a:buNone/>
            </a:pPr>
            <a:r>
              <a:rPr lang="en-US" sz="1150" b="1" dirty="0">
                <a:solidFill>
                  <a:srgbClr val="FFFFFF"/>
                </a:solidFill>
              </a:rPr>
              <a:t>Check the handbook</a:t>
            </a:r>
            <a:endParaRPr lang="en-US" sz="1150" dirty="0"/>
          </a:p>
        </p:txBody>
      </p:sp>
      <p:sp>
        <p:nvSpPr>
          <p:cNvPr id="12" name="clk01_step_479"/>
          <p:cNvSpPr/>
          <p:nvPr/>
        </p:nvSpPr>
        <p:spPr>
          <a:xfrm>
            <a:off x="7077456" y="1051560"/>
            <a:ext cx="1600200" cy="777240"/>
          </a:xfrm>
          <a:prstGeom prst="chevron">
            <a:avLst/>
          </a:prstGeom>
          <a:solidFill>
            <a:srgbClr val="1C2128"/>
          </a:solidFill>
          <a:ln w="15240">
            <a:solidFill>
              <a:srgbClr val="E53935"/>
            </a:solidFill>
            <a:prstDash val="solid"/>
          </a:ln>
        </p:spPr>
      </p:sp>
      <p:sp>
        <p:nvSpPr>
          <p:cNvPr id="13" name="clk01_steptext_480"/>
          <p:cNvSpPr txBox="1"/>
          <p:nvPr/>
        </p:nvSpPr>
        <p:spPr>
          <a:xfrm>
            <a:off x="7370064" y="1051560"/>
            <a:ext cx="1051560" cy="777240"/>
          </a:xfrm>
          <a:prstGeom prst="rect">
            <a:avLst/>
          </a:prstGeom>
          <a:noFill/>
          <a:ln/>
        </p:spPr>
        <p:txBody>
          <a:bodyPr wrap="square" lIns="0" tIns="0" rIns="0" bIns="0" rtlCol="0" anchor="ctr"/>
          <a:lstStyle/>
          <a:p>
            <a:pPr algn="ctr" indent="0" marL="0">
              <a:buNone/>
            </a:pPr>
            <a:r>
              <a:rPr lang="en-US" sz="1150" b="1" dirty="0">
                <a:solidFill>
                  <a:srgbClr val="FFFFFF"/>
                </a:solidFill>
              </a:rPr>
              <a:t>Call for help &amp; report</a:t>
            </a:r>
            <a:endParaRPr lang="en-US" sz="1150" dirty="0"/>
          </a:p>
        </p:txBody>
      </p:sp>
      <p:sp>
        <p:nvSpPr>
          <p:cNvPr id="14" name="clk02_tag_481"/>
          <p:cNvSpPr/>
          <p:nvPr/>
        </p:nvSpPr>
        <p:spPr>
          <a:xfrm>
            <a:off x="457200" y="2148840"/>
            <a:ext cx="1417320" cy="960120"/>
          </a:xfrm>
          <a:prstGeom prst="roundRect">
            <a:avLst>
              <a:gd name="adj" fmla="val 9524"/>
            </a:avLst>
          </a:prstGeom>
          <a:solidFill>
            <a:srgbClr val="FFB000"/>
          </a:solidFill>
          <a:ln/>
        </p:spPr>
      </p:sp>
      <p:sp>
        <p:nvSpPr>
          <p:cNvPr id="15" name="clk02_tagtext_482"/>
          <p:cNvSpPr txBox="1"/>
          <p:nvPr/>
        </p:nvSpPr>
        <p:spPr>
          <a:xfrm>
            <a:off x="457200" y="2148840"/>
            <a:ext cx="1417320" cy="960120"/>
          </a:xfrm>
          <a:prstGeom prst="rect">
            <a:avLst/>
          </a:prstGeom>
          <a:noFill/>
          <a:ln/>
        </p:spPr>
        <p:txBody>
          <a:bodyPr wrap="square" lIns="0" tIns="0" rIns="0" bIns="0" rtlCol="0" anchor="ctr"/>
          <a:lstStyle/>
          <a:p>
            <a:pPr algn="ctr" indent="0" marL="0">
              <a:buNone/>
            </a:pPr>
            <a:r>
              <a:rPr lang="en-US" sz="1500" b="1" dirty="0">
                <a:solidFill>
                  <a:srgbClr val="0F1215"/>
                </a:solidFill>
              </a:rPr>
              <a:t>AMBER</a:t>
            </a:r>
            <a:endParaRPr lang="en-US" sz="1500" dirty="0"/>
          </a:p>
        </p:txBody>
      </p:sp>
      <p:sp>
        <p:nvSpPr>
          <p:cNvPr id="16" name="clk02_step_483"/>
          <p:cNvSpPr/>
          <p:nvPr/>
        </p:nvSpPr>
        <p:spPr>
          <a:xfrm>
            <a:off x="2057400" y="2240280"/>
            <a:ext cx="1600200" cy="777240"/>
          </a:xfrm>
          <a:prstGeom prst="chevron">
            <a:avLst/>
          </a:prstGeom>
          <a:solidFill>
            <a:srgbClr val="1C2128"/>
          </a:solidFill>
          <a:ln w="15240">
            <a:solidFill>
              <a:srgbClr val="FFB000"/>
            </a:solidFill>
            <a:prstDash val="solid"/>
          </a:ln>
        </p:spPr>
      </p:sp>
      <p:sp>
        <p:nvSpPr>
          <p:cNvPr id="17" name="clk02_steptext_484"/>
          <p:cNvSpPr txBox="1"/>
          <p:nvPr/>
        </p:nvSpPr>
        <p:spPr>
          <a:xfrm>
            <a:off x="2350008" y="2240280"/>
            <a:ext cx="1051560" cy="777240"/>
          </a:xfrm>
          <a:prstGeom prst="rect">
            <a:avLst/>
          </a:prstGeom>
          <a:noFill/>
          <a:ln/>
        </p:spPr>
        <p:txBody>
          <a:bodyPr wrap="square" lIns="0" tIns="0" rIns="0" bIns="0" rtlCol="0" anchor="ctr"/>
          <a:lstStyle/>
          <a:p>
            <a:pPr algn="ctr" indent="0" marL="0">
              <a:buNone/>
            </a:pPr>
            <a:r>
              <a:rPr lang="en-US" sz="1150" b="1" dirty="0">
                <a:solidFill>
                  <a:srgbClr val="FFFFFF"/>
                </a:solidFill>
              </a:rPr>
              <a:t>Drive carefully</a:t>
            </a:r>
            <a:endParaRPr lang="en-US" sz="1150" dirty="0"/>
          </a:p>
        </p:txBody>
      </p:sp>
      <p:sp>
        <p:nvSpPr>
          <p:cNvPr id="18" name="clk02_step_485"/>
          <p:cNvSpPr/>
          <p:nvPr/>
        </p:nvSpPr>
        <p:spPr>
          <a:xfrm>
            <a:off x="3730752" y="2240280"/>
            <a:ext cx="1600200" cy="777240"/>
          </a:xfrm>
          <a:prstGeom prst="chevron">
            <a:avLst/>
          </a:prstGeom>
          <a:solidFill>
            <a:srgbClr val="1C2128"/>
          </a:solidFill>
          <a:ln w="15240">
            <a:solidFill>
              <a:srgbClr val="FFB000"/>
            </a:solidFill>
            <a:prstDash val="solid"/>
          </a:ln>
        </p:spPr>
      </p:sp>
      <p:sp>
        <p:nvSpPr>
          <p:cNvPr id="19" name="clk02_steptext_486"/>
          <p:cNvSpPr txBox="1"/>
          <p:nvPr/>
        </p:nvSpPr>
        <p:spPr>
          <a:xfrm>
            <a:off x="4023360" y="2240280"/>
            <a:ext cx="1051560" cy="777240"/>
          </a:xfrm>
          <a:prstGeom prst="rect">
            <a:avLst/>
          </a:prstGeom>
          <a:noFill/>
          <a:ln/>
        </p:spPr>
        <p:txBody>
          <a:bodyPr wrap="square" lIns="0" tIns="0" rIns="0" bIns="0" rtlCol="0" anchor="ctr"/>
          <a:lstStyle/>
          <a:p>
            <a:pPr algn="ctr" indent="0" marL="0">
              <a:buNone/>
            </a:pPr>
            <a:r>
              <a:rPr lang="en-US" sz="1150" b="1" dirty="0">
                <a:solidFill>
                  <a:srgbClr val="FFFFFF"/>
                </a:solidFill>
              </a:rPr>
              <a:t>Check the handbook</a:t>
            </a:r>
            <a:endParaRPr lang="en-US" sz="1150" dirty="0"/>
          </a:p>
        </p:txBody>
      </p:sp>
      <p:sp>
        <p:nvSpPr>
          <p:cNvPr id="20" name="clk02_step_487"/>
          <p:cNvSpPr/>
          <p:nvPr/>
        </p:nvSpPr>
        <p:spPr>
          <a:xfrm>
            <a:off x="5404104" y="2240280"/>
            <a:ext cx="1600200" cy="777240"/>
          </a:xfrm>
          <a:prstGeom prst="chevron">
            <a:avLst/>
          </a:prstGeom>
          <a:solidFill>
            <a:srgbClr val="1C2128"/>
          </a:solidFill>
          <a:ln w="15240">
            <a:solidFill>
              <a:srgbClr val="FFB000"/>
            </a:solidFill>
            <a:prstDash val="solid"/>
          </a:ln>
        </p:spPr>
      </p:sp>
      <p:sp>
        <p:nvSpPr>
          <p:cNvPr id="21" name="clk02_steptext_488"/>
          <p:cNvSpPr txBox="1"/>
          <p:nvPr/>
        </p:nvSpPr>
        <p:spPr>
          <a:xfrm>
            <a:off x="5696712" y="2240280"/>
            <a:ext cx="1051560" cy="777240"/>
          </a:xfrm>
          <a:prstGeom prst="rect">
            <a:avLst/>
          </a:prstGeom>
          <a:noFill/>
          <a:ln/>
        </p:spPr>
        <p:txBody>
          <a:bodyPr wrap="square" lIns="0" tIns="0" rIns="0" bIns="0" rtlCol="0" anchor="ctr"/>
          <a:lstStyle/>
          <a:p>
            <a:pPr algn="ctr" indent="0" marL="0">
              <a:buNone/>
            </a:pPr>
            <a:r>
              <a:rPr lang="en-US" sz="1150" b="1" dirty="0">
                <a:solidFill>
                  <a:srgbClr val="FFFFFF"/>
                </a:solidFill>
              </a:rPr>
              <a:t>Book an inspection</a:t>
            </a:r>
            <a:endParaRPr lang="en-US" sz="1150" dirty="0"/>
          </a:p>
        </p:txBody>
      </p:sp>
      <p:sp>
        <p:nvSpPr>
          <p:cNvPr id="22" name="clk02_step_489"/>
          <p:cNvSpPr/>
          <p:nvPr/>
        </p:nvSpPr>
        <p:spPr>
          <a:xfrm>
            <a:off x="7077456" y="2240280"/>
            <a:ext cx="1600200" cy="777240"/>
          </a:xfrm>
          <a:prstGeom prst="chevron">
            <a:avLst/>
          </a:prstGeom>
          <a:solidFill>
            <a:srgbClr val="1C2128"/>
          </a:solidFill>
          <a:ln w="15240">
            <a:solidFill>
              <a:srgbClr val="FFB000"/>
            </a:solidFill>
            <a:prstDash val="solid"/>
          </a:ln>
        </p:spPr>
      </p:sp>
      <p:sp>
        <p:nvSpPr>
          <p:cNvPr id="23" name="clk02_steptext_490"/>
          <p:cNvSpPr txBox="1"/>
          <p:nvPr/>
        </p:nvSpPr>
        <p:spPr>
          <a:xfrm>
            <a:off x="7370064" y="2240280"/>
            <a:ext cx="1051560" cy="777240"/>
          </a:xfrm>
          <a:prstGeom prst="rect">
            <a:avLst/>
          </a:prstGeom>
          <a:noFill/>
          <a:ln/>
        </p:spPr>
        <p:txBody>
          <a:bodyPr wrap="square" lIns="0" tIns="0" rIns="0" bIns="0" rtlCol="0" anchor="ctr"/>
          <a:lstStyle/>
          <a:p>
            <a:pPr algn="ctr" indent="0" marL="0">
              <a:buNone/>
            </a:pPr>
            <a:r>
              <a:rPr lang="en-US" sz="1150" b="1" dirty="0">
                <a:solidFill>
                  <a:srgbClr val="FFFFFF"/>
                </a:solidFill>
              </a:rPr>
              <a:t>Report it</a:t>
            </a:r>
            <a:endParaRPr lang="en-US" sz="1150" dirty="0"/>
          </a:p>
        </p:txBody>
      </p:sp>
      <p:sp>
        <p:nvSpPr>
          <p:cNvPr id="24" name="clk03_tag_491"/>
          <p:cNvSpPr/>
          <p:nvPr/>
        </p:nvSpPr>
        <p:spPr>
          <a:xfrm>
            <a:off x="457200" y="3337560"/>
            <a:ext cx="1417320" cy="960120"/>
          </a:xfrm>
          <a:prstGeom prst="roundRect">
            <a:avLst>
              <a:gd name="adj" fmla="val 9524"/>
            </a:avLst>
          </a:prstGeom>
          <a:solidFill>
            <a:srgbClr val="2ECC40"/>
          </a:solidFill>
          <a:ln/>
        </p:spPr>
      </p:sp>
      <p:sp>
        <p:nvSpPr>
          <p:cNvPr id="25" name="clk03_tagtext_492"/>
          <p:cNvSpPr txBox="1"/>
          <p:nvPr/>
        </p:nvSpPr>
        <p:spPr>
          <a:xfrm>
            <a:off x="457200" y="3337560"/>
            <a:ext cx="1417320" cy="960120"/>
          </a:xfrm>
          <a:prstGeom prst="rect">
            <a:avLst/>
          </a:prstGeom>
          <a:noFill/>
          <a:ln/>
        </p:spPr>
        <p:txBody>
          <a:bodyPr wrap="square" lIns="0" tIns="0" rIns="0" bIns="0" rtlCol="0" anchor="ctr"/>
          <a:lstStyle/>
          <a:p>
            <a:pPr algn="ctr" indent="0" marL="0">
              <a:buNone/>
            </a:pPr>
            <a:r>
              <a:rPr lang="en-US" sz="1500" b="1" dirty="0">
                <a:solidFill>
                  <a:srgbClr val="0F1215"/>
                </a:solidFill>
              </a:rPr>
              <a:t>GREEN / BLUE</a:t>
            </a:r>
            <a:endParaRPr lang="en-US" sz="1500" dirty="0"/>
          </a:p>
        </p:txBody>
      </p:sp>
      <p:sp>
        <p:nvSpPr>
          <p:cNvPr id="26" name="clk03_step_493"/>
          <p:cNvSpPr/>
          <p:nvPr/>
        </p:nvSpPr>
        <p:spPr>
          <a:xfrm>
            <a:off x="2057400" y="3429000"/>
            <a:ext cx="1600200" cy="777240"/>
          </a:xfrm>
          <a:prstGeom prst="chevron">
            <a:avLst/>
          </a:prstGeom>
          <a:solidFill>
            <a:srgbClr val="1C2128"/>
          </a:solidFill>
          <a:ln w="15240">
            <a:solidFill>
              <a:srgbClr val="2ECC40"/>
            </a:solidFill>
            <a:prstDash val="solid"/>
          </a:ln>
        </p:spPr>
      </p:sp>
      <p:sp>
        <p:nvSpPr>
          <p:cNvPr id="27" name="clk03_steptext_494"/>
          <p:cNvSpPr txBox="1"/>
          <p:nvPr/>
        </p:nvSpPr>
        <p:spPr>
          <a:xfrm>
            <a:off x="2350008" y="3429000"/>
            <a:ext cx="1051560" cy="777240"/>
          </a:xfrm>
          <a:prstGeom prst="rect">
            <a:avLst/>
          </a:prstGeom>
          <a:noFill/>
          <a:ln/>
        </p:spPr>
        <p:txBody>
          <a:bodyPr wrap="square" lIns="0" tIns="0" rIns="0" bIns="0" rtlCol="0" anchor="ctr"/>
          <a:lstStyle/>
          <a:p>
            <a:pPr algn="ctr" indent="0" marL="0">
              <a:buNone/>
            </a:pPr>
            <a:r>
              <a:rPr lang="en-US" sz="1150" b="1" dirty="0">
                <a:solidFill>
                  <a:srgbClr val="FFFFFF"/>
                </a:solidFill>
              </a:rPr>
              <a:t>System is active</a:t>
            </a:r>
            <a:endParaRPr lang="en-US" sz="1150" dirty="0"/>
          </a:p>
        </p:txBody>
      </p:sp>
      <p:sp>
        <p:nvSpPr>
          <p:cNvPr id="28" name="clk03_step_495"/>
          <p:cNvSpPr/>
          <p:nvPr/>
        </p:nvSpPr>
        <p:spPr>
          <a:xfrm>
            <a:off x="3730752" y="3429000"/>
            <a:ext cx="1600200" cy="777240"/>
          </a:xfrm>
          <a:prstGeom prst="chevron">
            <a:avLst/>
          </a:prstGeom>
          <a:solidFill>
            <a:srgbClr val="1C2128"/>
          </a:solidFill>
          <a:ln w="15240">
            <a:solidFill>
              <a:srgbClr val="2ECC40"/>
            </a:solidFill>
            <a:prstDash val="solid"/>
          </a:ln>
        </p:spPr>
      </p:sp>
      <p:sp>
        <p:nvSpPr>
          <p:cNvPr id="29" name="clk03_steptext_496"/>
          <p:cNvSpPr txBox="1"/>
          <p:nvPr/>
        </p:nvSpPr>
        <p:spPr>
          <a:xfrm>
            <a:off x="4023360" y="3429000"/>
            <a:ext cx="1051560" cy="777240"/>
          </a:xfrm>
          <a:prstGeom prst="rect">
            <a:avLst/>
          </a:prstGeom>
          <a:noFill/>
          <a:ln/>
        </p:spPr>
        <p:txBody>
          <a:bodyPr wrap="square" lIns="0" tIns="0" rIns="0" bIns="0" rtlCol="0" anchor="ctr"/>
          <a:lstStyle/>
          <a:p>
            <a:pPr algn="ctr" indent="0" marL="0">
              <a:buNone/>
            </a:pPr>
            <a:r>
              <a:rPr lang="en-US" sz="1150" b="1" dirty="0">
                <a:solidFill>
                  <a:srgbClr val="FFFFFF"/>
                </a:solidFill>
              </a:rPr>
              <a:t>No action needed</a:t>
            </a:r>
            <a:endParaRPr lang="en-US" sz="1150" dirty="0"/>
          </a:p>
        </p:txBody>
      </p:sp>
      <p:sp>
        <p:nvSpPr>
          <p:cNvPr id="30" name="clk03_step_497"/>
          <p:cNvSpPr/>
          <p:nvPr/>
        </p:nvSpPr>
        <p:spPr>
          <a:xfrm>
            <a:off x="5404104" y="3429000"/>
            <a:ext cx="1600200" cy="777240"/>
          </a:xfrm>
          <a:prstGeom prst="chevron">
            <a:avLst/>
          </a:prstGeom>
          <a:solidFill>
            <a:srgbClr val="1C2128"/>
          </a:solidFill>
          <a:ln w="15240">
            <a:solidFill>
              <a:srgbClr val="2ECC40"/>
            </a:solidFill>
            <a:prstDash val="solid"/>
          </a:ln>
        </p:spPr>
      </p:sp>
      <p:sp>
        <p:nvSpPr>
          <p:cNvPr id="31" name="clk03_steptext_498"/>
          <p:cNvSpPr txBox="1"/>
          <p:nvPr/>
        </p:nvSpPr>
        <p:spPr>
          <a:xfrm>
            <a:off x="5696712" y="3429000"/>
            <a:ext cx="1051560" cy="777240"/>
          </a:xfrm>
          <a:prstGeom prst="rect">
            <a:avLst/>
          </a:prstGeom>
          <a:noFill/>
          <a:ln/>
        </p:spPr>
        <p:txBody>
          <a:bodyPr wrap="square" lIns="0" tIns="0" rIns="0" bIns="0" rtlCol="0" anchor="ctr"/>
          <a:lstStyle/>
          <a:p>
            <a:pPr algn="ctr" indent="0" marL="0">
              <a:buNone/>
            </a:pPr>
            <a:r>
              <a:rPr lang="en-US" sz="1150" b="1" dirty="0">
                <a:solidFill>
                  <a:srgbClr val="FFFFFF"/>
                </a:solidFill>
              </a:rPr>
              <a:t>Unexpected? Check</a:t>
            </a:r>
            <a:endParaRPr lang="en-US" sz="1150" dirty="0"/>
          </a:p>
        </p:txBody>
      </p:sp>
      <p:sp>
        <p:nvSpPr>
          <p:cNvPr id="32" name="clk03_step_499"/>
          <p:cNvSpPr/>
          <p:nvPr/>
        </p:nvSpPr>
        <p:spPr>
          <a:xfrm>
            <a:off x="7077456" y="3429000"/>
            <a:ext cx="1600200" cy="777240"/>
          </a:xfrm>
          <a:prstGeom prst="chevron">
            <a:avLst/>
          </a:prstGeom>
          <a:solidFill>
            <a:srgbClr val="1C2128"/>
          </a:solidFill>
          <a:ln w="15240">
            <a:solidFill>
              <a:srgbClr val="2ECC40"/>
            </a:solidFill>
            <a:prstDash val="solid"/>
          </a:ln>
        </p:spPr>
      </p:sp>
      <p:sp>
        <p:nvSpPr>
          <p:cNvPr id="33" name="clk03_steptext_500"/>
          <p:cNvSpPr txBox="1"/>
          <p:nvPr/>
        </p:nvSpPr>
        <p:spPr>
          <a:xfrm>
            <a:off x="7370064" y="3429000"/>
            <a:ext cx="1051560" cy="777240"/>
          </a:xfrm>
          <a:prstGeom prst="rect">
            <a:avLst/>
          </a:prstGeom>
          <a:noFill/>
          <a:ln/>
        </p:spPr>
        <p:txBody>
          <a:bodyPr wrap="square" lIns="0" tIns="0" rIns="0" bIns="0" rtlCol="0" anchor="ctr"/>
          <a:lstStyle/>
          <a:p>
            <a:pPr algn="ctr" indent="0" marL="0">
              <a:buNone/>
            </a:pPr>
            <a:r>
              <a:rPr lang="en-US" sz="1150" b="1" dirty="0">
                <a:solidFill>
                  <a:srgbClr val="FFFFFF"/>
                </a:solidFill>
              </a:rPr>
              <a:t>Switch off if not needed</a:t>
            </a:r>
            <a:endParaRPr lang="en-US" sz="1150" dirty="0"/>
          </a:p>
        </p:txBody>
      </p:sp>
      <p:sp>
        <p:nvSpPr>
          <p:cNvPr id="34" name="flow_footer"/>
          <p:cNvSpPr txBox="1"/>
          <p:nvPr/>
        </p:nvSpPr>
        <p:spPr>
          <a:xfrm>
            <a:off x="457200" y="4526280"/>
            <a:ext cx="8229600" cy="256032"/>
          </a:xfrm>
          <a:prstGeom prst="rect">
            <a:avLst/>
          </a:prstGeom>
          <a:noFill/>
          <a:ln/>
        </p:spPr>
        <p:txBody>
          <a:bodyPr wrap="square" lIns="0" tIns="0" rIns="0" bIns="0" rtlCol="0" anchor="ctr"/>
          <a:lstStyle/>
          <a:p>
            <a:pPr indent="0" marL="0">
              <a:buNone/>
            </a:pPr>
            <a:r>
              <a:rPr lang="en-US" sz="1200" b="1" i="1" dirty="0">
                <a:solidFill>
                  <a:srgbClr val="FFB000"/>
                </a:solidFill>
              </a:rPr>
              <a:t>If in doubt, don't drive. Stop safely and get advice.</a:t>
            </a:r>
            <a:endParaRPr lang="en-US" sz="1200" dirty="0"/>
          </a:p>
        </p:txBody>
      </p:sp>
      <p:sp>
        <p:nvSpPr>
          <p:cNvPr id="25" name="Slide Number Placeholder 0"/>
          <p:cNvSpPr>
            <a:spLocks noGrp="1"/>
          </p:cNvSpPr>
          <p:nvPr>
            <p:ph type="sldNum" sz="quarter" idx="4294967295"/>
          </p:nvPr>
        </p:nvSpPr>
        <p:spPr>
          <a:xfrm>
            <a:off x="8275320" y="4818888"/>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9E"/>
                </a:solidFill>
              </a:defRPr>
            </a:lvl1pPr>
          </a:lstStyle>
          <a:p>
            <a:pPr algn="r"/>
            <a:fld id="{F7021451-1387-4CA6-816F-3879F97B5CBC}" type="slidenum">
              <a:rPr b="0" lang="en-US"/>
              <a:t>13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3" fill="hold">
                      <p:stCondLst>
                        <p:cond delay="indefinite"/>
                      </p:stCondLst>
                      <p:childTnLst>
                        <p:par>
                          <p:cTn id="34"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500"/>
                                        <p:tgtEl>
                                          <p:spTgt spid="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500"/>
                                        <p:tgtEl>
                                          <p:spTgt spid="5"/>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childTnLst>
                          </p:cTn>
                        </p:par>
                      </p:childTnLst>
                    </p:cTn>
                  </p:par>
                  <p:par>
                    <p:cTn id="65" fill="hold">
                      <p:stCondLst>
                        <p:cond delay="indefinite"/>
                      </p:stCondLst>
                      <p:childTnLst>
                        <p:par>
                          <p:cTn id="66"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00"/>
                                        <p:tgtEl>
                                          <p:spTgt spid="1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500"/>
                                        <p:tgtEl>
                                          <p:spTgt spid="1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50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500"/>
                                        <p:tgtEl>
                                          <p:spTgt spid="20"/>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500"/>
                                        <p:tgtEl>
                                          <p:spTgt spid="21"/>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500"/>
                                        <p:tgtEl>
                                          <p:spTgt spid="22"/>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500"/>
                                        <p:tgtEl>
                                          <p:spTgt spid="23"/>
                                        </p:tgtEl>
                                      </p:cBhvr>
                                    </p:animEffect>
                                  </p:childTnLst>
                                </p:cTn>
                              </p:par>
                            </p:childTnLst>
                          </p:cTn>
                        </p:par>
                      </p:childTnLst>
                    </p:cTn>
                  </p:par>
                  <p:par>
                    <p:cTn id="97" fill="hold">
                      <p:stCondLst>
                        <p:cond delay="indefinite"/>
                      </p:stCondLst>
                      <p:childTnLst>
                        <p:par>
                          <p:cTn id="98"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500"/>
                                        <p:tgtEl>
                                          <p:spTgt spid="24"/>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500"/>
                                        <p:tgtEl>
                                          <p:spTgt spid="25"/>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500"/>
                                        <p:tgtEl>
                                          <p:spTgt spid="26"/>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500"/>
                                        <p:tgtEl>
                                          <p:spTgt spid="27"/>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fade">
                                      <p:cBhvr>
                                        <p:cTn id="81" dur="500"/>
                                        <p:tgtEl>
                                          <p:spTgt spid="28"/>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500"/>
                                        <p:tgtEl>
                                          <p:spTgt spid="29"/>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500"/>
                                        <p:tgtEl>
                                          <p:spTgt spid="30"/>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1"/>
                                        </p:tgtEl>
                                        <p:attrNameLst>
                                          <p:attrName>style.visibility</p:attrName>
                                        </p:attrNameLst>
                                      </p:cBhvr>
                                      <p:to>
                                        <p:strVal val="visible"/>
                                      </p:to>
                                    </p:set>
                                    <p:animEffect transition="in" filter="fade">
                                      <p:cBhvr>
                                        <p:cTn id="90" dur="500"/>
                                        <p:tgtEl>
                                          <p:spTgt spid="31"/>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2"/>
                                        </p:tgtEl>
                                        <p:attrNameLst>
                                          <p:attrName>style.visibility</p:attrName>
                                        </p:attrNameLst>
                                      </p:cBhvr>
                                      <p:to>
                                        <p:strVal val="visible"/>
                                      </p:to>
                                    </p:set>
                                    <p:animEffect transition="in" filter="fade">
                                      <p:cBhvr>
                                        <p:cTn id="93" dur="500"/>
                                        <p:tgtEl>
                                          <p:spTgt spid="32"/>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3"/>
                                        </p:tgtEl>
                                        <p:attrNameLst>
                                          <p:attrName>style.visibility</p:attrName>
                                        </p:attrNameLst>
                                      </p:cBhvr>
                                      <p:to>
                                        <p:strVal val="visible"/>
                                      </p:to>
                                    </p:set>
                                    <p:animEffect transition="in" filter="fade">
                                      <p:cBhvr>
                                        <p:cTn id="96"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01168"/>
            <a:ext cx="8229600" cy="566928"/>
          </a:xfrm>
          <a:prstGeom prst="rect">
            <a:avLst/>
          </a:prstGeom>
          <a:noFill/>
          <a:ln/>
        </p:spPr>
        <p:txBody>
          <a:bodyPr wrap="square" lIns="0" tIns="0" rIns="0" bIns="0" rtlCol="0" anchor="ctr"/>
          <a:lstStyle/>
          <a:p>
            <a:pPr indent="0" marL="0">
              <a:buNone/>
            </a:pPr>
            <a:r>
              <a:rPr lang="en-US" sz="2600" b="1" dirty="0">
                <a:solidFill>
                  <a:schemeClr val="bg1"/>
                </a:solidFill>
              </a:rPr>
              <a:t>Quick Knowledge Check</a:t>
            </a:r>
            <a:endParaRPr lang="en-US" sz="2600" dirty="0"/>
          </a:p>
        </p:txBody>
      </p:sp>
      <p:sp>
        <p:nvSpPr>
          <p:cNvPr id="4" name="kc_card_501"/>
          <p:cNvSpPr/>
          <p:nvPr/>
        </p:nvSpPr>
        <p:spPr>
          <a:xfrm>
            <a:off x="457200" y="960120"/>
            <a:ext cx="1920240" cy="3474720"/>
          </a:xfrm>
          <a:prstGeom prst="roundRect">
            <a:avLst>
              <a:gd name="adj" fmla="val 5714"/>
            </a:avLst>
          </a:prstGeom>
          <a:solidFill>
            <a:srgbClr val="1C2128"/>
          </a:solidFill>
          <a:ln/>
        </p:spPr>
      </p:sp>
      <p:sp>
        <p:nvSpPr>
          <p:cNvPr id="5" name="kc_q_502"/>
          <p:cNvSpPr txBox="1"/>
          <p:nvPr/>
        </p:nvSpPr>
        <p:spPr>
          <a:xfrm>
            <a:off x="594360" y="1051560"/>
            <a:ext cx="731520" cy="320040"/>
          </a:xfrm>
          <a:prstGeom prst="rect">
            <a:avLst/>
          </a:prstGeom>
          <a:noFill/>
          <a:ln/>
        </p:spPr>
        <p:txBody>
          <a:bodyPr wrap="square" lIns="0" tIns="0" rIns="0" bIns="0" rtlCol="0" anchor="ctr"/>
          <a:lstStyle/>
          <a:p>
            <a:pPr indent="0" marL="0">
              <a:buNone/>
            </a:pPr>
            <a:r>
              <a:rPr lang="en-US" sz="1400" b="1" dirty="0">
                <a:solidFill>
                  <a:srgbClr val="FFB000"/>
                </a:solidFill>
              </a:rPr>
              <a:t>Q1</a:t>
            </a:r>
            <a:endParaRPr lang="en-US" sz="1400" dirty="0"/>
          </a:p>
        </p:txBody>
      </p:sp>
      <p:sp>
        <p:nvSpPr>
          <p:cNvPr id="6" name="kc_iconbg_503"/>
          <p:cNvSpPr/>
          <p:nvPr/>
        </p:nvSpPr>
        <p:spPr>
          <a:xfrm>
            <a:off x="822960" y="1417320"/>
            <a:ext cx="1188720" cy="1188720"/>
          </a:xfrm>
          <a:prstGeom prst="ellipse">
            <a:avLst/>
          </a:prstGeom>
          <a:solidFill>
            <a:srgbClr val="000000"/>
          </a:solidFill>
          <a:ln w="12700">
            <a:solidFill>
              <a:srgbClr val="262C34"/>
            </a:solidFill>
            <a:prstDash val="solid"/>
          </a:ln>
        </p:spPr>
      </p:sp>
      <p:pic>
        <p:nvPicPr>
          <p:cNvPr id="7" name="kc_icon_504" descr="Oil Pressure Warning">    </p:cNvPr>
          <p:cNvPicPr>
            <a:picLocks noChangeAspect="1"/>
          </p:cNvPicPr>
          <p:nvPr/>
        </p:nvPicPr>
        <p:blipFill>
          <a:blip r:embed="rId1"/>
          <a:stretch>
            <a:fillRect/>
          </a:stretch>
        </p:blipFill>
        <p:spPr>
          <a:xfrm>
            <a:off x="987552" y="1581912"/>
            <a:ext cx="859536" cy="859536"/>
          </a:xfrm>
          <a:prstGeom prst="rect">
            <a:avLst/>
          </a:prstGeom>
        </p:spPr>
      </p:pic>
      <p:sp>
        <p:nvSpPr>
          <p:cNvPr id="8" name="kc_prompt_505"/>
          <p:cNvSpPr txBox="1"/>
          <p:nvPr/>
        </p:nvSpPr>
        <p:spPr>
          <a:xfrm>
            <a:off x="548640" y="2743200"/>
            <a:ext cx="1737360" cy="320040"/>
          </a:xfrm>
          <a:prstGeom prst="rect">
            <a:avLst/>
          </a:prstGeom>
          <a:noFill/>
          <a:ln/>
        </p:spPr>
        <p:txBody>
          <a:bodyPr wrap="square" lIns="0" tIns="0" rIns="0" bIns="0" rtlCol="0" anchor="ctr"/>
          <a:lstStyle/>
          <a:p>
            <a:pPr algn="ctr" indent="0" marL="0">
              <a:buNone/>
            </a:pPr>
            <a:r>
              <a:rPr lang="en-US" sz="1200" i="1" dirty="0">
                <a:solidFill>
                  <a:srgbClr val="C9D1DA"/>
                </a:solidFill>
              </a:rPr>
              <a:t>What does it mean?</a:t>
            </a:r>
            <a:endParaRPr lang="en-US" sz="1200" dirty="0"/>
          </a:p>
        </p:txBody>
      </p:sp>
      <p:sp>
        <p:nvSpPr>
          <p:cNvPr id="9" name="clk01_ansbox_506"/>
          <p:cNvSpPr/>
          <p:nvPr/>
        </p:nvSpPr>
        <p:spPr>
          <a:xfrm>
            <a:off x="566928" y="3154680"/>
            <a:ext cx="1700784" cy="1143000"/>
          </a:xfrm>
          <a:prstGeom prst="roundRect">
            <a:avLst>
              <a:gd name="adj" fmla="val 6400"/>
            </a:avLst>
          </a:prstGeom>
          <a:solidFill>
            <a:srgbClr val="262C34"/>
          </a:solidFill>
          <a:ln w="15240">
            <a:solidFill>
              <a:srgbClr val="2ECC40"/>
            </a:solidFill>
            <a:prstDash val="solid"/>
          </a:ln>
        </p:spPr>
      </p:sp>
      <p:sp>
        <p:nvSpPr>
          <p:cNvPr id="10" name="clk01_ans_507"/>
          <p:cNvSpPr txBox="1"/>
          <p:nvPr/>
        </p:nvSpPr>
        <p:spPr>
          <a:xfrm>
            <a:off x="640080" y="3154680"/>
            <a:ext cx="1554480" cy="1143000"/>
          </a:xfrm>
          <a:prstGeom prst="rect">
            <a:avLst/>
          </a:prstGeom>
          <a:noFill/>
          <a:ln/>
        </p:spPr>
        <p:txBody>
          <a:bodyPr wrap="square" lIns="0" tIns="0" rIns="0" bIns="0" rtlCol="0" anchor="ctr"/>
          <a:lstStyle/>
          <a:p>
            <a:pPr algn="ctr" indent="0" marL="0">
              <a:buNone/>
            </a:pPr>
            <a:r>
              <a:rPr lang="en-US" sz="1200" b="1" dirty="0">
                <a:solidFill>
                  <a:srgbClr val="FFFFFF"/>
                </a:solidFill>
              </a:rPr>
              <a:t>Oil pressure low: stop safely, switch off.</a:t>
            </a:r>
            <a:endParaRPr lang="en-US" sz="1200" dirty="0"/>
          </a:p>
        </p:txBody>
      </p:sp>
      <p:sp>
        <p:nvSpPr>
          <p:cNvPr id="11" name="kc_card_508"/>
          <p:cNvSpPr/>
          <p:nvPr/>
        </p:nvSpPr>
        <p:spPr>
          <a:xfrm>
            <a:off x="2560320" y="960120"/>
            <a:ext cx="1920240" cy="3474720"/>
          </a:xfrm>
          <a:prstGeom prst="roundRect">
            <a:avLst>
              <a:gd name="adj" fmla="val 5714"/>
            </a:avLst>
          </a:prstGeom>
          <a:solidFill>
            <a:srgbClr val="1C2128"/>
          </a:solidFill>
          <a:ln/>
        </p:spPr>
      </p:sp>
      <p:sp>
        <p:nvSpPr>
          <p:cNvPr id="12" name="kc_q_509"/>
          <p:cNvSpPr txBox="1"/>
          <p:nvPr/>
        </p:nvSpPr>
        <p:spPr>
          <a:xfrm>
            <a:off x="2697480" y="1051560"/>
            <a:ext cx="731520" cy="320040"/>
          </a:xfrm>
          <a:prstGeom prst="rect">
            <a:avLst/>
          </a:prstGeom>
          <a:noFill/>
          <a:ln/>
        </p:spPr>
        <p:txBody>
          <a:bodyPr wrap="square" lIns="0" tIns="0" rIns="0" bIns="0" rtlCol="0" anchor="ctr"/>
          <a:lstStyle/>
          <a:p>
            <a:pPr indent="0" marL="0">
              <a:buNone/>
            </a:pPr>
            <a:r>
              <a:rPr lang="en-US" sz="1400" b="1" dirty="0">
                <a:solidFill>
                  <a:srgbClr val="FFB000"/>
                </a:solidFill>
              </a:rPr>
              <a:t>Q2</a:t>
            </a:r>
            <a:endParaRPr lang="en-US" sz="1400" dirty="0"/>
          </a:p>
        </p:txBody>
      </p:sp>
      <p:sp>
        <p:nvSpPr>
          <p:cNvPr id="13" name="kc_iconbg_510"/>
          <p:cNvSpPr/>
          <p:nvPr/>
        </p:nvSpPr>
        <p:spPr>
          <a:xfrm>
            <a:off x="2926080" y="1417320"/>
            <a:ext cx="1188720" cy="1188720"/>
          </a:xfrm>
          <a:prstGeom prst="ellipse">
            <a:avLst/>
          </a:prstGeom>
          <a:solidFill>
            <a:srgbClr val="000000"/>
          </a:solidFill>
          <a:ln w="12700">
            <a:solidFill>
              <a:srgbClr val="262C34"/>
            </a:solidFill>
            <a:prstDash val="solid"/>
          </a:ln>
        </p:spPr>
      </p:sp>
      <p:pic>
        <p:nvPicPr>
          <p:cNvPr id="14" name="kc_icon_511" descr="Tyre Pressure (TPMS)">    </p:cNvPr>
          <p:cNvPicPr>
            <a:picLocks noChangeAspect="1"/>
          </p:cNvPicPr>
          <p:nvPr/>
        </p:nvPicPr>
        <p:blipFill>
          <a:blip r:embed="rId2"/>
          <a:stretch>
            <a:fillRect/>
          </a:stretch>
        </p:blipFill>
        <p:spPr>
          <a:xfrm>
            <a:off x="3090672" y="1581912"/>
            <a:ext cx="859536" cy="859536"/>
          </a:xfrm>
          <a:prstGeom prst="rect">
            <a:avLst/>
          </a:prstGeom>
        </p:spPr>
      </p:pic>
      <p:sp>
        <p:nvSpPr>
          <p:cNvPr id="15" name="kc_prompt_512"/>
          <p:cNvSpPr txBox="1"/>
          <p:nvPr/>
        </p:nvSpPr>
        <p:spPr>
          <a:xfrm>
            <a:off x="2651760" y="2743200"/>
            <a:ext cx="1737360" cy="320040"/>
          </a:xfrm>
          <a:prstGeom prst="rect">
            <a:avLst/>
          </a:prstGeom>
          <a:noFill/>
          <a:ln/>
        </p:spPr>
        <p:txBody>
          <a:bodyPr wrap="square" lIns="0" tIns="0" rIns="0" bIns="0" rtlCol="0" anchor="ctr"/>
          <a:lstStyle/>
          <a:p>
            <a:pPr algn="ctr" indent="0" marL="0">
              <a:buNone/>
            </a:pPr>
            <a:r>
              <a:rPr lang="en-US" sz="1200" i="1" dirty="0">
                <a:solidFill>
                  <a:srgbClr val="C9D1DA"/>
                </a:solidFill>
              </a:rPr>
              <a:t>What does it mean?</a:t>
            </a:r>
            <a:endParaRPr lang="en-US" sz="1200" dirty="0"/>
          </a:p>
        </p:txBody>
      </p:sp>
      <p:sp>
        <p:nvSpPr>
          <p:cNvPr id="16" name="clk02_ansbox_513"/>
          <p:cNvSpPr/>
          <p:nvPr/>
        </p:nvSpPr>
        <p:spPr>
          <a:xfrm>
            <a:off x="2670048" y="3154680"/>
            <a:ext cx="1700784" cy="1143000"/>
          </a:xfrm>
          <a:prstGeom prst="roundRect">
            <a:avLst>
              <a:gd name="adj" fmla="val 6400"/>
            </a:avLst>
          </a:prstGeom>
          <a:solidFill>
            <a:srgbClr val="262C34"/>
          </a:solidFill>
          <a:ln w="15240">
            <a:solidFill>
              <a:srgbClr val="2ECC40"/>
            </a:solidFill>
            <a:prstDash val="solid"/>
          </a:ln>
        </p:spPr>
      </p:sp>
      <p:sp>
        <p:nvSpPr>
          <p:cNvPr id="17" name="clk02_ans_514"/>
          <p:cNvSpPr txBox="1"/>
          <p:nvPr/>
        </p:nvSpPr>
        <p:spPr>
          <a:xfrm>
            <a:off x="2743200" y="3154680"/>
            <a:ext cx="1554480" cy="1143000"/>
          </a:xfrm>
          <a:prstGeom prst="rect">
            <a:avLst/>
          </a:prstGeom>
          <a:noFill/>
          <a:ln/>
        </p:spPr>
        <p:txBody>
          <a:bodyPr wrap="square" lIns="0" tIns="0" rIns="0" bIns="0" rtlCol="0" anchor="ctr"/>
          <a:lstStyle/>
          <a:p>
            <a:pPr algn="ctr" indent="0" marL="0">
              <a:buNone/>
            </a:pPr>
            <a:r>
              <a:rPr lang="en-US" sz="1200" b="1" dirty="0">
                <a:solidFill>
                  <a:srgbClr val="FFFFFF"/>
                </a:solidFill>
              </a:rPr>
              <a:t>Tyre pressure low: slow down, check tyres.</a:t>
            </a:r>
            <a:endParaRPr lang="en-US" sz="1200" dirty="0"/>
          </a:p>
        </p:txBody>
      </p:sp>
      <p:sp>
        <p:nvSpPr>
          <p:cNvPr id="18" name="kc_card_515"/>
          <p:cNvSpPr/>
          <p:nvPr/>
        </p:nvSpPr>
        <p:spPr>
          <a:xfrm>
            <a:off x="4663440" y="960120"/>
            <a:ext cx="1920240" cy="3474720"/>
          </a:xfrm>
          <a:prstGeom prst="roundRect">
            <a:avLst>
              <a:gd name="adj" fmla="val 5714"/>
            </a:avLst>
          </a:prstGeom>
          <a:solidFill>
            <a:srgbClr val="1C2128"/>
          </a:solidFill>
          <a:ln/>
        </p:spPr>
      </p:sp>
      <p:sp>
        <p:nvSpPr>
          <p:cNvPr id="19" name="kc_q_516"/>
          <p:cNvSpPr txBox="1"/>
          <p:nvPr/>
        </p:nvSpPr>
        <p:spPr>
          <a:xfrm>
            <a:off x="4800600" y="1051560"/>
            <a:ext cx="731520" cy="320040"/>
          </a:xfrm>
          <a:prstGeom prst="rect">
            <a:avLst/>
          </a:prstGeom>
          <a:noFill/>
          <a:ln/>
        </p:spPr>
        <p:txBody>
          <a:bodyPr wrap="square" lIns="0" tIns="0" rIns="0" bIns="0" rtlCol="0" anchor="ctr"/>
          <a:lstStyle/>
          <a:p>
            <a:pPr indent="0" marL="0">
              <a:buNone/>
            </a:pPr>
            <a:r>
              <a:rPr lang="en-US" sz="1400" b="1" dirty="0">
                <a:solidFill>
                  <a:srgbClr val="FFB000"/>
                </a:solidFill>
              </a:rPr>
              <a:t>Q3</a:t>
            </a:r>
            <a:endParaRPr lang="en-US" sz="1400" dirty="0"/>
          </a:p>
        </p:txBody>
      </p:sp>
      <p:sp>
        <p:nvSpPr>
          <p:cNvPr id="20" name="kc_iconbg_517"/>
          <p:cNvSpPr/>
          <p:nvPr/>
        </p:nvSpPr>
        <p:spPr>
          <a:xfrm>
            <a:off x="5029200" y="1417320"/>
            <a:ext cx="1188720" cy="1188720"/>
          </a:xfrm>
          <a:prstGeom prst="ellipse">
            <a:avLst/>
          </a:prstGeom>
          <a:solidFill>
            <a:srgbClr val="000000"/>
          </a:solidFill>
          <a:ln w="12700">
            <a:solidFill>
              <a:srgbClr val="262C34"/>
            </a:solidFill>
            <a:prstDash val="solid"/>
          </a:ln>
        </p:spPr>
      </p:sp>
      <p:pic>
        <p:nvPicPr>
          <p:cNvPr id="21" name="kc_icon_518" descr="Stability / Traction (ESC)">    </p:cNvPr>
          <p:cNvPicPr>
            <a:picLocks noChangeAspect="1"/>
          </p:cNvPicPr>
          <p:nvPr/>
        </p:nvPicPr>
        <p:blipFill>
          <a:blip r:embed="rId3"/>
          <a:stretch>
            <a:fillRect/>
          </a:stretch>
        </p:blipFill>
        <p:spPr>
          <a:xfrm>
            <a:off x="5193792" y="1581912"/>
            <a:ext cx="859536" cy="859536"/>
          </a:xfrm>
          <a:prstGeom prst="rect">
            <a:avLst/>
          </a:prstGeom>
        </p:spPr>
      </p:pic>
      <p:sp>
        <p:nvSpPr>
          <p:cNvPr id="22" name="kc_prompt_519"/>
          <p:cNvSpPr txBox="1"/>
          <p:nvPr/>
        </p:nvSpPr>
        <p:spPr>
          <a:xfrm>
            <a:off x="4754880" y="2743200"/>
            <a:ext cx="1737360" cy="320040"/>
          </a:xfrm>
          <a:prstGeom prst="rect">
            <a:avLst/>
          </a:prstGeom>
          <a:noFill/>
          <a:ln/>
        </p:spPr>
        <p:txBody>
          <a:bodyPr wrap="square" lIns="0" tIns="0" rIns="0" bIns="0" rtlCol="0" anchor="ctr"/>
          <a:lstStyle/>
          <a:p>
            <a:pPr algn="ctr" indent="0" marL="0">
              <a:buNone/>
            </a:pPr>
            <a:r>
              <a:rPr lang="en-US" sz="1200" i="1" dirty="0">
                <a:solidFill>
                  <a:srgbClr val="C9D1DA"/>
                </a:solidFill>
              </a:rPr>
              <a:t>What does it mean?</a:t>
            </a:r>
            <a:endParaRPr lang="en-US" sz="1200" dirty="0"/>
          </a:p>
        </p:txBody>
      </p:sp>
      <p:sp>
        <p:nvSpPr>
          <p:cNvPr id="23" name="clk03_ansbox_520"/>
          <p:cNvSpPr/>
          <p:nvPr/>
        </p:nvSpPr>
        <p:spPr>
          <a:xfrm>
            <a:off x="4773168" y="3154680"/>
            <a:ext cx="1700784" cy="1143000"/>
          </a:xfrm>
          <a:prstGeom prst="roundRect">
            <a:avLst>
              <a:gd name="adj" fmla="val 6400"/>
            </a:avLst>
          </a:prstGeom>
          <a:solidFill>
            <a:srgbClr val="262C34"/>
          </a:solidFill>
          <a:ln w="15240">
            <a:solidFill>
              <a:srgbClr val="2ECC40"/>
            </a:solidFill>
            <a:prstDash val="solid"/>
          </a:ln>
        </p:spPr>
      </p:sp>
      <p:sp>
        <p:nvSpPr>
          <p:cNvPr id="24" name="clk03_ans_521"/>
          <p:cNvSpPr txBox="1"/>
          <p:nvPr/>
        </p:nvSpPr>
        <p:spPr>
          <a:xfrm>
            <a:off x="4846320" y="3154680"/>
            <a:ext cx="1554480" cy="1143000"/>
          </a:xfrm>
          <a:prstGeom prst="rect">
            <a:avLst/>
          </a:prstGeom>
          <a:noFill/>
          <a:ln/>
        </p:spPr>
        <p:txBody>
          <a:bodyPr wrap="square" lIns="0" tIns="0" rIns="0" bIns="0" rtlCol="0" anchor="ctr"/>
          <a:lstStyle/>
          <a:p>
            <a:pPr algn="ctr" indent="0" marL="0">
              <a:buNone/>
            </a:pPr>
            <a:r>
              <a:rPr lang="en-US" sz="1200" b="1" dirty="0">
                <a:solidFill>
                  <a:srgbClr val="FFFFFF"/>
                </a:solidFill>
              </a:rPr>
              <a:t>Stability control: flashing = slippery, steady = fault.</a:t>
            </a:r>
            <a:endParaRPr lang="en-US" sz="1200" dirty="0"/>
          </a:p>
        </p:txBody>
      </p:sp>
      <p:sp>
        <p:nvSpPr>
          <p:cNvPr id="25" name="kc_card_522"/>
          <p:cNvSpPr/>
          <p:nvPr/>
        </p:nvSpPr>
        <p:spPr>
          <a:xfrm>
            <a:off x="6766560" y="960120"/>
            <a:ext cx="1920240" cy="3474720"/>
          </a:xfrm>
          <a:prstGeom prst="roundRect">
            <a:avLst>
              <a:gd name="adj" fmla="val 5714"/>
            </a:avLst>
          </a:prstGeom>
          <a:solidFill>
            <a:srgbClr val="1C2128"/>
          </a:solidFill>
          <a:ln/>
        </p:spPr>
      </p:sp>
      <p:sp>
        <p:nvSpPr>
          <p:cNvPr id="26" name="kc_q_523"/>
          <p:cNvSpPr txBox="1"/>
          <p:nvPr/>
        </p:nvSpPr>
        <p:spPr>
          <a:xfrm>
            <a:off x="6903720" y="1051560"/>
            <a:ext cx="731520" cy="320040"/>
          </a:xfrm>
          <a:prstGeom prst="rect">
            <a:avLst/>
          </a:prstGeom>
          <a:noFill/>
          <a:ln/>
        </p:spPr>
        <p:txBody>
          <a:bodyPr wrap="square" lIns="0" tIns="0" rIns="0" bIns="0" rtlCol="0" anchor="ctr"/>
          <a:lstStyle/>
          <a:p>
            <a:pPr indent="0" marL="0">
              <a:buNone/>
            </a:pPr>
            <a:r>
              <a:rPr lang="en-US" sz="1400" b="1" dirty="0">
                <a:solidFill>
                  <a:srgbClr val="FFB000"/>
                </a:solidFill>
              </a:rPr>
              <a:t>Q4</a:t>
            </a:r>
            <a:endParaRPr lang="en-US" sz="1400" dirty="0"/>
          </a:p>
        </p:txBody>
      </p:sp>
      <p:sp>
        <p:nvSpPr>
          <p:cNvPr id="27" name="kc_iconbg_524"/>
          <p:cNvSpPr/>
          <p:nvPr/>
        </p:nvSpPr>
        <p:spPr>
          <a:xfrm>
            <a:off x="7132320" y="1417320"/>
            <a:ext cx="1188720" cy="1188720"/>
          </a:xfrm>
          <a:prstGeom prst="ellipse">
            <a:avLst/>
          </a:prstGeom>
          <a:solidFill>
            <a:srgbClr val="000000"/>
          </a:solidFill>
          <a:ln w="12700">
            <a:solidFill>
              <a:srgbClr val="262C34"/>
            </a:solidFill>
            <a:prstDash val="solid"/>
          </a:ln>
        </p:spPr>
      </p:sp>
      <p:pic>
        <p:nvPicPr>
          <p:cNvPr id="28" name="kc_icon_525" descr="High Beam On">    </p:cNvPr>
          <p:cNvPicPr>
            <a:picLocks noChangeAspect="1"/>
          </p:cNvPicPr>
          <p:nvPr/>
        </p:nvPicPr>
        <p:blipFill>
          <a:blip r:embed="rId4"/>
          <a:stretch>
            <a:fillRect/>
          </a:stretch>
        </p:blipFill>
        <p:spPr>
          <a:xfrm>
            <a:off x="7296912" y="1581912"/>
            <a:ext cx="859536" cy="859536"/>
          </a:xfrm>
          <a:prstGeom prst="rect">
            <a:avLst/>
          </a:prstGeom>
        </p:spPr>
      </p:pic>
      <p:sp>
        <p:nvSpPr>
          <p:cNvPr id="29" name="kc_prompt_526"/>
          <p:cNvSpPr txBox="1"/>
          <p:nvPr/>
        </p:nvSpPr>
        <p:spPr>
          <a:xfrm>
            <a:off x="6858000" y="2743200"/>
            <a:ext cx="1737360" cy="320040"/>
          </a:xfrm>
          <a:prstGeom prst="rect">
            <a:avLst/>
          </a:prstGeom>
          <a:noFill/>
          <a:ln/>
        </p:spPr>
        <p:txBody>
          <a:bodyPr wrap="square" lIns="0" tIns="0" rIns="0" bIns="0" rtlCol="0" anchor="ctr"/>
          <a:lstStyle/>
          <a:p>
            <a:pPr algn="ctr" indent="0" marL="0">
              <a:buNone/>
            </a:pPr>
            <a:r>
              <a:rPr lang="en-US" sz="1200" i="1" dirty="0">
                <a:solidFill>
                  <a:srgbClr val="C9D1DA"/>
                </a:solidFill>
              </a:rPr>
              <a:t>What does it mean?</a:t>
            </a:r>
            <a:endParaRPr lang="en-US" sz="1200" dirty="0"/>
          </a:p>
        </p:txBody>
      </p:sp>
      <p:sp>
        <p:nvSpPr>
          <p:cNvPr id="30" name="clk04_ansbox_527"/>
          <p:cNvSpPr/>
          <p:nvPr/>
        </p:nvSpPr>
        <p:spPr>
          <a:xfrm>
            <a:off x="6876288" y="3154680"/>
            <a:ext cx="1700784" cy="1143000"/>
          </a:xfrm>
          <a:prstGeom prst="roundRect">
            <a:avLst>
              <a:gd name="adj" fmla="val 6400"/>
            </a:avLst>
          </a:prstGeom>
          <a:solidFill>
            <a:srgbClr val="262C34"/>
          </a:solidFill>
          <a:ln w="15240">
            <a:solidFill>
              <a:srgbClr val="2ECC40"/>
            </a:solidFill>
            <a:prstDash val="solid"/>
          </a:ln>
        </p:spPr>
      </p:sp>
      <p:sp>
        <p:nvSpPr>
          <p:cNvPr id="31" name="clk04_ans_528"/>
          <p:cNvSpPr txBox="1"/>
          <p:nvPr/>
        </p:nvSpPr>
        <p:spPr>
          <a:xfrm>
            <a:off x="6949440" y="3154680"/>
            <a:ext cx="1554480" cy="1143000"/>
          </a:xfrm>
          <a:prstGeom prst="rect">
            <a:avLst/>
          </a:prstGeom>
          <a:noFill/>
          <a:ln/>
        </p:spPr>
        <p:txBody>
          <a:bodyPr wrap="square" lIns="0" tIns="0" rIns="0" bIns="0" rtlCol="0" anchor="ctr"/>
          <a:lstStyle/>
          <a:p>
            <a:pPr algn="ctr" indent="0" marL="0">
              <a:buNone/>
            </a:pPr>
            <a:r>
              <a:rPr lang="en-US" sz="1200" b="1" dirty="0">
                <a:solidFill>
                  <a:srgbClr val="FFFFFF"/>
                </a:solidFill>
              </a:rPr>
              <a:t>High beam on: dip for other road users.</a:t>
            </a:r>
            <a:endParaRPr lang="en-US" sz="1200" dirty="0"/>
          </a:p>
        </p:txBody>
      </p:sp>
      <p:sp>
        <p:nvSpPr>
          <p:cNvPr id="25" name="Slide Number Placeholder 0"/>
          <p:cNvSpPr>
            <a:spLocks noGrp="1"/>
          </p:cNvSpPr>
          <p:nvPr>
            <p:ph type="sldNum" sz="quarter" idx="4294967295"/>
          </p:nvPr>
        </p:nvSpPr>
        <p:spPr>
          <a:xfrm>
            <a:off x="8275320" y="4818888"/>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9E"/>
                </a:solidFill>
              </a:defRPr>
            </a:lvl1pPr>
          </a:lstStyle>
          <a:p>
            <a:pPr algn="r"/>
            <a:fld id="{F7021451-1387-4CA6-816F-3879F97B5CBC}" type="slidenum">
              <a:rPr b="0" lang="en-US"/>
              <a:t>14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5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500"/>
                                        <p:tgtEl>
                                          <p:spTgt spid="2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fade">
                                      <p:cBhvr>
                                        <p:cTn id="24" dur="500"/>
                                        <p:tgtEl>
                                          <p:spTgt spid="24"/>
                                        </p:tgtEl>
                                      </p:cBhvr>
                                    </p:animEffect>
                                  </p:childTnLst>
                                </p:cTn>
                              </p:par>
                            </p:childTnLst>
                          </p:cTn>
                        </p:par>
                      </p:childTnLst>
                    </p:cTn>
                  </p:par>
                  <p:par>
                    <p:cTn id="33" fill="hold">
                      <p:stCondLst>
                        <p:cond delay="indefinite"/>
                      </p:stCondLst>
                      <p:childTnLst>
                        <p:par>
                          <p:cTn id="34"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fade">
                                      <p:cBhvr>
                                        <p:cTn id="29" dur="500"/>
                                        <p:tgtEl>
                                          <p:spTgt spid="3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6" grpId="0" animBg="1"/>
      <p:bldP spid="17" grpId="0" animBg="1"/>
      <p:bldP spid="23" grpId="0" animBg="1"/>
      <p:bldP spid="24" grpId="0" animBg="1"/>
      <p:bldP spid="30" grpId="0" animBg="1"/>
      <p:bldP spid="3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01168"/>
            <a:ext cx="8229600" cy="566928"/>
          </a:xfrm>
          <a:prstGeom prst="rect">
            <a:avLst/>
          </a:prstGeom>
          <a:noFill/>
          <a:ln/>
        </p:spPr>
        <p:txBody>
          <a:bodyPr wrap="square" lIns="0" tIns="0" rIns="0" bIns="0" rtlCol="0" anchor="ctr"/>
          <a:lstStyle/>
          <a:p>
            <a:pPr indent="0" marL="0">
              <a:buNone/>
            </a:pPr>
            <a:r>
              <a:rPr lang="en-US" sz="2600" b="1" dirty="0">
                <a:solidFill>
                  <a:schemeClr val="bg1"/>
                </a:solidFill>
              </a:rPr>
              <a:t>Final Safety Takeaways</a:t>
            </a:r>
            <a:endParaRPr lang="en-US" sz="2600" dirty="0"/>
          </a:p>
        </p:txBody>
      </p:sp>
      <p:sp>
        <p:nvSpPr>
          <p:cNvPr id="4" name="clk01_card_529"/>
          <p:cNvSpPr/>
          <p:nvPr/>
        </p:nvSpPr>
        <p:spPr>
          <a:xfrm>
            <a:off x="457200" y="960120"/>
            <a:ext cx="4023360" cy="1600200"/>
          </a:xfrm>
          <a:prstGeom prst="roundRect">
            <a:avLst>
              <a:gd name="adj" fmla="val 6857"/>
            </a:avLst>
          </a:prstGeom>
          <a:solidFill>
            <a:srgbClr val="1C2128"/>
          </a:solidFill>
          <a:ln/>
        </p:spPr>
      </p:sp>
      <p:sp>
        <p:nvSpPr>
          <p:cNvPr id="5" name="clk01_dot_530"/>
          <p:cNvSpPr/>
          <p:nvPr/>
        </p:nvSpPr>
        <p:spPr>
          <a:xfrm>
            <a:off x="685800" y="1417320"/>
            <a:ext cx="685800" cy="685800"/>
          </a:xfrm>
          <a:prstGeom prst="ellipse">
            <a:avLst/>
          </a:prstGeom>
          <a:solidFill>
            <a:srgbClr val="2F80FF"/>
          </a:solidFill>
          <a:ln/>
        </p:spPr>
      </p:sp>
      <p:sp>
        <p:nvSpPr>
          <p:cNvPr id="6" name="clk01_n_531"/>
          <p:cNvSpPr txBox="1"/>
          <p:nvPr/>
        </p:nvSpPr>
        <p:spPr>
          <a:xfrm>
            <a:off x="685800" y="1417320"/>
            <a:ext cx="685800" cy="685800"/>
          </a:xfrm>
          <a:prstGeom prst="rect">
            <a:avLst/>
          </a:prstGeom>
          <a:noFill/>
          <a:ln/>
        </p:spPr>
        <p:txBody>
          <a:bodyPr wrap="square" lIns="0" tIns="0" rIns="0" bIns="0" rtlCol="0" anchor="ctr"/>
          <a:lstStyle/>
          <a:p>
            <a:pPr algn="ctr" indent="0" marL="0">
              <a:buNone/>
            </a:pPr>
            <a:r>
              <a:rPr lang="en-US" sz="2200" b="1" dirty="0">
                <a:solidFill>
                  <a:srgbClr val="FFFFFF"/>
                </a:solidFill>
              </a:rPr>
              <a:t>1</a:t>
            </a:r>
            <a:endParaRPr lang="en-US" sz="2200" dirty="0"/>
          </a:p>
        </p:txBody>
      </p:sp>
      <p:sp>
        <p:nvSpPr>
          <p:cNvPr id="7" name="clk01_t_532"/>
          <p:cNvSpPr txBox="1"/>
          <p:nvPr/>
        </p:nvSpPr>
        <p:spPr>
          <a:xfrm>
            <a:off x="1554480" y="1097280"/>
            <a:ext cx="2788920" cy="1325880"/>
          </a:xfrm>
          <a:prstGeom prst="rect">
            <a:avLst/>
          </a:prstGeom>
          <a:noFill/>
          <a:ln/>
        </p:spPr>
        <p:txBody>
          <a:bodyPr wrap="square" lIns="0" tIns="0" rIns="0" bIns="0" rtlCol="0" anchor="ctr"/>
          <a:lstStyle/>
          <a:p>
            <a:pPr indent="0" marL="0">
              <a:spcAft>
                <a:spcPts val="400"/>
              </a:spcAft>
              <a:buNone/>
            </a:pPr>
            <a:r>
              <a:rPr lang="en-US" sz="1700" b="1" dirty="0">
                <a:solidFill>
                  <a:srgbClr val="FFFFFF"/>
                </a:solidFill>
              </a:rPr>
              <a:t>Check at start-up</a:t>
            </a:r>
            <a:endParaRPr lang="en-US" sz="1700" dirty="0"/>
          </a:p>
          <a:p>
            <a:pPr indent="0" marL="0">
              <a:spcAft>
                <a:spcPts val="400"/>
              </a:spcAft>
              <a:buNone/>
            </a:pPr>
            <a:r>
              <a:rPr lang="en-US" sz="1300" dirty="0">
                <a:solidFill>
                  <a:srgbClr val="C9D1DA"/>
                </a:solidFill>
              </a:rPr>
              <a:t>Lights should go out after the engine starts.</a:t>
            </a:r>
            <a:endParaRPr lang="en-US" sz="1700" dirty="0"/>
          </a:p>
        </p:txBody>
      </p:sp>
      <p:sp>
        <p:nvSpPr>
          <p:cNvPr id="8" name="clk02_card_533"/>
          <p:cNvSpPr/>
          <p:nvPr/>
        </p:nvSpPr>
        <p:spPr>
          <a:xfrm>
            <a:off x="4663440" y="960120"/>
            <a:ext cx="4023360" cy="1600200"/>
          </a:xfrm>
          <a:prstGeom prst="roundRect">
            <a:avLst>
              <a:gd name="adj" fmla="val 6857"/>
            </a:avLst>
          </a:prstGeom>
          <a:solidFill>
            <a:srgbClr val="1C2128"/>
          </a:solidFill>
          <a:ln/>
        </p:spPr>
      </p:sp>
      <p:sp>
        <p:nvSpPr>
          <p:cNvPr id="9" name="clk02_dot_534"/>
          <p:cNvSpPr/>
          <p:nvPr/>
        </p:nvSpPr>
        <p:spPr>
          <a:xfrm>
            <a:off x="4892040" y="1417320"/>
            <a:ext cx="685800" cy="685800"/>
          </a:xfrm>
          <a:prstGeom prst="ellipse">
            <a:avLst/>
          </a:prstGeom>
          <a:solidFill>
            <a:srgbClr val="E53935"/>
          </a:solidFill>
          <a:ln/>
        </p:spPr>
      </p:sp>
      <p:sp>
        <p:nvSpPr>
          <p:cNvPr id="10" name="clk02_n_535"/>
          <p:cNvSpPr txBox="1"/>
          <p:nvPr/>
        </p:nvSpPr>
        <p:spPr>
          <a:xfrm>
            <a:off x="4892040" y="1417320"/>
            <a:ext cx="685800" cy="685800"/>
          </a:xfrm>
          <a:prstGeom prst="rect">
            <a:avLst/>
          </a:prstGeom>
          <a:noFill/>
          <a:ln/>
        </p:spPr>
        <p:txBody>
          <a:bodyPr wrap="square" lIns="0" tIns="0" rIns="0" bIns="0" rtlCol="0" anchor="ctr"/>
          <a:lstStyle/>
          <a:p>
            <a:pPr algn="ctr" indent="0" marL="0">
              <a:buNone/>
            </a:pPr>
            <a:r>
              <a:rPr lang="en-US" sz="2200" b="1" dirty="0">
                <a:solidFill>
                  <a:srgbClr val="FFFFFF"/>
                </a:solidFill>
              </a:rPr>
              <a:t>2</a:t>
            </a:r>
            <a:endParaRPr lang="en-US" sz="2200" dirty="0"/>
          </a:p>
        </p:txBody>
      </p:sp>
      <p:sp>
        <p:nvSpPr>
          <p:cNvPr id="11" name="clk02_t_536"/>
          <p:cNvSpPr txBox="1"/>
          <p:nvPr/>
        </p:nvSpPr>
        <p:spPr>
          <a:xfrm>
            <a:off x="5760720" y="1097280"/>
            <a:ext cx="2788920" cy="1325880"/>
          </a:xfrm>
          <a:prstGeom prst="rect">
            <a:avLst/>
          </a:prstGeom>
          <a:noFill/>
          <a:ln/>
        </p:spPr>
        <p:txBody>
          <a:bodyPr wrap="square" lIns="0" tIns="0" rIns="0" bIns="0" rtlCol="0" anchor="ctr"/>
          <a:lstStyle/>
          <a:p>
            <a:pPr indent="0" marL="0">
              <a:spcAft>
                <a:spcPts val="400"/>
              </a:spcAft>
              <a:buNone/>
            </a:pPr>
            <a:r>
              <a:rPr lang="en-US" sz="1700" b="1" dirty="0">
                <a:solidFill>
                  <a:srgbClr val="FFFFFF"/>
                </a:solidFill>
              </a:rPr>
              <a:t>Red = stop safely</a:t>
            </a:r>
            <a:endParaRPr lang="en-US" sz="1700" dirty="0"/>
          </a:p>
          <a:p>
            <a:pPr indent="0" marL="0">
              <a:spcAft>
                <a:spcPts val="400"/>
              </a:spcAft>
              <a:buNone/>
            </a:pPr>
            <a:r>
              <a:rPr lang="en-US" sz="1300" dirty="0">
                <a:solidFill>
                  <a:srgbClr val="C9D1DA"/>
                </a:solidFill>
              </a:rPr>
              <a:t>Follow the handbook. Never drive on with oil pressure, overheating or brake warnings.</a:t>
            </a:r>
            <a:endParaRPr lang="en-US" sz="1700" dirty="0"/>
          </a:p>
        </p:txBody>
      </p:sp>
      <p:sp>
        <p:nvSpPr>
          <p:cNvPr id="12" name="clk03_card_537"/>
          <p:cNvSpPr/>
          <p:nvPr/>
        </p:nvSpPr>
        <p:spPr>
          <a:xfrm>
            <a:off x="457200" y="2743200"/>
            <a:ext cx="4023360" cy="1600200"/>
          </a:xfrm>
          <a:prstGeom prst="roundRect">
            <a:avLst>
              <a:gd name="adj" fmla="val 6857"/>
            </a:avLst>
          </a:prstGeom>
          <a:solidFill>
            <a:srgbClr val="1C2128"/>
          </a:solidFill>
          <a:ln/>
        </p:spPr>
      </p:sp>
      <p:sp>
        <p:nvSpPr>
          <p:cNvPr id="13" name="clk03_dot_538"/>
          <p:cNvSpPr/>
          <p:nvPr/>
        </p:nvSpPr>
        <p:spPr>
          <a:xfrm>
            <a:off x="685800" y="3200400"/>
            <a:ext cx="685800" cy="685800"/>
          </a:xfrm>
          <a:prstGeom prst="ellipse">
            <a:avLst/>
          </a:prstGeom>
          <a:solidFill>
            <a:srgbClr val="FFB000"/>
          </a:solidFill>
          <a:ln/>
        </p:spPr>
      </p:sp>
      <p:sp>
        <p:nvSpPr>
          <p:cNvPr id="14" name="clk03_n_539"/>
          <p:cNvSpPr txBox="1"/>
          <p:nvPr/>
        </p:nvSpPr>
        <p:spPr>
          <a:xfrm>
            <a:off x="685800" y="3200400"/>
            <a:ext cx="685800" cy="685800"/>
          </a:xfrm>
          <a:prstGeom prst="rect">
            <a:avLst/>
          </a:prstGeom>
          <a:noFill/>
          <a:ln/>
        </p:spPr>
        <p:txBody>
          <a:bodyPr wrap="square" lIns="0" tIns="0" rIns="0" bIns="0" rtlCol="0" anchor="ctr"/>
          <a:lstStyle/>
          <a:p>
            <a:pPr algn="ctr" indent="0" marL="0">
              <a:buNone/>
            </a:pPr>
            <a:r>
              <a:rPr lang="en-US" sz="2200" b="1" dirty="0">
                <a:solidFill>
                  <a:srgbClr val="0F1215"/>
                </a:solidFill>
              </a:rPr>
              <a:t>3</a:t>
            </a:r>
            <a:endParaRPr lang="en-US" sz="2200" dirty="0"/>
          </a:p>
        </p:txBody>
      </p:sp>
      <p:sp>
        <p:nvSpPr>
          <p:cNvPr id="15" name="clk03_t_540"/>
          <p:cNvSpPr txBox="1"/>
          <p:nvPr/>
        </p:nvSpPr>
        <p:spPr>
          <a:xfrm>
            <a:off x="1554480" y="2880360"/>
            <a:ext cx="2788920" cy="1325880"/>
          </a:xfrm>
          <a:prstGeom prst="rect">
            <a:avLst/>
          </a:prstGeom>
          <a:noFill/>
          <a:ln/>
        </p:spPr>
        <p:txBody>
          <a:bodyPr wrap="square" lIns="0" tIns="0" rIns="0" bIns="0" rtlCol="0" anchor="ctr"/>
          <a:lstStyle/>
          <a:p>
            <a:pPr indent="0" marL="0">
              <a:spcAft>
                <a:spcPts val="400"/>
              </a:spcAft>
              <a:buNone/>
            </a:pPr>
            <a:r>
              <a:rPr lang="en-US" sz="1700" b="1" dirty="0">
                <a:solidFill>
                  <a:srgbClr val="FFFFFF"/>
                </a:solidFill>
              </a:rPr>
              <a:t>Amber = act soon</a:t>
            </a:r>
            <a:endParaRPr lang="en-US" sz="1700" dirty="0"/>
          </a:p>
          <a:p>
            <a:pPr indent="0" marL="0">
              <a:spcAft>
                <a:spcPts val="400"/>
              </a:spcAft>
              <a:buNone/>
            </a:pPr>
            <a:r>
              <a:rPr lang="en-US" sz="1300" dirty="0">
                <a:solidFill>
                  <a:srgbClr val="C9D1DA"/>
                </a:solidFill>
              </a:rPr>
              <a:t>Book an inspection and report it.</a:t>
            </a:r>
            <a:endParaRPr lang="en-US" sz="1700" dirty="0"/>
          </a:p>
        </p:txBody>
      </p:sp>
      <p:sp>
        <p:nvSpPr>
          <p:cNvPr id="16" name="clk04_card_541"/>
          <p:cNvSpPr/>
          <p:nvPr/>
        </p:nvSpPr>
        <p:spPr>
          <a:xfrm>
            <a:off x="4663440" y="2743200"/>
            <a:ext cx="4023360" cy="1600200"/>
          </a:xfrm>
          <a:prstGeom prst="roundRect">
            <a:avLst>
              <a:gd name="adj" fmla="val 6857"/>
            </a:avLst>
          </a:prstGeom>
          <a:solidFill>
            <a:srgbClr val="1C2128"/>
          </a:solidFill>
          <a:ln/>
        </p:spPr>
      </p:sp>
      <p:sp>
        <p:nvSpPr>
          <p:cNvPr id="17" name="clk04_dot_542"/>
          <p:cNvSpPr/>
          <p:nvPr/>
        </p:nvSpPr>
        <p:spPr>
          <a:xfrm>
            <a:off x="4892040" y="3200400"/>
            <a:ext cx="685800" cy="685800"/>
          </a:xfrm>
          <a:prstGeom prst="ellipse">
            <a:avLst/>
          </a:prstGeom>
          <a:solidFill>
            <a:srgbClr val="2ECC40"/>
          </a:solidFill>
          <a:ln/>
        </p:spPr>
      </p:sp>
      <p:sp>
        <p:nvSpPr>
          <p:cNvPr id="18" name="clk04_n_543"/>
          <p:cNvSpPr txBox="1"/>
          <p:nvPr/>
        </p:nvSpPr>
        <p:spPr>
          <a:xfrm>
            <a:off x="4892040" y="3200400"/>
            <a:ext cx="685800" cy="685800"/>
          </a:xfrm>
          <a:prstGeom prst="rect">
            <a:avLst/>
          </a:prstGeom>
          <a:noFill/>
          <a:ln/>
        </p:spPr>
        <p:txBody>
          <a:bodyPr wrap="square" lIns="0" tIns="0" rIns="0" bIns="0" rtlCol="0" anchor="ctr"/>
          <a:lstStyle/>
          <a:p>
            <a:pPr algn="ctr" indent="0" marL="0">
              <a:buNone/>
            </a:pPr>
            <a:r>
              <a:rPr lang="en-US" sz="2200" b="1" dirty="0">
                <a:solidFill>
                  <a:srgbClr val="0F1215"/>
                </a:solidFill>
              </a:rPr>
              <a:t>4</a:t>
            </a:r>
            <a:endParaRPr lang="en-US" sz="2200" dirty="0"/>
          </a:p>
        </p:txBody>
      </p:sp>
      <p:sp>
        <p:nvSpPr>
          <p:cNvPr id="19" name="clk04_t_544"/>
          <p:cNvSpPr txBox="1"/>
          <p:nvPr/>
        </p:nvSpPr>
        <p:spPr>
          <a:xfrm>
            <a:off x="5760720" y="2880360"/>
            <a:ext cx="2788920" cy="1325880"/>
          </a:xfrm>
          <a:prstGeom prst="rect">
            <a:avLst/>
          </a:prstGeom>
          <a:noFill/>
          <a:ln/>
        </p:spPr>
        <p:txBody>
          <a:bodyPr wrap="square" lIns="0" tIns="0" rIns="0" bIns="0" rtlCol="0" anchor="ctr"/>
          <a:lstStyle/>
          <a:p>
            <a:pPr indent="0" marL="0">
              <a:spcAft>
                <a:spcPts val="400"/>
              </a:spcAft>
              <a:buNone/>
            </a:pPr>
            <a:r>
              <a:rPr lang="en-US" sz="1700" b="1" dirty="0">
                <a:solidFill>
                  <a:srgbClr val="FFFFFF"/>
                </a:solidFill>
              </a:rPr>
              <a:t>If in doubt, don't drive</a:t>
            </a:r>
            <a:endParaRPr lang="en-US" sz="1700" dirty="0"/>
          </a:p>
          <a:p>
            <a:pPr indent="0" marL="0">
              <a:spcAft>
                <a:spcPts val="400"/>
              </a:spcAft>
              <a:buNone/>
            </a:pPr>
            <a:r>
              <a:rPr lang="en-US" sz="1300" dirty="0">
                <a:solidFill>
                  <a:srgbClr val="C9D1DA"/>
                </a:solidFill>
              </a:rPr>
              <a:t>Report every warning light to your supervisor.</a:t>
            </a:r>
            <a:endParaRPr lang="en-US" sz="1700" dirty="0"/>
          </a:p>
        </p:txBody>
      </p:sp>
      <p:sp>
        <p:nvSpPr>
          <p:cNvPr id="25" name="Slide Number Placeholder 0"/>
          <p:cNvSpPr>
            <a:spLocks noGrp="1"/>
          </p:cNvSpPr>
          <p:nvPr>
            <p:ph type="sldNum" sz="quarter" idx="4294967295"/>
          </p:nvPr>
        </p:nvSpPr>
        <p:spPr>
          <a:xfrm>
            <a:off x="8275320" y="4818888"/>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9E"/>
                </a:solidFill>
              </a:defRPr>
            </a:lvl1pPr>
          </a:lstStyle>
          <a:p>
            <a:pPr algn="r"/>
            <a:fld id="{F7021451-1387-4CA6-816F-3879F97B5CBC}" type="slidenum">
              <a:rPr b="0" lang="en-US"/>
              <a:t>15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500"/>
                                        <p:tgtEl>
                                          <p:spTgt spid="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500"/>
                                        <p:tgtEl>
                                          <p:spTgt spid="5"/>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childTnLst>
                          </p:cTn>
                        </p:par>
                      </p:childTnLst>
                    </p:cTn>
                  </p:par>
                  <p:par>
                    <p:cTn id="29" fill="hold">
                      <p:stCondLst>
                        <p:cond delay="indefinite"/>
                      </p:stCondLst>
                      <p:childTnLst>
                        <p:par>
                          <p:cTn id="30"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childTnLst>
                          </p:cTn>
                        </p:par>
                      </p:childTnLst>
                    </p:cTn>
                  </p:par>
                  <p:par>
                    <p:cTn id="57" fill="hold">
                      <p:stCondLst>
                        <p:cond delay="indefinite"/>
                      </p:stCondLst>
                      <p:childTnLst>
                        <p:par>
                          <p:cTn id="58"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500"/>
                                        <p:tgtEl>
                                          <p:spTgt spid="18"/>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theme/theme1.xml><?xml version="1.0" encoding="utf-8"?>
<a:theme xmlns:a="http://schemas.openxmlformats.org/drawingml/2006/main" name="Automotive Safety">
  <a:themeElements>
    <a:clrScheme name="Automotive Safety">
      <a:dk1>
        <a:srgbClr val="0F1215"/>
      </a:dk1>
      <a:lt1>
        <a:srgbClr val="FFFFFF"/>
      </a:lt1>
      <a:dk2>
        <a:srgbClr val="1C2128"/>
      </a:dk2>
      <a:lt2>
        <a:srgbClr val="C9D1DA"/>
      </a:lt2>
      <a:accent1>
        <a:srgbClr val="FFB000"/>
      </a:accent1>
      <a:accent2>
        <a:srgbClr val="E53935"/>
      </a:accent2>
      <a:accent3>
        <a:srgbClr val="2ECC40"/>
      </a:accent3>
      <a:accent4>
        <a:srgbClr val="2F80FF"/>
      </a:accent4>
      <a:accent5>
        <a:srgbClr val="8A939E"/>
      </a:accent5>
      <a:accent6>
        <a:srgbClr val="00B3A4"/>
      </a:accent6>
      <a:hlink>
        <a:srgbClr val="FFB000"/>
      </a:hlink>
      <a:folHlink>
        <a:srgbClr val="C9D1DA"/>
      </a:folHlink>
    </a:clrScheme>
    <a:fontScheme name="Automotive Safet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Complete Car Dashboard Warning Lights Guide</dc:title>
  <dc:subject>PptxGenJS Presentation</dc:subject>
  <dc:creator>Automotive Safety Toolbox Talk</dc:creator>
  <cp:lastModifiedBy>Automotive Safety Toolbox Talk</cp:lastModifiedBy>
  <cp:revision>1</cp:revision>
  <dcterms:created xsi:type="dcterms:W3CDTF">2026-10-15T04:44:16Z</dcterms:created>
  <dcterms:modified xsi:type="dcterms:W3CDTF">2026-10-15T04:44:16Z</dcterms:modified>
</cp:coreProperties>
</file>